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 id="2147483712" r:id="rId2"/>
  </p:sldMasterIdLst>
  <p:notesMasterIdLst>
    <p:notesMasterId r:id="rId23"/>
  </p:notesMasterIdLst>
  <p:sldIdLst>
    <p:sldId id="284" r:id="rId3"/>
    <p:sldId id="403" r:id="rId4"/>
    <p:sldId id="1000546" r:id="rId5"/>
    <p:sldId id="1000553" r:id="rId6"/>
    <p:sldId id="1000554" r:id="rId7"/>
    <p:sldId id="1000569" r:id="rId41"/>
    <p:sldId id="1000570" r:id="rId42"/>
    <p:sldId id="1000576" r:id="rId48"/>
    <p:sldId id="1000555" r:id="rId8"/>
    <p:sldId id="1000577" r:id="rId49"/>
    <p:sldId id="1000571" r:id="rId43"/>
    <p:sldId id="1000578" r:id="rId50"/>
    <p:sldId id="1000556" r:id="rId9"/>
    <p:sldId id="1000557" r:id="rId10"/>
    <p:sldId id="1000558" r:id="rId11"/>
    <p:sldId id="1000572" r:id="rId44"/>
    <p:sldId id="1000573" r:id="rId45"/>
    <p:sldId id="1000579" r:id="rId51"/>
    <p:sldId id="1000580" r:id="rId52"/>
    <p:sldId id="1000581" r:id="rId53"/>
    <p:sldId id="1000582" r:id="rId54"/>
    <p:sldId id="1000583" r:id="rId55"/>
    <p:sldId id="1000574" r:id="rId46"/>
    <p:sldId id="1000575" r:id="rId47"/>
    <p:sldId id="1000559" r:id="rId12"/>
    <p:sldId id="1000560" r:id="rId13"/>
    <p:sldId id="1000561" r:id="rId14"/>
    <p:sldId id="1000562" r:id="rId15"/>
    <p:sldId id="1000563" r:id="rId16"/>
    <p:sldId id="1000564" r:id="rId17"/>
    <p:sldId id="1000565" r:id="rId18"/>
    <p:sldId id="1000566" r:id="rId19"/>
    <p:sldId id="1000567" r:id="rId20"/>
    <p:sldId id="1000568" r:id="rId21"/>
    <p:sldId id="1000552" r:id="rId22"/>
  </p:sldIdLst>
  <p:sldSz cx="20104100" cy="11309350"/>
  <p:notesSz cx="20104100" cy="11309350"/>
  <p:embeddedFontLst>
    <p:embeddedFont>
      <p:font typeface="Calibri" panose="020F0502020204030204" pitchFamily="3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Forte" panose="03060902040502070203" pitchFamily="66" charset="0"/>
      <p:regular r:id="rId32"/>
    </p:embeddedFont>
    <p:embeddedFont>
      <p:font typeface="Playfair Display" panose="000005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orient="horz" pos="28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75" autoAdjust="0"/>
    <p:restoredTop sz="99288" autoAdjust="0"/>
  </p:normalViewPr>
  <p:slideViewPr>
    <p:cSldViewPr snapToGrid="0">
      <p:cViewPr varScale="1">
        <p:scale>
          <a:sx n="69" d="100"/>
          <a:sy n="69" d="100"/>
        </p:scale>
        <p:origin x="570" y="84"/>
      </p:cViewPr>
      <p:guideLst>
        <p:guide orient="horz" pos="2880"/>
        <p:guide pos="2160"/>
        <p:guide orient="horz" pos="287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 Id="rId32" Type="http://schemas.openxmlformats.org/officeDocument/2006/relationships/font" Target="fonts/font9.fntdata"/><Relationship Id="rId33" Type="http://schemas.openxmlformats.org/officeDocument/2006/relationships/font" Target="fonts/font10.fntdata"/><Relationship Id="rId34" Type="http://schemas.openxmlformats.org/officeDocument/2006/relationships/font" Target="fonts/font11.fntdata"/><Relationship Id="rId35" Type="http://schemas.openxmlformats.org/officeDocument/2006/relationships/font" Target="fonts/font12.fntdata"/><Relationship Id="rId36" Type="http://schemas.openxmlformats.org/officeDocument/2006/relationships/font" Target="fonts/font13.fntdata"/><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21.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slide" Target="slides/slide24.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schemas.openxmlformats.org/officeDocument/2006/relationships/slide" Target="slides/slide32.xml"/><Relationship Id="rId53" Type="http://schemas.openxmlformats.org/officeDocument/2006/relationships/slide" Target="slides/slide33.xml"/><Relationship Id="rId54" Type="http://schemas.openxmlformats.org/officeDocument/2006/relationships/slide" Target="slides/slide34.xml"/><Relationship Id="rId55"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Mean realised net revenue, Rs per quintal</a:t>
            </a:r>
          </a:p>
        </c:rich>
      </c:tx>
      <c:layout/>
      <c:overlay val="0"/>
    </c:title>
    <c:autoTitleDeleted val="0"/>
    <c:plotArea>
      <c:barChart>
        <c:barDir val="col"/>
        <c:grouping val="clustered"/>
        <c:ser>
          <c:idx val="0"/>
          <c:order val="0"/>
          <c:tx>
            <c:strRef>
              <c:f>Sheet1!$B$1</c:f>
              <c:strCache>
                <c:ptCount val="1"/>
                <c:pt idx="0">
                  <c:v>Nearest mandi</c:v>
                </c:pt>
              </c:strCache>
            </c:strRef>
          </c:tx>
          <c:spPr>
            <a:solidFill>
              <a:srgbClr val="A9B4C2"/>
            </a:solidFill>
          </c:spPr>
          <c:cat>
            <c:strRef>
              <c:f>Sheet1!$A$2:$A$5</c:f>
              <c:strCache>
                <c:ptCount val="4"/>
                <c:pt idx="0">
                  <c:v>Tomato</c:v>
                </c:pt>
                <c:pt idx="1">
                  <c:v>Onion</c:v>
                </c:pt>
                <c:pt idx="2">
                  <c:v>Potato</c:v>
                </c:pt>
                <c:pt idx="3">
                  <c:v>Ginger</c:v>
                </c:pt>
              </c:strCache>
            </c:strRef>
          </c:cat>
          <c:val>
            <c:numRef>
              <c:f>Sheet1!$B$2:$B$5</c:f>
              <c:numCache>
                <c:formatCode>General</c:formatCode>
                <c:ptCount val="4"/>
                <c:pt idx="0">
                  <c:v>1600</c:v>
                </c:pt>
                <c:pt idx="1">
                  <c:v>2231</c:v>
                </c:pt>
                <c:pt idx="2">
                  <c:v>1699</c:v>
                </c:pt>
                <c:pt idx="3">
                  <c:v>5476</c:v>
                </c:pt>
              </c:numCache>
            </c:numRef>
          </c:val>
        </c:ser>
        <c:ser>
          <c:idx val="1"/>
          <c:order val="1"/>
          <c:tx>
            <c:strRef>
              <c:f>Sheet1!$C$1</c:f>
              <c:strCache>
                <c:ptCount val="1"/>
                <c:pt idx="0">
                  <c:v>Highest price yesterday</c:v>
                </c:pt>
              </c:strCache>
            </c:strRef>
          </c:tx>
          <c:spPr>
            <a:solidFill>
              <a:srgbClr val="7F8FA6"/>
            </a:solidFill>
          </c:spPr>
          <c:cat>
            <c:strRef>
              <c:f>Sheet1!$A$2:$A$5</c:f>
              <c:strCache>
                <c:ptCount val="4"/>
                <c:pt idx="0">
                  <c:v>Tomato</c:v>
                </c:pt>
                <c:pt idx="1">
                  <c:v>Onion</c:v>
                </c:pt>
                <c:pt idx="2">
                  <c:v>Potato</c:v>
                </c:pt>
                <c:pt idx="3">
                  <c:v>Ginger</c:v>
                </c:pt>
              </c:strCache>
            </c:strRef>
          </c:cat>
          <c:val>
            <c:numRef>
              <c:f>Sheet1!$C$2:$C$5</c:f>
              <c:numCache>
                <c:formatCode>General</c:formatCode>
                <c:ptCount val="4"/>
                <c:pt idx="0">
                  <c:v>2021</c:v>
                </c:pt>
                <c:pt idx="1">
                  <c:v>2407</c:v>
                </c:pt>
                <c:pt idx="2">
                  <c:v>1780</c:v>
                </c:pt>
                <c:pt idx="3">
                  <c:v>7050</c:v>
                </c:pt>
              </c:numCache>
            </c:numRef>
          </c:val>
        </c:ser>
        <c:ser>
          <c:idx val="2"/>
          <c:order val="2"/>
          <c:tx>
            <c:strRef>
              <c:f>Sheet1!$D$1</c:f>
              <c:strCache>
                <c:ptCount val="1"/>
                <c:pt idx="0">
                  <c:v>LightGBM, observed prices</c:v>
                </c:pt>
              </c:strCache>
            </c:strRef>
          </c:tx>
          <c:spPr>
            <a:solidFill>
              <a:srgbClr val="C9A24A"/>
            </a:solidFill>
          </c:spPr>
          <c:cat>
            <c:strRef>
              <c:f>Sheet1!$A$2:$A$5</c:f>
              <c:strCache>
                <c:ptCount val="4"/>
                <c:pt idx="0">
                  <c:v>Tomato</c:v>
                </c:pt>
                <c:pt idx="1">
                  <c:v>Onion</c:v>
                </c:pt>
                <c:pt idx="2">
                  <c:v>Potato</c:v>
                </c:pt>
                <c:pt idx="3">
                  <c:v>Ginger</c:v>
                </c:pt>
              </c:strCache>
            </c:strRef>
          </c:cat>
          <c:val>
            <c:numRef>
              <c:f>Sheet1!$D$2:$D$5</c:f>
              <c:numCache>
                <c:formatCode>General</c:formatCode>
                <c:ptCount val="4"/>
                <c:pt idx="0">
                  <c:v>2016</c:v>
                </c:pt>
                <c:pt idx="1">
                  <c:v>2395</c:v>
                </c:pt>
                <c:pt idx="2">
                  <c:v>1758</c:v>
                </c:pt>
                <c:pt idx="3">
                  <c:v>7047</c:v>
                </c:pt>
              </c:numCache>
            </c:numRef>
          </c:val>
        </c:ser>
        <c:ser>
          <c:idx val="3"/>
          <c:order val="3"/>
          <c:tx>
            <c:strRef>
              <c:f>Sheet1!$E$1</c:f>
              <c:strCache>
                <c:ptCount val="1"/>
                <c:pt idx="0">
                  <c:v>LightGBM, realised outcomes</c:v>
                </c:pt>
              </c:strCache>
            </c:strRef>
          </c:tx>
          <c:spPr>
            <a:solidFill>
              <a:srgbClr val="2E75B6"/>
            </a:solidFill>
          </c:spPr>
          <c:cat>
            <c:strRef>
              <c:f>Sheet1!$A$2:$A$5</c:f>
              <c:strCache>
                <c:ptCount val="4"/>
                <c:pt idx="0">
                  <c:v>Tomato</c:v>
                </c:pt>
                <c:pt idx="1">
                  <c:v>Onion</c:v>
                </c:pt>
                <c:pt idx="2">
                  <c:v>Potato</c:v>
                </c:pt>
                <c:pt idx="3">
                  <c:v>Ginger</c:v>
                </c:pt>
              </c:strCache>
            </c:strRef>
          </c:cat>
          <c:val>
            <c:numRef>
              <c:f>Sheet1!$E$2:$E$5</c:f>
              <c:numCache>
                <c:formatCode>General</c:formatCode>
                <c:ptCount val="4"/>
                <c:pt idx="0">
                  <c:v>2156</c:v>
                </c:pt>
                <c:pt idx="1">
                  <c:v>2552</c:v>
                </c:pt>
                <c:pt idx="2">
                  <c:v>1845</c:v>
                </c:pt>
                <c:pt idx="3">
                  <c:v>7196</c:v>
                </c:pt>
              </c:numCache>
            </c:numRef>
          </c:val>
        </c:ser>
        <c:ser>
          <c:idx val="4"/>
          <c:order val="4"/>
          <c:tx>
            <c:strRef>
              <c:f>Sheet1!$F$1</c:f>
              <c:strCache>
                <c:ptCount val="1"/>
                <c:pt idx="0">
                  <c:v>Neural SPO+</c:v>
                </c:pt>
              </c:strCache>
            </c:strRef>
          </c:tx>
          <c:spPr>
            <a:solidFill>
              <a:srgbClr val="1F4E79"/>
            </a:solidFill>
          </c:spPr>
          <c:cat>
            <c:strRef>
              <c:f>Sheet1!$A$2:$A$5</c:f>
              <c:strCache>
                <c:ptCount val="4"/>
                <c:pt idx="0">
                  <c:v>Tomato</c:v>
                </c:pt>
                <c:pt idx="1">
                  <c:v>Onion</c:v>
                </c:pt>
                <c:pt idx="2">
                  <c:v>Potato</c:v>
                </c:pt>
                <c:pt idx="3">
                  <c:v>Ginger</c:v>
                </c:pt>
              </c:strCache>
            </c:strRef>
          </c:cat>
          <c:val>
            <c:numRef>
              <c:f>Sheet1!$F$2:$F$5</c:f>
              <c:numCache>
                <c:formatCode>General</c:formatCode>
                <c:ptCount val="4"/>
                <c:pt idx="0">
                  <c:v>2164</c:v>
                </c:pt>
                <c:pt idx="1">
                  <c:v>2564</c:v>
                </c:pt>
                <c:pt idx="2">
                  <c:v>1830</c:v>
                </c:pt>
                <c:pt idx="3">
                  <c:v>7188</c:v>
                </c:pt>
              </c:numCache>
            </c:numRef>
          </c:val>
        </c:ser>
        <c:ser>
          <c:idx val="5"/>
          <c:order val="5"/>
          <c:tx>
            <c:strRef>
              <c:f>Sheet1!$G$1</c:f>
              <c:strCache>
                <c:ptCount val="1"/>
                <c:pt idx="0">
                  <c:v>Hindsight oracle</c:v>
                </c:pt>
              </c:strCache>
            </c:strRef>
          </c:tx>
          <c:spPr>
            <a:solidFill>
              <a:srgbClr val="9AA0A6"/>
            </a:solidFill>
          </c:spPr>
          <c:cat>
            <c:strRef>
              <c:f>Sheet1!$A$2:$A$5</c:f>
              <c:strCache>
                <c:ptCount val="4"/>
                <c:pt idx="0">
                  <c:v>Tomato</c:v>
                </c:pt>
                <c:pt idx="1">
                  <c:v>Onion</c:v>
                </c:pt>
                <c:pt idx="2">
                  <c:v>Potato</c:v>
                </c:pt>
                <c:pt idx="3">
                  <c:v>Ginger</c:v>
                </c:pt>
              </c:strCache>
            </c:strRef>
          </c:cat>
          <c:val>
            <c:numRef>
              <c:f>Sheet1!$G$2:$G$5</c:f>
              <c:numCache>
                <c:formatCode>General</c:formatCode>
                <c:ptCount val="4"/>
                <c:pt idx="0">
                  <c:v>2570</c:v>
                </c:pt>
                <c:pt idx="1">
                  <c:v>2902</c:v>
                </c:pt>
                <c:pt idx="2">
                  <c:v>2173</c:v>
                </c:pt>
                <c:pt idx="3">
                  <c:v>7741</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22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2000"/>
            </a:pPr>
          </a:p>
        </c:txPr>
        <c:crossAx val="-2068027336"/>
        <c:crosses val="autoZero"/>
      </c:valAx>
    </c:plotArea>
    <c:legend>
      <c:legendPos val="b"/>
      <c:overlay val="0"/>
      <c:txPr>
        <a:bodyPr/>
        <a:lstStyle/>
        <a:p>
          <a:pPr>
            <a:defRPr sz="20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00"/>
              <a:t>Back-test gain of the advice, Rs per quintal</a:t>
            </a:r>
          </a:p>
        </c:rich>
      </c:tx>
      <c:layout/>
      <c:overlay val="0"/>
    </c:title>
    <c:autoTitleDeleted val="0"/>
    <c:plotArea>
      <c:barChart>
        <c:barDir val="col"/>
        <c:grouping val="clustered"/>
        <c:ser>
          <c:idx val="0"/>
          <c:order val="0"/>
          <c:tx>
            <c:strRef>
              <c:f>Sheet1!$B$1</c:f>
              <c:strCache>
                <c:ptCount val="1"/>
                <c:pt idx="0">
                  <c:v>vs highest price yesterday</c:v>
                </c:pt>
              </c:strCache>
            </c:strRef>
          </c:tx>
          <c:spPr>
            <a:solidFill>
              <a:srgbClr val="2E75B6"/>
            </a:solidFill>
          </c:spPr>
          <c:cat>
            <c:strRef>
              <c:f>Sheet1!$A$2:$A$5</c:f>
              <c:strCache>
                <c:ptCount val="4"/>
                <c:pt idx="0">
                  <c:v>Tomato</c:v>
                </c:pt>
                <c:pt idx="1">
                  <c:v>Onion</c:v>
                </c:pt>
                <c:pt idx="2">
                  <c:v>Potato</c:v>
                </c:pt>
                <c:pt idx="3">
                  <c:v>Ginger</c:v>
                </c:pt>
              </c:strCache>
            </c:strRef>
          </c:cat>
          <c:val>
            <c:numRef>
              <c:f>Sheet1!$B$2:$B$5</c:f>
              <c:numCache>
                <c:formatCode>General</c:formatCode>
                <c:ptCount val="4"/>
                <c:pt idx="0">
                  <c:v>170</c:v>
                </c:pt>
                <c:pt idx="1">
                  <c:v>60</c:v>
                </c:pt>
                <c:pt idx="2">
                  <c:v>15</c:v>
                </c:pt>
                <c:pt idx="3">
                  <c:v>202</c:v>
                </c:pt>
              </c:numCache>
            </c:numRef>
          </c:val>
        </c:ser>
        <c:ser>
          <c:idx val="1"/>
          <c:order val="1"/>
          <c:tx>
            <c:strRef>
              <c:f>Sheet1!$C$1</c:f>
              <c:strCache>
                <c:ptCount val="1"/>
                <c:pt idx="0">
                  <c:v>vs nearest mandi</c:v>
                </c:pt>
              </c:strCache>
            </c:strRef>
          </c:tx>
          <c:spPr>
            <a:solidFill>
              <a:srgbClr val="D9822B"/>
            </a:solidFill>
          </c:spPr>
          <c:cat>
            <c:strRef>
              <c:f>Sheet1!$A$2:$A$5</c:f>
              <c:strCache>
                <c:ptCount val="4"/>
                <c:pt idx="0">
                  <c:v>Tomato</c:v>
                </c:pt>
                <c:pt idx="1">
                  <c:v>Onion</c:v>
                </c:pt>
                <c:pt idx="2">
                  <c:v>Potato</c:v>
                </c:pt>
                <c:pt idx="3">
                  <c:v>Ginger</c:v>
                </c:pt>
              </c:strCache>
            </c:strRef>
          </c:cat>
          <c:val>
            <c:numRef>
              <c:f>Sheet1!$C$2:$C$5</c:f>
              <c:numCache>
                <c:formatCode>General</c:formatCode>
                <c:ptCount val="4"/>
                <c:pt idx="0">
                  <c:v>571</c:v>
                </c:pt>
                <c:pt idx="1">
                  <c:v>300</c:v>
                </c:pt>
                <c:pt idx="2">
                  <c:v>69</c:v>
                </c:pt>
                <c:pt idx="3">
                  <c:v>1595</c:v>
                </c:pt>
              </c:numCache>
            </c:numRef>
          </c:val>
        </c:ser>
        <c:gapWidth val="60"/>
        <c:axId val="-2068027336"/>
        <c:axId val="-2113994440"/>
      </c:barChart>
      <c:catAx>
        <c:axId val="-2068027336"/>
        <c:scaling>
          <c:orientation val="minMax"/>
        </c:scaling>
        <c:delete val="0"/>
        <c:axPos val="b"/>
        <c:majorTickMark val="out"/>
        <c:minorTickMark val="none"/>
        <c:tickLblPos val="nextTo"/>
        <c:txPr>
          <a:bodyPr/>
          <a:lstStyle/>
          <a:p>
            <a:pPr>
              <a:defRPr sz="20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1800"/>
            </a:pPr>
          </a:p>
        </c:txPr>
        <c:crossAx val="-2068027336"/>
        <c:crosses val="autoZero"/>
      </c:valAx>
    </c:plotArea>
    <c:legend>
      <c:legendPos val="b"/>
      <c:overlay val="0"/>
      <c:txPr>
        <a:bodyPr/>
        <a:lstStyle/>
        <a:p>
          <a:pPr>
            <a:defRPr sz="18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200"/>
              <a:t>Skill vs random walk, tomato (%)</a:t>
            </a:r>
          </a:p>
        </c:rich>
      </c:tx>
      <c:layout/>
      <c:overlay val="0"/>
    </c:title>
    <c:autoTitleDeleted val="0"/>
    <c:plotArea>
      <c:barChart>
        <c:barDir val="col"/>
        <c:grouping val="clustered"/>
        <c:ser>
          <c:idx val="0"/>
          <c:order val="0"/>
          <c:tx>
            <c:strRef>
              <c:f>Sheet1!$B$1</c:f>
              <c:strCache>
                <c:ptCount val="1"/>
                <c:pt idx="0">
                  <c:v>Published protocol (decomposed once)</c:v>
                </c:pt>
              </c:strCache>
            </c:strRef>
          </c:tx>
          <c:spPr>
            <a:solidFill>
              <a:srgbClr val="C0392B"/>
            </a:solidFill>
          </c:spPr>
          <c:cat>
            <c:strRef>
              <c:f>Sheet1!$A$2:$A$9</c:f>
              <c:strCache>
                <c:ptCount val="8"/>
                <c:pt idx="0">
                  <c:v>STL + LGBM, 1 d</c:v>
                </c:pt>
                <c:pt idx="1">
                  <c:v>STL + LGBM, 7 d</c:v>
                </c:pt>
                <c:pt idx="2">
                  <c:v>STL + Ridge, 1 d</c:v>
                </c:pt>
                <c:pt idx="3">
                  <c:v>STL + Ridge, 7 d</c:v>
                </c:pt>
                <c:pt idx="4">
                  <c:v>VMD + LGBM, 1 d</c:v>
                </c:pt>
                <c:pt idx="5">
                  <c:v>VMD + LGBM, 7 d</c:v>
                </c:pt>
                <c:pt idx="6">
                  <c:v>VMD + Ridge, 1 d</c:v>
                </c:pt>
                <c:pt idx="7">
                  <c:v>VMD + Ridge, 7 d</c:v>
                </c:pt>
              </c:strCache>
            </c:strRef>
          </c:cat>
          <c:val>
            <c:numRef>
              <c:f>Sheet1!$B$2:$B$9</c:f>
              <c:numCache>
                <c:formatCode>General</c:formatCode>
                <c:ptCount val="8"/>
                <c:pt idx="0">
                  <c:v>27.3</c:v>
                </c:pt>
                <c:pt idx="1">
                  <c:v>40.8</c:v>
                </c:pt>
                <c:pt idx="2">
                  <c:v>28.5</c:v>
                </c:pt>
                <c:pt idx="3">
                  <c:v>41.1</c:v>
                </c:pt>
                <c:pt idx="4">
                  <c:v>44.4</c:v>
                </c:pt>
                <c:pt idx="5">
                  <c:v>57.9</c:v>
                </c:pt>
                <c:pt idx="6">
                  <c:v>50.5</c:v>
                </c:pt>
                <c:pt idx="7">
                  <c:v>62.4</c:v>
                </c:pt>
              </c:numCache>
            </c:numRef>
          </c:val>
        </c:ser>
        <c:ser>
          <c:idx val="1"/>
          <c:order val="1"/>
          <c:tx>
            <c:strRef>
              <c:f>Sheet1!$C$1</c:f>
              <c:strCache>
                <c:ptCount val="1"/>
                <c:pt idx="0">
                  <c:v>Causal protocol</c:v>
                </c:pt>
              </c:strCache>
            </c:strRef>
          </c:tx>
          <c:spPr>
            <a:solidFill>
              <a:srgbClr val="1F4E79"/>
            </a:solidFill>
          </c:spPr>
          <c:cat>
            <c:strRef>
              <c:f>Sheet1!$A$2:$A$9</c:f>
              <c:strCache>
                <c:ptCount val="8"/>
                <c:pt idx="0">
                  <c:v>STL + LGBM, 1 d</c:v>
                </c:pt>
                <c:pt idx="1">
                  <c:v>STL + LGBM, 7 d</c:v>
                </c:pt>
                <c:pt idx="2">
                  <c:v>STL + Ridge, 1 d</c:v>
                </c:pt>
                <c:pt idx="3">
                  <c:v>STL + Ridge, 7 d</c:v>
                </c:pt>
                <c:pt idx="4">
                  <c:v>VMD + LGBM, 1 d</c:v>
                </c:pt>
                <c:pt idx="5">
                  <c:v>VMD + LGBM, 7 d</c:v>
                </c:pt>
                <c:pt idx="6">
                  <c:v>VMD + Ridge, 1 d</c:v>
                </c:pt>
                <c:pt idx="7">
                  <c:v>VMD + Ridge, 7 d</c:v>
                </c:pt>
              </c:strCache>
            </c:strRef>
          </c:cat>
          <c:val>
            <c:numRef>
              <c:f>Sheet1!$C$2:$C$9</c:f>
              <c:numCache>
                <c:formatCode>General</c:formatCode>
                <c:ptCount val="8"/>
                <c:pt idx="0">
                  <c:v>-14.7</c:v>
                </c:pt>
                <c:pt idx="1">
                  <c:v>-11.7</c:v>
                </c:pt>
                <c:pt idx="2">
                  <c:v>-7.6</c:v>
                </c:pt>
                <c:pt idx="3">
                  <c:v>-2.7</c:v>
                </c:pt>
                <c:pt idx="4">
                  <c:v>-12.6</c:v>
                </c:pt>
                <c:pt idx="5">
                  <c:v>-5.8</c:v>
                </c:pt>
                <c:pt idx="6">
                  <c:v>-10.8</c:v>
                </c:pt>
                <c:pt idx="7">
                  <c:v>-0.6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700"/>
            </a:pPr>
          </a:p>
        </c:txPr>
        <c:crossAx val="-2113994440"/>
        <c:crosses val="autoZero"/>
        <c:auto val="1"/>
        <c:lblAlgn val="ctr"/>
        <c:lblOffset val="100"/>
        <c:noMultiLvlLbl val="0"/>
      </c:catAx>
      <c:valAx>
        <c:axId val="-2113994440"/>
        <c:scaling/>
        <c:delete val="0"/>
        <c:axPos val="l"/>
        <c:majorGridlines>
          <c:spPr>
            <a:ln>
              <a:solidFill>
                <a:srgbClr val="D5DBE3"/>
              </a:solidFill>
            </a:ln>
          </c:spPr>
        </c:majorGridlines>
        <c:majorTickMark val="out"/>
        <c:minorTickMark val="none"/>
        <c:tickLblPos val="nextTo"/>
        <c:txPr>
          <a:bodyPr/>
          <a:lstStyle/>
          <a:p>
            <a:pPr>
              <a:defRPr sz="2000"/>
            </a:pPr>
          </a:p>
        </c:txPr>
        <c:crossAx val="-2068027336"/>
        <c:crosses val="autoZero"/>
      </c:valAx>
    </c:plotArea>
    <c:legend>
      <c:legendPos val="b"/>
      <c:overlay val="0"/>
      <c:txPr>
        <a:bodyPr/>
        <a:lstStyle/>
        <a:p>
          <a:pPr>
            <a:defRPr sz="20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Running mean gain over the nearest mandi, Rs per quintal (days 1 to 165; ginger, mean +Rs 2544, is off this scale)</a:t>
            </a:r>
          </a:p>
        </c:rich>
      </c:tx>
      <c:layout/>
      <c:overlay val="0"/>
    </c:title>
    <c:autoTitleDeleted val="0"/>
    <c:plotArea>
      <c:lineChart>
        <c:grouping val="standard"/>
        <c:varyColors val="0"/>
        <c:ser>
          <c:idx val="0"/>
          <c:order val="0"/>
          <c:tx>
            <c:strRef>
              <c:f>Sheet1!$B$1</c:f>
              <c:strCache>
                <c:ptCount val="1"/>
                <c:pt idx="0">
                  <c:v>Tomato</c:v>
                </c:pt>
              </c:strCache>
            </c:strRef>
          </c:tx>
          <c:spPr>
            <a:ln w="31750">
              <a:solidFill>
                <a:srgbClr val="C0392B"/>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Sheet1!$B$2:$B$166</c:f>
              <c:numCache>
                <c:formatCode>General</c:formatCode>
                <c:ptCount val="165"/>
                <c:pt idx="0">
                  <c:v>816.6</c:v>
                </c:pt>
                <c:pt idx="1">
                  <c:v>739.8</c:v>
                </c:pt>
                <c:pt idx="2">
                  <c:v>649.5</c:v>
                </c:pt>
                <c:pt idx="3">
                  <c:v>544.8</c:v>
                </c:pt>
                <c:pt idx="4">
                  <c:v>620.6</c:v>
                </c:pt>
                <c:pt idx="5">
                  <c:v>639.9</c:v>
                </c:pt>
                <c:pt idx="6">
                  <c:v>621.2</c:v>
                </c:pt>
                <c:pt idx="7">
                  <c:v>650.6</c:v>
                </c:pt>
                <c:pt idx="8">
                  <c:v>617.1</c:v>
                </c:pt>
                <c:pt idx="9">
                  <c:v>637.2</c:v>
                </c:pt>
                <c:pt idx="10">
                  <c:v>647.3</c:v>
                </c:pt>
                <c:pt idx="11">
                  <c:v>629.9</c:v>
                </c:pt>
                <c:pt idx="12">
                  <c:v>649.8</c:v>
                </c:pt>
                <c:pt idx="13">
                  <c:v>636.2</c:v>
                </c:pt>
                <c:pt idx="14">
                  <c:v>629.8</c:v>
                </c:pt>
                <c:pt idx="15">
                  <c:v>620.5</c:v>
                </c:pt>
                <c:pt idx="16">
                  <c:v>580.6</c:v>
                </c:pt>
                <c:pt idx="17">
                  <c:v>562.7</c:v>
                </c:pt>
                <c:pt idx="18">
                  <c:v>550.5</c:v>
                </c:pt>
                <c:pt idx="19">
                  <c:v>599.6</c:v>
                </c:pt>
                <c:pt idx="20">
                  <c:v>603.6</c:v>
                </c:pt>
                <c:pt idx="21">
                  <c:v>592.8</c:v>
                </c:pt>
                <c:pt idx="22">
                  <c:v>583.7</c:v>
                </c:pt>
                <c:pt idx="23">
                  <c:v>583.3</c:v>
                </c:pt>
                <c:pt idx="24">
                  <c:v>577.3</c:v>
                </c:pt>
                <c:pt idx="25">
                  <c:v>564.1</c:v>
                </c:pt>
                <c:pt idx="26">
                  <c:v>565.7</c:v>
                </c:pt>
                <c:pt idx="27">
                  <c:v>560.4</c:v>
                </c:pt>
                <c:pt idx="28">
                  <c:v>557.2</c:v>
                </c:pt>
                <c:pt idx="29">
                  <c:v>566.1</c:v>
                </c:pt>
                <c:pt idx="30">
                  <c:v>577.4</c:v>
                </c:pt>
                <c:pt idx="31">
                  <c:v>594.5</c:v>
                </c:pt>
                <c:pt idx="32">
                  <c:v>607.5</c:v>
                </c:pt>
                <c:pt idx="33">
                  <c:v>617.1</c:v>
                </c:pt>
                <c:pt idx="34">
                  <c:v>631.5</c:v>
                </c:pt>
                <c:pt idx="35">
                  <c:v>649.5</c:v>
                </c:pt>
                <c:pt idx="36">
                  <c:v>655.6</c:v>
                </c:pt>
                <c:pt idx="37">
                  <c:v>658.3</c:v>
                </c:pt>
                <c:pt idx="38">
                  <c:v>668.0</c:v>
                </c:pt>
                <c:pt idx="39">
                  <c:v>666.5</c:v>
                </c:pt>
                <c:pt idx="40">
                  <c:v>670.3</c:v>
                </c:pt>
                <c:pt idx="41">
                  <c:v>665.4</c:v>
                </c:pt>
                <c:pt idx="42">
                  <c:v>667.5</c:v>
                </c:pt>
                <c:pt idx="43">
                  <c:v>673.4</c:v>
                </c:pt>
                <c:pt idx="44">
                  <c:v>677.5</c:v>
                </c:pt>
                <c:pt idx="45">
                  <c:v>658.6</c:v>
                </c:pt>
                <c:pt idx="46">
                  <c:v>664.9</c:v>
                </c:pt>
                <c:pt idx="47">
                  <c:v>680.9</c:v>
                </c:pt>
                <c:pt idx="48">
                  <c:v>678.3</c:v>
                </c:pt>
                <c:pt idx="49">
                  <c:v>681.7</c:v>
                </c:pt>
                <c:pt idx="50">
                  <c:v>681.1</c:v>
                </c:pt>
                <c:pt idx="51">
                  <c:v>678.0</c:v>
                </c:pt>
                <c:pt idx="52">
                  <c:v>681.9</c:v>
                </c:pt>
                <c:pt idx="53">
                  <c:v>683.9</c:v>
                </c:pt>
                <c:pt idx="54">
                  <c:v>689.6</c:v>
                </c:pt>
                <c:pt idx="55">
                  <c:v>690.4</c:v>
                </c:pt>
                <c:pt idx="56">
                  <c:v>684.7</c:v>
                </c:pt>
                <c:pt idx="57">
                  <c:v>681.7</c:v>
                </c:pt>
                <c:pt idx="58">
                  <c:v>676.4</c:v>
                </c:pt>
                <c:pt idx="59">
                  <c:v>671.2</c:v>
                </c:pt>
                <c:pt idx="60">
                  <c:v>657.0</c:v>
                </c:pt>
                <c:pt idx="61">
                  <c:v>657.0</c:v>
                </c:pt>
                <c:pt idx="62">
                  <c:v>653.3</c:v>
                </c:pt>
                <c:pt idx="63">
                  <c:v>647.7</c:v>
                </c:pt>
                <c:pt idx="64">
                  <c:v>638.1</c:v>
                </c:pt>
                <c:pt idx="65">
                  <c:v>630.0</c:v>
                </c:pt>
                <c:pt idx="66">
                  <c:v>624.7</c:v>
                </c:pt>
                <c:pt idx="67">
                  <c:v>618.4</c:v>
                </c:pt>
                <c:pt idx="68">
                  <c:v>615.1</c:v>
                </c:pt>
                <c:pt idx="69">
                  <c:v>609.3</c:v>
                </c:pt>
                <c:pt idx="70">
                  <c:v>604.3</c:v>
                </c:pt>
                <c:pt idx="71">
                  <c:v>594.1</c:v>
                </c:pt>
                <c:pt idx="72">
                  <c:v>592.8</c:v>
                </c:pt>
                <c:pt idx="73">
                  <c:v>591.8</c:v>
                </c:pt>
                <c:pt idx="74">
                  <c:v>582.1</c:v>
                </c:pt>
                <c:pt idx="75">
                  <c:v>576.8</c:v>
                </c:pt>
                <c:pt idx="76">
                  <c:v>570.0</c:v>
                </c:pt>
                <c:pt idx="77">
                  <c:v>568.3</c:v>
                </c:pt>
                <c:pt idx="78">
                  <c:v>568.0</c:v>
                </c:pt>
                <c:pt idx="79">
                  <c:v>568.2</c:v>
                </c:pt>
                <c:pt idx="80">
                  <c:v>557.3</c:v>
                </c:pt>
                <c:pt idx="81">
                  <c:v>560.4</c:v>
                </c:pt>
                <c:pt idx="82">
                  <c:v>565.7</c:v>
                </c:pt>
                <c:pt idx="83">
                  <c:v>568.8</c:v>
                </c:pt>
                <c:pt idx="84">
                  <c:v>572.5</c:v>
                </c:pt>
                <c:pt idx="85">
                  <c:v>575.6</c:v>
                </c:pt>
                <c:pt idx="86">
                  <c:v>581.2</c:v>
                </c:pt>
                <c:pt idx="87">
                  <c:v>583.3</c:v>
                </c:pt>
                <c:pt idx="88">
                  <c:v>587.5</c:v>
                </c:pt>
                <c:pt idx="89">
                  <c:v>592.0</c:v>
                </c:pt>
                <c:pt idx="90">
                  <c:v>591.8</c:v>
                </c:pt>
                <c:pt idx="91">
                  <c:v>590.9</c:v>
                </c:pt>
                <c:pt idx="92">
                  <c:v>589.4</c:v>
                </c:pt>
                <c:pt idx="93">
                  <c:v>586.0</c:v>
                </c:pt>
                <c:pt idx="94">
                  <c:v>581.3</c:v>
                </c:pt>
                <c:pt idx="95">
                  <c:v>578.7</c:v>
                </c:pt>
                <c:pt idx="96">
                  <c:v>576.1</c:v>
                </c:pt>
                <c:pt idx="97">
                  <c:v>571.9</c:v>
                </c:pt>
                <c:pt idx="98">
                  <c:v>564.0</c:v>
                </c:pt>
                <c:pt idx="99">
                  <c:v>563.2</c:v>
                </c:pt>
                <c:pt idx="100">
                  <c:v>563.3</c:v>
                </c:pt>
                <c:pt idx="101">
                  <c:v>563.4</c:v>
                </c:pt>
                <c:pt idx="102">
                  <c:v>556.5</c:v>
                </c:pt>
                <c:pt idx="103">
                  <c:v>559.2</c:v>
                </c:pt>
                <c:pt idx="104">
                  <c:v>559.0</c:v>
                </c:pt>
                <c:pt idx="105">
                  <c:v>557.6</c:v>
                </c:pt>
                <c:pt idx="106">
                  <c:v>550.6</c:v>
                </c:pt>
                <c:pt idx="107">
                  <c:v>548.6</c:v>
                </c:pt>
                <c:pt idx="108">
                  <c:v>547.5</c:v>
                </c:pt>
                <c:pt idx="109">
                  <c:v>545.9</c:v>
                </c:pt>
                <c:pt idx="110">
                  <c:v>545.1</c:v>
                </c:pt>
                <c:pt idx="111">
                  <c:v>540.9</c:v>
                </c:pt>
                <c:pt idx="112">
                  <c:v>537.5</c:v>
                </c:pt>
                <c:pt idx="113">
                  <c:v>535.2</c:v>
                </c:pt>
                <c:pt idx="114">
                  <c:v>532.6</c:v>
                </c:pt>
                <c:pt idx="115">
                  <c:v>530.0</c:v>
                </c:pt>
                <c:pt idx="116">
                  <c:v>526.2</c:v>
                </c:pt>
                <c:pt idx="117">
                  <c:v>524.1</c:v>
                </c:pt>
                <c:pt idx="118">
                  <c:v>521.2</c:v>
                </c:pt>
                <c:pt idx="119">
                  <c:v>522.0</c:v>
                </c:pt>
                <c:pt idx="120">
                  <c:v>519.9</c:v>
                </c:pt>
                <c:pt idx="121">
                  <c:v>517.8</c:v>
                </c:pt>
                <c:pt idx="122">
                  <c:v>516.2</c:v>
                </c:pt>
                <c:pt idx="123">
                  <c:v>515.4</c:v>
                </c:pt>
                <c:pt idx="124">
                  <c:v>509.9</c:v>
                </c:pt>
                <c:pt idx="125">
                  <c:v>508.5</c:v>
                </c:pt>
                <c:pt idx="126">
                  <c:v>508.6</c:v>
                </c:pt>
                <c:pt idx="127">
                  <c:v>509.1</c:v>
                </c:pt>
                <c:pt idx="128">
                  <c:v>506.9</c:v>
                </c:pt>
                <c:pt idx="129">
                  <c:v>504.7</c:v>
                </c:pt>
                <c:pt idx="130">
                  <c:v>505.2</c:v>
                </c:pt>
                <c:pt idx="131">
                  <c:v>504.8</c:v>
                </c:pt>
                <c:pt idx="132">
                  <c:v>504.5</c:v>
                </c:pt>
                <c:pt idx="133">
                  <c:v>504.8</c:v>
                </c:pt>
                <c:pt idx="134">
                  <c:v>504.4</c:v>
                </c:pt>
                <c:pt idx="135">
                  <c:v>503.5</c:v>
                </c:pt>
                <c:pt idx="136">
                  <c:v>502.4</c:v>
                </c:pt>
                <c:pt idx="137">
                  <c:v>502.4</c:v>
                </c:pt>
                <c:pt idx="138">
                  <c:v>501.8</c:v>
                </c:pt>
                <c:pt idx="139">
                  <c:v>499.4</c:v>
                </c:pt>
                <c:pt idx="140">
                  <c:v>500.9</c:v>
                </c:pt>
                <c:pt idx="141">
                  <c:v>507.6</c:v>
                </c:pt>
                <c:pt idx="142">
                  <c:v>513.8</c:v>
                </c:pt>
                <c:pt idx="143">
                  <c:v>520.0</c:v>
                </c:pt>
                <c:pt idx="144">
                  <c:v>523.0</c:v>
                </c:pt>
                <c:pt idx="145">
                  <c:v>528.8</c:v>
                </c:pt>
                <c:pt idx="146">
                  <c:v>532.9</c:v>
                </c:pt>
                <c:pt idx="147">
                  <c:v>536.9</c:v>
                </c:pt>
                <c:pt idx="148">
                  <c:v>539.4</c:v>
                </c:pt>
                <c:pt idx="149">
                  <c:v>539.2</c:v>
                </c:pt>
                <c:pt idx="150">
                  <c:v>535.9</c:v>
                </c:pt>
                <c:pt idx="151">
                  <c:v>538.8</c:v>
                </c:pt>
                <c:pt idx="152">
                  <c:v>540.9</c:v>
                </c:pt>
                <c:pt idx="153">
                  <c:v>542.1</c:v>
                </c:pt>
                <c:pt idx="154">
                  <c:v>542.6</c:v>
                </c:pt>
                <c:pt idx="155">
                  <c:v>538.4</c:v>
                </c:pt>
                <c:pt idx="156">
                  <c:v>535.8</c:v>
                </c:pt>
                <c:pt idx="157">
                  <c:v>537.2</c:v>
                </c:pt>
                <c:pt idx="158">
                  <c:v>541.1</c:v>
                </c:pt>
                <c:pt idx="159">
                  <c:v>539.6</c:v>
                </c:pt>
                <c:pt idx="160">
                  <c:v>537.1</c:v>
                </c:pt>
                <c:pt idx="161">
                  <c:v>532.8</c:v>
                </c:pt>
                <c:pt idx="162">
                  <c:v>532.0</c:v>
                </c:pt>
                <c:pt idx="163">
                  <c:v>531.2</c:v>
                </c:pt>
                <c:pt idx="164">
                  <c:v>532.2</c:v>
                </c:pt>
              </c:numCache>
            </c:numRef>
          </c:val>
          <c:smooth val="0"/>
        </c:ser>
        <c:ser>
          <c:idx val="1"/>
          <c:order val="1"/>
          <c:tx>
            <c:strRef>
              <c:f>Sheet1!$C$1</c:f>
              <c:strCache>
                <c:ptCount val="1"/>
                <c:pt idx="0">
                  <c:v>Onion</c:v>
                </c:pt>
              </c:strCache>
            </c:strRef>
          </c:tx>
          <c:spPr>
            <a:ln w="31750">
              <a:solidFill>
                <a:srgbClr val="2E75B6"/>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Sheet1!$C$2:$C$166</c:f>
              <c:numCache>
                <c:formatCode>General</c:formatCode>
                <c:ptCount val="165"/>
                <c:pt idx="0">
                  <c:v>479.4</c:v>
                </c:pt>
                <c:pt idx="1">
                  <c:v>471.7</c:v>
                </c:pt>
                <c:pt idx="2">
                  <c:v>506.0</c:v>
                </c:pt>
                <c:pt idx="3">
                  <c:v>503.2</c:v>
                </c:pt>
                <c:pt idx="4">
                  <c:v>493.5</c:v>
                </c:pt>
                <c:pt idx="5">
                  <c:v>481.7</c:v>
                </c:pt>
                <c:pt idx="6">
                  <c:v>488.0</c:v>
                </c:pt>
                <c:pt idx="7">
                  <c:v>488.1</c:v>
                </c:pt>
                <c:pt idx="8">
                  <c:v>490.6</c:v>
                </c:pt>
                <c:pt idx="9">
                  <c:v>500.9</c:v>
                </c:pt>
                <c:pt idx="10">
                  <c:v>512.9</c:v>
                </c:pt>
                <c:pt idx="11">
                  <c:v>533.4</c:v>
                </c:pt>
                <c:pt idx="12">
                  <c:v>526.1</c:v>
                </c:pt>
                <c:pt idx="13">
                  <c:v>530.4</c:v>
                </c:pt>
                <c:pt idx="14">
                  <c:v>518.8</c:v>
                </c:pt>
                <c:pt idx="15">
                  <c:v>509.3</c:v>
                </c:pt>
                <c:pt idx="16">
                  <c:v>478.9</c:v>
                </c:pt>
                <c:pt idx="17">
                  <c:v>475.1</c:v>
                </c:pt>
                <c:pt idx="18">
                  <c:v>467.6</c:v>
                </c:pt>
                <c:pt idx="19">
                  <c:v>461.2</c:v>
                </c:pt>
                <c:pt idx="20">
                  <c:v>471.5</c:v>
                </c:pt>
                <c:pt idx="21">
                  <c:v>450.4</c:v>
                </c:pt>
                <c:pt idx="22">
                  <c:v>424.7</c:v>
                </c:pt>
                <c:pt idx="23">
                  <c:v>423.1</c:v>
                </c:pt>
                <c:pt idx="24">
                  <c:v>418.3</c:v>
                </c:pt>
                <c:pt idx="25">
                  <c:v>427.8</c:v>
                </c:pt>
                <c:pt idx="26">
                  <c:v>424.3</c:v>
                </c:pt>
                <c:pt idx="27">
                  <c:v>430.8</c:v>
                </c:pt>
                <c:pt idx="28">
                  <c:v>438.3</c:v>
                </c:pt>
                <c:pt idx="29">
                  <c:v>439.0</c:v>
                </c:pt>
                <c:pt idx="30">
                  <c:v>444.6</c:v>
                </c:pt>
                <c:pt idx="31">
                  <c:v>445.6</c:v>
                </c:pt>
                <c:pt idx="32">
                  <c:v>449.6</c:v>
                </c:pt>
                <c:pt idx="33">
                  <c:v>442.9</c:v>
                </c:pt>
                <c:pt idx="34">
                  <c:v>441.8</c:v>
                </c:pt>
                <c:pt idx="35">
                  <c:v>424.6</c:v>
                </c:pt>
                <c:pt idx="36">
                  <c:v>429.3</c:v>
                </c:pt>
                <c:pt idx="37">
                  <c:v>434.1</c:v>
                </c:pt>
                <c:pt idx="38">
                  <c:v>434.1</c:v>
                </c:pt>
                <c:pt idx="39">
                  <c:v>433.3</c:v>
                </c:pt>
                <c:pt idx="40">
                  <c:v>430.9</c:v>
                </c:pt>
                <c:pt idx="41">
                  <c:v>430.2</c:v>
                </c:pt>
                <c:pt idx="42">
                  <c:v>429.5</c:v>
                </c:pt>
                <c:pt idx="43">
                  <c:v>437.4</c:v>
                </c:pt>
                <c:pt idx="44">
                  <c:v>447.0</c:v>
                </c:pt>
                <c:pt idx="45">
                  <c:v>452.5</c:v>
                </c:pt>
                <c:pt idx="46">
                  <c:v>459.3</c:v>
                </c:pt>
                <c:pt idx="47">
                  <c:v>458.9</c:v>
                </c:pt>
                <c:pt idx="48">
                  <c:v>462.4</c:v>
                </c:pt>
                <c:pt idx="49">
                  <c:v>462.3</c:v>
                </c:pt>
                <c:pt idx="50">
                  <c:v>463.2</c:v>
                </c:pt>
                <c:pt idx="51">
                  <c:v>467.0</c:v>
                </c:pt>
                <c:pt idx="52">
                  <c:v>468.9</c:v>
                </c:pt>
                <c:pt idx="53">
                  <c:v>472.8</c:v>
                </c:pt>
                <c:pt idx="54">
                  <c:v>465.4</c:v>
                </c:pt>
                <c:pt idx="55">
                  <c:v>462.2</c:v>
                </c:pt>
                <c:pt idx="56">
                  <c:v>445.3</c:v>
                </c:pt>
                <c:pt idx="57">
                  <c:v>446.0</c:v>
                </c:pt>
                <c:pt idx="58">
                  <c:v>450.0</c:v>
                </c:pt>
                <c:pt idx="59">
                  <c:v>450.9</c:v>
                </c:pt>
                <c:pt idx="60">
                  <c:v>451.0</c:v>
                </c:pt>
                <c:pt idx="61">
                  <c:v>445.1</c:v>
                </c:pt>
                <c:pt idx="62">
                  <c:v>453.4</c:v>
                </c:pt>
                <c:pt idx="63">
                  <c:v>440.8</c:v>
                </c:pt>
                <c:pt idx="64">
                  <c:v>433.2</c:v>
                </c:pt>
                <c:pt idx="65">
                  <c:v>438.9</c:v>
                </c:pt>
                <c:pt idx="66">
                  <c:v>440.7</c:v>
                </c:pt>
                <c:pt idx="67">
                  <c:v>441.9</c:v>
                </c:pt>
                <c:pt idx="68">
                  <c:v>445.5</c:v>
                </c:pt>
                <c:pt idx="69">
                  <c:v>449.1</c:v>
                </c:pt>
                <c:pt idx="70">
                  <c:v>450.5</c:v>
                </c:pt>
                <c:pt idx="71">
                  <c:v>452.1</c:v>
                </c:pt>
                <c:pt idx="72">
                  <c:v>454.1</c:v>
                </c:pt>
                <c:pt idx="73">
                  <c:v>454.1</c:v>
                </c:pt>
                <c:pt idx="74">
                  <c:v>455.3</c:v>
                </c:pt>
                <c:pt idx="75">
                  <c:v>452.2</c:v>
                </c:pt>
                <c:pt idx="76">
                  <c:v>449.2</c:v>
                </c:pt>
                <c:pt idx="77">
                  <c:v>437.2</c:v>
                </c:pt>
                <c:pt idx="78">
                  <c:v>434.2</c:v>
                </c:pt>
                <c:pt idx="79">
                  <c:v>432.8</c:v>
                </c:pt>
                <c:pt idx="80">
                  <c:v>429.5</c:v>
                </c:pt>
                <c:pt idx="81">
                  <c:v>427.0</c:v>
                </c:pt>
                <c:pt idx="82">
                  <c:v>426.6</c:v>
                </c:pt>
                <c:pt idx="83">
                  <c:v>424.6</c:v>
                </c:pt>
                <c:pt idx="84">
                  <c:v>422.0</c:v>
                </c:pt>
                <c:pt idx="85">
                  <c:v>417.7</c:v>
                </c:pt>
                <c:pt idx="86">
                  <c:v>415.5</c:v>
                </c:pt>
                <c:pt idx="87">
                  <c:v>413.7</c:v>
                </c:pt>
                <c:pt idx="88">
                  <c:v>405.3</c:v>
                </c:pt>
                <c:pt idx="89">
                  <c:v>405.1</c:v>
                </c:pt>
                <c:pt idx="90">
                  <c:v>399.8</c:v>
                </c:pt>
                <c:pt idx="91">
                  <c:v>396.1</c:v>
                </c:pt>
                <c:pt idx="92">
                  <c:v>389.8</c:v>
                </c:pt>
                <c:pt idx="93">
                  <c:v>383.6</c:v>
                </c:pt>
                <c:pt idx="94">
                  <c:v>380.2</c:v>
                </c:pt>
                <c:pt idx="95">
                  <c:v>374.7</c:v>
                </c:pt>
                <c:pt idx="96">
                  <c:v>368.9</c:v>
                </c:pt>
                <c:pt idx="97">
                  <c:v>370.6</c:v>
                </c:pt>
                <c:pt idx="98">
                  <c:v>368.3</c:v>
                </c:pt>
                <c:pt idx="99">
                  <c:v>366.6</c:v>
                </c:pt>
                <c:pt idx="100">
                  <c:v>374.2</c:v>
                </c:pt>
                <c:pt idx="101">
                  <c:v>374.2</c:v>
                </c:pt>
                <c:pt idx="102">
                  <c:v>378.9</c:v>
                </c:pt>
                <c:pt idx="103">
                  <c:v>384.5</c:v>
                </c:pt>
                <c:pt idx="104">
                  <c:v>389.8</c:v>
                </c:pt>
                <c:pt idx="105">
                  <c:v>385.0</c:v>
                </c:pt>
                <c:pt idx="106">
                  <c:v>378.5</c:v>
                </c:pt>
                <c:pt idx="107">
                  <c:v>381.0</c:v>
                </c:pt>
                <c:pt idx="108">
                  <c:v>375.8</c:v>
                </c:pt>
                <c:pt idx="109">
                  <c:v>366.1</c:v>
                </c:pt>
                <c:pt idx="110">
                  <c:v>371.6</c:v>
                </c:pt>
                <c:pt idx="111">
                  <c:v>371.3</c:v>
                </c:pt>
                <c:pt idx="112">
                  <c:v>369.3</c:v>
                </c:pt>
                <c:pt idx="113">
                  <c:v>365.9</c:v>
                </c:pt>
                <c:pt idx="114">
                  <c:v>374.0</c:v>
                </c:pt>
                <c:pt idx="115">
                  <c:v>378.5</c:v>
                </c:pt>
                <c:pt idx="116">
                  <c:v>383.6</c:v>
                </c:pt>
                <c:pt idx="117">
                  <c:v>386.5</c:v>
                </c:pt>
                <c:pt idx="118">
                  <c:v>389.1</c:v>
                </c:pt>
                <c:pt idx="119">
                  <c:v>395.4</c:v>
                </c:pt>
                <c:pt idx="120">
                  <c:v>400.6</c:v>
                </c:pt>
                <c:pt idx="121">
                  <c:v>411.1</c:v>
                </c:pt>
                <c:pt idx="122">
                  <c:v>413.9</c:v>
                </c:pt>
                <c:pt idx="123">
                  <c:v>417.2</c:v>
                </c:pt>
                <c:pt idx="124">
                  <c:v>428.4</c:v>
                </c:pt>
                <c:pt idx="125">
                  <c:v>425.2</c:v>
                </c:pt>
                <c:pt idx="126">
                  <c:v>417.4</c:v>
                </c:pt>
                <c:pt idx="127">
                  <c:v>419.8</c:v>
                </c:pt>
                <c:pt idx="128">
                  <c:v>426.6</c:v>
                </c:pt>
                <c:pt idx="129">
                  <c:v>421.2</c:v>
                </c:pt>
                <c:pt idx="130">
                  <c:v>418.5</c:v>
                </c:pt>
                <c:pt idx="131">
                  <c:v>413.4</c:v>
                </c:pt>
                <c:pt idx="132">
                  <c:v>412.2</c:v>
                </c:pt>
                <c:pt idx="133">
                  <c:v>410.0</c:v>
                </c:pt>
                <c:pt idx="134">
                  <c:v>407.4</c:v>
                </c:pt>
                <c:pt idx="135">
                  <c:v>407.3</c:v>
                </c:pt>
                <c:pt idx="136">
                  <c:v>404.7</c:v>
                </c:pt>
                <c:pt idx="137">
                  <c:v>406.1</c:v>
                </c:pt>
                <c:pt idx="138">
                  <c:v>407.7</c:v>
                </c:pt>
                <c:pt idx="139">
                  <c:v>411.1</c:v>
                </c:pt>
                <c:pt idx="140">
                  <c:v>419.1</c:v>
                </c:pt>
                <c:pt idx="141">
                  <c:v>412.7</c:v>
                </c:pt>
                <c:pt idx="142">
                  <c:v>402.9</c:v>
                </c:pt>
                <c:pt idx="143">
                  <c:v>397.7</c:v>
                </c:pt>
                <c:pt idx="144">
                  <c:v>404.3</c:v>
                </c:pt>
                <c:pt idx="145">
                  <c:v>410.9</c:v>
                </c:pt>
                <c:pt idx="146">
                  <c:v>415.0</c:v>
                </c:pt>
                <c:pt idx="147">
                  <c:v>414.9</c:v>
                </c:pt>
                <c:pt idx="148">
                  <c:v>415.6</c:v>
                </c:pt>
                <c:pt idx="149">
                  <c:v>408.1</c:v>
                </c:pt>
                <c:pt idx="150">
                  <c:v>409.7</c:v>
                </c:pt>
                <c:pt idx="151">
                  <c:v>406.7</c:v>
                </c:pt>
                <c:pt idx="152">
                  <c:v>410.3</c:v>
                </c:pt>
                <c:pt idx="153">
                  <c:v>414.1</c:v>
                </c:pt>
                <c:pt idx="154">
                  <c:v>415.8</c:v>
                </c:pt>
                <c:pt idx="155">
                  <c:v>417.9</c:v>
                </c:pt>
                <c:pt idx="156">
                  <c:v>420.3</c:v>
                </c:pt>
                <c:pt idx="157">
                  <c:v>422.4</c:v>
                </c:pt>
                <c:pt idx="158">
                  <c:v>419.3</c:v>
                </c:pt>
                <c:pt idx="159">
                  <c:v>416.3</c:v>
                </c:pt>
                <c:pt idx="160">
                  <c:v>417.2</c:v>
                </c:pt>
                <c:pt idx="161">
                  <c:v>415.0</c:v>
                </c:pt>
                <c:pt idx="162">
                  <c:v>410.1</c:v>
                </c:pt>
                <c:pt idx="163">
                  <c:v>409.9</c:v>
                </c:pt>
                <c:pt idx="164">
                  <c:v>403.9</c:v>
                </c:pt>
              </c:numCache>
            </c:numRef>
          </c:val>
          <c:smooth val="0"/>
        </c:ser>
        <c:ser>
          <c:idx val="2"/>
          <c:order val="2"/>
          <c:tx>
            <c:strRef>
              <c:f>Sheet1!$D$1</c:f>
              <c:strCache>
                <c:ptCount val="1"/>
                <c:pt idx="0">
                  <c:v>Potato</c:v>
                </c:pt>
              </c:strCache>
            </c:strRef>
          </c:tx>
          <c:spPr>
            <a:ln w="31750">
              <a:solidFill>
                <a:srgbClr val="2E8B57"/>
              </a:solidFill>
            </a:ln>
          </c:spPr>
          <c:marker>
            <c:symbol val="none"/>
          </c:marker>
          <c:cat>
            <c:strRef>
              <c:f>Sheet1!$A$2:$A$166</c:f>
              <c:strCache>
                <c:ptCount val="16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strCache>
            </c:strRef>
          </c:cat>
          <c:val>
            <c:numRef>
              <c:f>Sheet1!$D$2:$D$166</c:f>
              <c:numCache>
                <c:formatCode>General</c:formatCode>
                <c:ptCount val="165"/>
                <c:pt idx="0">
                  <c:v>230.8</c:v>
                </c:pt>
                <c:pt idx="1">
                  <c:v>205.6</c:v>
                </c:pt>
                <c:pt idx="2">
                  <c:v>-43.6</c:v>
                </c:pt>
                <c:pt idx="3">
                  <c:v>-113.1</c:v>
                </c:pt>
                <c:pt idx="4">
                  <c:v>-75.8</c:v>
                </c:pt>
                <c:pt idx="5">
                  <c:v>-20.0</c:v>
                </c:pt>
                <c:pt idx="6">
                  <c:v>-0.5</c:v>
                </c:pt>
                <c:pt idx="7">
                  <c:v>17.6</c:v>
                </c:pt>
                <c:pt idx="8">
                  <c:v>33.7</c:v>
                </c:pt>
                <c:pt idx="9">
                  <c:v>27.6</c:v>
                </c:pt>
                <c:pt idx="10">
                  <c:v>27.2</c:v>
                </c:pt>
                <c:pt idx="11">
                  <c:v>20.8</c:v>
                </c:pt>
                <c:pt idx="12">
                  <c:v>32.7</c:v>
                </c:pt>
                <c:pt idx="13">
                  <c:v>37.6</c:v>
                </c:pt>
                <c:pt idx="14">
                  <c:v>38.3</c:v>
                </c:pt>
                <c:pt idx="15">
                  <c:v>41.2</c:v>
                </c:pt>
                <c:pt idx="16">
                  <c:v>48.5</c:v>
                </c:pt>
                <c:pt idx="17">
                  <c:v>53.6</c:v>
                </c:pt>
                <c:pt idx="18">
                  <c:v>64.2</c:v>
                </c:pt>
                <c:pt idx="19">
                  <c:v>85.5</c:v>
                </c:pt>
                <c:pt idx="20">
                  <c:v>88.9</c:v>
                </c:pt>
                <c:pt idx="21">
                  <c:v>87.2</c:v>
                </c:pt>
                <c:pt idx="22">
                  <c:v>88.5</c:v>
                </c:pt>
                <c:pt idx="23">
                  <c:v>87.7</c:v>
                </c:pt>
                <c:pt idx="24">
                  <c:v>87.3</c:v>
                </c:pt>
                <c:pt idx="25">
                  <c:v>92.0</c:v>
                </c:pt>
                <c:pt idx="26">
                  <c:v>99.8</c:v>
                </c:pt>
                <c:pt idx="27">
                  <c:v>104.3</c:v>
                </c:pt>
                <c:pt idx="28">
                  <c:v>106.2</c:v>
                </c:pt>
                <c:pt idx="29">
                  <c:v>94.3</c:v>
                </c:pt>
                <c:pt idx="30">
                  <c:v>91.3</c:v>
                </c:pt>
                <c:pt idx="31">
                  <c:v>94.9</c:v>
                </c:pt>
                <c:pt idx="32">
                  <c:v>105.4</c:v>
                </c:pt>
                <c:pt idx="33">
                  <c:v>80.8</c:v>
                </c:pt>
                <c:pt idx="34">
                  <c:v>81.8</c:v>
                </c:pt>
                <c:pt idx="35">
                  <c:v>62.1</c:v>
                </c:pt>
                <c:pt idx="36">
                  <c:v>55.9</c:v>
                </c:pt>
                <c:pt idx="37">
                  <c:v>45.9</c:v>
                </c:pt>
                <c:pt idx="38">
                  <c:v>50.7</c:v>
                </c:pt>
                <c:pt idx="39">
                  <c:v>55.7</c:v>
                </c:pt>
                <c:pt idx="40">
                  <c:v>67.8</c:v>
                </c:pt>
                <c:pt idx="41">
                  <c:v>71.5</c:v>
                </c:pt>
                <c:pt idx="42">
                  <c:v>73.4</c:v>
                </c:pt>
                <c:pt idx="43">
                  <c:v>76.4</c:v>
                </c:pt>
                <c:pt idx="44">
                  <c:v>76.2</c:v>
                </c:pt>
                <c:pt idx="45">
                  <c:v>78.3</c:v>
                </c:pt>
                <c:pt idx="46">
                  <c:v>75.0</c:v>
                </c:pt>
                <c:pt idx="47">
                  <c:v>75.7</c:v>
                </c:pt>
                <c:pt idx="48">
                  <c:v>75.6</c:v>
                </c:pt>
                <c:pt idx="49">
                  <c:v>74.2</c:v>
                </c:pt>
                <c:pt idx="50">
                  <c:v>74.2</c:v>
                </c:pt>
                <c:pt idx="51">
                  <c:v>69.8</c:v>
                </c:pt>
                <c:pt idx="52">
                  <c:v>67.6</c:v>
                </c:pt>
                <c:pt idx="53">
                  <c:v>65.6</c:v>
                </c:pt>
                <c:pt idx="54">
                  <c:v>71.1</c:v>
                </c:pt>
                <c:pt idx="55">
                  <c:v>67.5</c:v>
                </c:pt>
                <c:pt idx="56">
                  <c:v>61.5</c:v>
                </c:pt>
                <c:pt idx="57">
                  <c:v>55.6</c:v>
                </c:pt>
                <c:pt idx="58">
                  <c:v>56.1</c:v>
                </c:pt>
                <c:pt idx="59">
                  <c:v>56.8</c:v>
                </c:pt>
                <c:pt idx="60">
                  <c:v>57.4</c:v>
                </c:pt>
                <c:pt idx="61">
                  <c:v>56.8</c:v>
                </c:pt>
                <c:pt idx="62">
                  <c:v>49.8</c:v>
                </c:pt>
                <c:pt idx="63">
                  <c:v>46.6</c:v>
                </c:pt>
                <c:pt idx="64">
                  <c:v>44.2</c:v>
                </c:pt>
                <c:pt idx="65">
                  <c:v>45.2</c:v>
                </c:pt>
                <c:pt idx="66">
                  <c:v>44.0</c:v>
                </c:pt>
                <c:pt idx="67">
                  <c:v>42.1</c:v>
                </c:pt>
                <c:pt idx="68">
                  <c:v>44.6</c:v>
                </c:pt>
                <c:pt idx="69">
                  <c:v>48.7</c:v>
                </c:pt>
                <c:pt idx="70">
                  <c:v>52.9</c:v>
                </c:pt>
                <c:pt idx="71">
                  <c:v>54.2</c:v>
                </c:pt>
                <c:pt idx="72">
                  <c:v>55.3</c:v>
                </c:pt>
                <c:pt idx="73">
                  <c:v>58.2</c:v>
                </c:pt>
                <c:pt idx="74">
                  <c:v>64.1</c:v>
                </c:pt>
                <c:pt idx="75">
                  <c:v>67.0</c:v>
                </c:pt>
                <c:pt idx="76">
                  <c:v>69.7</c:v>
                </c:pt>
                <c:pt idx="77">
                  <c:v>69.2</c:v>
                </c:pt>
                <c:pt idx="78">
                  <c:v>70.9</c:v>
                </c:pt>
                <c:pt idx="79">
                  <c:v>73.1</c:v>
                </c:pt>
                <c:pt idx="80">
                  <c:v>74.3</c:v>
                </c:pt>
                <c:pt idx="81">
                  <c:v>71.8</c:v>
                </c:pt>
                <c:pt idx="82">
                  <c:v>72.5</c:v>
                </c:pt>
                <c:pt idx="83">
                  <c:v>71.6</c:v>
                </c:pt>
                <c:pt idx="84">
                  <c:v>69.1</c:v>
                </c:pt>
                <c:pt idx="85">
                  <c:v>67.1</c:v>
                </c:pt>
                <c:pt idx="86">
                  <c:v>68.6</c:v>
                </c:pt>
                <c:pt idx="87">
                  <c:v>68.1</c:v>
                </c:pt>
                <c:pt idx="88">
                  <c:v>66.9</c:v>
                </c:pt>
                <c:pt idx="89">
                  <c:v>64.4</c:v>
                </c:pt>
                <c:pt idx="90">
                  <c:v>63.9</c:v>
                </c:pt>
                <c:pt idx="91">
                  <c:v>62.5</c:v>
                </c:pt>
                <c:pt idx="92">
                  <c:v>61.5</c:v>
                </c:pt>
                <c:pt idx="93">
                  <c:v>60.8</c:v>
                </c:pt>
                <c:pt idx="94">
                  <c:v>60.0</c:v>
                </c:pt>
                <c:pt idx="95">
                  <c:v>58.3</c:v>
                </c:pt>
                <c:pt idx="96">
                  <c:v>58.6</c:v>
                </c:pt>
                <c:pt idx="97">
                  <c:v>56.7</c:v>
                </c:pt>
                <c:pt idx="98">
                  <c:v>60.7</c:v>
                </c:pt>
                <c:pt idx="99">
                  <c:v>56.4</c:v>
                </c:pt>
                <c:pt idx="100">
                  <c:v>59.0</c:v>
                </c:pt>
                <c:pt idx="101">
                  <c:v>54.2</c:v>
                </c:pt>
                <c:pt idx="102">
                  <c:v>50.3</c:v>
                </c:pt>
                <c:pt idx="103">
                  <c:v>49.2</c:v>
                </c:pt>
                <c:pt idx="104">
                  <c:v>48.3</c:v>
                </c:pt>
                <c:pt idx="105">
                  <c:v>52.5</c:v>
                </c:pt>
                <c:pt idx="106">
                  <c:v>55.7</c:v>
                </c:pt>
                <c:pt idx="107">
                  <c:v>55.1</c:v>
                </c:pt>
                <c:pt idx="108">
                  <c:v>51.1</c:v>
                </c:pt>
                <c:pt idx="109">
                  <c:v>50.5</c:v>
                </c:pt>
                <c:pt idx="110">
                  <c:v>51.7</c:v>
                </c:pt>
                <c:pt idx="111">
                  <c:v>51.4</c:v>
                </c:pt>
                <c:pt idx="112">
                  <c:v>53.7</c:v>
                </c:pt>
                <c:pt idx="113">
                  <c:v>53.8</c:v>
                </c:pt>
                <c:pt idx="114">
                  <c:v>55.0</c:v>
                </c:pt>
                <c:pt idx="115">
                  <c:v>54.8</c:v>
                </c:pt>
                <c:pt idx="116">
                  <c:v>56.8</c:v>
                </c:pt>
                <c:pt idx="117">
                  <c:v>56.5</c:v>
                </c:pt>
                <c:pt idx="118">
                  <c:v>54.7</c:v>
                </c:pt>
                <c:pt idx="119">
                  <c:v>55.6</c:v>
                </c:pt>
                <c:pt idx="120">
                  <c:v>54.7</c:v>
                </c:pt>
                <c:pt idx="121">
                  <c:v>55.7</c:v>
                </c:pt>
                <c:pt idx="122">
                  <c:v>56.3</c:v>
                </c:pt>
                <c:pt idx="123">
                  <c:v>55.8</c:v>
                </c:pt>
                <c:pt idx="124">
                  <c:v>53.7</c:v>
                </c:pt>
                <c:pt idx="125">
                  <c:v>56.4</c:v>
                </c:pt>
                <c:pt idx="126">
                  <c:v>57.7</c:v>
                </c:pt>
                <c:pt idx="127">
                  <c:v>58.4</c:v>
                </c:pt>
                <c:pt idx="128">
                  <c:v>58.4</c:v>
                </c:pt>
                <c:pt idx="129">
                  <c:v>58.3</c:v>
                </c:pt>
                <c:pt idx="130">
                  <c:v>58.1</c:v>
                </c:pt>
                <c:pt idx="131">
                  <c:v>59.2</c:v>
                </c:pt>
                <c:pt idx="132">
                  <c:v>59.5</c:v>
                </c:pt>
                <c:pt idx="133">
                  <c:v>59.4</c:v>
                </c:pt>
                <c:pt idx="134">
                  <c:v>59.3</c:v>
                </c:pt>
                <c:pt idx="135">
                  <c:v>59.8</c:v>
                </c:pt>
                <c:pt idx="136">
                  <c:v>59.8</c:v>
                </c:pt>
                <c:pt idx="137">
                  <c:v>59.8</c:v>
                </c:pt>
                <c:pt idx="138">
                  <c:v>61.8</c:v>
                </c:pt>
                <c:pt idx="139">
                  <c:v>60.0</c:v>
                </c:pt>
                <c:pt idx="140">
                  <c:v>57.9</c:v>
                </c:pt>
                <c:pt idx="141">
                  <c:v>56.9</c:v>
                </c:pt>
                <c:pt idx="142">
                  <c:v>54.8</c:v>
                </c:pt>
                <c:pt idx="143">
                  <c:v>56.1</c:v>
                </c:pt>
                <c:pt idx="144">
                  <c:v>54.4</c:v>
                </c:pt>
                <c:pt idx="145">
                  <c:v>54.5</c:v>
                </c:pt>
                <c:pt idx="146">
                  <c:v>54.8</c:v>
                </c:pt>
                <c:pt idx="147">
                  <c:v>53.9</c:v>
                </c:pt>
                <c:pt idx="148">
                  <c:v>52.9</c:v>
                </c:pt>
                <c:pt idx="149">
                  <c:v>52.7</c:v>
                </c:pt>
                <c:pt idx="150">
                  <c:v>51.3</c:v>
                </c:pt>
                <c:pt idx="151">
                  <c:v>51.3</c:v>
                </c:pt>
                <c:pt idx="152">
                  <c:v>51.9</c:v>
                </c:pt>
                <c:pt idx="153">
                  <c:v>52.1</c:v>
                </c:pt>
                <c:pt idx="154">
                  <c:v>50.2</c:v>
                </c:pt>
                <c:pt idx="155">
                  <c:v>49.5</c:v>
                </c:pt>
                <c:pt idx="156">
                  <c:v>51.1</c:v>
                </c:pt>
                <c:pt idx="157">
                  <c:v>51.7</c:v>
                </c:pt>
                <c:pt idx="158">
                  <c:v>51.9</c:v>
                </c:pt>
                <c:pt idx="159">
                  <c:v>50.6</c:v>
                </c:pt>
                <c:pt idx="160">
                  <c:v>49.7</c:v>
                </c:pt>
                <c:pt idx="161">
                  <c:v>47.6</c:v>
                </c:pt>
                <c:pt idx="162">
                  <c:v>45.7</c:v>
                </c:pt>
                <c:pt idx="163">
                  <c:v>45.3</c:v>
                </c:pt>
                <c:pt idx="164">
                  <c:v>46.0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one"/>
        <c:txPr>
          <a:bodyPr/>
          <a:lstStyle/>
          <a:p>
            <a:pPr>
              <a:defRPr sz="12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a:t>Net revenue per quintal (Rs) against the number of farmers (10 quintals each)</a:t>
            </a:r>
          </a:p>
        </c:rich>
      </c:tx>
      <c:layout/>
      <c:overlay val="0"/>
    </c:title>
    <c:autoTitleDeleted val="0"/>
    <c:plotArea>
      <c:lineChart>
        <c:grouping val="standard"/>
        <c:varyColors val="0"/>
        <c:ser>
          <c:idx val="0"/>
          <c:order val="0"/>
          <c:tx>
            <c:strRef>
              <c:f>Sheet1!$B$1</c:f>
              <c:strCache>
                <c:ptCount val="1"/>
                <c:pt idx="0">
                  <c:v>One farmer alone</c:v>
                </c:pt>
              </c:strCache>
            </c:strRef>
          </c:tx>
          <c:spPr>
            <a:ln w="34925">
              <a:solidFill>
                <a:srgbClr val="8A94A6"/>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Sheet1!$B$2:$B$12</c:f>
              <c:numCache>
                <c:formatCode>General</c:formatCode>
                <c:ptCount val="11"/>
                <c:pt idx="0">
                  <c:v>1824.0</c:v>
                </c:pt>
                <c:pt idx="1">
                  <c:v>1824.0</c:v>
                </c:pt>
                <c:pt idx="2">
                  <c:v>1824.0</c:v>
                </c:pt>
                <c:pt idx="3">
                  <c:v>1824.0</c:v>
                </c:pt>
                <c:pt idx="4">
                  <c:v>1824.0</c:v>
                </c:pt>
                <c:pt idx="5">
                  <c:v>1824.0</c:v>
                </c:pt>
                <c:pt idx="6">
                  <c:v>1824.0</c:v>
                </c:pt>
                <c:pt idx="7">
                  <c:v>1824.0</c:v>
                </c:pt>
                <c:pt idx="8">
                  <c:v>1824.0</c:v>
                </c:pt>
                <c:pt idx="9">
                  <c:v>1824.0</c:v>
                </c:pt>
                <c:pt idx="10">
                  <c:v>1824.0</c:v>
                </c:pt>
              </c:numCache>
            </c:numRef>
          </c:val>
          <c:smooth val="0"/>
        </c:ser>
        <c:ser>
          <c:idx val="1"/>
          <c:order val="1"/>
          <c:tx>
            <c:strRef>
              <c:f>Sheet1!$C$1</c:f>
              <c:strCache>
                <c:ptCount val="1"/>
                <c:pt idx="0">
                  <c:v>Everyone follows the best action</c:v>
                </c:pt>
              </c:strCache>
            </c:strRef>
          </c:tx>
          <c:spPr>
            <a:ln w="34925">
              <a:solidFill>
                <a:srgbClr val="C0392B"/>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Sheet1!$C$2:$C$12</c:f>
              <c:numCache>
                <c:formatCode>General</c:formatCode>
                <c:ptCount val="11"/>
                <c:pt idx="0">
                  <c:v>1793.0</c:v>
                </c:pt>
                <c:pt idx="1">
                  <c:v>1705.0</c:v>
                </c:pt>
                <c:pt idx="2">
                  <c:v>1632.0</c:v>
                </c:pt>
                <c:pt idx="3">
                  <c:v>1541.0</c:v>
                </c:pt>
                <c:pt idx="4">
                  <c:v>1404.0</c:v>
                </c:pt>
                <c:pt idx="5">
                  <c:v>1298.0</c:v>
                </c:pt>
                <c:pt idx="6">
                  <c:v>1194.0</c:v>
                </c:pt>
                <c:pt idx="7">
                  <c:v>1066.0</c:v>
                </c:pt>
                <c:pt idx="8">
                  <c:v>977.0</c:v>
                </c:pt>
                <c:pt idx="9">
                  <c:v>894.0</c:v>
                </c:pt>
                <c:pt idx="10">
                  <c:v>793.0</c:v>
                </c:pt>
              </c:numCache>
            </c:numRef>
          </c:val>
          <c:smooth val="0"/>
        </c:ser>
        <c:ser>
          <c:idx val="2"/>
          <c:order val="2"/>
          <c:tx>
            <c:strRef>
              <c:f>Sheet1!$D$1</c:f>
              <c:strCache>
                <c:ptCount val="1"/>
                <c:pt idx="0">
                  <c:v>Everyone goes to the nearest mandi</c:v>
                </c:pt>
              </c:strCache>
            </c:strRef>
          </c:tx>
          <c:spPr>
            <a:ln w="34925">
              <a:solidFill>
                <a:srgbClr val="D9822B"/>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Sheet1!$D$2:$D$12</c:f>
              <c:numCache>
                <c:formatCode>General</c:formatCode>
                <c:ptCount val="11"/>
                <c:pt idx="0">
                  <c:v>1232.0</c:v>
                </c:pt>
                <c:pt idx="1">
                  <c:v>1232.0</c:v>
                </c:pt>
                <c:pt idx="2">
                  <c:v>1231.0</c:v>
                </c:pt>
                <c:pt idx="3">
                  <c:v>1230.0</c:v>
                </c:pt>
                <c:pt idx="4">
                  <c:v>1226.0</c:v>
                </c:pt>
                <c:pt idx="5">
                  <c:v>1219.0</c:v>
                </c:pt>
                <c:pt idx="6">
                  <c:v>1207.0</c:v>
                </c:pt>
                <c:pt idx="7">
                  <c:v>1177.0</c:v>
                </c:pt>
                <c:pt idx="8">
                  <c:v>1138.0</c:v>
                </c:pt>
                <c:pt idx="9">
                  <c:v>1086.0</c:v>
                </c:pt>
                <c:pt idx="10">
                  <c:v>1002.0</c:v>
                </c:pt>
              </c:numCache>
            </c:numRef>
          </c:val>
          <c:smooth val="0"/>
        </c:ser>
        <c:ser>
          <c:idx val="3"/>
          <c:order val="3"/>
          <c:tx>
            <c:strRef>
              <c:f>Sheet1!$E$1</c:f>
              <c:strCache>
                <c:ptCount val="1"/>
                <c:pt idx="0">
                  <c:v>Coordinated split</c:v>
                </c:pt>
              </c:strCache>
            </c:strRef>
          </c:tx>
          <c:spPr>
            <a:ln w="34925">
              <a:solidFill>
                <a:srgbClr val="2E8B57"/>
              </a:solidFill>
            </a:ln>
          </c:spPr>
          <c:cat>
            <c:strRef>
              <c:f>Sheet1!$A$2:$A$12</c:f>
              <c:strCache>
                <c:ptCount val="11"/>
                <c:pt idx="0">
                  <c:v>1</c:v>
                </c:pt>
                <c:pt idx="1">
                  <c:v>5</c:v>
                </c:pt>
                <c:pt idx="2">
                  <c:v>10</c:v>
                </c:pt>
                <c:pt idx="3">
                  <c:v>20</c:v>
                </c:pt>
                <c:pt idx="4">
                  <c:v>50</c:v>
                </c:pt>
                <c:pt idx="5">
                  <c:v>100</c:v>
                </c:pt>
                <c:pt idx="6">
                  <c:v>200</c:v>
                </c:pt>
                <c:pt idx="7">
                  <c:v>500</c:v>
                </c:pt>
                <c:pt idx="8">
                  <c:v>1,000</c:v>
                </c:pt>
                <c:pt idx="9">
                  <c:v>2,000</c:v>
                </c:pt>
                <c:pt idx="10">
                  <c:v>5,000</c:v>
                </c:pt>
              </c:strCache>
            </c:strRef>
          </c:cat>
          <c:val>
            <c:numRef>
              <c:f>Sheet1!$E$2:$E$12</c:f>
              <c:numCache>
                <c:formatCode>General</c:formatCode>
                <c:ptCount val="11"/>
                <c:pt idx="0">
                  <c:v>1796.0</c:v>
                </c:pt>
                <c:pt idx="1">
                  <c:v>1742.0</c:v>
                </c:pt>
                <c:pt idx="2">
                  <c:v>1700.0</c:v>
                </c:pt>
                <c:pt idx="3">
                  <c:v>1644.0</c:v>
                </c:pt>
                <c:pt idx="4">
                  <c:v>1563.0</c:v>
                </c:pt>
                <c:pt idx="5">
                  <c:v>1500.0</c:v>
                </c:pt>
                <c:pt idx="6">
                  <c:v>1436.0</c:v>
                </c:pt>
                <c:pt idx="7">
                  <c:v>1351.0</c:v>
                </c:pt>
                <c:pt idx="8">
                  <c:v>1294.0</c:v>
                </c:pt>
                <c:pt idx="9">
                  <c:v>1265.0</c:v>
                </c:pt>
                <c:pt idx="10">
                  <c:v>1247.0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600"/>
            </a:pPr>
          </a:p>
        </c:txPr>
        <c:crossAx val="2118791784"/>
        <c:crosses val="autoZero"/>
      </c:valAx>
    </c:plotArea>
    <c:legend>
      <c:legendPos val="b"/>
      <c:layout/>
      <c:overlay val="0"/>
      <c:txPr>
        <a:bodyPr/>
        <a:lstStyle/>
        <a:p>
          <a:pPr>
            <a:defRPr sz="16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283325" y="847725"/>
            <a:ext cx="7539038" cy="4241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010400" y="5371925"/>
            <a:ext cx="16083275" cy="50892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0.5 min]</a:t>
            </a:r>
          </a:p>
          <a:p/>
          <a:p>
            <a:r>
              <a:t>SAY</a:t>
            </a:r>
          </a:p>
          <a:p>
            <a:r>
              <a:t>Good morning, respected panel. We are Srijan, Manohara and Shreejith, and our guide is Dr. Kalyan N.</a:t>
            </a:r>
          </a:p>
          <a:p>
            <a:r>
              <a:t>Our project is MandiSense AI. It answers one question for a farmer in the Bengaluru and Kolar belt: where should I sell this load, and should I wait. It also states a minimum amount the farmer can count on, and we have tested that minimum.</a:t>
            </a:r>
          </a:p>
          <a:p>
            <a:r>
              <a:t>In the next twenty-odd minutes we will show the method, the results including what did not work, a live demonstration, and our plan and status.</a:t>
            </a:r>
          </a:p>
          <a:p/>
          <a:p>
            <a:r>
              <a:t>SHOW / CLICK</a:t>
            </a:r>
          </a:p>
          <a:p>
            <a:r>
              <a:t>Title slide. Stand still; do not read the title aloud, say the project name once.</a:t>
            </a:r>
          </a:p>
          <a:p/>
          <a:p>
            <a:r>
              <a:t>TRANSITION</a:t>
            </a:r>
          </a:p>
          <a:p>
            <a:r>
              <a:t>Move to contents.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a:t>
            </a:r>
          </a:p>
          <a:p>
            <a:r>
              <a:t>A farmer in Kolar chooses a mandi and a day using only yesterday's price. That is a poor guide. This chart is tomato at Kolar APMC over five years: the modal price ranged from one hundred rupees to more than nine thousand per quintal, and on one hundred and eighty-nine of two thousand one hundred and twenty-five calendar days the mandi posted no price at all. The red marks are those silent days.</a:t>
            </a:r>
          </a:p>
          <a:p>
            <a:r>
              <a:t>So the problem is a decision, not a forecast: choose a mandi and a holding period, zero to three days, or the farm gate, to maximise what the farmer actually keeps after transport, fees and spoilage, and state a minimum that holds.</a:t>
            </a:r>
          </a:p>
          <a:p>
            <a:r>
              <a:t>The gap in the literature is that price models are judged on forecast error, they ignore that mandis go silent, and the large gains reported by decompose-then-forecast models were never audited.</a:t>
            </a:r>
          </a:p>
          <a:p>
            <a:r>
              <a:t>We used sixty-three thousand real Agmarknet records, thirty-six thousand eight hundred mandi-days, for tomato, onion, potato and ginger. Garlic is refused by design because only one mandi has enough reports, so there is no choice to make.</a:t>
            </a:r>
          </a:p>
          <a:p/>
          <a:p>
            <a:r>
              <a:t>SHOW / CLICK</a:t>
            </a:r>
          </a:p>
          <a:p>
            <a:r>
              <a:t>Point at the red marks on the chart, then at the three stat boxes.</a:t>
            </a:r>
          </a:p>
          <a:p/>
          <a:p>
            <a:r>
              <a:t>NUMBERS TO QUOTE</a:t>
            </a:r>
          </a:p>
          <a:p>
            <a:r>
              <a:t>- 63,524 records; 36,821 mandi-days</a:t>
            </a:r>
          </a:p>
          <a:p>
            <a:r>
              <a:t>- Tomato Kolar: Rs 100 to Rs 9,330 per quintal</a:t>
            </a:r>
          </a:p>
          <a:p>
            <a:r>
              <a:t>- 189 silent days of 2,125</a:t>
            </a:r>
          </a:p>
          <a:p>
            <a:r>
              <a:t>- Garlic refused: one eligible mandi</a:t>
            </a:r>
          </a:p>
          <a:p/>
          <a:p>
            <a:r>
              <a:t>IF ASKED</a:t>
            </a:r>
          </a:p>
          <a:p>
            <a:r>
              <a:t>Q: Why not just forecast the price?</a:t>
            </a:r>
          </a:p>
          <a:p>
            <a:r>
              <a:t>A: Because a forecast is only useful through the decision it supports. We train on what the farmer would have received, including the cost of a silent mandi, and we show that this matters more than the forecasting model.</a:t>
            </a:r>
          </a:p>
          <a:p>
            <a:r>
              <a:t>Q: Is the data real?</a:t>
            </a:r>
          </a:p>
          <a:p>
            <a:r>
              <a:t>A: Yes. Two Agmarknet exports that agree on 3,307 overlapping tomato market-days (correlation 0.99996). There is no synthetic data in any result. An early synthetic dataset was found and removed; it is in our risk register.</a:t>
            </a:r>
          </a:p>
          <a:p/>
          <a:p>
            <a:r>
              <a:t>TRANSITION</a:t>
            </a:r>
          </a:p>
          <a:p>
            <a:r>
              <a:t>Now the objectives and where each one stands.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a:t>
            </a:r>
          </a:p>
          <a:p>
            <a:r>
              <a:t>We set ten objectives and the status of each is on the slide, including the ones that did not fully succeed.</a:t>
            </a:r>
          </a:p>
          <a:p>
            <a:r>
              <a:t>Seven are met: the data panel, the revenue model, the label and loss tests, the application and pipeline, the leakage audit, the grounded language briefs, and the five insight features.</a:t>
            </a:r>
          </a:p>
          <a:p>
            <a:r>
              <a:t>One is partly met: the floor. We aimed for the violation rate to be within two points of ten percent; tomato and ginger meet that, onion and potato were more cautious than needed.</a:t>
            </a:r>
          </a:p>
          <a:p>
            <a:r>
              <a:t>One is a null result: spillover between crops. The engine ran on all forty combinations and published none, because no shock episode reached the evidence floor. We report that rather than force a number.</a:t>
            </a:r>
          </a:p>
          <a:p>
            <a:r>
              <a:t>The last, the morning digest, is built and tested and you will see it live in a few minutes.</a:t>
            </a:r>
          </a:p>
          <a:p/>
          <a:p>
            <a:r>
              <a:t>SHOW / CLICK</a:t>
            </a:r>
          </a:p>
          <a:p>
            <a:r>
              <a:t>Run a finger down the Status column: green, one orange, one red, then the last row.</a:t>
            </a:r>
          </a:p>
          <a:p/>
          <a:p>
            <a:r>
              <a:t>NUMBERS TO QUOTE</a:t>
            </a:r>
          </a:p>
          <a:p>
            <a:r>
              <a:t>- 7 met · 1 partly · 1 null result · 1 built and tested</a:t>
            </a:r>
          </a:p>
          <a:p>
            <a:r>
              <a:t>- 650 tests then; 669 backend tests and 11 web tests now</a:t>
            </a:r>
          </a:p>
          <a:p/>
          <a:p>
            <a:r>
              <a:t>IF ASKED</a:t>
            </a:r>
          </a:p>
          <a:p>
            <a:r>
              <a:t>Q: Why report a null result?</a:t>
            </a:r>
          </a:p>
          <a:p>
            <a:r>
              <a:t>A: Because publishing an unsupported number is worse. The engine's rule is to publish an edge only with at least eight shock episodes. It found zero. We also state that this points to a gap in the shock-labelling step, which is in future work.</a:t>
            </a:r>
          </a:p>
          <a:p>
            <a:r>
              <a:t>Q: Is objective 4 really failed?</a:t>
            </a:r>
          </a:p>
          <a:p>
            <a:r>
              <a:t>A: Partly met. At the 10 percent level tomato violated 9.0 percent and ginger 10.5, onion 6.3 and potato 6.9. The cautious side is the safe side, but it misses the stated two-point band.</a:t>
            </a:r>
          </a:p>
          <a:p/>
          <a:p>
            <a:r>
              <a:t>TRANSITION</a:t>
            </a:r>
          </a:p>
          <a:p>
            <a:r>
              <a:t>Next, the method in plain language.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2 min]</a:t>
            </a:r>
          </a:p>
          <a:p/>
          <a:p>
            <a:r>
              <a:t>SAY</a:t>
            </a:r>
          </a:p>
          <a:p>
            <a:r>
              <a:t>The idea is simple. A conventional model predicts the posted price and picks the best predicted market. But it never sees a silent market, so it cannot learn that a mandi may be closed. We instead train on what the farmer would actually receive: price after the fee, after spoilage while waiting, after transport, and a penalty if the mandi turns out silent.</a:t>
            </a:r>
          </a:p>
          <a:p>
            <a:r>
              <a:t>The action is a mandi and a holding period, or the farm gate. The recommendation is the action with the best guaranteed revenue, using an adaptive conformal floor.</a:t>
            </a:r>
          </a:p>
          <a:p>
            <a:r>
              <a:t>We rejected two alternatives: predict-then-optimise on posted prices, and decompose-then-forecast hybrids, because they never see silent markets and, as our audit shows, they leak the future.</a:t>
            </a:r>
          </a:p>
          <a:p>
            <a:r>
              <a:t>The architecture: Agmarknet exports are cleaned and audited into a market panel; engines, forecasters and the shock study feed one FastAPI service; a language layer, the insight features and a Telegram bot sit on top; the Next.js app serves English, Kannada and Hindi.</a:t>
            </a:r>
          </a:p>
          <a:p/>
          <a:p>
            <a:r>
              <a:t>SHOW / CLICK</a:t>
            </a:r>
          </a:p>
          <a:p>
            <a:r>
              <a:t>Trace the arrows left to right: exports, clean, panel, three engines, FastAPI, Next.js. Point at the orange language box and the Telegram bot box.</a:t>
            </a:r>
          </a:p>
          <a:p/>
          <a:p>
            <a:r>
              <a:t>NUMBERS TO QUOTE</a:t>
            </a:r>
          </a:p>
          <a:p>
            <a:r>
              <a:t>- Five layers: data, model, service, language, presentation</a:t>
            </a:r>
          </a:p>
          <a:p>
            <a:r>
              <a:t>- No synthetic data in any result</a:t>
            </a:r>
          </a:p>
          <a:p/>
          <a:p>
            <a:r>
              <a:t>IF ASKED</a:t>
            </a:r>
          </a:p>
          <a:p>
            <a:r>
              <a:t>Q: Why conformal and not a normal-distribution floor?</a:t>
            </a:r>
          </a:p>
          <a:p>
            <a:r>
              <a:t>A: A normal floor assumes normal errors; on our data it was breached on 26 to 35 percent of days in three crops when the target was 10 percent. Conformal inference gives a coverage guarantee under shift, and we calibrate it online with delayed feedback.</a:t>
            </a:r>
          </a:p>
          <a:p/>
          <a:p>
            <a:r>
              <a:t>TRANSITION</a:t>
            </a:r>
          </a:p>
          <a:p>
            <a:r>
              <a:t>Now the formulation, with every symbol defined.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1.5 min]</a:t>
            </a:r>
          </a:p>
          <a:p/>
          <a:p>
            <a:r>
              <a:t>SAY</a:t>
            </a:r>
          </a:p>
          <a:p>
            <a:r>
              <a:t>Three formulas. The first is the revenue of an action: the price after the fee, after spoilage for each day of waiting, minus transport and handling. If the mandi is silent the farmer gets a fraction of the day's mean price instead.</a:t>
            </a:r>
          </a:p>
          <a:p>
            <a:r>
              <a:t>The second is the decision-focused loss, SPO-plus, which trains the model on the regret of the decision. It is exact here because revenue is linear in prices.</a:t>
            </a:r>
          </a:p>
          <a:p>
            <a:r>
              <a:t>The third is the floor: the predicted revenue minus a multiple of the recent error, and the confidence level updates after each outcome, but only once the sale date has passed, because a three-day hold resolves three days later.</a:t>
            </a:r>
          </a:p>
          <a:p>
            <a:r>
              <a:t>The cost parameters are scenario assumptions, not estimates. We sweep them and the conclusions hold across ten settings per crop.</a:t>
            </a:r>
          </a:p>
          <a:p/>
          <a:p>
            <a:r>
              <a:t>SHOW / CLICK</a:t>
            </a:r>
          </a:p>
          <a:p>
            <a:r>
              <a:t>Do not read symbols. Point at the three boxes and the parameter table on the right.</a:t>
            </a:r>
          </a:p>
          <a:p/>
          <a:p>
            <a:r>
              <a:t>NUMBERS TO QUOTE</a:t>
            </a:r>
          </a:p>
          <a:p>
            <a:r>
              <a:t>- Fee 4 percent; handling Rs 20; transport Rs 0.35 per quintal-km; spoilage 3, 0.8, 0.4 percent a day</a:t>
            </a:r>
          </a:p>
          <a:p/>
          <a:p>
            <a:r>
              <a:t>IF ASKED</a:t>
            </a:r>
          </a:p>
          <a:p>
            <a:r>
              <a:t>Q: Where do the parameters come from?</a:t>
            </a:r>
          </a:p>
          <a:p>
            <a:r>
              <a:t>A: They are scenario assumptions and the app shows them. The farmer can change them in the what-if panel, and we report sensitivity across ten settings per crop.</a:t>
            </a:r>
          </a:p>
          <a:p/>
          <a:p>
            <a:r>
              <a:t>TRANSITION</a:t>
            </a:r>
          </a:p>
          <a:p>
            <a:r>
              <a:t>Two supporting services: grounded briefs and spillover.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1.5 min]</a:t>
            </a:r>
          </a:p>
          <a:p/>
          <a:p>
            <a:r>
              <a:t>SAY</a:t>
            </a:r>
          </a:p>
          <a:p>
            <a:r>
              <a:t>Two supporting components, each with the same rule: publish a claim only when the evidence supports it.</a:t>
            </a:r>
          </a:p>
          <a:p>
            <a:r>
              <a:t>On the left, the decision-intelligence service. It gathers an evidence bundle, asks a language model to fill a fixed schema, and a verifier checks every figure against the evidence within one percent and every cited key. A brief that fails is shown as ungrounded with the issues listed; a failing provider falls back to rules. An independent judge model caught all nine deliberately corrupted explanations and rejected none of three faithful ones; the sample is small and we say so.</a:t>
            </a:r>
          </a:p>
          <a:p>
            <a:r>
              <a:t>On the right, the spillover engine: weekly returns of five crops, the common market factor and seasonality removed, shock episodes, a bootstrap over episodes and false-discovery control. It needs eight episodes per edge. It found none, so it published none.</a:t>
            </a:r>
          </a:p>
          <a:p/>
          <a:p>
            <a:r>
              <a:t>SHOW / CLICK</a:t>
            </a:r>
          </a:p>
          <a:p>
            <a:r>
              <a:t>Left card then right card.</a:t>
            </a:r>
          </a:p>
          <a:p/>
          <a:p>
            <a:r>
              <a:t>NUMBERS TO QUOTE</a:t>
            </a:r>
          </a:p>
          <a:p>
            <a:r>
              <a:t>- Judge: 9 of 9 corrupted caught, 0 of 3 faithful rejected</a:t>
            </a:r>
          </a:p>
          <a:p>
            <a:r>
              <a:t>- Spillover: 40 edges, 0 published, 0 shock episodes</a:t>
            </a:r>
          </a:p>
          <a:p/>
          <a:p>
            <a:r>
              <a:t>IF ASKED</a:t>
            </a:r>
          </a:p>
          <a:p>
            <a:r>
              <a:t>Q: Does the language model decide the advice?</a:t>
            </a:r>
          </a:p>
          <a:p>
            <a:r>
              <a:t>A: No. The engines decide. The model only words a sentence that code has already computed, and a validator rejects any change to a number.</a:t>
            </a:r>
          </a:p>
          <a:p/>
          <a:p>
            <a:r>
              <a:t>TRANSITION</a:t>
            </a:r>
          </a:p>
          <a:p>
            <a:r>
              <a:t>Now the five insight features that make the advice inspectable.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a:t>
            </a:r>
          </a:p>
          <a:p>
            <a:r>
              <a:t>The system is integrated end to end. One command, pipeline dot py, runs the stages in dependency order, from the farmer world and forecasts to the engines, the track record, shocks, spillover, council, evidence, results and the tests. Each stage declares its inputs and outputs and can be run alone.</a:t>
            </a:r>
          </a:p>
          <a:p>
            <a:r>
              <a:t>What is manual: refreshing the Agmarknet exports, which we download by hand, and verifying the public deployment, whose configuration exists but which we have not tested live.</a:t>
            </a:r>
          </a:p>
          <a:p>
            <a:r>
              <a:t>Defects found during integration, and fixed: a NumPy upgrade broke pandas, a fresh clone was missing the observation store, a hard delete emptied the trader pages, the council weights summed above one, and a stale server answered new endpoints with not-found during testing.</a:t>
            </a:r>
          </a:p>
          <a:p>
            <a:r>
              <a:t>The next two slides are the demonstration. It is live.</a:t>
            </a:r>
          </a:p>
          <a:p/>
          <a:p>
            <a:r>
              <a:t>SHOW / CLICK</a:t>
            </a:r>
          </a:p>
          <a:p>
            <a:r>
              <a:t>Point along the pipeline boxes. The screenshots are only a reminder of the three screens.</a:t>
            </a:r>
          </a:p>
          <a:p/>
          <a:p>
            <a:r>
              <a:t>NUMBERS TO QUOTE</a:t>
            </a:r>
          </a:p>
          <a:p>
            <a:r>
              <a:t>- Pipeline stages with declared outputs; 669 backend tests; 11 web tests; 60-check smoke test</a:t>
            </a:r>
          </a:p>
          <a:p/>
          <a:p>
            <a:r>
              <a:t>TRANSITION</a:t>
            </a:r>
          </a:p>
          <a:p>
            <a:r>
              <a:t>Overview of what you will see, then the demo.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4 min]</a:t>
            </a:r>
          </a:p>
          <a:p/>
          <a:p>
            <a:r>
              <a:t>SAY</a:t>
            </a:r>
          </a:p>
          <a:p>
            <a:r>
              <a:t>(Switch to the browser, farmer app. Follow the six steps on the slide; the full click path with exact values is in the demo script.)</a:t>
            </a:r>
          </a:p>
          <a:p>
            <a:r>
              <a:t>Say as you go: this is the farmer view. Kolar, tomato, ten quintals, tempo. The advice is Ramanagara, Wednesday, one day from now, a hundred and three kilometres. The farmer keeps about one thousand eight hundred and twenty-four rupees per quintal after transport and fees, and can count on at least one thousand three hundred and sixteen on nine days out of ten.</a:t>
            </a:r>
          </a:p>
          <a:p>
            <a:r>
              <a:t>Open Why this mandi: the green bar is what the farmer keeps; the coloured slices are fee, spoilage, transport and handling; they add up exactly. The nearest mandi, Kolar, keeps one thousand two hundred and thirty-three.</a:t>
            </a:r>
          </a:p>
          <a:p>
            <a:r>
              <a:t>Open What if my costs differ: drag transport to the maximum. Even at three rupees per quintal-kilometre the advice does not change. Now drag spoilage up: at five percent a day it flips to Ramanagara today. This tells the farmer the advice is robust to the truck but sensitive to the crop's shelf life.</a:t>
            </a:r>
          </a:p>
          <a:p>
            <a:r>
              <a:t>Open Has this advice worked: ninety-three percent better than the nearest mandi on days it had not seen; and, honestly, the minimum held on eighty-four percent of days against the ninety we aim for. We show that score rather than hide it.</a:t>
            </a:r>
          </a:p>
          <a:p/>
          <a:p>
            <a:r>
              <a:t>SHOW / CLICK</a:t>
            </a:r>
          </a:p>
          <a:p>
            <a:r>
              <a:t>Browser: http://localhost:3000/tools, Best Place and Day to Sell. See the run-of-show for each click and the on-screen values.</a:t>
            </a:r>
          </a:p>
          <a:p/>
          <a:p>
            <a:r>
              <a:t>NUMBERS TO QUOTE</a:t>
            </a:r>
          </a:p>
          <a:p>
            <a:r>
              <a:t>- Ramanagara, +1 day, 103 km</a:t>
            </a:r>
          </a:p>
          <a:p>
            <a:r>
              <a:t>- Rs 1,824 expected; Rs 1,316 floor; 10 quintals Rs 18,238 / Rs 13,165</a:t>
            </a:r>
          </a:p>
          <a:p>
            <a:r>
              <a:t>- Nearest (Kolar) Rs 1,233; gain Rs 592 per quintal</a:t>
            </a:r>
          </a:p>
          <a:p>
            <a:r>
              <a:t>- Transport Rs 3.0: still same advice, net Rs 1,515</a:t>
            </a:r>
          </a:p>
          <a:p>
            <a:r>
              <a:t>- Spoilage 5.0 percent: Ramanagara today, Rs 1,789</a:t>
            </a:r>
          </a:p>
          <a:p>
            <a:r>
              <a:t>- 93 percent better than nearest; floor held 84 percent</a:t>
            </a:r>
          </a:p>
          <a:p/>
          <a:p>
            <a:r>
              <a:t>IF ASKED</a:t>
            </a:r>
          </a:p>
          <a:p>
            <a:r>
              <a:t>Q: Why does the advice ignore the mandi nearest to me?</a:t>
            </a:r>
          </a:p>
          <a:p>
            <a:r>
              <a:t>A: Because the net after transport is higher elsewhere: the price it expects is Rs 776 higher and that outweighs Rs 94 extra transport and Rs 60 spoilage. The breakdown shows it line by line.</a:t>
            </a:r>
          </a:p>
          <a:p/>
          <a:p>
            <a:r>
              <a:t>TRANSITION</a:t>
            </a:r>
          </a:p>
          <a:p>
            <a:r>
              <a:t>Demo part two: the trader desk and Telegram.</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a:t>
            </a:r>
          </a:p>
          <a:p>
            <a:r>
              <a:t>The stack and why each piece. Python with pinned NumPy, pandas and statsmodels. LightGBM and XGBoost because trees win on tabular data; Optuna for tuning. FastAPI for typed requests and automatic API documentation. Next.js for pages that load fast on weak connections. Two model families for the language layer, with a deterministic fallback.</a:t>
            </a:r>
          </a:p>
          <a:p>
            <a:r>
              <a:t>The repository is reproducible: the lock file, a one-command pipeline, and the thesis tables are generated from the artefacts, not typed. We have six hundred and sixty-nine backend tests passing, eleven web tests, a sixty-check smoke test that exercises every endpoint and page, and continuous integration.</a:t>
            </a:r>
          </a:p>
          <a:p/>
          <a:p>
            <a:r>
              <a:t>SHOW / CLICK</a:t>
            </a:r>
          </a:p>
          <a:p>
            <a:r>
              <a:t>Table of tools; point at the Tested bullet.</a:t>
            </a:r>
          </a:p>
          <a:p/>
          <a:p>
            <a:r>
              <a:t>NUMBERS TO QUOTE</a:t>
            </a:r>
          </a:p>
          <a:p>
            <a:r>
              <a:t>- 669 backend + 11 web tests passing</a:t>
            </a:r>
          </a:p>
          <a:p>
            <a:r>
              <a:t>- Smoke test: 60 checks, all passed on 29 Oct 2026</a:t>
            </a:r>
          </a:p>
          <a:p>
            <a:r>
              <a:t>- 69 commits at the time of writing</a:t>
            </a:r>
          </a:p>
          <a:p/>
          <a:p>
            <a:r>
              <a:t>IF ASKED</a:t>
            </a:r>
          </a:p>
          <a:p>
            <a:r>
              <a:t>Q: Who wrote the code?</a:t>
            </a:r>
          </a:p>
          <a:p>
            <a:r>
              <a:t>A: The repository's contribution record shows the commit history; the work-package split is in the planning slides. We show that record in the report rather than hide it.</a:t>
            </a:r>
          </a:p>
          <a:p/>
          <a:p>
            <a:r>
              <a:t>TRANSITION</a:t>
            </a:r>
          </a:p>
          <a:p>
            <a:r>
              <a:t>Experimental setup.</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The evaluation is a nested walk-forward: five outer test blocks from 2024 to October 2026, each trained only on earlier data, with a gap of K plus two days so no four-day target overlaps. Inside every fold, Optuna tunes on a validation block. Every method gets the same budget and is retrained, not quoted.</a:t>
            </a:r>
          </a:p>
          <a:p>
            <a:r>
              <a:t>Metrics: realised revenue, regret to a hindsight oracle, the share of the gap between the nearest-mandi rule and the oracle that a method closes, silent-market trips, floor violation and forecast skill.</a:t>
            </a:r>
          </a:p>
          <a:p>
            <a:r>
              <a:t>Inference: block bootstrap, Diebold-Mariano with Newey-West variance, Holm correction across all pre-specified comparisons, and a model confidence set. We fixed the model ladder, the comparisons and the leakage protocol before seeing the tuned results.</a:t>
            </a:r>
          </a:p>
          <a:p>
            <a:r>
              <a:t>Machine: a Core i9 laptop with 31.7 GB and an RTX 4060.</a:t>
            </a:r>
          </a:p>
          <a:p/>
          <a:p>
            <a:r>
              <a:t>SHOW / CLICK</a:t>
            </a:r>
          </a:p>
          <a:p>
            <a:r>
              <a:t>Dataset table on the left; protocol bullets on top.</a:t>
            </a:r>
          </a:p>
          <a:p/>
          <a:p>
            <a:r>
              <a:t>NUMBERS TO QUOTE</a:t>
            </a:r>
          </a:p>
          <a:p>
            <a:r>
              <a:t>- 963 / 511 / 569 / 776 test days (tomato / onion / potato / ginger)</a:t>
            </a:r>
          </a:p>
          <a:p>
            <a:r>
              <a:t>- 5 outer folds; 20 neural and 25 boosting Optuna trials</a:t>
            </a:r>
          </a:p>
          <a:p/>
          <a:p>
            <a:r>
              <a:t>TRANSITION</a:t>
            </a:r>
          </a:p>
          <a:p>
            <a:r>
              <a:t>Results.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Decision quality. Each group is a crop; bars are mean realised revenue per quintal. The dark blue and the lighter blue are models trained on realised revenue; they are the best in every crop. The grey and gold bars, the heuristics and the observed-price model, are lower, and the last bar is the hindsight oracle, the ceiling.</a:t>
            </a:r>
          </a:p>
          <a:p>
            <a:r>
              <a:t>For tomato, the realised-label model earns two thousand one hundred and fifty-six rupees, against two thousand twenty-one for yesterday's highest price and sixteen hundred for the nearest mandi, with the oracle at two thousand five hundred and seventy.</a:t>
            </a:r>
          </a:p>
          <a:p>
            <a:r>
              <a:t>The reason: observed-price models send twelve to forty-three percent of trips to a silent mandi; the realised-label models cut that to five to twenty-one percent.</a:t>
            </a:r>
          </a:p>
          <a:p/>
          <a:p>
            <a:r>
              <a:t>SHOW / CLICK</a:t>
            </a:r>
          </a:p>
          <a:p>
            <a:r>
              <a:t>Point at the blue bars, then at the red-flag stat on the right.</a:t>
            </a:r>
          </a:p>
          <a:p/>
          <a:p>
            <a:r>
              <a:t>NUMBERS TO QUOTE</a:t>
            </a:r>
          </a:p>
          <a:p>
            <a:r>
              <a:t>- Tomato: Rs 2,156 vs Rs 2,021 vs Rs 1,600; oracle Rs 2,570</a:t>
            </a:r>
          </a:p>
          <a:p>
            <a:r>
              <a:t>- Silent trips 12 to 43 percent down to 5 to 21 percent</a:t>
            </a:r>
          </a:p>
          <a:p/>
          <a:p>
            <a:r>
              <a:t>TRANSITION</a:t>
            </a:r>
          </a:p>
          <a:p>
            <a:r>
              <a:t>Statistical validation.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a:t>
            </a:r>
          </a:p>
          <a:p>
            <a:r>
              <a:t>What actually improved decisions. The left block: changing the labels from observed price to realised revenue, with the same learner, reduced regret by eighty-seven to one hundred and fifty-seven rupees per quintal in all four crops, Holm-adjusted p below zero point zero zero two. The right block: swapping squared error for the decision-focused loss on the same labels gave no reliable difference, p between zero point one seven and zero point nine five. So the gain comes from learning on what the farmer actually received, not from a fancier loss.</a:t>
            </a:r>
          </a:p>
          <a:p>
            <a:r>
              <a:t>The model confidence set agrees: only realised-label models survive in every crop.</a:t>
            </a:r>
          </a:p>
          <a:p/>
          <a:p>
            <a:r>
              <a:t>SHOW / CLICK</a:t>
            </a:r>
          </a:p>
          <a:p>
            <a:r>
              <a:t>Table, then the three cards.</a:t>
            </a:r>
          </a:p>
          <a:p/>
          <a:p>
            <a:r>
              <a:t>NUMBERS TO QUOTE</a:t>
            </a:r>
          </a:p>
          <a:p>
            <a:r>
              <a:t>- Label effect: -140, -157, -87, -149 Rs per quintal</a:t>
            </a:r>
          </a:p>
          <a:p>
            <a:r>
              <a:t>- SPO+ vs squared error: -25, -23, +1, -66; all p &gt; 0.1</a:t>
            </a:r>
          </a:p>
          <a:p/>
          <a:p>
            <a:r>
              <a:t>IF ASKED</a:t>
            </a:r>
          </a:p>
          <a:p>
            <a:r>
              <a:t>Q: So SPO+ failed?</a:t>
            </a:r>
          </a:p>
          <a:p>
            <a:r>
              <a:t>A: On this problem it adds nothing reliable once the labels are right. We pre-specified the comparison and report it; the literature also finds the benefit depends on the problem.</a:t>
            </a:r>
          </a:p>
          <a:p/>
          <a:p>
            <a:r>
              <a:t>TRANSITION</a:t>
            </a:r>
          </a:p>
          <a:p>
            <a:r>
              <a:t>Floors and the served engine's back-test.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The floor. We target ten percent violation. The adaptive floor tracks the target; the naive normal-distribution floor is breached on up to thirty-five percent of days. So the guarantee is real, not decoration.</a:t>
            </a:r>
          </a:p>
          <a:p>
            <a:r>
              <a:t>On the right, the served engines back-tested over the last three hundred and thirty days, using only information available each day. The advice beats the highest price yesterday by one hundred and seventy rupees for tomato, sixty for onion, two hundred and two for ginger, all significant; potato's gain of fifteen rupees is not distinguishable from zero, so the app labels potato as limited evidence and does not advise where to sell.</a:t>
            </a:r>
          </a:p>
          <a:p/>
          <a:p>
            <a:r>
              <a:t>SHOW / CLICK</a:t>
            </a:r>
          </a:p>
          <a:p>
            <a:r>
              <a:t>Left table then the bar chart on the right.</a:t>
            </a:r>
          </a:p>
          <a:p/>
          <a:p>
            <a:r>
              <a:t>NUMBERS TO QUOTE</a:t>
            </a:r>
          </a:p>
          <a:p>
            <a:r>
              <a:t>- Adaptive 10 percent target: 9.0 / 6.3 / 6.9 / 10.5; naive 27.4 / 34.5 / 25.8 / 11.9</a:t>
            </a:r>
          </a:p>
          <a:p>
            <a:r>
              <a:t>- Gain vs highest yesterday: +170, +60, +15 (n.s.), +202 Rs per quintal</a:t>
            </a:r>
          </a:p>
          <a:p/>
          <a:p>
            <a:r>
              <a:t>TRANSITION</a:t>
            </a:r>
          </a:p>
          <a:p>
            <a:r>
              <a:t>Now the insight results, starting with why this mandi.</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A third result: the audit of decompose-then-forecast models. Published studies decompose the whole series and report skill of twenty-seven to sixty-two percent against the random walk. We ran the same models under two protocols that differ only in how components at the forecast origin are computed. Decomposing once over the whole series reproduces the large skill; decomposing only the data available at each origin gives minus fifteen to minus one percent, no better than the raw series. The difference, thirty to seventy-one points, is look-ahead leakage: STL and VMD are two-sided smoothers.</a:t>
            </a:r>
          </a:p>
          <a:p>
            <a:r>
              <a:t>A zero-shot foundation model, Chronos-Bolt, scored minus nine point four percent at one day. On the daily tomato series no model beat the random walk. We audited the protocol they describe, not the specific papers.</a:t>
            </a:r>
          </a:p>
          <a:p/>
          <a:p>
            <a:r>
              <a:t>SHOW / CLICK</a:t>
            </a:r>
          </a:p>
          <a:p>
            <a:r>
              <a:t>Bar chart: red published, blue causal.</a:t>
            </a:r>
          </a:p>
          <a:p/>
          <a:p>
            <a:r>
              <a:t>NUMBERS TO QUOTE</a:t>
            </a:r>
          </a:p>
          <a:p>
            <a:r>
              <a:t>- Published +27 to +62 percent; causal -15 to -1 percent</a:t>
            </a:r>
          </a:p>
          <a:p>
            <a:r>
              <a:t>- Chronos-Bolt -9.4 percent at one day</a:t>
            </a:r>
          </a:p>
          <a:p/>
          <a:p>
            <a:r>
              <a:t>TRANSITION</a:t>
            </a:r>
          </a:p>
          <a:p>
            <a:r>
              <a:t>Studies that did not clear their bar.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1.2 min]</a:t>
            </a:r>
          </a:p>
          <a:p/>
          <a:p>
            <a:r>
              <a:t>SAY</a:t>
            </a:r>
          </a:p>
          <a:p>
            <a:r>
              <a:t>Not everything worked and we report it. The specialist council of four agents did not beat a single model and wins zero or one of four folds, so it is not promoted. The supply-shock event study found zero robust effects out of thirty tests and five suggestive. Spillover published none. District forecasts at three, five and seven days are served because they beat no-change with ninety percent bands that cover eighty-nine point eight percent; one day is not served. The explanation layer keeps eighty-three to ninety-nine percent of English sentences and fewer in Kannada and Hindi after an independent judge, and the judge caught nine of nine corrupted sentences.</a:t>
            </a:r>
          </a:p>
          <a:p>
            <a:r>
              <a:t>Zero spillover episodes is also a finding about our pipeline: the detector depends on supply-regime labels that the real panel does not yet supply.</a:t>
            </a:r>
          </a:p>
          <a:p/>
          <a:p>
            <a:r>
              <a:t>SHOW / CLICK</a:t>
            </a:r>
          </a:p>
          <a:p>
            <a:r>
              <a:t>Table; read down the Verdict column.</a:t>
            </a:r>
          </a:p>
          <a:p/>
          <a:p>
            <a:r>
              <a:t>NUMBERS TO QUOTE</a:t>
            </a:r>
          </a:p>
          <a:p>
            <a:r>
              <a:t>- Council wins 0 to 1 of 4 folds</a:t>
            </a:r>
          </a:p>
          <a:p>
            <a:r>
              <a:t>- Shocks: 0 robust, 5 suggestive of 30</a:t>
            </a:r>
          </a:p>
          <a:p>
            <a:r>
              <a:t>- Spillover: 40 of 40 insufficient evidence</a:t>
            </a:r>
          </a:p>
          <a:p/>
          <a:p>
            <a:r>
              <a:t>IF ASKED</a:t>
            </a:r>
          </a:p>
          <a:p>
            <a:r>
              <a:t>Q: What would you do about spillover next?</a:t>
            </a:r>
          </a:p>
          <a:p>
            <a:r>
              <a:t>A: Define shock episodes directly from arrivals, as the shock study does, and rerun the forty edges.</a:t>
            </a:r>
          </a:p>
          <a:p/>
          <a:p>
            <a:r>
              <a:t>TRANSITION</a:t>
            </a:r>
          </a:p>
          <a:p>
            <a:r>
              <a:t>Benchmarking.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0.8 min]</a:t>
            </a:r>
          </a:p>
          <a:p/>
          <a:p>
            <a:r>
              <a:t>SAY</a:t>
            </a:r>
          </a:p>
          <a:p>
            <a:r>
              <a:t>The benchmark. Same split, same metric, every baseline retrained. No published study scores mandi choice by regret on real reporting-gap data, so the baselines are the heuristics a farmer uses and the standard predict-then-optimise models. Where we win: all four crops against every heuristic and every observed-price model. Where we do not: potato's back-test gain over the best heuristic is not significant and SPO-plus ties squared error.</a:t>
            </a:r>
          </a:p>
          <a:p/>
          <a:p>
            <a:r>
              <a:t>SHOW / CLICK</a:t>
            </a:r>
          </a:p>
          <a:p>
            <a:r>
              <a:t>Table; the two blue rows are ours.</a:t>
            </a:r>
          </a:p>
          <a:p/>
          <a:p>
            <a:r>
              <a:t>NUMBERS TO QUOTE</a:t>
            </a:r>
          </a:p>
          <a:p>
            <a:r>
              <a:t>- Gap closed: tomato 0.57; onion 0.48; potato 0.31; ginger 0.76</a:t>
            </a:r>
          </a:p>
          <a:p/>
          <a:p>
            <a:r>
              <a:t>TRANSITION</a:t>
            </a:r>
          </a:p>
          <a:p>
            <a:r>
              <a:t>Novelty.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a:t>
            </a:r>
          </a:p>
          <a:p>
            <a:r>
              <a:t>In one sentence: we supervise market choice on realised, silence-aware revenue, certify it with delayed-feedback conformal floors, and audit the leakage in published hybrids. What already exists: agricultural forecasters, SPO-plus, adaptive conformal inference. What is new here: revenue labels that include silent markets on real data, floors for selected actions whose outcome resolves later, a measured size of look-ahead leakage, and now an inspectable layer: breakdown, break-even, track record, silence tax and crowd scenario. What is ours and what is adapted is on the right.</a:t>
            </a:r>
          </a:p>
          <a:p/>
          <a:p>
            <a:r>
              <a:t>SHOW / CLICK</a:t>
            </a:r>
          </a:p>
          <a:p>
            <a:r>
              <a:t>Three cards, left to right.</a:t>
            </a:r>
          </a:p>
          <a:p/>
          <a:p>
            <a:r>
              <a:t>IF ASKED</a:t>
            </a:r>
          </a:p>
          <a:p>
            <a:r>
              <a:t>Q: What exactly is novel?</a:t>
            </a:r>
          </a:p>
          <a:p>
            <a:r>
              <a:t>A: The combination, and the audit. SPO+ and adaptive conformal inference are adapted. We did not find prior work that evaluates crowd effects for mandi choice, and we cite none.</a:t>
            </a:r>
          </a:p>
          <a:p/>
          <a:p>
            <a:r>
              <a:t>TRANSITION</a:t>
            </a:r>
          </a:p>
          <a:p>
            <a:r>
              <a:t>Optimisation and ablation.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1 min]</a:t>
            </a:r>
          </a:p>
          <a:p/>
          <a:p>
            <a:r>
              <a:t>SAY</a:t>
            </a:r>
          </a:p>
          <a:p>
            <a:r>
              <a:t>Each row changes one thing. Changing squared error to SPO-plus: no reliable difference. Adding a reporting head, which models whether a market will report: worse, p equals zero point zero one two. Adding network-silence features: no reliable difference. Tuning on forecast loss instead of decision regret: no change. We chose the boosting model for serving because it ties the neural model and is cheaper to run and explain. Failures are documented, not hidden.</a:t>
            </a:r>
          </a:p>
          <a:p/>
          <a:p>
            <a:r>
              <a:t>SHOW / CLICK</a:t>
            </a:r>
          </a:p>
          <a:p>
            <a:r>
              <a:t>Ablation table, then the orange note.</a:t>
            </a:r>
          </a:p>
          <a:p/>
          <a:p>
            <a:r>
              <a:t>NUMBERS TO QUOTE</a:t>
            </a:r>
          </a:p>
          <a:p>
            <a:r>
              <a:t>- Reporting head: +23 Rs regret, p = 0.012 (worse)</a:t>
            </a:r>
          </a:p>
          <a:p/>
          <a:p>
            <a:r>
              <a:t>TRANSITION</a:t>
            </a:r>
          </a:p>
          <a:p>
            <a:r>
              <a:t>Planning.</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a:t>
            </a:r>
          </a:p>
          <a:p>
            <a:r>
              <a:t>Planning. The work breakdown has five packages and nine hundred and seventy estimated hours: management and documentation, data, models and research, application, and verification. Each leaf task has one primary owner: Manohara owns data and research, Srijan the application, Shreejith documentation and test planning. The hours are team estimates, not logged time.</a:t>
            </a:r>
          </a:p>
          <a:p>
            <a:r>
              <a:t>The network shows the critical path A, B, C, F, G, I, J, K, twenty-four weeks. D, E and H are on slack. Worked example for E: the latest finish equals the latest start of I, sixteen weeks, so latest start of E is sixteen minus five, eleven; earliest start is six; slack is five weeks. For H slack is seven; for D, five.</a:t>
            </a:r>
          </a:p>
          <a:p/>
          <a:p>
            <a:r>
              <a:t>SHOW / CLICK</a:t>
            </a:r>
          </a:p>
          <a:p>
            <a:r>
              <a:t>Table left, network on the right; point at red path, then the blue boxes, then the worked-slack box.</a:t>
            </a:r>
          </a:p>
          <a:p/>
          <a:p>
            <a:r>
              <a:t>NUMBERS TO QUOTE</a:t>
            </a:r>
          </a:p>
          <a:p>
            <a:r>
              <a:t>- 970 estimated hours; Manohara 430, Srijan 360, Shreejith 180</a:t>
            </a:r>
          </a:p>
          <a:p>
            <a:r>
              <a:t>- Critical path 24 weeks; slack E 5, H 7, D 5</a:t>
            </a:r>
          </a:p>
          <a:p/>
          <a:p>
            <a:r>
              <a:t>IF ASKED</a:t>
            </a:r>
          </a:p>
          <a:p>
            <a:r>
              <a:t>Q: The commit history shows mostly one author.</a:t>
            </a:r>
          </a:p>
          <a:p>
            <a:r>
              <a:t>A: Yes, and our report states it plainly in the planning chapter. The repository history does not capture work done on other machines; the owner split is the team's agreed assignment. We do not hide the record.</a:t>
            </a:r>
          </a:p>
          <a:p/>
          <a:p>
            <a:r>
              <a:t>TRANSITION</a:t>
            </a:r>
          </a:p>
          <a:p>
            <a:r>
              <a:t>Schedule and risks.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a:t>
            </a:r>
          </a:p>
          <a:p>
            <a:r>
              <a:t>Baseline against actual. We planned twenty-four weeks from 27 April and took about twenty-seven, a slip of three point three weeks, fourteen percent. The cause was the data: the first dataset in the repository proved synthetic, so we re-acquired the exports and re-ran every experiment, which pushed critical-path activities C and G; D, E and H sat on slack and absorbed their delay. The baseline was reconstructed from the Phase-1 roadmap and the actual spans come from commit dates.</a:t>
            </a:r>
          </a:p>
          <a:p>
            <a:r>
              <a:t>The risk register: five risks occurred, including the synthetic data, look-ahead leakage that our tests caught, a NumPy break, and a stale server during testing; three remain open: team contribution, deployment verification and the lack of a field trial. For the materialised risk R1 the trigger was results that looked too clean; the action was to discard, rebuild from portal exports and rerun everything.</a:t>
            </a:r>
          </a:p>
          <a:p/>
          <a:p>
            <a:r>
              <a:t>SHOW / CLICK</a:t>
            </a:r>
          </a:p>
          <a:p>
            <a:r>
              <a:t>Gantt chart left; risk table right; point at the orange actual bars.</a:t>
            </a:r>
          </a:p>
          <a:p/>
          <a:p>
            <a:r>
              <a:t>NUMBERS TO QUOTE</a:t>
            </a:r>
          </a:p>
          <a:p>
            <a:r>
              <a:t>- 24 weeks planned; about 27 actual; +3.3 weeks (14 percent)</a:t>
            </a:r>
          </a:p>
          <a:p>
            <a:r>
              <a:t>- Milestones M1 to M5</a:t>
            </a:r>
          </a:p>
          <a:p/>
          <a:p>
            <a:r>
              <a:t>TRANSITION</a:t>
            </a:r>
          </a:p>
          <a:p>
            <a:r>
              <a:t>Report and documentation.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0.8 min]</a:t>
            </a:r>
          </a:p>
          <a:p/>
          <a:p>
            <a:r>
              <a:t>SAY</a:t>
            </a:r>
          </a:p>
          <a:p>
            <a:r>
              <a:t>The report follows the BMSCE template: seven chapters, six appendices and a bibliography. Every table is generated from the experiment artefacts. It now includes the insight features and the digest. What remains: the official Drillbit similarity report, which has not been run, so we claim no percentage; the CO-PO matrix from the course file; and supervisor corrections.</a:t>
            </a:r>
          </a:p>
          <a:p/>
          <a:p>
            <a:r>
              <a:t>SHOW / CLICK</a:t>
            </a:r>
          </a:p>
          <a:p>
            <a:r>
              <a:t>Table of status; the right box on similarity.</a:t>
            </a:r>
          </a:p>
          <a:p/>
          <a:p>
            <a:r>
              <a:t>IF ASKED</a:t>
            </a:r>
          </a:p>
          <a:p>
            <a:r>
              <a:t>Q: What is the similarity score?</a:t>
            </a:r>
          </a:p>
          <a:p>
            <a:r>
              <a:t>A: Not yet measured with Drillbit; we will insert the report in Appendix F. We will not quote a number we have not measured.</a:t>
            </a:r>
          </a:p>
          <a:p/>
          <a:p>
            <a:r>
              <a:t>TRANSITION</a:t>
            </a:r>
          </a:p>
          <a:p>
            <a:r>
              <a:t>SDGs.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a:t>
            </a:r>
          </a:p>
          <a:p>
            <a:r>
              <a:t>SDG mapping with numbered targets. Target 2.3, the incomes of small-scale producers through market information: the advice earned sixty to two hundred and two rupees per quintal over the best simple rule in three crops in the offline back-test; measured offline, not real income. Target 1.4, access to economic services: a free trilingual tool, not measured. Target 12.3, food loss: spoilage is built into the advice, but kilograms avoided are not measured. Target 9.c, information technology access: the open pipeline on a public data feed. The morning digest puts the same information on a free channel; whether farmers use it is untested.</a:t>
            </a:r>
          </a:p>
          <a:p/>
          <a:p>
            <a:r>
              <a:t>SHOW / CLICK</a:t>
            </a:r>
          </a:p>
          <a:p>
            <a:r>
              <a:t>Table; point at the Status column.</a:t>
            </a:r>
          </a:p>
          <a:p/>
          <a:p>
            <a:r>
              <a:t>TRANSITION</a:t>
            </a:r>
          </a:p>
          <a:p>
            <a:r>
              <a:t>Paper status.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0.8 min]</a:t>
            </a:r>
          </a:p>
          <a:p/>
          <a:p>
            <a:r>
              <a:t>SAY</a:t>
            </a:r>
          </a:p>
          <a:p>
            <a:r>
              <a:t>Research papers. Two manuscripts are drafted: the main one for IEEE Access, fourteen pages, on outcome-supervised market choice with conformal floors and the leakage audit; and a conference paper for CICPS 2027, twelve pages. Neither is submitted, so there is no acknowledgement to show, and we state that plainly. The next step is to submit the IEEE Access manuscript and attach the acknowledgement mail.</a:t>
            </a:r>
          </a:p>
          <a:p/>
          <a:p>
            <a:r>
              <a:t>SHOW / CLICK</a:t>
            </a:r>
          </a:p>
          <a:p>
            <a:r>
              <a:t>Table of manuscripts and status.</a:t>
            </a:r>
          </a:p>
          <a:p/>
          <a:p>
            <a:r>
              <a:t>TRANSITION</a:t>
            </a:r>
          </a:p>
          <a:p>
            <a:r>
              <a:t>Conclusion.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The key outcome: advice trained on realised revenue beats the best simple rule by one hundred and seventy rupees per quintal for tomato and two hundred and two for ginger in the back-test, with floors that hold close to their level, and now the advice can be inspected, stress-tested and audited. Against our ten objectives: seven met, one partly, one null, one built and tested.</a:t>
            </a:r>
          </a:p>
          <a:p>
            <a:r>
              <a:t>Limitations: one region, one source, five point eight years; offline only; revenue parameters are scenarios; the crowd effect is a scenario; the replayed floors held on eighty-four to ninety-two percent of days; spillover found no episodes; deployment unverified; the digest is not piloted.</a:t>
            </a:r>
          </a:p>
          <a:p>
            <a:r>
              <a:t>Future work follows from those limits: a field pilot through the bot with an outcome form, estimating transport, spoilage and silence from data, fixing the spillover labelling, user-testing the briefs, and verifying deployment.</a:t>
            </a:r>
          </a:p>
          <a:p/>
          <a:p>
            <a:r>
              <a:t>SHOW / CLICK</a:t>
            </a:r>
          </a:p>
          <a:p>
            <a:r>
              <a:t>Left card then right card.</a:t>
            </a:r>
          </a:p>
          <a:p/>
          <a:p>
            <a:r>
              <a:t>NUMBERS TO QUOTE</a:t>
            </a:r>
          </a:p>
          <a:p>
            <a:r>
              <a:t>- +Rs 170 tomato; +Rs 202 ginger vs best simple rule</a:t>
            </a:r>
          </a:p>
          <a:p>
            <a:r>
              <a:t>- 7 met, 1 partly, 1 null, 1 built and tested</a:t>
            </a:r>
          </a:p>
          <a:p/>
          <a:p>
            <a:r>
              <a:t>TRANSITION</a:t>
            </a:r>
          </a:p>
          <a:p>
            <a:r>
              <a:t>References, then thank you and questions.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[SKIP IF SHORT · about 0.2 min]</a:t>
            </a:r>
          </a:p>
          <a:p/>
          <a:p>
            <a:r>
              <a:t>SAY</a:t>
            </a:r>
          </a:p>
          <a:p>
            <a:r>
              <a:t>References are in IEEE style and in the order cited; the full forty-entry list is in the thesis.</a:t>
            </a:r>
          </a:p>
          <a:p/>
          <a:p>
            <a:r>
              <a:t>SHOW / CLICK</a:t>
            </a:r>
          </a:p>
          <a:p>
            <a:r>
              <a:t>Do not read.</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0.3 min]</a:t>
            </a:r>
          </a:p>
          <a:p/>
          <a:p>
            <a:r>
              <a:t>SAY</a:t>
            </a:r>
          </a:p>
          <a:p>
            <a:r>
              <a:t>The deck follows the review rubric: introduction and objectives, method, implementation with the live demonstration, results and benchmarking, novelty and optimisation, planning and risk, report and SDGs, paper status, and conclusion.</a:t>
            </a:r>
          </a:p>
          <a:p/>
          <a:p>
            <a:r>
              <a:t>SHOW / CLICK</a:t>
            </a:r>
          </a:p>
          <a:p>
            <a:r>
              <a:t>Contents. Do not linger.</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1.5 min]</a:t>
            </a:r>
          </a:p>
          <a:p/>
          <a:p>
            <a:r>
              <a:t>SAY</a:t>
            </a:r>
          </a:p>
          <a:p>
            <a:r>
              <a:t>Advice has to be inspectable. We built five features, all from the served engine and the ingested panel, none fitting a model at request time.</a:t>
            </a:r>
          </a:p>
          <a:p>
            <a:r>
              <a:t>The breakdown writes the net revenue as its parts, and the code asserts that the parts add up to the served figure.</a:t>
            </a:r>
          </a:p>
          <a:p>
            <a:r>
              <a:t>The what-if re-prices every action under the farmer's own costs and finds the exact cost at which the advice flips.</a:t>
            </a:r>
          </a:p>
          <a:p>
            <a:r>
              <a:t>The track record replays the back-test day by day on days the floor was not fitted on.</a:t>
            </a:r>
          </a:p>
          <a:p>
            <a:r>
              <a:t>The silence tax is the expected rupees lost per quintal on a trip to a mandi because it reports no price, after ignoring weekdays that are known closed days.</a:t>
            </a:r>
          </a:p>
          <a:p>
            <a:r>
              <a:t>The crowd simulator asks what happens to a mandi's price if many farmers follow the same advice. The price flexibility, 0.115, is an association in past data, not a causal estimate, so it is a scenario with a slider.</a:t>
            </a:r>
          </a:p>
          <a:p/>
          <a:p>
            <a:r>
              <a:t>SHOW / CLICK</a:t>
            </a:r>
          </a:p>
          <a:p>
            <a:r>
              <a:t>Point at the four formulas: breakdown identity, silence tax, crowd price impact, track-record definition.</a:t>
            </a:r>
          </a:p>
          <a:p/>
          <a:p>
            <a:r>
              <a:t>NUMBERS TO QUOTE</a:t>
            </a:r>
          </a:p>
          <a:p>
            <a:r>
              <a:t>- Flexibility b = 0.115, standard error 0.023</a:t>
            </a:r>
          </a:p>
          <a:p>
            <a:r>
              <a:t>- Closed day = silent on 90 percent or more of that weekday</a:t>
            </a:r>
          </a:p>
          <a:p/>
          <a:p>
            <a:r>
              <a:t>IF ASKED</a:t>
            </a:r>
          </a:p>
          <a:p>
            <a:r>
              <a:t>Q: Is the crowd result a measured effect?</a:t>
            </a:r>
          </a:p>
          <a:p>
            <a:r>
              <a:t>A: No, and we say so on the screen. It is a scenario. At b equal to zero every policy is equal; the conclusion strengthens as b rises. A field pilot would be needed to measure the real response.</a:t>
            </a:r>
          </a:p>
          <a:p/>
          <a:p>
            <a:r>
              <a:t>TRANSITION</a:t>
            </a:r>
          </a:p>
          <a:p>
            <a:r>
              <a:t>Now the implementation and the live demonstration.</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a:t>
            </a:r>
          </a:p>
          <a:p>
            <a:r>
              <a:t>Before we switch to the browser, here is what you will see. Five features plus the digest, each answering one question: why this mandi, what if my costs differ, has the advice worked, what do silent mandis cost, what happens if everyone follows it, and what does the farmer receive at seven in the morning.</a:t>
            </a:r>
          </a:p>
          <a:p>
            <a:r>
              <a:t>Three are inside the farmer tool, two are trader tools, and the digest is a Telegram bot.</a:t>
            </a:r>
          </a:p>
          <a:p/>
          <a:p>
            <a:r>
              <a:t>SHOW / CLICK</a:t>
            </a:r>
          </a:p>
          <a:p>
            <a:r>
              <a:t>The six cards. Say the question on each card.</a:t>
            </a:r>
          </a:p>
          <a:p/>
          <a:p>
            <a:r>
              <a:t>TRANSITION</a:t>
            </a:r>
          </a:p>
          <a:p>
            <a:r>
              <a:t>Switch to the browser: demo part one.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4 min]</a:t>
            </a:r>
          </a:p>
          <a:p/>
          <a:p>
            <a:r>
              <a:t>SAY</a:t>
            </a:r>
          </a:p>
          <a:p>
            <a:r>
              <a:t>(Trader desk and phone.) The same engine, for a trader. Open the Silence Tax. Each row is a tomato mandi. The coloured week strip shows which weekdays it reports: green reliable, red effectively closed. Kanakapura loses a trip about three hundred and thirteen rupees a quintal, sixteen and a half percent of its price, mostly on Sundays and unpredictably on other days. Chikkaballapur reported on none of last year's Thursdays, so a farmer is told not to take a Thursday load there. Note Kolar shows zero: that does not mean it is reliable; it means its usual price is below the fallback, so silence costs no money on price. The table also shows surprise silence for exactly this reason.</a:t>
            </a:r>
          </a:p>
          <a:p>
            <a:r>
              <a:t>Open the Crowd Simulator. One farmer alone nets one thousand eight hundred and twenty-four. With two hundred farmers, two thousand quintals, all following the best advice, that mandi, which normally receives about sixty-eight quintals a day, drops thirty-two and a half percent and each farmer nets one thousand one hundred and ninety-four. Everyone going to the nearest mandi gives one thousand two hundred and seven. A coordinated split, where each farmer is told a different action with a stated probability, gives one thousand four hundred and thirty-six: two hundred and forty-one rupees more per quintal, about four point eight lakh for the group. Drag the flexibility to zero and every policy becomes equal: that is the assumption, and we state it.</a:t>
            </a:r>
          </a:p>
          <a:p>
            <a:r>
              <a:t>Now the phone: Telegram, the MandiSense bot. Send slash today. This is the morning digest, with the date of the data, advice only where the evidence is strong, and a warning when a mandi is usually silent. Type onion Chintamani and it answers for that crop and place. In production the digest goes at seven every morning from a scheduled script.</a:t>
            </a:r>
          </a:p>
          <a:p/>
          <a:p>
            <a:r>
              <a:t>SHOW / CLICK</a:t>
            </a:r>
          </a:p>
          <a:p>
            <a:r>
              <a:t>Browser tabs: /trader-tools/reporting-value, /trader-tools/crowd-simulator. Then the phone with the bot chat open.</a:t>
            </a:r>
          </a:p>
          <a:p/>
          <a:p>
            <a:r>
              <a:t>NUMBERS TO QUOTE</a:t>
            </a:r>
          </a:p>
          <a:p>
            <a:r>
              <a:t>- Kanakapura Rs 313 per quintal (16.5 percent)</a:t>
            </a:r>
          </a:p>
          <a:p>
            <a:r>
              <a:t>- Chikkaballapur: 100 percent silent on Thursdays last year</a:t>
            </a:r>
          </a:p>
          <a:p>
            <a:r>
              <a:t>- 200 farmers: alone Rs 1,824; all follow best Rs 1,194 (-32.5 percent); nearest Rs 1,207; coordinated Rs 1,436</a:t>
            </a:r>
          </a:p>
          <a:p>
            <a:r>
              <a:t>- Coordination gain Rs 241 per quintal; Rs 4,82,705 for the group</a:t>
            </a:r>
          </a:p>
          <a:p>
            <a:r>
              <a:t>- Yard usually receives about 68 quintals a day</a:t>
            </a:r>
          </a:p>
          <a:p/>
          <a:p>
            <a:r>
              <a:t>IF ASKED</a:t>
            </a:r>
          </a:p>
          <a:p>
            <a:r>
              <a:t>Q: Is Telegram realistic for farmers?</a:t>
            </a:r>
          </a:p>
          <a:p>
            <a:r>
              <a:t>A: Not for most farmers today. It is free, needs no gateway or registration, and shows the product end to end. The same message text can go over SMS or WhatsApp once sender registration is done; we say that openly.</a:t>
            </a:r>
          </a:p>
          <a:p>
            <a:r>
              <a:t>Q: Where does the data for the digest come from?</a:t>
            </a:r>
          </a:p>
          <a:p>
            <a:r>
              <a:t>A: From the ingested Agmarknet data. There is no live feed, so the message states the date of the data and its age.</a:t>
            </a:r>
          </a:p>
          <a:p/>
          <a:p>
            <a:r>
              <a:t>TRANSITION</a:t>
            </a:r>
          </a:p>
          <a:p>
            <a:r>
              <a:t>Switch back to the slides: tools and quality.</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These are the first two panels from the demo. On the left, the breakdown: expected price two thousand and eighty-one, minus fee eighty-three, spoilage sixty, transport ninety-four and handling twenty, gives one thousand eight hundred and twenty-four. The nearest mandi keeps one thousand two hundred and thirty-two. The advice wins because the price it expects is seven hundred and seventy-six rupees higher, which outweighs ninety-four of extra transport and sixty of spoilage.</a:t>
            </a:r>
          </a:p>
          <a:p>
            <a:r>
              <a:t>On the right, the what-if. Transport can rise to three rupees per quintal-kilometre, over four times the tempo rate, and the advice does not change; net falls to one thousand five hundred and fifteen. Spoilage of five percent a day, or a farmer who cannot wait, changes it to Ramanagara today at one thousand seven hundred and eighty-nine.</a:t>
            </a:r>
          </a:p>
          <a:p/>
          <a:p>
            <a:r>
              <a:t>SHOW / CLICK</a:t>
            </a:r>
          </a:p>
          <a:p>
            <a:r>
              <a:t>Left image: Why this mandi? Right image: What if? Then the bullets.</a:t>
            </a:r>
          </a:p>
          <a:p/>
          <a:p>
            <a:r>
              <a:t>NUMBERS TO QUOTE</a:t>
            </a:r>
          </a:p>
          <a:p>
            <a:r>
              <a:t>- Rs 2,081 - 83 - 60 - 94 - 20 = Rs 1,824</a:t>
            </a:r>
          </a:p>
          <a:p>
            <a:r>
              <a:t>- Nearest Rs 1,232 (screen shows Rs 1,233 after rounding)</a:t>
            </a:r>
          </a:p>
          <a:p>
            <a:r>
              <a:t>- Spoilage flip at 5.0 percent a day</a:t>
            </a:r>
          </a:p>
          <a:p/>
          <a:p>
            <a:r>
              <a:t>TRANSITION</a:t>
            </a:r>
          </a:p>
          <a:p>
            <a:r>
              <a:t>The track record.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The public track record. We replay the advice over one hundred and sixty-five days it had not seen, May to October. Against the nearest mandi it wins on ninety-three percent of days for tomato, eighty-two for onion, sixty-three for potato and ninety for ginger. Against yesterday's highest price most days are ties because the advice often picks the same action; where it differs it wins more than it loses for tomato and onion, ties for ginger, and wins fifty-two percent to thirty-six for potato.</a:t>
            </a:r>
          </a:p>
          <a:p>
            <a:r>
              <a:t>The honest part: the floor, set to hold nine days in ten, held on eighty-four percent for tomato, eighty-nine for onion, ninety-two for potato and eighty-six for ginger. This replay is the strictest of three evaluations: one multiplier fitted on half the window. The served rule's own back-test violated nine point six to twelve point three percent. We show the farmer the real score.</a:t>
            </a:r>
          </a:p>
          <a:p/>
          <a:p>
            <a:r>
              <a:t>SHOW / CLICK</a:t>
            </a:r>
          </a:p>
          <a:p>
            <a:r>
              <a:t>Table and line chart; point at the Floor held column.</a:t>
            </a:r>
          </a:p>
          <a:p/>
          <a:p>
            <a:r>
              <a:t>NUMBERS TO QUOTE</a:t>
            </a:r>
          </a:p>
          <a:p>
            <a:r>
              <a:t>- 165 days, 12 May to 23 Oct 2026</a:t>
            </a:r>
          </a:p>
          <a:p>
            <a:r>
              <a:t>- Wins vs nearest: 93, 82, 63, 90 percent</a:t>
            </a:r>
          </a:p>
          <a:p>
            <a:r>
              <a:t>- Floor held: 84, 89, 92, 86 percent (target 90)</a:t>
            </a:r>
          </a:p>
          <a:p/>
          <a:p>
            <a:r>
              <a:t>IF ASKED</a:t>
            </a:r>
          </a:p>
          <a:p>
            <a:r>
              <a:t>Q: Isn't 84 percent a failure of the floor?</a:t>
            </a:r>
          </a:p>
          <a:p>
            <a:r>
              <a:t>A: It is below the 90 percent target on this short, strict replay. The three evaluations differ in how the floor multiplier is fitted; the served rule's own back-test violates 9.6 to 12.3 percent. We report all three side by side in the thesis, and the app shows the score rather than a promise.</a:t>
            </a:r>
          </a:p>
          <a:p/>
          <a:p>
            <a:r>
              <a:t>TRANSITION</a:t>
            </a:r>
          </a:p>
          <a:p>
            <a:r>
              <a:t>The silence tax.</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a:t>
            </a:r>
          </a:p>
          <a:p>
            <a:r>
              <a:t>The silence tax puts a rupee figure on unreliable reporting. Over thirteen tomato mandis, a trip loses seventy-eight rupees per quintal on average to surprise silence; Kanakapura loses three hundred and thirteen, sixteen and a half percent of its price. The heatmap shows each mandi by weekday: red columns are days it is effectively closed, like Sundays at several mandis and Thursdays at Chikkaballapur.</a:t>
            </a:r>
          </a:p>
          <a:p>
            <a:r>
              <a:t>Two cautions. A silent day may be a closed mandi or a missed upload; the portal does not say. And a tax of zero for a cheap mandi does not mean reliable; it means its usual price is below the fallback, so we show surprise silence beside it.</a:t>
            </a:r>
          </a:p>
          <a:p/>
          <a:p>
            <a:r>
              <a:t>SHOW / CLICK</a:t>
            </a:r>
          </a:p>
          <a:p>
            <a:r>
              <a:t>Heatmap and table.</a:t>
            </a:r>
          </a:p>
          <a:p/>
          <a:p>
            <a:r>
              <a:t>NUMBERS TO QUOTE</a:t>
            </a:r>
          </a:p>
          <a:p>
            <a:r>
              <a:t>- 13 tomato mandis; mean Rs 78 per quintal per trip</a:t>
            </a:r>
          </a:p>
          <a:p>
            <a:r>
              <a:t>- Kanakapura Rs 313 (16.5 percent)</a:t>
            </a:r>
          </a:p>
          <a:p>
            <a:r>
              <a:t>- Chikkaballapur: 100 percent silent on Thursdays</a:t>
            </a:r>
          </a:p>
          <a:p/>
          <a:p>
            <a:r>
              <a:t>TRANSITION</a:t>
            </a:r>
          </a:p>
          <a:p>
            <a:r>
              <a:t>The crowd simulator.</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1.2 min]</a:t>
            </a:r>
          </a:p>
          <a:p/>
          <a:p>
            <a:r>
              <a:t>SAY</a:t>
            </a:r>
          </a:p>
          <a:p>
            <a:r>
              <a:t>The question an examiner should ask: what if everyone follows your advice? One farmer alone nets one thousand eight hundred and twenty-four. With two hundred farmers all taking the best action, that mandi's price falls thirty-two and a half percent and each nets one thousand one hundred and ninety-four, no better than going to the nearest mandi. A coordinated split nets one thousand four hundred and thirty-six, two hundred and forty-one rupees per quintal more, about four point eight lakh for the group.</a:t>
            </a:r>
          </a:p>
          <a:p>
            <a:r>
              <a:t>As the crowd grows to two thousand, every policy deteriorates and coordination matters more. This rests on a price flexibility of zero point one one five estimated as an association in past data. It is a scenario: at zero every policy is equal, and the real response to advised farmers has not been observed.</a:t>
            </a:r>
          </a:p>
          <a:p/>
          <a:p>
            <a:r>
              <a:t>SHOW / CLICK</a:t>
            </a:r>
          </a:p>
          <a:p>
            <a:r>
              <a:t>Line chart; stat boxes; point at the caveat card.</a:t>
            </a:r>
          </a:p>
          <a:p/>
          <a:p>
            <a:r>
              <a:t>NUMBERS TO QUOTE</a:t>
            </a:r>
          </a:p>
          <a:p>
            <a:r>
              <a:t>- 200 farmers x 10 quintals</a:t>
            </a:r>
          </a:p>
          <a:p>
            <a:r>
              <a:t>- Alone Rs 1,824; follow-best Rs 1,194; nearest Rs 1,207; coordinated Rs 1,436</a:t>
            </a:r>
          </a:p>
          <a:p>
            <a:r>
              <a:t>- Price drop 32.5 percent; gain Rs 241 per quintal; Rs 4,82,705 total</a:t>
            </a:r>
          </a:p>
          <a:p/>
          <a:p>
            <a:r>
              <a:t>IF ASKED</a:t>
            </a:r>
          </a:p>
          <a:p>
            <a:r>
              <a:t>Q: How would you measure the real effect?</a:t>
            </a:r>
          </a:p>
          <a:p>
            <a:r>
              <a:t>A: A field pilot with advised and unadvised farmers at the same mandi, comparing price and quantity received. That is the first item in future work.</a:t>
            </a:r>
          </a:p>
          <a:p/>
          <a:p>
            <a:r>
              <a:t>TRANSITION</a:t>
            </a:r>
          </a:p>
          <a:p>
            <a:r>
              <a:t>The daily digest.</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1 min]</a:t>
            </a:r>
          </a:p>
          <a:p/>
          <a:p>
            <a:r>
              <a:t>SAY</a:t>
            </a:r>
          </a:p>
          <a:p>
            <a:r>
              <a:t>This is the morning digest as the bot sends it. The second line gives the date of the data and, below it, how old it is, because we have no live feed. Each crop shows the latest reported price with its date and the change against the previous week. Advice appears only where the evidence is strong: tomato and onion here; potato gets prices only.</a:t>
            </a:r>
          </a:p>
          <a:p>
            <a:r>
              <a:t>Built on the free Telegram Bot API: onboarding with buttons, languages English, Kannada and Hindi, slash today, slash stop, and free-text questions. Every send is logged, and the log shows deliveries to a real account. Eight unit tests pass with a fake client. Not claimed: a pilot with farmers and a live price feed.</a:t>
            </a:r>
          </a:p>
          <a:p/>
          <a:p>
            <a:r>
              <a:t>SHOW / CLICK</a:t>
            </a:r>
          </a:p>
          <a:p>
            <a:r>
              <a:t>Message image on the left; the bullets on the right.</a:t>
            </a:r>
          </a:p>
          <a:p/>
          <a:p>
            <a:r>
              <a:t>NUMBERS TO QUOTE</a:t>
            </a:r>
          </a:p>
          <a:p>
            <a:r>
              <a:t>- Bot: @MandiAis_BOT</a:t>
            </a:r>
          </a:p>
          <a:p>
            <a:r>
              <a:t>- 8 digest tests; every price dated</a:t>
            </a:r>
          </a:p>
          <a:p>
            <a:r>
              <a:t>- Scheduled by Windows Task Scheduler at 07:00</a:t>
            </a:r>
          </a:p>
          <a:p/>
          <a:p>
            <a:r>
              <a:t>IF ASKED</a:t>
            </a:r>
          </a:p>
          <a:p>
            <a:r>
              <a:t>Q: Why Telegram and not SMS?</a:t>
            </a:r>
          </a:p>
          <a:p>
            <a:r>
              <a:t>A: SMS in India needs sender and template registration (DLT) and a paid provider. Telegram is free and lets us demonstrate the whole flow now. The message builder is channel-independent.</a:t>
            </a:r>
          </a:p>
          <a:p>
            <a:r>
              <a:t>Q: Privacy?</a:t>
            </a:r>
          </a:p>
          <a:p>
            <a:r>
              <a:t>A: Only chat id, first name, language, district and crops are stored, in a local file; users can stop at any time.</a:t>
            </a:r>
          </a:p>
          <a:p/>
          <a:p>
            <a:r>
              <a:t>TRANSITION</a:t>
            </a:r>
          </a:p>
          <a:p>
            <a:r>
              <a:t>Back to the research results: the leakage audit.</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 · about 0.2 min]</a:t>
            </a:r>
          </a:p>
          <a:p/>
          <a:p>
            <a:r>
              <a:t>SAY</a:t>
            </a:r>
          </a:p>
          <a:p>
            <a:r>
              <a:t>Thank you. We are happy to take questions, and to show any part of the system again.</a:t>
            </a:r>
          </a:p>
          <a:p/>
          <a:p>
            <a:r>
              <a:t>SHOW / CLICK</a:t>
            </a:r>
          </a:p>
          <a:p>
            <a:r>
              <a:t>Keep the browser and phone ready for follow-up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Blank">
    <p:spTree>
      <p:nvGrpSpPr>
        <p:cNvPr id="1" name="Shape 11"/>
        <p:cNvGrpSpPr/>
        <p:nvPr/>
      </p:nvGrpSpPr>
      <p:grpSpPr>
        <a:xfrm>
          <a:off x="0" y="0"/>
          <a:ext cx="0" cy="0"/>
          <a:chOff x="0" y="0"/>
          <a:chExt cx="0" cy="0"/>
        </a:xfrm>
      </p:grpSpPr>
      <p:sp>
        <p:nvSpPr>
          <p:cNvPr id="12" name="Google Shape;12;p2"/>
          <p:cNvSpPr txBox="1">
            <a:spLocks noGrp="1"/>
          </p:cNvSpPr>
          <p:nvPr>
            <p:ph type="ftr" idx="11"/>
          </p:nvPr>
        </p:nvSpPr>
        <p:spPr>
          <a:xfrm>
            <a:off x="6835777" y="10517188"/>
            <a:ext cx="6432549" cy="56673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M.Tech in Computer Network Engineering- June 2022</a:t>
            </a:r>
            <a:endParaRPr lang="en-IN"/>
          </a:p>
        </p:txBody>
      </p:sp>
      <p:sp>
        <p:nvSpPr>
          <p:cNvPr id="13" name="Google Shape;13;p2"/>
          <p:cNvSpPr txBox="1">
            <a:spLocks noGrp="1"/>
          </p:cNvSpPr>
          <p:nvPr>
            <p:ph type="dt" idx="10"/>
          </p:nvPr>
        </p:nvSpPr>
        <p:spPr>
          <a:xfrm>
            <a:off x="1004887" y="10517188"/>
            <a:ext cx="4624387" cy="56673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B04CD0D4-4275-4D7D-AA13-C985D78AF328}" type="datetime1">
              <a:rPr lang="en-US" smtClean="0"/>
              <a:t>10/27/2026</a:t>
            </a:fld>
            <a:endParaRPr lang="en-IN"/>
          </a:p>
        </p:txBody>
      </p:sp>
      <p:sp>
        <p:nvSpPr>
          <p:cNvPr id="14" name="Google Shape;14;p2"/>
          <p:cNvSpPr txBox="1">
            <a:spLocks noGrp="1"/>
          </p:cNvSpPr>
          <p:nvPr>
            <p:ph type="sldNum" idx="12"/>
          </p:nvPr>
        </p:nvSpPr>
        <p:spPr>
          <a:xfrm>
            <a:off x="14474826" y="10517188"/>
            <a:ext cx="4624387" cy="566737"/>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C7A9E8A-0B58-44E7-8B4B-C18EEB8D5E6B}" type="datetime1">
              <a:rPr lang="en-US" smtClean="0"/>
              <a:t>10/27/2026</a:t>
            </a:fld>
            <a:endParaRPr lang="en-IN"/>
          </a:p>
        </p:txBody>
      </p:sp>
      <p:sp>
        <p:nvSpPr>
          <p:cNvPr id="5" name="Footer Placeholder 4"/>
          <p:cNvSpPr>
            <a:spLocks noGrp="1"/>
          </p:cNvSpPr>
          <p:nvPr>
            <p:ph type="ftr" sz="quarter" idx="11"/>
          </p:nvPr>
        </p:nvSpPr>
        <p:spPr/>
        <p:txBody>
          <a:bodyPr/>
          <a:lstStyle/>
          <a:p>
            <a:r>
              <a:rPr lang="en-US"/>
              <a:t>M.Tech in Computer Network Engineering- June 2022</a:t>
            </a:r>
            <a:endParaRPr lang="en-IN"/>
          </a:p>
        </p:txBody>
      </p:sp>
      <p:sp>
        <p:nvSpPr>
          <p:cNvPr id="6" name="Slide Number Placeholder 5"/>
          <p:cNvSpPr>
            <a:spLocks noGrp="1"/>
          </p:cNvSpPr>
          <p:nvPr>
            <p:ph type="sldNum" sz="quarter" idx="12"/>
          </p:nvPr>
        </p:nvSpPr>
        <p:spPr/>
        <p:txBody>
          <a:bodyPr/>
          <a:lstStyle/>
          <a:p>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a:lstStyle>
            <a:lvl1pPr>
              <a:defRPr/>
            </a:lvl1pPr>
          </a:lstStyle>
          <a:p>
            <a:endParaRPr/>
          </a:p>
        </p:txBody>
      </p:sp>
      <p:sp>
        <p:nvSpPr>
          <p:cNvPr id="4"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5" name="Holder 5"/>
          <p:cNvSpPr>
            <a:spLocks noGrp="1"/>
          </p:cNvSpPr>
          <p:nvPr>
            <p:ph type="dt" sz="half" idx="11"/>
          </p:nvPr>
        </p:nvSpPr>
        <p:spPr/>
        <p:txBody>
          <a:bodyPr/>
          <a:lstStyle>
            <a:lvl1pPr>
              <a:defRPr/>
            </a:lvl1pPr>
          </a:lstStyle>
          <a:p>
            <a:pPr>
              <a:defRPr/>
            </a:pPr>
            <a:fld id="{21E4E739-A987-4E8A-B168-21AAA262878F}" type="datetime1">
              <a:rPr lang="en-US" altLang="en-US"/>
              <a:t>10/27/2026</a:t>
            </a:fld>
            <a:endParaRPr lang="en-US" altLang="en-US"/>
          </a:p>
        </p:txBody>
      </p:sp>
      <p:sp>
        <p:nvSpPr>
          <p:cNvPr id="6" name="Holder 6"/>
          <p:cNvSpPr>
            <a:spLocks noGrp="1"/>
          </p:cNvSpPr>
          <p:nvPr>
            <p:ph type="sldNum" sz="quarter" idx="12"/>
          </p:nvPr>
        </p:nvSpPr>
        <p:spPr/>
        <p:txBody>
          <a:bodyPr/>
          <a:lstStyle>
            <a:lvl1pPr>
              <a:defRPr/>
            </a:lvl1pPr>
          </a:lstStyle>
          <a:p>
            <a:pPr>
              <a:defRPr/>
            </a:pPr>
            <a:fld id="{8ED9323D-A949-499D-B0E8-309C95408804}"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5" name="Holder 5"/>
          <p:cNvSpPr>
            <a:spLocks noGrp="1"/>
          </p:cNvSpPr>
          <p:nvPr>
            <p:ph type="dt" sz="half" idx="11"/>
          </p:nvPr>
        </p:nvSpPr>
        <p:spPr/>
        <p:txBody>
          <a:bodyPr/>
          <a:lstStyle>
            <a:lvl1pPr>
              <a:defRPr/>
            </a:lvl1pPr>
          </a:lstStyle>
          <a:p>
            <a:pPr>
              <a:defRPr/>
            </a:pPr>
            <a:fld id="{C977E9D2-16F2-417E-A5F0-B3E57AB994F6}" type="datetime1">
              <a:rPr lang="en-US" altLang="en-US"/>
              <a:t>10/27/2026</a:t>
            </a:fld>
            <a:endParaRPr lang="en-US" altLang="en-US"/>
          </a:p>
        </p:txBody>
      </p:sp>
      <p:sp>
        <p:nvSpPr>
          <p:cNvPr id="6" name="Holder 6"/>
          <p:cNvSpPr>
            <a:spLocks noGrp="1"/>
          </p:cNvSpPr>
          <p:nvPr>
            <p:ph type="sldNum" sz="quarter" idx="12"/>
          </p:nvPr>
        </p:nvSpPr>
        <p:spPr/>
        <p:txBody>
          <a:bodyPr/>
          <a:lstStyle>
            <a:lvl1pPr>
              <a:defRPr/>
            </a:lvl1pPr>
          </a:lstStyle>
          <a:p>
            <a:pPr>
              <a:defRPr/>
            </a:pPr>
            <a:fld id="{D9AD5552-F823-4200-88B5-2EBA191DD39E}"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a:lstStyle>
            <a:lvl1pPr>
              <a:defRPr/>
            </a:lvl1pPr>
          </a:lstStyle>
          <a:p>
            <a:endParaRPr/>
          </a:p>
        </p:txBody>
      </p:sp>
      <p:sp>
        <p:nvSpPr>
          <p:cNvPr id="5"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6" name="Holder 5"/>
          <p:cNvSpPr>
            <a:spLocks noGrp="1"/>
          </p:cNvSpPr>
          <p:nvPr>
            <p:ph type="dt" sz="half" idx="11"/>
          </p:nvPr>
        </p:nvSpPr>
        <p:spPr/>
        <p:txBody>
          <a:bodyPr/>
          <a:lstStyle>
            <a:lvl1pPr>
              <a:defRPr/>
            </a:lvl1pPr>
          </a:lstStyle>
          <a:p>
            <a:pPr>
              <a:defRPr/>
            </a:pPr>
            <a:fld id="{2C8EF551-0267-439D-9A9D-6C9E698304E9}" type="datetime1">
              <a:rPr lang="en-US" altLang="en-US"/>
              <a:t>10/27/2026</a:t>
            </a:fld>
            <a:endParaRPr lang="en-US" altLang="en-US"/>
          </a:p>
        </p:txBody>
      </p:sp>
      <p:sp>
        <p:nvSpPr>
          <p:cNvPr id="7" name="Holder 6"/>
          <p:cNvSpPr>
            <a:spLocks noGrp="1"/>
          </p:cNvSpPr>
          <p:nvPr>
            <p:ph type="sldNum" sz="quarter" idx="12"/>
          </p:nvPr>
        </p:nvSpPr>
        <p:spPr/>
        <p:txBody>
          <a:bodyPr/>
          <a:lstStyle>
            <a:lvl1pPr>
              <a:defRPr/>
            </a:lvl1pPr>
          </a:lstStyle>
          <a:p>
            <a:pPr>
              <a:defRPr/>
            </a:pPr>
            <a:fld id="{F0D20FE6-005D-4110-AD4F-32432AB646E7}"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3000" b="0" i="1">
                <a:solidFill>
                  <a:srgbClr val="422C75"/>
                </a:solidFill>
                <a:latin typeface="Playfair Display" panose="00000500000000000000"/>
                <a:cs typeface="Playfair Display" panose="00000500000000000000"/>
              </a:defRPr>
            </a:lvl1pPr>
          </a:lstStyle>
          <a:p>
            <a:endParaRPr/>
          </a:p>
        </p:txBody>
      </p:sp>
      <p:sp>
        <p:nvSpPr>
          <p:cNvPr id="3"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4" name="Holder 5"/>
          <p:cNvSpPr>
            <a:spLocks noGrp="1"/>
          </p:cNvSpPr>
          <p:nvPr>
            <p:ph type="dt" sz="half" idx="11"/>
          </p:nvPr>
        </p:nvSpPr>
        <p:spPr/>
        <p:txBody>
          <a:bodyPr/>
          <a:lstStyle>
            <a:lvl1pPr>
              <a:defRPr/>
            </a:lvl1pPr>
          </a:lstStyle>
          <a:p>
            <a:pPr>
              <a:defRPr/>
            </a:pPr>
            <a:fld id="{3945BEF0-0F14-4127-BDA9-581E69FA42F4}" type="datetime1">
              <a:rPr lang="en-US" altLang="en-US"/>
              <a:t>10/27/2026</a:t>
            </a:fld>
            <a:endParaRPr lang="en-US" altLang="en-US"/>
          </a:p>
        </p:txBody>
      </p:sp>
      <p:sp>
        <p:nvSpPr>
          <p:cNvPr id="5" name="Holder 6"/>
          <p:cNvSpPr>
            <a:spLocks noGrp="1"/>
          </p:cNvSpPr>
          <p:nvPr>
            <p:ph type="sldNum" sz="quarter" idx="12"/>
          </p:nvPr>
        </p:nvSpPr>
        <p:spPr/>
        <p:txBody>
          <a:bodyPr/>
          <a:lstStyle>
            <a:lvl1pPr>
              <a:defRPr/>
            </a:lvl1pPr>
          </a:lstStyle>
          <a:p>
            <a:pPr>
              <a:defRPr/>
            </a:pPr>
            <a:fld id="{DC58FD37-B21C-4E3A-8210-39175BC1A8F2}"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4"/>
          <p:cNvSpPr>
            <a:spLocks noGrp="1"/>
          </p:cNvSpPr>
          <p:nvPr>
            <p:ph type="ftr" sz="quarter" idx="10"/>
          </p:nvPr>
        </p:nvSpPr>
        <p:spPr/>
        <p:txBody>
          <a:bodyPr/>
          <a:lstStyle>
            <a:lvl1pPr>
              <a:defRPr/>
            </a:lvl1pPr>
          </a:lstStyle>
          <a:p>
            <a:pPr>
              <a:defRPr/>
            </a:pPr>
            <a:r>
              <a:rPr lang="en-US"/>
              <a:t>MTech in Computer Network Engineering –  Major Project Phase-I  Feb 2022</a:t>
            </a:r>
          </a:p>
        </p:txBody>
      </p:sp>
      <p:sp>
        <p:nvSpPr>
          <p:cNvPr id="3" name="Holder 5"/>
          <p:cNvSpPr>
            <a:spLocks noGrp="1"/>
          </p:cNvSpPr>
          <p:nvPr>
            <p:ph type="dt" sz="half" idx="11"/>
          </p:nvPr>
        </p:nvSpPr>
        <p:spPr/>
        <p:txBody>
          <a:bodyPr/>
          <a:lstStyle>
            <a:lvl1pPr>
              <a:defRPr/>
            </a:lvl1pPr>
          </a:lstStyle>
          <a:p>
            <a:pPr>
              <a:defRPr/>
            </a:pPr>
            <a:fld id="{B1A4BE81-A416-4134-B507-67950D617D9F}" type="datetime1">
              <a:rPr lang="en-US" altLang="en-US"/>
              <a:t>10/27/2026</a:t>
            </a:fld>
            <a:endParaRPr lang="en-US" altLang="en-US"/>
          </a:p>
        </p:txBody>
      </p:sp>
      <p:sp>
        <p:nvSpPr>
          <p:cNvPr id="4" name="Holder 6"/>
          <p:cNvSpPr>
            <a:spLocks noGrp="1"/>
          </p:cNvSpPr>
          <p:nvPr>
            <p:ph type="sldNum" sz="quarter" idx="12"/>
          </p:nvPr>
        </p:nvSpPr>
        <p:spPr/>
        <p:txBody>
          <a:bodyPr/>
          <a:lstStyle>
            <a:lvl1pPr>
              <a:defRPr/>
            </a:lvl1pPr>
          </a:lstStyle>
          <a:p>
            <a:pPr>
              <a:defRPr/>
            </a:pPr>
            <a:fld id="{6269011E-713A-4C0B-ABC2-7C3A290D551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027" y="407987"/>
            <a:ext cx="18942050" cy="484187"/>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1800" b="0" i="0" u="none" strike="noStrike" cap="none">
                <a:solidFill>
                  <a:schemeClr val="dk2"/>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p1"/>
          <p:cNvSpPr txBox="1">
            <a:spLocks noGrp="1"/>
          </p:cNvSpPr>
          <p:nvPr>
            <p:ph type="body" idx="1"/>
          </p:nvPr>
        </p:nvSpPr>
        <p:spPr>
          <a:xfrm>
            <a:off x="2746377" y="2613025"/>
            <a:ext cx="14611350" cy="2271712"/>
          </a:xfrm>
          <a:prstGeom prst="rect">
            <a:avLst/>
          </a:prstGeom>
          <a:noFill/>
          <a:ln>
            <a:noFill/>
          </a:ln>
        </p:spPr>
        <p:txBody>
          <a:bodyPr spcFirstLastPara="1" wrap="square" lIns="0" tIns="0" rIns="0" bIns="0" anchor="t" anchorCtr="0">
            <a:noAutofit/>
          </a:bodyPr>
          <a:lstStyle>
            <a:lvl1pPr marL="457200" marR="0" lvl="0"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800" b="0" i="0" u="none" strike="noStrike" cap="none">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ftr" idx="11"/>
          </p:nvPr>
        </p:nvSpPr>
        <p:spPr>
          <a:xfrm>
            <a:off x="6835777" y="10517188"/>
            <a:ext cx="6432549" cy="56673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a:t>M.Tech in Computer Network Engineering- June 2022</a:t>
            </a:r>
            <a:endParaRPr lang="en-IN"/>
          </a:p>
        </p:txBody>
      </p:sp>
      <p:sp>
        <p:nvSpPr>
          <p:cNvPr id="9" name="Google Shape;9;p1"/>
          <p:cNvSpPr txBox="1">
            <a:spLocks noGrp="1"/>
          </p:cNvSpPr>
          <p:nvPr>
            <p:ph type="dt" idx="10"/>
          </p:nvPr>
        </p:nvSpPr>
        <p:spPr>
          <a:xfrm>
            <a:off x="1004887" y="10517188"/>
            <a:ext cx="4624387" cy="56673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DDCBA8C0-BF7B-4CC5-B13A-7BC327826D49}" type="datetime1">
              <a:rPr lang="en-US" smtClean="0"/>
              <a:t>10/27/2026</a:t>
            </a:fld>
            <a:endParaRPr lang="en-IN"/>
          </a:p>
        </p:txBody>
      </p:sp>
      <p:sp>
        <p:nvSpPr>
          <p:cNvPr id="10" name="Google Shape;10;p1"/>
          <p:cNvSpPr txBox="1">
            <a:spLocks noGrp="1"/>
          </p:cNvSpPr>
          <p:nvPr>
            <p:ph type="sldNum" idx="12"/>
          </p:nvPr>
        </p:nvSpPr>
        <p:spPr>
          <a:xfrm>
            <a:off x="14474826" y="10517188"/>
            <a:ext cx="4624387" cy="566737"/>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800"/>
              <a:buFont typeface="Calibri" panose="020F0502020204030204"/>
              <a:buNone/>
              <a:defRPr sz="18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bk object 16"/>
          <p:cNvSpPr/>
          <p:nvPr/>
        </p:nvSpPr>
        <p:spPr bwMode="auto">
          <a:xfrm>
            <a:off x="0" y="11296650"/>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22859">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1" name="bk object 17"/>
          <p:cNvSpPr/>
          <p:nvPr/>
        </p:nvSpPr>
        <p:spPr bwMode="auto">
          <a:xfrm>
            <a:off x="0" y="11274425"/>
            <a:ext cx="20075525" cy="0"/>
          </a:xfrm>
          <a:custGeom>
            <a:avLst/>
            <a:gdLst>
              <a:gd name="T0" fmla="*/ 0 w 20076160"/>
              <a:gd name="T1" fmla="*/ 20042410 w 20076160"/>
              <a:gd name="T2" fmla="*/ 0 60000 65536"/>
              <a:gd name="T3" fmla="*/ 0 60000 65536"/>
            </a:gdLst>
            <a:ahLst/>
            <a:cxnLst>
              <a:cxn ang="T2">
                <a:pos x="T0" y="0"/>
              </a:cxn>
              <a:cxn ang="T3">
                <a:pos x="T1" y="0"/>
              </a:cxn>
            </a:cxnLst>
            <a:rect l="0" t="0" r="r" b="b"/>
            <a:pathLst>
              <a:path w="20076160">
                <a:moveTo>
                  <a:pt x="0" y="0"/>
                </a:moveTo>
                <a:lnTo>
                  <a:pt x="20076037" y="0"/>
                </a:lnTo>
              </a:path>
            </a:pathLst>
          </a:custGeom>
          <a:noFill/>
          <a:ln w="22859">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2" name="bk object 18"/>
          <p:cNvSpPr/>
          <p:nvPr/>
        </p:nvSpPr>
        <p:spPr bwMode="auto">
          <a:xfrm>
            <a:off x="28575" y="47625"/>
            <a:ext cx="0" cy="11214100"/>
          </a:xfrm>
          <a:custGeom>
            <a:avLst/>
            <a:gdLst>
              <a:gd name="T0" fmla="*/ 0 h 11215370"/>
              <a:gd name="T1" fmla="*/ 11148256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218">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3" name="bk object 19"/>
          <p:cNvSpPr/>
          <p:nvPr/>
        </p:nvSpPr>
        <p:spPr bwMode="auto">
          <a:xfrm>
            <a:off x="0" y="23813"/>
            <a:ext cx="20104100" cy="0"/>
          </a:xfrm>
          <a:custGeom>
            <a:avLst/>
            <a:gdLst>
              <a:gd name="T0" fmla="*/ 0 w 20104100"/>
              <a:gd name="T1" fmla="*/ 20104099 w 20104100"/>
              <a:gd name="T2" fmla="*/ 0 60000 65536"/>
              <a:gd name="T3" fmla="*/ 0 60000 65536"/>
            </a:gdLst>
            <a:ahLst/>
            <a:cxnLst>
              <a:cxn ang="T2">
                <a:pos x="T0" y="0"/>
              </a:cxn>
              <a:cxn ang="T3">
                <a:pos x="T1" y="0"/>
              </a:cxn>
            </a:cxnLst>
            <a:rect l="0" t="0" r="r" b="b"/>
            <a:pathLst>
              <a:path w="20104100">
                <a:moveTo>
                  <a:pt x="0" y="0"/>
                </a:moveTo>
                <a:lnTo>
                  <a:pt x="20104099" y="0"/>
                </a:lnTo>
              </a:path>
            </a:pathLst>
          </a:custGeom>
          <a:noFill/>
          <a:ln w="46990">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4" name="bk object 20"/>
          <p:cNvSpPr/>
          <p:nvPr/>
        </p:nvSpPr>
        <p:spPr bwMode="auto">
          <a:xfrm>
            <a:off x="20075525" y="11261725"/>
            <a:ext cx="28575" cy="23813"/>
          </a:xfrm>
          <a:custGeom>
            <a:avLst/>
            <a:gdLst>
              <a:gd name="T0" fmla="*/ 0 w 28575"/>
              <a:gd name="T1" fmla="*/ 199575 h 22859"/>
              <a:gd name="T2" fmla="*/ 28061 w 28575"/>
              <a:gd name="T3" fmla="*/ 199575 h 22859"/>
              <a:gd name="T4" fmla="*/ 28061 w 28575"/>
              <a:gd name="T5" fmla="*/ 0 h 22859"/>
              <a:gd name="T6" fmla="*/ 0 w 28575"/>
              <a:gd name="T7" fmla="*/ 0 h 22859"/>
              <a:gd name="T8" fmla="*/ 0 w 28575"/>
              <a:gd name="T9" fmla="*/ 199575 h 228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75" h="22859">
                <a:moveTo>
                  <a:pt x="0" y="22856"/>
                </a:moveTo>
                <a:lnTo>
                  <a:pt x="28061" y="22856"/>
                </a:lnTo>
                <a:lnTo>
                  <a:pt x="28061" y="0"/>
                </a:lnTo>
                <a:lnTo>
                  <a:pt x="0" y="0"/>
                </a:lnTo>
                <a:lnTo>
                  <a:pt x="0" y="22856"/>
                </a:lnTo>
                <a:close/>
              </a:path>
            </a:pathLst>
          </a:custGeom>
          <a:solidFill>
            <a:srgbClr val="E76A81"/>
          </a:solidFill>
          <a:ln>
            <a:noFill/>
          </a:ln>
          <a:extLst>
            <a:ext uri="{91240B29-F687-4F45-9708-019B960494DF}">
              <a14:hiddenLine xmlns:a14="http://schemas.microsoft.com/office/drawing/2010/main" w="9525">
                <a:solidFill>
                  <a:srgbClr val="000000"/>
                </a:solidFill>
                <a:round/>
              </a14:hiddenLine>
            </a:ext>
          </a:extLst>
        </p:spPr>
        <p:txBody>
          <a:bodyPr lIns="0" tIns="0" rIns="0" bIns="0"/>
          <a:lstStyle/>
          <a:p>
            <a:endParaRPr lang="en-IN"/>
          </a:p>
        </p:txBody>
      </p:sp>
      <p:sp>
        <p:nvSpPr>
          <p:cNvPr id="2055" name="bk object 21"/>
          <p:cNvSpPr/>
          <p:nvPr/>
        </p:nvSpPr>
        <p:spPr bwMode="auto">
          <a:xfrm>
            <a:off x="20075525" y="47625"/>
            <a:ext cx="0" cy="11214100"/>
          </a:xfrm>
          <a:custGeom>
            <a:avLst/>
            <a:gdLst>
              <a:gd name="T0" fmla="*/ 0 h 11215370"/>
              <a:gd name="T1" fmla="*/ 11148256 h 11215370"/>
              <a:gd name="T2" fmla="*/ 0 60000 65536"/>
              <a:gd name="T3" fmla="*/ 0 60000 65536"/>
            </a:gdLst>
            <a:ahLst/>
            <a:cxnLst>
              <a:cxn ang="T2">
                <a:pos x="0" y="T0"/>
              </a:cxn>
              <a:cxn ang="T3">
                <a:pos x="0" y="T1"/>
              </a:cxn>
            </a:cxnLst>
            <a:rect l="0" t="0" r="r" b="b"/>
            <a:pathLst>
              <a:path h="11215370">
                <a:moveTo>
                  <a:pt x="0" y="0"/>
                </a:moveTo>
                <a:lnTo>
                  <a:pt x="0" y="11215370"/>
                </a:lnTo>
              </a:path>
            </a:pathLst>
          </a:custGeom>
          <a:noFill/>
          <a:ln w="56176">
            <a:solidFill>
              <a:srgbClr val="E76A8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2056" name="Holder 2"/>
          <p:cNvSpPr>
            <a:spLocks noGrp="1"/>
          </p:cNvSpPr>
          <p:nvPr>
            <p:ph type="title"/>
          </p:nvPr>
        </p:nvSpPr>
        <p:spPr bwMode="auto">
          <a:xfrm>
            <a:off x="581025" y="407988"/>
            <a:ext cx="1894205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endParaRPr lang="en-US" altLang="en-US"/>
          </a:p>
        </p:txBody>
      </p:sp>
      <p:sp>
        <p:nvSpPr>
          <p:cNvPr id="2057" name="Holder 3"/>
          <p:cNvSpPr>
            <a:spLocks noGrp="1"/>
          </p:cNvSpPr>
          <p:nvPr>
            <p:ph type="body" idx="1"/>
          </p:nvPr>
        </p:nvSpPr>
        <p:spPr bwMode="auto">
          <a:xfrm>
            <a:off x="2746375" y="2613025"/>
            <a:ext cx="14611350"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p>
            <a:pPr lvl="0"/>
            <a:endParaRPr lang="en-US" altLang="en-US"/>
          </a:p>
        </p:txBody>
      </p:sp>
      <p:sp>
        <p:nvSpPr>
          <p:cNvPr id="4" name="Holder 4"/>
          <p:cNvSpPr>
            <a:spLocks noGrp="1"/>
          </p:cNvSpPr>
          <p:nvPr>
            <p:ph type="ftr" sz="quarter" idx="5"/>
          </p:nvPr>
        </p:nvSpPr>
        <p:spPr>
          <a:xfrm>
            <a:off x="6835775" y="10517188"/>
            <a:ext cx="6432550" cy="566737"/>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ea typeface="+mn-ea"/>
                <a:cs typeface="+mn-cs"/>
              </a:defRPr>
            </a:lvl1pPr>
          </a:lstStyle>
          <a:p>
            <a:pPr>
              <a:defRPr/>
            </a:pPr>
            <a:r>
              <a:rPr lang="en-US"/>
              <a:t>MTech in Computer Network Engineering –  Major Project Phase-I  Feb 2022</a:t>
            </a:r>
          </a:p>
        </p:txBody>
      </p:sp>
      <p:sp>
        <p:nvSpPr>
          <p:cNvPr id="5" name="Holder 5"/>
          <p:cNvSpPr>
            <a:spLocks noGrp="1"/>
          </p:cNvSpPr>
          <p:nvPr>
            <p:ph type="dt" sz="half" idx="6"/>
          </p:nvPr>
        </p:nvSpPr>
        <p:spPr>
          <a:xfrm>
            <a:off x="1004888" y="10517188"/>
            <a:ext cx="4624387" cy="566737"/>
          </a:xfrm>
          <a:prstGeom prst="rect">
            <a:avLst/>
          </a:prstGeom>
        </p:spPr>
        <p:txBody>
          <a:bodyPr vert="horz" wrap="square" lIns="0" tIns="0" rIns="0" bIns="0" numCol="1" anchor="t" anchorCtr="0" compatLnSpc="1">
            <a:spAutoFit/>
          </a:bodyPr>
          <a:lstStyle>
            <a:lvl1pPr eaLnBrk="1" hangingPunct="1">
              <a:defRPr>
                <a:solidFill>
                  <a:srgbClr val="898989"/>
                </a:solidFill>
              </a:defRPr>
            </a:lvl1pPr>
          </a:lstStyle>
          <a:p>
            <a:pPr>
              <a:defRPr/>
            </a:pPr>
            <a:fld id="{B5ED016A-ACB0-4727-B350-0E0147E433F2}" type="datetime1">
              <a:rPr lang="en-US" altLang="en-US"/>
              <a:t>10/27/2026</a:t>
            </a:fld>
            <a:endParaRPr lang="en-US" altLang="en-US"/>
          </a:p>
        </p:txBody>
      </p:sp>
      <p:sp>
        <p:nvSpPr>
          <p:cNvPr id="6" name="Holder 6"/>
          <p:cNvSpPr>
            <a:spLocks noGrp="1"/>
          </p:cNvSpPr>
          <p:nvPr>
            <p:ph type="sldNum" sz="quarter" idx="7"/>
          </p:nvPr>
        </p:nvSpPr>
        <p:spPr>
          <a:xfrm>
            <a:off x="14474825" y="10517188"/>
            <a:ext cx="4624388" cy="566737"/>
          </a:xfrm>
          <a:prstGeom prst="rect">
            <a:avLst/>
          </a:prstGeom>
        </p:spPr>
        <p:txBody>
          <a:bodyPr vert="horz" wrap="square" lIns="0" tIns="0" rIns="0" bIns="0" numCol="1" anchor="t" anchorCtr="0" compatLnSpc="1">
            <a:spAutoFit/>
          </a:bodyPr>
          <a:lstStyle>
            <a:lvl1pPr algn="r" eaLnBrk="1" hangingPunct="1">
              <a:defRPr>
                <a:solidFill>
                  <a:srgbClr val="898989"/>
                </a:solidFill>
              </a:defRPr>
            </a:lvl1pPr>
          </a:lstStyle>
          <a:p>
            <a:pPr>
              <a:defRPr/>
            </a:pPr>
            <a:fld id="{75FB71A7-BD20-480F-B99C-894E6ADC2977}"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hf hdr="0" dt="0"/>
  <p:txStyles>
    <p:titleStyle>
      <a:lvl1pPr algn="ctr" rtl="0" eaLnBrk="0" fontAlgn="base" hangingPunct="0">
        <a:spcBef>
          <a:spcPct val="0"/>
        </a:spcBef>
        <a:spcAft>
          <a:spcPct val="0"/>
        </a:spcAft>
        <a:defRPr>
          <a:solidFill>
            <a:schemeClr val="tx2"/>
          </a:solidFill>
          <a:latin typeface="+mj-lt"/>
          <a:ea typeface="MS PGothic" panose="020B0600070205080204" charset="-128"/>
          <a:cs typeface="MS PGothic" panose="020B0600070205080204" charset="-128"/>
        </a:defRPr>
      </a:lvl1pPr>
      <a:lvl2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2pPr>
      <a:lvl3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3pPr>
      <a:lvl4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4pPr>
      <a:lvl5pPr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5pPr>
      <a:lvl6pPr marL="4572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6pPr>
      <a:lvl7pPr marL="9144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7pPr>
      <a:lvl8pPr marL="13716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8pPr>
      <a:lvl9pPr marL="1828800" algn="ctr" rtl="0" eaLnBrk="0" fontAlgn="base" hangingPunct="0">
        <a:spcBef>
          <a:spcPct val="0"/>
        </a:spcBef>
        <a:spcAft>
          <a:spcPct val="0"/>
        </a:spcAft>
        <a:defRPr>
          <a:solidFill>
            <a:schemeClr val="tx2"/>
          </a:solidFill>
          <a:latin typeface="Calibri" panose="020F0502020204030204" charset="0"/>
          <a:ea typeface="MS PGothic" panose="020B0600070205080204" charset="-128"/>
          <a:cs typeface="MS PGothic" panose="020B0600070205080204" charset="-128"/>
        </a:defRPr>
      </a:lvl9pPr>
    </p:titleStyle>
    <p:bodyStyle>
      <a:lvl1pPr marL="342900" indent="-342900" algn="l" rtl="0" eaLnBrk="0" fontAlgn="base" hangingPunct="0">
        <a:spcBef>
          <a:spcPct val="20000"/>
        </a:spcBef>
        <a:spcAft>
          <a:spcPct val="0"/>
        </a:spcAft>
        <a:defRPr>
          <a:solidFill>
            <a:schemeClr val="tx1"/>
          </a:solidFill>
          <a:latin typeface="+mn-lt"/>
          <a:ea typeface="MS PGothic" panose="020B0600070205080204" charset="-128"/>
          <a:cs typeface="MS PGothic" panose="020B0600070205080204" charset="-128"/>
        </a:defRPr>
      </a:lvl1pPr>
      <a:lvl2pPr marL="457200" algn="l" rtl="0" eaLnBrk="0" fontAlgn="base" hangingPunct="0">
        <a:spcBef>
          <a:spcPct val="20000"/>
        </a:spcBef>
        <a:spcAft>
          <a:spcPct val="0"/>
        </a:spcAft>
        <a:defRPr>
          <a:solidFill>
            <a:schemeClr val="tx1"/>
          </a:solidFill>
          <a:latin typeface="+mn-lt"/>
          <a:ea typeface="MS PGothic" panose="020B0600070205080204" charset="-128"/>
          <a:cs typeface="+mn-cs"/>
        </a:defRPr>
      </a:lvl2pPr>
      <a:lvl3pPr marL="914400" algn="l" rtl="0" eaLnBrk="0" fontAlgn="base" hangingPunct="0">
        <a:spcBef>
          <a:spcPct val="20000"/>
        </a:spcBef>
        <a:spcAft>
          <a:spcPct val="0"/>
        </a:spcAft>
        <a:defRPr>
          <a:solidFill>
            <a:schemeClr val="tx1"/>
          </a:solidFill>
          <a:latin typeface="+mn-lt"/>
          <a:ea typeface="MS PGothic" panose="020B0600070205080204" charset="-128"/>
          <a:cs typeface="+mn-cs"/>
        </a:defRPr>
      </a:lvl3pPr>
      <a:lvl4pPr marL="1371600" algn="l" rtl="0" eaLnBrk="0" fontAlgn="base" hangingPunct="0">
        <a:spcBef>
          <a:spcPct val="20000"/>
        </a:spcBef>
        <a:spcAft>
          <a:spcPct val="0"/>
        </a:spcAft>
        <a:defRPr>
          <a:solidFill>
            <a:schemeClr val="tx1"/>
          </a:solidFill>
          <a:latin typeface="+mn-lt"/>
          <a:ea typeface="MS PGothic" panose="020B0600070205080204" charset="-128"/>
          <a:cs typeface="+mn-cs"/>
        </a:defRPr>
      </a:lvl4pPr>
      <a:lvl5pPr marL="1828800" algn="l" rtl="0" eaLnBrk="0" fontAlgn="base" hangingPunct="0">
        <a:spcBef>
          <a:spcPct val="20000"/>
        </a:spcBef>
        <a:spcAft>
          <a:spcPct val="0"/>
        </a:spcAft>
        <a:defRPr>
          <a:solidFill>
            <a:schemeClr val="tx1"/>
          </a:solidFill>
          <a:latin typeface="+mn-lt"/>
          <a:ea typeface="MS PGothic" panose="020B0600070205080204" charset="-128"/>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1.xml"/><Relationship Id="rId4"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2.xml"/><Relationship Id="rId4"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3.xml"/><Relationship Id="rId4"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4.xml"/><Relationship Id="rId4"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10.png"/><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chart" Target="../charts/chart5.xml"/><Relationship Id="rId4"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g"/><Relationship Id="rId3" Type="http://schemas.openxmlformats.org/officeDocument/2006/relationships/image" Target="../media/image11.png"/><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88" y="15875"/>
            <a:ext cx="20234275" cy="11309350"/>
          </a:xfrm>
          <a:prstGeom prst="rect">
            <a:avLst/>
          </a:prstGeom>
          <a:solidFill>
            <a:schemeClr val="accent5">
              <a:lumMod val="20000"/>
              <a:lumOff val="80000"/>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8195" name="object 2"/>
          <p:cNvSpPr txBox="1">
            <a:spLocks noChangeArrowheads="1"/>
          </p:cNvSpPr>
          <p:nvPr/>
        </p:nvSpPr>
        <p:spPr bwMode="auto">
          <a:xfrm>
            <a:off x="2508250" y="5072937"/>
            <a:ext cx="18249900" cy="6918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430" rIns="0" bIns="0">
            <a:spAutoFit/>
          </a:bodyPr>
          <a:lstStyle>
            <a:lvl1pPr marL="12700">
              <a:spcBef>
                <a:spcPct val="20000"/>
              </a:spcBef>
              <a:tabLst>
                <a:tab pos="3514725" algn="l"/>
              </a:tabLst>
              <a:defRPr>
                <a:solidFill>
                  <a:schemeClr val="tx1"/>
                </a:solidFill>
                <a:latin typeface="Calibri" panose="020F0502020204030204" charset="0"/>
                <a:ea typeface="MS PGothic" panose="020B0600070205080204" charset="-128"/>
              </a:defRPr>
            </a:lvl1pPr>
            <a:lvl2pPr marL="742950" indent="-285750">
              <a:spcBef>
                <a:spcPct val="20000"/>
              </a:spcBef>
              <a:tabLst>
                <a:tab pos="3514725" algn="l"/>
              </a:tabLst>
              <a:defRPr>
                <a:solidFill>
                  <a:schemeClr val="tx1"/>
                </a:solidFill>
                <a:latin typeface="Calibri" panose="020F0502020204030204" charset="0"/>
                <a:ea typeface="MS PGothic" panose="020B0600070205080204" charset="-128"/>
              </a:defRPr>
            </a:lvl2pPr>
            <a:lvl3pPr marL="1143000" indent="-228600">
              <a:spcBef>
                <a:spcPct val="20000"/>
              </a:spcBef>
              <a:tabLst>
                <a:tab pos="3514725" algn="l"/>
              </a:tabLst>
              <a:defRPr>
                <a:solidFill>
                  <a:schemeClr val="tx1"/>
                </a:solidFill>
                <a:latin typeface="Calibri" panose="020F0502020204030204" charset="0"/>
                <a:ea typeface="MS PGothic" panose="020B0600070205080204" charset="-128"/>
              </a:defRPr>
            </a:lvl3pPr>
            <a:lvl4pPr marL="1600200" indent="-228600">
              <a:spcBef>
                <a:spcPct val="20000"/>
              </a:spcBef>
              <a:tabLst>
                <a:tab pos="3514725" algn="l"/>
              </a:tabLst>
              <a:defRPr>
                <a:solidFill>
                  <a:schemeClr val="tx1"/>
                </a:solidFill>
                <a:latin typeface="Calibri" panose="020F0502020204030204" charset="0"/>
                <a:ea typeface="MS PGothic" panose="020B0600070205080204" charset="-128"/>
              </a:defRPr>
            </a:lvl4pPr>
            <a:lvl5pPr marL="2057400" indent="-228600">
              <a:spcBef>
                <a:spcPct val="20000"/>
              </a:spcBef>
              <a:tabLst>
                <a:tab pos="3514725" algn="l"/>
              </a:tabLst>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tabLst>
                <a:tab pos="3514725" algn="l"/>
              </a:tabLst>
              <a:defRPr>
                <a:solidFill>
                  <a:schemeClr val="tx1"/>
                </a:solidFill>
                <a:latin typeface="Calibri" panose="020F0502020204030204" charset="0"/>
                <a:ea typeface="MS PGothic" panose="020B0600070205080204" charset="-128"/>
              </a:defRPr>
            </a:lvl9pPr>
          </a:lstStyle>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Srijan C Vachadmath (1BM23CD060)</a:t>
            </a:r>
          </a:p>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Manohara Salmani (1BM23CD035)</a:t>
            </a:r>
          </a:p>
          <a:p>
            <a:pPr algn="ctr"/>
            <a:r>
              <a:rPr lang="en-US" altLang="en-US" sz="36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Shreejith Shah (1BM23CD057)</a:t>
            </a:r>
          </a:p>
          <a:p>
            <a:endParaRPr lang="en-US" altLang="en-US" sz="4000" dirty="0">
              <a:ea typeface="Cambria" panose="02040503050406030204" pitchFamily="18" charset="0"/>
              <a:cs typeface="Times New Roman" panose="02020603050405020304" pitchFamily="18" charset="0"/>
            </a:endParaRPr>
          </a:p>
          <a:p>
            <a:endParaRPr lang="en-US" altLang="en-US" sz="4000" dirty="0">
              <a:ea typeface="Cambria" panose="02040503050406030204" pitchFamily="18" charset="0"/>
              <a:cs typeface="Times New Roman" panose="02020603050405020304" pitchFamily="18" charset="0"/>
            </a:endParaRP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Dr. Kalyan N</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Assistant Professor </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Department of CSE(Data Science)</a:t>
            </a:r>
          </a:p>
          <a:p>
            <a:pPr algn="ctr"/>
            <a:r>
              <a:rPr lang="en-US" altLang="en-US" sz="3600" dirty="0">
                <a:latin typeface="Times New Roman" panose="02020603050405020304" pitchFamily="18" charset="0"/>
                <a:ea typeface="Cambria" panose="02040503050406030204" pitchFamily="18" charset="0"/>
                <a:cs typeface="Times New Roman" panose="02020603050405020304" pitchFamily="18" charset="0"/>
              </a:rPr>
              <a:t>BMSCE, Bengaluru</a:t>
            </a:r>
          </a:p>
          <a:p>
            <a:endParaRPr lang="en-US" altLang="en-US" sz="4800" dirty="0">
              <a:ea typeface="Cambria" panose="02040503050406030204" pitchFamily="18" charset="0"/>
              <a:cs typeface="Times New Roman" panose="02020603050405020304" pitchFamily="18" charset="0"/>
            </a:endParaRPr>
          </a:p>
        </p:txBody>
      </p:sp>
      <p:sp>
        <p:nvSpPr>
          <p:cNvPr id="8196" name="object 3"/>
          <p:cNvSpPr/>
          <p:nvPr/>
        </p:nvSpPr>
        <p:spPr bwMode="auto">
          <a:xfrm>
            <a:off x="0" y="56776"/>
            <a:ext cx="8645236" cy="6110979"/>
          </a:xfrm>
          <a:custGeom>
            <a:avLst/>
            <a:gdLst>
              <a:gd name="T0" fmla="*/ 303909309 w 7436484"/>
              <a:gd name="T1" fmla="*/ 0 h 5134610"/>
              <a:gd name="T2" fmla="*/ 0 w 7436484"/>
              <a:gd name="T3" fmla="*/ 0 h 5134610"/>
              <a:gd name="T4" fmla="*/ 0 w 7436484"/>
              <a:gd name="T5" fmla="*/ 211077907 h 5134610"/>
              <a:gd name="T6" fmla="*/ 303909309 w 7436484"/>
              <a:gd name="T7" fmla="*/ 0 h 5134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36484" h="5134610">
                <a:moveTo>
                  <a:pt x="7435941" y="0"/>
                </a:moveTo>
                <a:lnTo>
                  <a:pt x="0" y="0"/>
                </a:lnTo>
                <a:lnTo>
                  <a:pt x="0" y="5134513"/>
                </a:lnTo>
                <a:lnTo>
                  <a:pt x="7435941" y="0"/>
                </a:lnTo>
                <a:close/>
              </a:path>
            </a:pathLst>
          </a:custGeom>
          <a:solidFill>
            <a:schemeClr val="bg1"/>
          </a:solidFill>
          <a:ln>
            <a:noFill/>
          </a:ln>
        </p:spPr>
        <p:txBody>
          <a:bodyPr lIns="0" tIns="0" rIns="0" bIns="0"/>
          <a:lstStyle/>
          <a:p>
            <a:endParaRPr lang="en-IN">
              <a:solidFill>
                <a:srgbClr val="FFFF00"/>
              </a:solidFill>
            </a:endParaRPr>
          </a:p>
        </p:txBody>
      </p:sp>
      <p:sp>
        <p:nvSpPr>
          <p:cNvPr id="8198" name="object 5"/>
          <p:cNvSpPr>
            <a:spLocks noChangeArrowheads="1"/>
          </p:cNvSpPr>
          <p:nvPr/>
        </p:nvSpPr>
        <p:spPr bwMode="auto">
          <a:xfrm>
            <a:off x="5603875" y="1336675"/>
            <a:ext cx="146050" cy="147638"/>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eaLnBrk="1" hangingPunct="1">
              <a:spcBef>
                <a:spcPct val="0"/>
              </a:spcBef>
            </a:pPr>
            <a:endParaRPr lang="en-US" altLang="en-US"/>
          </a:p>
        </p:txBody>
      </p:sp>
      <p:sp>
        <p:nvSpPr>
          <p:cNvPr id="8199" name="object 6"/>
          <p:cNvSpPr txBox="1">
            <a:spLocks noChangeArrowheads="1"/>
          </p:cNvSpPr>
          <p:nvPr/>
        </p:nvSpPr>
        <p:spPr bwMode="auto">
          <a:xfrm>
            <a:off x="2508250" y="720725"/>
            <a:ext cx="3810000" cy="1231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3335" rIns="0" bIns="0">
            <a:spAutoFit/>
          </a:bodyPr>
          <a:lstStyle>
            <a:lvl1pPr marL="12700">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eaLnBrk="1" hangingPunct="1">
              <a:lnSpc>
                <a:spcPts val="4700"/>
              </a:lnSpc>
              <a:spcBef>
                <a:spcPts val="100"/>
              </a:spcBef>
            </a:pPr>
            <a:r>
              <a:rPr lang="en-IN" altLang="en-US" sz="4100" b="1" dirty="0">
                <a:solidFill>
                  <a:schemeClr val="bg2"/>
                </a:solidFill>
                <a:cs typeface="Calibri" panose="020F0502020204030204" charset="0"/>
              </a:rPr>
              <a:t>B.M.S. College of </a:t>
            </a:r>
          </a:p>
          <a:p>
            <a:pPr eaLnBrk="1" hangingPunct="1">
              <a:lnSpc>
                <a:spcPts val="4700"/>
              </a:lnSpc>
              <a:spcBef>
                <a:spcPts val="100"/>
              </a:spcBef>
            </a:pPr>
            <a:r>
              <a:rPr lang="en-IN" altLang="en-US" sz="4100" b="1" dirty="0">
                <a:solidFill>
                  <a:schemeClr val="bg2"/>
                </a:solidFill>
                <a:cs typeface="Calibri" panose="020F0502020204030204" charset="0"/>
              </a:rPr>
              <a:t>Engineering</a:t>
            </a:r>
            <a:endParaRPr lang="en-US" altLang="en-US" sz="4100" dirty="0">
              <a:solidFill>
                <a:schemeClr val="bg2"/>
              </a:solidFill>
              <a:cs typeface="Calibri" panose="020F0502020204030204" charset="0"/>
            </a:endParaRPr>
          </a:p>
        </p:txBody>
      </p:sp>
      <p:sp>
        <p:nvSpPr>
          <p:cNvPr id="8201" name="Text Box 4"/>
          <p:cNvSpPr txBox="1">
            <a:spLocks noChangeArrowheads="1"/>
          </p:cNvSpPr>
          <p:nvPr/>
        </p:nvSpPr>
        <p:spPr bwMode="auto">
          <a:xfrm>
            <a:off x="4119563" y="1188663"/>
            <a:ext cx="149796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000" b="1" dirty="0">
                <a:solidFill>
                  <a:schemeClr val="bg2"/>
                </a:solidFill>
                <a:latin typeface="Cambria" panose="02040503050406030204" pitchFamily="18" charset="0"/>
                <a:cs typeface="Arial" panose="020B0604020202020204" pitchFamily="34" charset="0"/>
              </a:rPr>
              <a:t>Project work – Phase II</a:t>
            </a:r>
          </a:p>
          <a:p>
            <a:pPr algn="ctr">
              <a:spcBef>
                <a:spcPct val="0"/>
              </a:spcBef>
            </a:pPr>
            <a:r>
              <a:rPr lang="en-IN" sz="4800" dirty="0"/>
              <a:t>23DS7PWPP2  |  Review 2</a:t>
            </a:r>
            <a:endParaRPr lang="en-US" altLang="en-US" sz="3200" b="1" dirty="0">
              <a:solidFill>
                <a:schemeClr val="bg2"/>
              </a:solidFill>
              <a:latin typeface="Times New Roman" panose="02020603050405020304" pitchFamily="18" charset="0"/>
              <a:cs typeface="Times New Roman" panose="02020603050405020304" pitchFamily="18" charset="0"/>
            </a:endParaRPr>
          </a:p>
          <a:p>
            <a:pPr algn="ctr">
              <a:spcBef>
                <a:spcPct val="0"/>
              </a:spcBef>
            </a:pPr>
            <a:endParaRPr lang="en-US" altLang="en-US" sz="4000" b="1" dirty="0">
              <a:solidFill>
                <a:srgbClr val="002060"/>
              </a:solidFill>
              <a:latin typeface="Times New Roman" panose="02020603050405020304" pitchFamily="18" charset="0"/>
              <a:cs typeface="Calibri" panose="020F0502020204030204" charset="0"/>
            </a:endParaRPr>
          </a:p>
          <a:p>
            <a:pPr algn="ctr">
              <a:spcBef>
                <a:spcPct val="0"/>
              </a:spcBef>
            </a:pPr>
            <a:r>
              <a:rPr lang="en-US" altLang="en-US" sz="3000" b="1" dirty="0">
                <a:latin typeface="Times New Roman" panose="02020603050405020304" pitchFamily="18" charset="0"/>
                <a:cs typeface="Times New Roman" panose="02020603050405020304" pitchFamily="18" charset="0"/>
              </a:rPr>
              <a:t>MandiSense AI: Where and When to Sell, with Verified Revenue Floors</a:t>
            </a:r>
            <a:endParaRPr lang="en-US" altLang="en-US" sz="4400" dirty="0">
              <a:latin typeface="Times New Roman" panose="02020603050405020304" pitchFamily="18" charset="0"/>
              <a:cs typeface="Times New Roman" panose="02020603050405020304" pitchFamily="18" charset="0"/>
            </a:endParaRPr>
          </a:p>
          <a:p>
            <a:pPr algn="ctr">
              <a:spcBef>
                <a:spcPct val="0"/>
              </a:spcBef>
            </a:pPr>
            <a:endParaRPr lang="en-US" altLang="en-US" sz="4000" dirty="0">
              <a:latin typeface="Cambria" panose="02040503050406030204" pitchFamily="18" charset="0"/>
              <a:cs typeface="Arial" panose="020B0604020202020204" pitchFamily="34" charset="0"/>
            </a:endParaRPr>
          </a:p>
          <a:p>
            <a:pPr algn="ctr">
              <a:spcBef>
                <a:spcPct val="0"/>
              </a:spcBef>
            </a:pPr>
            <a:r>
              <a:rPr lang="en-US" altLang="en-US" sz="3600" dirty="0">
                <a:latin typeface="Times New Roman" panose="02020603050405020304" pitchFamily="18" charset="0"/>
                <a:cs typeface="Times New Roman" panose="02020603050405020304" pitchFamily="18" charset="0"/>
              </a:rPr>
              <a:t>                     </a:t>
            </a:r>
            <a:r>
              <a:rPr lang="en-US" altLang="en-US" sz="4000" dirty="0">
                <a:latin typeface="Times New Roman" panose="02020603050405020304" pitchFamily="18" charset="0"/>
                <a:cs typeface="Times New Roman" panose="02020603050405020304" pitchFamily="18" charset="0"/>
              </a:rPr>
              <a:t>   </a:t>
            </a:r>
            <a:r>
              <a:rPr lang="en-US" altLang="en-US" sz="4000" dirty="0">
                <a:latin typeface="Cambria" panose="02040503050406030204" pitchFamily="18" charset="0"/>
                <a:cs typeface="Arial" panose="020B0604020202020204" pitchFamily="34" charset="0"/>
              </a:rPr>
              <a:t>    </a:t>
            </a:r>
          </a:p>
        </p:txBody>
      </p:sp>
      <p:sp>
        <p:nvSpPr>
          <p:cNvPr id="820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A113630E-BEDD-460F-A1F6-2143BFA3998E}" type="slidenum">
              <a:rPr lang="en-US" altLang="en-US" smtClean="0">
                <a:solidFill>
                  <a:srgbClr val="898989"/>
                </a:solidFill>
              </a:rPr>
              <a:t>1</a:t>
            </a:fld>
            <a:endParaRPr lang="en-US" altLang="en-US">
              <a:solidFill>
                <a:srgbClr val="898989"/>
              </a:solidFill>
            </a:endParaRPr>
          </a:p>
        </p:txBody>
      </p:sp>
      <p:pic>
        <p:nvPicPr>
          <p:cNvPr id="4" name="Picture 3">
            <a:extLst>
              <a:ext uri="{FF2B5EF4-FFF2-40B4-BE49-F238E27FC236}">
                <a16:creationId xmlns:a16="http://schemas.microsoft.com/office/drawing/2014/main" id="{E39399D0-30B5-4229-A2EA-13CC7C272EA9}"/>
              </a:ext>
            </a:extLst>
          </p:cNvPr>
          <p:cNvPicPr>
            <a:picLocks noChangeAspect="1"/>
          </p:cNvPicPr>
          <p:nvPr/>
        </p:nvPicPr>
        <p:blipFill>
          <a:blip r:embed="rId3"/>
          <a:stretch>
            <a:fillRect/>
          </a:stretch>
        </p:blipFill>
        <p:spPr>
          <a:xfrm>
            <a:off x="174625" y="348456"/>
            <a:ext cx="2152650" cy="21240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6867525" y="358198"/>
            <a:ext cx="10134600" cy="750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Table of Contents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2</a:t>
            </a:fld>
            <a:endParaRPr lang="en-US" altLang="en-US">
              <a:solidFill>
                <a:srgbClr val="898989"/>
              </a:solidFill>
            </a:endParaRPr>
          </a:p>
        </p:txBody>
      </p:sp>
      <p:sp>
        <p:nvSpPr>
          <p:cNvPr id="2" name="TextBox 1"/>
          <p:cNvSpPr txBox="1"/>
          <p:nvPr/>
        </p:nvSpPr>
        <p:spPr>
          <a:xfrm>
            <a:off x="1136650" y="1844675"/>
            <a:ext cx="17962563" cy="6900351"/>
          </a:xfrm>
          <a:prstGeom prst="rect">
            <a:avLst/>
          </a:prstGeom>
          <a:noFill/>
        </p:spPr>
        <p:txBody>
          <a:bodyPr>
            <a:spAutoFit/>
          </a:bodyPr>
          <a:lstStyle/>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INTRODUCTION AND OBJECTIVES</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METHODOLOGY AND SYSTEM ARCHITECTURE</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IMPLEMENTATION AND CODE QUALITY</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RESULTS, VALIDATION AND BENCHMARKING</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NOVELTY AND OPTIMIZATION</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PROJECT PLANNING AND RISK MANAGEMENT</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REPORT, DOCUMENTATION AND SDG MAPPING</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RESEARCH PAPER STATUS</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CONCLUSION AND FUTURE WORK</a:t>
            </a:r>
          </a:p>
          <a:p>
            <a:pPr marL="914400" indent="-914400" algn="just">
              <a:lnSpc>
                <a:spcPct val="135000"/>
              </a:lnSpc>
              <a:spcAft>
                <a:spcPts val="1000"/>
              </a:spcAft>
              <a:buFont typeface="+mj-lt"/>
              <a:buAutoNum type="arabicPeriod"/>
              <a:defRPr/>
            </a:pPr>
            <a:r>
              <a:rPr lang="en-US" sz="3200" dirty="0">
                <a:latin typeface="Times New Roman" panose="02020603050405020304" pitchFamily="18" charset="0"/>
                <a:ea typeface="Calibri" panose="020F0502020204030204" charset="0"/>
                <a:cs typeface="Times New Roman" panose="02020603050405020304" pitchFamily="18" charset="0"/>
              </a:rPr>
              <a:t>REFERENCES</a:t>
            </a:r>
          </a:p>
          <a:p>
            <a:pPr>
              <a:defRPr/>
            </a:pPr>
            <a:endParaRPr lang="en-US" sz="3600" dirty="0">
              <a:latin typeface="+mn-lt"/>
              <a:ea typeface="Calibri" panose="020F0502020204030204" charset="0"/>
              <a:cs typeface="Times New Roman" panose="02020603050405020304" pitchFamily="18" charset="0"/>
            </a:endParaRPr>
          </a:p>
        </p:txBody>
      </p:sp>
      <p:sp>
        <p:nvSpPr>
          <p:cNvPr id="5" name="TextBox 4">
            <a:extLst>
              <a:ext uri="{FF2B5EF4-FFF2-40B4-BE49-F238E27FC236}">
                <a16:creationId xmlns:a16="http://schemas.microsoft.com/office/drawing/2014/main" id="{9BA66955-D8E8-4C4E-8773-8C77725AED8F}"/>
              </a:ext>
            </a:extLst>
          </p:cNvPr>
          <p:cNvSpPr txBox="1"/>
          <p:nvPr/>
        </p:nvSpPr>
        <p:spPr>
          <a:xfrm>
            <a:off x="6420355" y="10471307"/>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 name="Picture 9">
            <a:extLst>
              <a:ext uri="{FF2B5EF4-FFF2-40B4-BE49-F238E27FC236}">
                <a16:creationId xmlns:a16="http://schemas.microsoft.com/office/drawing/2014/main" id="{5065ACCF-0D1C-4629-BED7-3A5F6D94C009}"/>
              </a:ext>
            </a:extLst>
          </p:cNvPr>
          <p:cNvPicPr>
            <a:picLocks noChangeAspect="1"/>
          </p:cNvPicPr>
          <p:nvPr/>
        </p:nvPicPr>
        <p:blipFill>
          <a:blip r:embed="rId2"/>
          <a:stretch>
            <a:fillRect/>
          </a:stretch>
        </p:blipFill>
        <p:spPr>
          <a:xfrm>
            <a:off x="433389" y="152403"/>
            <a:ext cx="1187594" cy="1039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Introduction and Problem Statement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3</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0" name="Content Guidance"/>
          <p:cNvSpPr txBox="1"/>
          <p:nvPr/>
        </p:nvSpPr>
        <p:spPr>
          <a:xfrm>
            <a:off x="1005840" y="1737360"/>
            <a:ext cx="9692640" cy="69494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Context: </a:t>
            </a:r>
            <a:r>
              <a:rPr lang="en-US" sz="2400" dirty="0">
                <a:solidFill>
                  <a:srgbClr val="1F2A44"/>
                </a:solidFill>
                <a:latin typeface="Calibri" panose="020F0502020204030204" charset="0"/>
                <a:cs typeface="Calibri" panose="020F0502020204030204" charset="0"/>
              </a:rPr>
              <a:t>farmers in the Bengaluru–Kolar belt choose a mandi and a day with only yesterday's price. Kolar tomato ranged Rs 100–9,330 per quintal and was silent on 189 of 2,125 days.</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Problem: </a:t>
            </a:r>
            <a:r>
              <a:rPr lang="en-US" sz="2400" dirty="0">
                <a:solidFill>
                  <a:srgbClr val="1F2A44"/>
                </a:solidFill>
                <a:latin typeface="Calibri" panose="020F0502020204030204" charset="0"/>
                <a:cs typeface="Calibri" panose="020F0502020204030204" charset="0"/>
              </a:rPr>
              <a:t>choose (mandi, hold 0–3 days) or the farm gate to maximise net revenue, and state a floor that holds.</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Gap: </a:t>
            </a:r>
            <a:r>
              <a:rPr lang="en-US" sz="2400" dirty="0">
                <a:solidFill>
                  <a:srgbClr val="1F2A44"/>
                </a:solidFill>
                <a:latin typeface="Calibri" panose="020F0502020204030204" charset="0"/>
                <a:cs typeface="Calibri" panose="020F0502020204030204" charset="0"/>
              </a:rPr>
              <a:t>models are judged on forecast error, not decisions; reporting gaps are ignored; decompose-then-forecast gains are unaudited [1]–[6].</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Scope: </a:t>
            </a:r>
            <a:r>
              <a:rPr lang="en-US" sz="2400" dirty="0">
                <a:solidFill>
                  <a:srgbClr val="1F2A44"/>
                </a:solidFill>
                <a:latin typeface="Calibri" panose="020F0502020204030204" charset="0"/>
                <a:cs typeface="Calibri" panose="020F0502020204030204" charset="0"/>
              </a:rPr>
              <a:t>tomato, onion, potato, ginger; Agmarknet only; offline evaluation. Garlic refused (one eligible mandi).</a:t>
            </a:r>
          </a:p>
        </p:txBody>
      </p:sp>
      <p:pic>
        <p:nvPicPr>
          <p:cNvPr id="10251" name="Picture 10250" descr="fig_intro_kolar_tomato.png"/>
          <p:cNvPicPr>
            <a:picLocks noChangeAspect="1"/>
          </p:cNvPicPr>
          <p:nvPr/>
        </p:nvPicPr>
        <p:blipFill>
          <a:blip r:embed="rId3"/>
          <a:stretch>
            <a:fillRect/>
          </a:stretch>
        </p:blipFill>
        <p:spPr>
          <a:xfrm>
            <a:off x="10972800" y="1828800"/>
            <a:ext cx="8229600" cy="3429000"/>
          </a:xfrm>
          <a:prstGeom prst="rect">
            <a:avLst/>
          </a:prstGeom>
        </p:spPr>
      </p:pic>
      <p:sp>
        <p:nvSpPr>
          <p:cNvPr id="10252" name="Rectangle 10251"/>
          <p:cNvSpPr/>
          <p:nvPr/>
        </p:nvSpPr>
        <p:spPr>
          <a:xfrm>
            <a:off x="10972800" y="5212080"/>
            <a:ext cx="260604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63,524</a:t>
            </a:r>
          </a:p>
        </p:txBody>
      </p:sp>
      <p:sp>
        <p:nvSpPr>
          <p:cNvPr id="10253" name="Rectangle 10252"/>
          <p:cNvSpPr/>
          <p:nvPr/>
        </p:nvSpPr>
        <p:spPr>
          <a:xfrm>
            <a:off x="10972800" y="6217920"/>
            <a:ext cx="260604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real Agmarknet records</a:t>
            </a:r>
          </a:p>
        </p:txBody>
      </p:sp>
      <p:sp>
        <p:nvSpPr>
          <p:cNvPr id="10254" name="Rectangle 10253"/>
          <p:cNvSpPr/>
          <p:nvPr/>
        </p:nvSpPr>
        <p:spPr>
          <a:xfrm>
            <a:off x="13761720" y="5212080"/>
            <a:ext cx="260604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36,821</a:t>
            </a:r>
          </a:p>
        </p:txBody>
      </p:sp>
      <p:sp>
        <p:nvSpPr>
          <p:cNvPr id="10255" name="Rectangle 10254"/>
          <p:cNvSpPr/>
          <p:nvPr/>
        </p:nvSpPr>
        <p:spPr>
          <a:xfrm>
            <a:off x="13761720" y="6217920"/>
            <a:ext cx="260604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mandi-days in the panel</a:t>
            </a:r>
          </a:p>
        </p:txBody>
      </p:sp>
      <p:sp>
        <p:nvSpPr>
          <p:cNvPr id="10256" name="Rectangle 10255"/>
          <p:cNvSpPr/>
          <p:nvPr/>
        </p:nvSpPr>
        <p:spPr>
          <a:xfrm>
            <a:off x="16550640" y="5212080"/>
            <a:ext cx="2651760" cy="10058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D9822B"/>
                </a:solidFill>
                <a:latin typeface="Calibri"/>
              </a:rPr>
              <a:t>4 crops</a:t>
            </a:r>
          </a:p>
        </p:txBody>
      </p:sp>
      <p:sp>
        <p:nvSpPr>
          <p:cNvPr id="10257" name="Rectangle 10256"/>
          <p:cNvSpPr/>
          <p:nvPr/>
        </p:nvSpPr>
        <p:spPr>
          <a:xfrm>
            <a:off x="16550640" y="6217920"/>
            <a:ext cx="2651760" cy="822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plus garlic refused</a:t>
            </a:r>
          </a:p>
        </p:txBody>
      </p:sp>
      <p:sp>
        <p:nvSpPr>
          <p:cNvPr id="10258" name="Rectangle 10257"/>
          <p:cNvSpPr/>
          <p:nvPr/>
        </p:nvSpPr>
        <p:spPr>
          <a:xfrm>
            <a:off x="10972800" y="7406640"/>
            <a:ext cx="8229600" cy="246888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libri"/>
              </a:rPr>
              <a:t>Why it matters: </a:t>
            </a:r>
            <a:r>
              <a:rPr sz="2400" b="0" i="0">
                <a:solidFill>
                  <a:srgbClr val="1F2A44"/>
                </a:solidFill>
                <a:latin typeface="Calibri"/>
              </a:rPr>
              <a:t>a farmer who gambles a harvest needs a minimum expected revenue, not just a forecast. Information frictions of exactly this kind measurably hurt small sellers [7], [8].</a:t>
            </a:r>
          </a:p>
        </p:txBody>
      </p:sp>
    </p:spTree>
    <p:extLst>
      <p:ext uri="{BB962C8B-B14F-4D97-AF65-F5344CB8AC3E}">
        <p14:creationId xmlns:p14="http://schemas.microsoft.com/office/powerpoint/2010/main" val="1769017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Objectives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4</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1" name="Content Guidance"/>
          <p:cNvSpPr txBox="1"/>
          <p:nvPr/>
        </p:nvSpPr>
        <p:spPr>
          <a:xfrm>
            <a:off x="1005840" y="1737360"/>
            <a:ext cx="18105120" cy="82296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Status: </a:t>
            </a:r>
            <a:r>
              <a:rPr lang="en-US" sz="2400" dirty="0">
                <a:solidFill>
                  <a:srgbClr val="1F2A44"/>
                </a:solidFill>
                <a:latin typeface="Calibri" panose="020F0502020204030204" charset="0"/>
                <a:cs typeface="Calibri" panose="020F0502020204030204" charset="0"/>
              </a:rPr>
              <a:t>7 met · 1 partly met (floors) · 1 null result (spillover) · 1 built and tested (digest, shown live today).</a:t>
            </a:r>
          </a:p>
        </p:txBody>
      </p:sp>
      <p:graphicFrame>
        <p:nvGraphicFramePr>
          <p:cNvPr id="10251" name="Table 10250"/>
          <p:cNvGraphicFramePr>
            <a:graphicFrameLocks noGrp="1"/>
          </p:cNvGraphicFramePr>
          <p:nvPr/>
        </p:nvGraphicFramePr>
        <p:xfrm>
          <a:off x="1005840" y="2331720"/>
          <a:ext cx="18105119" cy="7845552"/>
        </p:xfrm>
        <a:graphic>
          <a:graphicData uri="http://schemas.openxmlformats.org/drawingml/2006/table">
            <a:tbl>
              <a:tblPr firstRow="1" bandRow="1">
                <a:tableStyleId>{5C22544A-7EE6-4342-B048-85BDC9FD1C3A}</a:tableStyleId>
              </a:tblPr>
              <a:tblGrid>
                <a:gridCol w="454902"/>
                <a:gridCol w="8188245"/>
                <a:gridCol w="2183532"/>
                <a:gridCol w="7278440"/>
              </a:tblGrid>
              <a:tr h="713232">
                <a:tc>
                  <a:txBody>
                    <a:bodyPr wrap="square"/>
                    <a:lstStyle/>
                    <a:p>
                      <a:pPr algn="ctr"/>
                      <a:r>
                        <a:rPr sz="2100" b="1">
                          <a:solidFill>
                            <a:srgbClr val="FFFFFF"/>
                          </a:solidFill>
                          <a:latin typeface="Calibri"/>
                        </a:rPr>
                        <a:t>#</a:t>
                      </a:r>
                    </a:p>
                  </a:txBody>
                  <a:tcPr marL="73152" marR="73152" marT="27432" marB="27432" anchor="ctr">
                    <a:solidFill>
                      <a:srgbClr val="1F4E79"/>
                    </a:solidFill>
                  </a:tcPr>
                </a:tc>
                <a:tc>
                  <a:txBody>
                    <a:bodyPr wrap="square"/>
                    <a:lstStyle/>
                    <a:p>
                      <a:pPr algn="ctr"/>
                      <a:r>
                        <a:rPr sz="2100" b="1">
                          <a:solidFill>
                            <a:srgbClr val="FFFFFF"/>
                          </a:solidFill>
                          <a:latin typeface="Calibri"/>
                        </a:rPr>
                        <a:t>Objective (approved scope)</a:t>
                      </a:r>
                    </a:p>
                  </a:txBody>
                  <a:tcPr marL="73152" marR="73152" marT="27432" marB="27432" anchor="ctr">
                    <a:solidFill>
                      <a:srgbClr val="1F4E79"/>
                    </a:solidFill>
                  </a:tcPr>
                </a:tc>
                <a:tc>
                  <a:txBody>
                    <a:bodyPr wrap="square"/>
                    <a:lstStyle/>
                    <a:p>
                      <a:pPr algn="ctr"/>
                      <a:r>
                        <a:rPr sz="2100" b="1">
                          <a:solidFill>
                            <a:srgbClr val="FFFFFF"/>
                          </a:solidFill>
                          <a:latin typeface="Calibri"/>
                        </a:rPr>
                        <a:t>Status</a:t>
                      </a:r>
                    </a:p>
                  </a:txBody>
                  <a:tcPr marL="73152" marR="73152" marT="27432" marB="27432" anchor="ctr">
                    <a:solidFill>
                      <a:srgbClr val="1F4E79"/>
                    </a:solidFill>
                  </a:tcPr>
                </a:tc>
                <a:tc>
                  <a:txBody>
                    <a:bodyPr wrap="square"/>
                    <a:lstStyle/>
                    <a:p>
                      <a:pPr algn="ctr"/>
                      <a:r>
                        <a:rPr sz="2100" b="1">
                          <a:solidFill>
                            <a:srgbClr val="FFFFFF"/>
                          </a:solidFill>
                          <a:latin typeface="Calibri"/>
                        </a:rPr>
                        <a:t>Evidence</a:t>
                      </a:r>
                    </a:p>
                  </a:txBody>
                  <a:tcPr marL="73152" marR="73152" marT="27432" marB="27432" anchor="ctr">
                    <a:solidFill>
                      <a:srgbClr val="1F4E79"/>
                    </a:solidFill>
                  </a:tcPr>
                </a:tc>
              </a:tr>
              <a:tr h="713232">
                <a:tc>
                  <a:txBody>
                    <a:bodyPr wrap="square"/>
                    <a:lstStyle/>
                    <a:p>
                      <a:pPr algn="ctr"/>
                      <a:r>
                        <a:rPr sz="2100" b="0">
                          <a:solidFill>
                            <a:srgbClr val="1F2A44"/>
                          </a:solidFill>
                          <a:latin typeface="Calibri"/>
                        </a:rPr>
                        <a:t>1</a:t>
                      </a:r>
                    </a:p>
                  </a:txBody>
                  <a:tcPr marL="73152" marR="73152" marT="27432" marB="27432" anchor="ctr">
                    <a:solidFill>
                      <a:srgbClr val="FFFFFF"/>
                    </a:solidFill>
                  </a:tcPr>
                </a:tc>
                <a:tc>
                  <a:txBody>
                    <a:bodyPr wrap="square"/>
                    <a:lstStyle/>
                    <a:p>
                      <a:pPr algn="l"/>
                      <a:r>
                        <a:rPr sz="2100" b="0">
                          <a:solidFill>
                            <a:srgbClr val="1F2A44"/>
                          </a:solidFill>
                          <a:latin typeface="Calibri"/>
                        </a:rPr>
                        <a:t>Real-data panel, ≥30,000 mandi-days, exclusions recorded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36,821 mandi-days; 63,524 records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2</a:t>
                      </a:r>
                    </a:p>
                  </a:txBody>
                  <a:tcPr marL="73152" marR="73152" marT="27432" marB="27432" anchor="ctr">
                    <a:solidFill>
                      <a:srgbClr val="F1F7FB"/>
                    </a:solidFill>
                  </a:tcPr>
                </a:tc>
                <a:tc>
                  <a:txBody>
                    <a:bodyPr wrap="square"/>
                    <a:lstStyle/>
                    <a:p>
                      <a:pPr algn="l"/>
                      <a:r>
                        <a:rPr sz="2100" b="0">
                          <a:solidFill>
                            <a:srgbClr val="1F2A44"/>
                          </a:solidFill>
                          <a:latin typeface="Calibri"/>
                        </a:rPr>
                        <a:t>Revenue formulation + market-choice model; ≥500 held-out days per crop</a:t>
                      </a:r>
                    </a:p>
                  </a:txBody>
                  <a:tcPr marL="73152" marR="73152" marT="27432" marB="27432" anchor="ctr">
                    <a:solidFill>
                      <a:srgbClr val="F1F7FB"/>
                    </a:solidFill>
                  </a:tcPr>
                </a:tc>
                <a:tc>
                  <a:txBody>
                    <a:bodyPr wrap="square"/>
                    <a:lstStyle/>
                    <a:p>
                      <a:pPr algn="ctr"/>
                      <a:r>
                        <a:rPr sz="2100" b="0">
                          <a:solidFill>
                            <a:srgbClr val="2E8B57"/>
                          </a:solidFill>
                          <a:latin typeface="Calibri"/>
                        </a:rPr>
                        <a:t>Met</a:t>
                      </a:r>
                    </a:p>
                  </a:txBody>
                  <a:tcPr marL="73152" marR="73152" marT="27432" marB="27432" anchor="ctr">
                    <a:solidFill>
                      <a:srgbClr val="F1F7FB"/>
                    </a:solidFill>
                  </a:tcPr>
                </a:tc>
                <a:tc>
                  <a:txBody>
                    <a:bodyPr wrap="square"/>
                    <a:lstStyle/>
                    <a:p>
                      <a:pPr algn="l"/>
                      <a:r>
                        <a:rPr sz="2100" b="0">
                          <a:solidFill>
                            <a:srgbClr val="1F2A44"/>
                          </a:solidFill>
                          <a:latin typeface="Calibri"/>
                        </a:rPr>
                        <a:t>511–963 scored days per crop</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3</a:t>
                      </a:r>
                    </a:p>
                  </a:txBody>
                  <a:tcPr marL="73152" marR="73152" marT="27432" marB="27432" anchor="ctr">
                    <a:solidFill>
                      <a:srgbClr val="FFFFFF"/>
                    </a:solidFill>
                  </a:tcPr>
                </a:tc>
                <a:tc>
                  <a:txBody>
                    <a:bodyPr wrap="square"/>
                    <a:lstStyle/>
                    <a:p>
                      <a:pPr algn="l"/>
                      <a:r>
                        <a:rPr sz="2100" b="0">
                          <a:solidFill>
                            <a:srgbClr val="1F2A44"/>
                          </a:solidFill>
                          <a:latin typeface="Calibri"/>
                        </a:rPr>
                        <a:t>Test label and loss effects with paired tests</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Realised labels: −87 to −157 Rs/q; SPO+ no gain</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4</a:t>
                      </a:r>
                    </a:p>
                  </a:txBody>
                  <a:tcPr marL="73152" marR="73152" marT="27432" marB="27432" anchor="ctr">
                    <a:solidFill>
                      <a:srgbClr val="F1F7FB"/>
                    </a:solidFill>
                  </a:tcPr>
                </a:tc>
                <a:tc>
                  <a:txBody>
                    <a:bodyPr wrap="square"/>
                    <a:lstStyle/>
                    <a:p>
                      <a:pPr algn="l"/>
                      <a:r>
                        <a:rPr sz="2100" b="0">
                          <a:solidFill>
                            <a:srgbClr val="1F2A44"/>
                          </a:solidFill>
                          <a:latin typeface="Calibri"/>
                        </a:rPr>
                        <a:t>Floor violation within 2 points of nominal 10%</a:t>
                      </a:r>
                    </a:p>
                  </a:txBody>
                  <a:tcPr marL="73152" marR="73152" marT="27432" marB="27432" anchor="ctr">
                    <a:solidFill>
                      <a:srgbClr val="F1F7FB"/>
                    </a:solidFill>
                  </a:tcPr>
                </a:tc>
                <a:tc>
                  <a:txBody>
                    <a:bodyPr wrap="square"/>
                    <a:lstStyle/>
                    <a:p>
                      <a:pPr algn="ctr"/>
                      <a:r>
                        <a:rPr sz="2100" b="0">
                          <a:solidFill>
                            <a:srgbClr val="D9822B"/>
                          </a:solidFill>
                          <a:latin typeface="Calibri"/>
                        </a:rPr>
                        <a:t>Partly</a:t>
                      </a:r>
                    </a:p>
                  </a:txBody>
                  <a:tcPr marL="73152" marR="73152" marT="27432" marB="27432" anchor="ctr">
                    <a:solidFill>
                      <a:srgbClr val="F1F7FB"/>
                    </a:solidFill>
                  </a:tcPr>
                </a:tc>
                <a:tc>
                  <a:txBody>
                    <a:bodyPr wrap="square"/>
                    <a:lstStyle/>
                    <a:p>
                      <a:pPr algn="l"/>
                      <a:r>
                        <a:rPr sz="2100" b="0">
                          <a:solidFill>
                            <a:srgbClr val="1F2A44"/>
                          </a:solidFill>
                          <a:latin typeface="Calibri"/>
                        </a:rPr>
                        <a:t>Tomato 9.0%, ginger 10.5%; onion 6.3%, potato 6.9%</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5</a:t>
                      </a:r>
                    </a:p>
                  </a:txBody>
                  <a:tcPr marL="73152" marR="73152" marT="27432" marB="27432" anchor="ctr">
                    <a:solidFill>
                      <a:srgbClr val="FFFFFF"/>
                    </a:solidFill>
                  </a:tcPr>
                </a:tc>
                <a:tc>
                  <a:txBody>
                    <a:bodyPr wrap="square"/>
                    <a:lstStyle/>
                    <a:p>
                      <a:pPr algn="l"/>
                      <a:r>
                        <a:rPr sz="2100" b="0">
                          <a:solidFill>
                            <a:srgbClr val="1F2A44"/>
                          </a:solidFill>
                          <a:latin typeface="Calibri"/>
                        </a:rPr>
                        <a:t>FastAPI + trilingual app, tests, reproducible pipeline</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669 backend + 11 web tests; one-command pipeline</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6</a:t>
                      </a:r>
                    </a:p>
                  </a:txBody>
                  <a:tcPr marL="73152" marR="73152" marT="27432" marB="27432" anchor="ctr">
                    <a:solidFill>
                      <a:srgbClr val="F1F7FB"/>
                    </a:solidFill>
                  </a:tcPr>
                </a:tc>
                <a:tc>
                  <a:txBody>
                    <a:bodyPr wrap="square"/>
                    <a:lstStyle/>
                    <a:p>
                      <a:pPr algn="l"/>
                      <a:r>
                        <a:rPr sz="2100" b="0">
                          <a:solidFill>
                            <a:srgbClr val="1F2A44"/>
                          </a:solidFill>
                          <a:latin typeface="Calibri"/>
                        </a:rPr>
                        <a:t>Audit decompose-then-forecast leakage; foundation-model baseline</a:t>
                      </a:r>
                    </a:p>
                  </a:txBody>
                  <a:tcPr marL="73152" marR="73152" marT="27432" marB="27432" anchor="ctr">
                    <a:solidFill>
                      <a:srgbClr val="F1F7FB"/>
                    </a:solidFill>
                  </a:tcPr>
                </a:tc>
                <a:tc>
                  <a:txBody>
                    <a:bodyPr wrap="square"/>
                    <a:lstStyle/>
                    <a:p>
                      <a:pPr algn="ctr"/>
                      <a:r>
                        <a:rPr sz="2100" b="0">
                          <a:solidFill>
                            <a:srgbClr val="2E8B57"/>
                          </a:solidFill>
                          <a:latin typeface="Calibri"/>
                        </a:rPr>
                        <a:t>Met</a:t>
                      </a:r>
                    </a:p>
                  </a:txBody>
                  <a:tcPr marL="73152" marR="73152" marT="27432" marB="27432" anchor="ctr">
                    <a:solidFill>
                      <a:srgbClr val="F1F7FB"/>
                    </a:solidFill>
                  </a:tcPr>
                </a:tc>
                <a:tc>
                  <a:txBody>
                    <a:bodyPr wrap="square"/>
                    <a:lstStyle/>
                    <a:p>
                      <a:pPr algn="l"/>
                      <a:r>
                        <a:rPr sz="2100" b="0">
                          <a:solidFill>
                            <a:srgbClr val="1F2A44"/>
                          </a:solidFill>
                          <a:latin typeface="Calibri"/>
                        </a:rPr>
                        <a:t>+27…62% skill → −15…−1% when causal</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7</a:t>
                      </a:r>
                    </a:p>
                  </a:txBody>
                  <a:tcPr marL="73152" marR="73152" marT="27432" marB="27432" anchor="ctr">
                    <a:solidFill>
                      <a:srgbClr val="FFFFFF"/>
                    </a:solidFill>
                  </a:tcPr>
                </a:tc>
                <a:tc>
                  <a:txBody>
                    <a:bodyPr wrap="square"/>
                    <a:lstStyle/>
                    <a:p>
                      <a:pPr algn="l"/>
                      <a:r>
                        <a:rPr sz="2100" b="0">
                          <a:solidFill>
                            <a:srgbClr val="1F2A44"/>
                          </a:solidFill>
                          <a:latin typeface="Calibri"/>
                        </a:rPr>
                        <a:t>LLM decision intelligence, grounded and verified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Judge caught 9/9 corrupted; 30 unit tests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8</a:t>
                      </a:r>
                    </a:p>
                  </a:txBody>
                  <a:tcPr marL="73152" marR="73152" marT="27432" marB="27432" anchor="ctr">
                    <a:solidFill>
                      <a:srgbClr val="F1F7FB"/>
                    </a:solidFill>
                  </a:tcPr>
                </a:tc>
                <a:tc>
                  <a:txBody>
                    <a:bodyPr wrap="square"/>
                    <a:lstStyle/>
                    <a:p>
                      <a:pPr algn="l"/>
                      <a:r>
                        <a:rPr sz="2100" b="0">
                          <a:solidFill>
                            <a:srgbClr val="1F2A44"/>
                          </a:solidFill>
                          <a:latin typeface="Calibri"/>
                        </a:rPr>
                        <a:t>Cross-commodity spillover with FDR control</a:t>
                      </a:r>
                    </a:p>
                  </a:txBody>
                  <a:tcPr marL="73152" marR="73152" marT="27432" marB="27432" anchor="ctr">
                    <a:solidFill>
                      <a:srgbClr val="F1F7FB"/>
                    </a:solidFill>
                  </a:tcPr>
                </a:tc>
                <a:tc>
                  <a:txBody>
                    <a:bodyPr wrap="square"/>
                    <a:lstStyle/>
                    <a:p>
                      <a:pPr algn="ctr"/>
                      <a:r>
                        <a:rPr sz="2100" b="0">
                          <a:solidFill>
                            <a:srgbClr val="C0392B"/>
                          </a:solidFill>
                          <a:latin typeface="Calibri"/>
                        </a:rPr>
                        <a:t>Null result</a:t>
                      </a:r>
                    </a:p>
                  </a:txBody>
                  <a:tcPr marL="73152" marR="73152" marT="27432" marB="27432" anchor="ctr">
                    <a:solidFill>
                      <a:srgbClr val="F1F7FB"/>
                    </a:solidFill>
                  </a:tcPr>
                </a:tc>
                <a:tc>
                  <a:txBody>
                    <a:bodyPr wrap="square"/>
                    <a:lstStyle/>
                    <a:p>
                      <a:pPr algn="l"/>
                      <a:r>
                        <a:rPr sz="2100" b="0">
                          <a:solidFill>
                            <a:srgbClr val="1F2A44"/>
                          </a:solidFill>
                          <a:latin typeface="Calibri"/>
                        </a:rPr>
                        <a:t>0 of 40 edges published: no shock episodes</a:t>
                      </a:r>
                    </a:p>
                  </a:txBody>
                  <a:tcPr marL="73152" marR="73152" marT="27432" marB="27432" anchor="ctr">
                    <a:solidFill>
                      <a:srgbClr val="F1F7FB"/>
                    </a:solidFill>
                  </a:tcPr>
                </a:tc>
              </a:tr>
              <a:tr h="713232">
                <a:tc>
                  <a:txBody>
                    <a:bodyPr wrap="square"/>
                    <a:lstStyle/>
                    <a:p>
                      <a:pPr algn="ctr"/>
                      <a:r>
                        <a:rPr sz="2100" b="0">
                          <a:solidFill>
                            <a:srgbClr val="1F2A44"/>
                          </a:solidFill>
                          <a:latin typeface="Calibri"/>
                        </a:rPr>
                        <a:t>9</a:t>
                      </a:r>
                    </a:p>
                  </a:txBody>
                  <a:tcPr marL="73152" marR="73152" marT="27432" marB="27432" anchor="ctr">
                    <a:solidFill>
                      <a:srgbClr val="FFFFFF"/>
                    </a:solidFill>
                  </a:tcPr>
                </a:tc>
                <a:tc>
                  <a:txBody>
                    <a:bodyPr wrap="square"/>
                    <a:lstStyle/>
                    <a:p>
                      <a:pPr algn="l"/>
                      <a:r>
                        <a:rPr sz="2100" b="0">
                          <a:solidFill>
                            <a:srgbClr val="1F2A44"/>
                          </a:solidFill>
                          <a:latin typeface="Calibri"/>
                        </a:rPr>
                        <a:t>Inspectable advice: breakdown, what-if, track record, silence tax, crowd</a:t>
                      </a:r>
                    </a:p>
                  </a:txBody>
                  <a:tcPr marL="73152" marR="73152" marT="27432" marB="27432" anchor="ctr">
                    <a:solidFill>
                      <a:srgbClr val="FFFFFF"/>
                    </a:solidFill>
                  </a:tcPr>
                </a:tc>
                <a:tc>
                  <a:txBody>
                    <a:bodyPr wrap="square"/>
                    <a:lstStyle/>
                    <a:p>
                      <a:pPr algn="ctr"/>
                      <a:r>
                        <a:rPr sz="2100" b="0">
                          <a:solidFill>
                            <a:srgbClr val="2E8B57"/>
                          </a:solidFill>
                          <a:latin typeface="Calibri"/>
                        </a:rPr>
                        <a:t>Met</a:t>
                      </a:r>
                    </a:p>
                  </a:txBody>
                  <a:tcPr marL="73152" marR="73152" marT="27432" marB="27432" anchor="ctr">
                    <a:solidFill>
                      <a:srgbClr val="FFFFFF"/>
                    </a:solidFill>
                  </a:tcPr>
                </a:tc>
                <a:tc>
                  <a:txBody>
                    <a:bodyPr wrap="square"/>
                    <a:lstStyle/>
                    <a:p>
                      <a:pPr algn="l"/>
                      <a:r>
                        <a:rPr sz="2100" b="0">
                          <a:solidFill>
                            <a:srgbClr val="1F2A44"/>
                          </a:solidFill>
                          <a:latin typeface="Calibri"/>
                        </a:rPr>
                        <a:t>Parts add up to net; replay 165 days; 11 tests</a:t>
                      </a:r>
                    </a:p>
                  </a:txBody>
                  <a:tcPr marL="73152" marR="73152" marT="27432" marB="27432" anchor="ctr">
                    <a:solidFill>
                      <a:srgbClr val="FFFFFF"/>
                    </a:solidFill>
                  </a:tcPr>
                </a:tc>
              </a:tr>
              <a:tr h="713232">
                <a:tc>
                  <a:txBody>
                    <a:bodyPr wrap="square"/>
                    <a:lstStyle/>
                    <a:p>
                      <a:pPr algn="ctr"/>
                      <a:r>
                        <a:rPr sz="2100" b="0">
                          <a:solidFill>
                            <a:srgbClr val="1F2A44"/>
                          </a:solidFill>
                          <a:latin typeface="Calibri"/>
                        </a:rPr>
                        <a:t>10</a:t>
                      </a:r>
                    </a:p>
                  </a:txBody>
                  <a:tcPr marL="73152" marR="73152" marT="27432" marB="27432" anchor="ctr">
                    <a:solidFill>
                      <a:srgbClr val="F1F7FB"/>
                    </a:solidFill>
                  </a:tcPr>
                </a:tc>
                <a:tc>
                  <a:txBody>
                    <a:bodyPr wrap="square"/>
                    <a:lstStyle/>
                    <a:p>
                      <a:pPr algn="l"/>
                      <a:r>
                        <a:rPr sz="2100" b="0">
                          <a:solidFill>
                            <a:srgbClr val="1F2A44"/>
                          </a:solidFill>
                          <a:latin typeface="Calibri"/>
                        </a:rPr>
                        <a:t>Dated morning digest on a free channel (Telegram), EN/KN/HI</a:t>
                      </a:r>
                    </a:p>
                  </a:txBody>
                  <a:tcPr marL="73152" marR="73152" marT="27432" marB="27432" anchor="ctr">
                    <a:solidFill>
                      <a:srgbClr val="F1F7FB"/>
                    </a:solidFill>
                  </a:tcPr>
                </a:tc>
                <a:tc>
                  <a:txBody>
                    <a:bodyPr wrap="square"/>
                    <a:lstStyle/>
                    <a:p>
                      <a:pPr algn="ctr"/>
                      <a:r>
                        <a:rPr sz="2100" b="0">
                          <a:solidFill>
                            <a:srgbClr val="D9822B"/>
                          </a:solidFill>
                          <a:latin typeface="Calibri"/>
                        </a:rPr>
                        <a:t>Built, tested</a:t>
                      </a:r>
                    </a:p>
                  </a:txBody>
                  <a:tcPr marL="73152" marR="73152" marT="27432" marB="27432" anchor="ctr">
                    <a:solidFill>
                      <a:srgbClr val="F1F7FB"/>
                    </a:solidFill>
                  </a:tcPr>
                </a:tc>
                <a:tc>
                  <a:txBody>
                    <a:bodyPr wrap="square"/>
                    <a:lstStyle/>
                    <a:p>
                      <a:pPr algn="l"/>
                      <a:r>
                        <a:rPr sz="2100" b="0">
                          <a:solidFill>
                            <a:srgbClr val="1F2A44"/>
                          </a:solidFill>
                          <a:latin typeface="Calibri"/>
                        </a:rPr>
                        <a:t>8 tests; live demo today; no farmer pilot</a:t>
                      </a:r>
                    </a:p>
                  </a:txBody>
                  <a:tcPr marL="73152" marR="73152" marT="27432" marB="27432" anchor="ctr">
                    <a:solidFill>
                      <a:srgbClr val="F1F7FB"/>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Proposed Methodology and System Architecture</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2" name="Content Guidance"/>
          <p:cNvSpPr txBox="1"/>
          <p:nvPr/>
        </p:nvSpPr>
        <p:spPr>
          <a:xfrm>
            <a:off x="1005840" y="1737360"/>
            <a:ext cx="18105120" cy="33832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Idea: </a:t>
            </a:r>
            <a:r>
              <a:rPr lang="en-US" sz="2400" dirty="0">
                <a:solidFill>
                  <a:srgbClr val="1F2A44"/>
                </a:solidFill>
                <a:latin typeface="Calibri" panose="020F0502020204030204" charset="0"/>
                <a:cs typeface="Calibri" panose="020F0502020204030204" charset="0"/>
              </a:rPr>
              <a:t>train on what the farmer would actually receive (price net of transport, shrinkage and silent markets), not on the posted price.</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Action: </a:t>
            </a:r>
            <a:r>
              <a:rPr lang="en-US" sz="2400" dirty="0">
                <a:solidFill>
                  <a:srgbClr val="1F2A44"/>
                </a:solidFill>
                <a:latin typeface="Calibri" panose="020F0502020204030204" charset="0"/>
                <a:cs typeface="Calibri" panose="020F0502020204030204" charset="0"/>
              </a:rPr>
              <a:t>(mandi, hold 0–3 days) or farm gate; recommendation = best guaranteed revenue, with an adaptive conformal floor.</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Rejected: </a:t>
            </a:r>
            <a:r>
              <a:rPr lang="en-US" sz="2400" dirty="0">
                <a:solidFill>
                  <a:srgbClr val="1F2A44"/>
                </a:solidFill>
                <a:latin typeface="Calibri" panose="020F0502020204030204" charset="0"/>
                <a:cs typeface="Calibri" panose="020F0502020204030204" charset="0"/>
              </a:rPr>
              <a:t>predict-then-optimise on posted prices and decompose-then-forecast hybrids (they never see a silent market, and leak the future).</a:t>
            </a:r>
          </a:p>
        </p:txBody>
      </p:sp>
      <p:sp>
        <p:nvSpPr>
          <p:cNvPr id="10251" name="Rounded Rectangle 10250"/>
          <p:cNvSpPr/>
          <p:nvPr/>
        </p:nvSpPr>
        <p:spPr>
          <a:xfrm>
            <a:off x="100584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Agmarknet</a:t>
            </a:r>
          </a:p>
          <a:p>
            <a:pPr algn="ctr"/>
            <a:r>
              <a:rPr sz="2200" b="1" i="0">
                <a:solidFill>
                  <a:srgbClr val="1F2A44"/>
                </a:solidFill>
                <a:latin typeface="Calibri"/>
              </a:rPr>
              <a:t>exports</a:t>
            </a:r>
          </a:p>
        </p:txBody>
      </p:sp>
      <p:sp>
        <p:nvSpPr>
          <p:cNvPr id="10252" name="Rounded Rectangle 10251"/>
          <p:cNvSpPr/>
          <p:nvPr/>
        </p:nvSpPr>
        <p:spPr>
          <a:xfrm>
            <a:off x="365760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Clean + audit</a:t>
            </a:r>
          </a:p>
          <a:p>
            <a:pPr algn="ctr"/>
            <a:r>
              <a:rPr sz="2200" b="1" i="0">
                <a:solidFill>
                  <a:srgbClr val="1F2A44"/>
                </a:solidFill>
                <a:latin typeface="Calibri"/>
              </a:rPr>
              <a:t>loader, checks</a:t>
            </a:r>
          </a:p>
        </p:txBody>
      </p:sp>
      <p:sp>
        <p:nvSpPr>
          <p:cNvPr id="10253" name="Rounded Rectangle 10252"/>
          <p:cNvSpPr/>
          <p:nvPr/>
        </p:nvSpPr>
        <p:spPr>
          <a:xfrm>
            <a:off x="6309360" y="5486400"/>
            <a:ext cx="228600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Market panel,</a:t>
            </a:r>
          </a:p>
          <a:p>
            <a:pPr algn="ctr"/>
            <a:r>
              <a:rPr sz="2200" b="1" i="0">
                <a:solidFill>
                  <a:srgbClr val="1F2A44"/>
                </a:solidFill>
                <a:latin typeface="Calibri"/>
              </a:rPr>
              <a:t>observation store</a:t>
            </a:r>
          </a:p>
        </p:txBody>
      </p:sp>
      <p:cxnSp>
        <p:nvCxnSpPr>
          <p:cNvPr id="10254" name="Connector 10253"/>
          <p:cNvCxnSpPr/>
          <p:nvPr/>
        </p:nvCxnSpPr>
        <p:spPr>
          <a:xfrm>
            <a:off x="3291840" y="6035040"/>
            <a:ext cx="36576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55" name="Connector 10254"/>
          <p:cNvCxnSpPr/>
          <p:nvPr/>
        </p:nvCxnSpPr>
        <p:spPr>
          <a:xfrm>
            <a:off x="5943600" y="6035040"/>
            <a:ext cx="36576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6" name="Rounded Rectangle 10255"/>
          <p:cNvSpPr/>
          <p:nvPr/>
        </p:nvSpPr>
        <p:spPr>
          <a:xfrm>
            <a:off x="9509760" y="45720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Market-choice engines</a:t>
            </a:r>
          </a:p>
          <a:p>
            <a:pPr algn="ctr"/>
            <a:r>
              <a:rPr sz="2200" b="1" i="0">
                <a:solidFill>
                  <a:srgbClr val="1F2A44"/>
                </a:solidFill>
                <a:latin typeface="Calibri"/>
              </a:rPr>
              <a:t>+ conformal floors</a:t>
            </a:r>
          </a:p>
        </p:txBody>
      </p:sp>
      <p:cxnSp>
        <p:nvCxnSpPr>
          <p:cNvPr id="10257" name="Connector 10256"/>
          <p:cNvCxnSpPr/>
          <p:nvPr/>
        </p:nvCxnSpPr>
        <p:spPr>
          <a:xfrm flipV="1">
            <a:off x="8595360" y="5120640"/>
            <a:ext cx="914400" cy="9144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58" name="Connector 10257"/>
          <p:cNvCxnSpPr/>
          <p:nvPr/>
        </p:nvCxnSpPr>
        <p:spPr>
          <a:xfrm>
            <a:off x="12527280" y="5120640"/>
            <a:ext cx="822960" cy="1188719"/>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9" name="Rounded Rectangle 10258"/>
          <p:cNvSpPr/>
          <p:nvPr/>
        </p:nvSpPr>
        <p:spPr>
          <a:xfrm>
            <a:off x="9509760" y="59436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Forecasters</a:t>
            </a:r>
          </a:p>
          <a:p>
            <a:pPr algn="ctr"/>
            <a:r>
              <a:rPr sz="2200" b="1" i="0">
                <a:solidFill>
                  <a:srgbClr val="1F2A44"/>
                </a:solidFill>
                <a:latin typeface="Calibri"/>
              </a:rPr>
              <a:t>+ specialist council</a:t>
            </a:r>
          </a:p>
        </p:txBody>
      </p:sp>
      <p:cxnSp>
        <p:nvCxnSpPr>
          <p:cNvPr id="10260" name="Connector 10259"/>
          <p:cNvCxnSpPr/>
          <p:nvPr/>
        </p:nvCxnSpPr>
        <p:spPr>
          <a:xfrm>
            <a:off x="8595360" y="6035040"/>
            <a:ext cx="914400" cy="4572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61" name="Connector 10260"/>
          <p:cNvCxnSpPr/>
          <p:nvPr/>
        </p:nvCxnSpPr>
        <p:spPr>
          <a:xfrm flipV="1">
            <a:off x="12527280" y="6309359"/>
            <a:ext cx="822960" cy="182881"/>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2" name="Rounded Rectangle 10261"/>
          <p:cNvSpPr/>
          <p:nvPr/>
        </p:nvSpPr>
        <p:spPr>
          <a:xfrm>
            <a:off x="9509760" y="7315200"/>
            <a:ext cx="3017520" cy="109728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1F2A44"/>
                </a:solidFill>
                <a:latin typeface="Calibri"/>
              </a:rPr>
              <a:t>Shock study</a:t>
            </a:r>
          </a:p>
          <a:p>
            <a:pPr algn="ctr"/>
            <a:r>
              <a:rPr sz="2200" b="1" i="0">
                <a:solidFill>
                  <a:srgbClr val="1F2A44"/>
                </a:solidFill>
                <a:latin typeface="Calibri"/>
              </a:rPr>
              <a:t>+ spillover</a:t>
            </a:r>
          </a:p>
        </p:txBody>
      </p:sp>
      <p:cxnSp>
        <p:nvCxnSpPr>
          <p:cNvPr id="10263" name="Connector 10262"/>
          <p:cNvCxnSpPr/>
          <p:nvPr/>
        </p:nvCxnSpPr>
        <p:spPr>
          <a:xfrm>
            <a:off x="8595360" y="6035040"/>
            <a:ext cx="914400" cy="182880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264" name="Connector 10263"/>
          <p:cNvCxnSpPr/>
          <p:nvPr/>
        </p:nvCxnSpPr>
        <p:spPr>
          <a:xfrm flipV="1">
            <a:off x="12527280" y="6309359"/>
            <a:ext cx="822960" cy="1554481"/>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5" name="Rounded Rectangle 10264"/>
          <p:cNvSpPr/>
          <p:nvPr/>
        </p:nvSpPr>
        <p:spPr>
          <a:xfrm>
            <a:off x="13350240" y="5349240"/>
            <a:ext cx="2651760" cy="137160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FFFFFF"/>
                </a:solidFill>
                <a:latin typeface="Calibri"/>
              </a:rPr>
              <a:t>FastAPI service</a:t>
            </a:r>
          </a:p>
          <a:p>
            <a:pPr algn="ctr"/>
            <a:r>
              <a:rPr sz="2200" b="1" i="0">
                <a:solidFill>
                  <a:srgbClr val="FFFFFF"/>
                </a:solidFill>
                <a:latin typeface="Calibri"/>
              </a:rPr>
              <a:t>farmer · trader · chat</a:t>
            </a:r>
          </a:p>
        </p:txBody>
      </p:sp>
      <p:sp>
        <p:nvSpPr>
          <p:cNvPr id="10266" name="Rounded Rectangle 10265"/>
          <p:cNvSpPr/>
          <p:nvPr/>
        </p:nvSpPr>
        <p:spPr>
          <a:xfrm>
            <a:off x="16550640" y="5349240"/>
            <a:ext cx="2560320" cy="137160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200" b="1" i="0">
                <a:solidFill>
                  <a:srgbClr val="FFFFFF"/>
                </a:solidFill>
                <a:latin typeface="Calibri"/>
              </a:rPr>
              <a:t>Next.js app</a:t>
            </a:r>
          </a:p>
          <a:p>
            <a:pPr algn="ctr"/>
            <a:r>
              <a:rPr sz="2200" b="1" i="0">
                <a:solidFill>
                  <a:srgbClr val="FFFFFF"/>
                </a:solidFill>
                <a:latin typeface="Calibri"/>
              </a:rPr>
              <a:t>EN · KN · HI</a:t>
            </a:r>
          </a:p>
        </p:txBody>
      </p:sp>
      <p:cxnSp>
        <p:nvCxnSpPr>
          <p:cNvPr id="10267" name="Connector 10266"/>
          <p:cNvCxnSpPr/>
          <p:nvPr/>
        </p:nvCxnSpPr>
        <p:spPr>
          <a:xfrm>
            <a:off x="16002000" y="6035040"/>
            <a:ext cx="548640" cy="0"/>
          </a:xfrm>
          <a:prstGeom prst="line">
            <a:avLst/>
          </a:prstGeom>
          <a:ln w="28575">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8" name="Rounded Rectangle 10267"/>
          <p:cNvSpPr/>
          <p:nvPr/>
        </p:nvSpPr>
        <p:spPr>
          <a:xfrm>
            <a:off x="13350240" y="7589520"/>
            <a:ext cx="5760720" cy="1280160"/>
          </a:xfrm>
          <a:prstGeom prst="round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100" b="1" i="0">
                <a:solidFill>
                  <a:srgbClr val="FFFFFF"/>
                </a:solidFill>
                <a:latin typeface="Calibri"/>
              </a:rPr>
              <a:t>Language layer: decision-intelligence briefs,</a:t>
            </a:r>
          </a:p>
          <a:p>
            <a:pPr algn="ctr"/>
            <a:r>
              <a:rPr sz="2100" b="1" i="0">
                <a:solidFill>
                  <a:srgbClr val="FFFFFF"/>
                </a:solidFill>
                <a:latin typeface="Calibri"/>
              </a:rPr>
              <a:t>explanation writer + independent judge</a:t>
            </a:r>
          </a:p>
        </p:txBody>
      </p:sp>
      <p:cxnSp>
        <p:nvCxnSpPr>
          <p:cNvPr id="10269" name="Connector 10268"/>
          <p:cNvCxnSpPr/>
          <p:nvPr/>
        </p:nvCxnSpPr>
        <p:spPr>
          <a:xfrm flipH="1" flipV="1">
            <a:off x="15453359" y="6903720"/>
            <a:ext cx="731521" cy="685800"/>
          </a:xfrm>
          <a:prstGeom prst="line">
            <a:avLst/>
          </a:prstGeom>
          <a:ln w="28575">
            <a:solidFill>
              <a:srgbClr val="D9822B"/>
            </a:solidFill>
            <a:tailEnd type="triangle"/>
          </a:ln>
        </p:spPr>
        <p:style>
          <a:lnRef idx="2">
            <a:schemeClr val="accent1"/>
          </a:lnRef>
          <a:fillRef idx="0">
            <a:schemeClr val="accent1"/>
          </a:fillRef>
          <a:effectRef idx="1">
            <a:schemeClr val="accent1"/>
          </a:effectRef>
          <a:fontRef idx="minor">
            <a:schemeClr val="tx1"/>
          </a:fontRef>
        </p:style>
      </p:cxnSp>
      <p:sp>
        <p:nvSpPr>
          <p:cNvPr id="10270" name="TextBox 10269"/>
          <p:cNvSpPr txBox="1"/>
          <p:nvPr/>
        </p:nvSpPr>
        <p:spPr>
          <a:xfrm>
            <a:off x="1005840" y="9052560"/>
            <a:ext cx="11887200" cy="1097280"/>
          </a:xfrm>
          <a:prstGeom prst="rect">
            <a:avLst/>
          </a:prstGeom>
          <a:noFill/>
        </p:spPr>
        <p:txBody>
          <a:bodyPr wrap="square" anchor="t" lIns="73152" rIns="73152" tIns="36576" bIns="36576">
            <a:spAutoFit/>
          </a:bodyPr>
          <a:lstStyle/>
          <a:p>
            <a:pPr algn="l"/>
            <a:r>
              <a:rPr sz="2200" b="0" i="1">
                <a:solidFill>
                  <a:srgbClr val="5F6B7A"/>
                </a:solidFill>
                <a:latin typeface="Calibri"/>
              </a:rPr>
              <a:t>Data layer → model layer → service layer (engines + five insight features) → language layer → presentation. All results use real portal records; no synthetic data enter any result.</a:t>
            </a:r>
          </a:p>
        </p:txBody>
      </p:sp>
      <p:sp>
        <p:nvSpPr>
          <p:cNvPr id="10271" name="Rounded Rectangle 10270"/>
          <p:cNvSpPr/>
          <p:nvPr/>
        </p:nvSpPr>
        <p:spPr>
          <a:xfrm>
            <a:off x="13350240" y="9098280"/>
            <a:ext cx="5760720" cy="914400"/>
          </a:xfrm>
          <a:prstGeom prst="round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100" b="1" i="0">
                <a:solidFill>
                  <a:srgbClr val="FFFFFF"/>
                </a:solidFill>
                <a:latin typeface="Calibri"/>
              </a:rPr>
              <a:t>Telegram bot · 7 am digest</a:t>
            </a:r>
          </a:p>
        </p:txBody>
      </p:sp>
      <p:cxnSp>
        <p:nvCxnSpPr>
          <p:cNvPr id="10272" name="Connector 10271"/>
          <p:cNvCxnSpPr/>
          <p:nvPr/>
        </p:nvCxnSpPr>
        <p:spPr>
          <a:xfrm flipV="1">
            <a:off x="16184880" y="8915400"/>
            <a:ext cx="0" cy="182880"/>
          </a:xfrm>
          <a:prstGeom prst="line">
            <a:avLst/>
          </a:prstGeom>
          <a:ln w="28575">
            <a:solidFill>
              <a:srgbClr val="2E8B5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9017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Implementation and System Integration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3" name="Content Guidance"/>
          <p:cNvSpPr txBox="1"/>
          <p:nvPr/>
        </p:nvSpPr>
        <p:spPr>
          <a:xfrm>
            <a:off x="1005840" y="1737360"/>
            <a:ext cx="18105120" cy="33832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Integrated: </a:t>
            </a:r>
            <a:r>
              <a:rPr lang="en-US" sz="2500" dirty="0">
                <a:solidFill>
                  <a:srgbClr val="1F2A44"/>
                </a:solidFill>
                <a:latin typeface="Calibri" panose="020F0502020204030204" charset="0"/>
                <a:cs typeface="Calibri" panose="020F0502020204030204" charset="0"/>
              </a:rPr>
              <a:t>one pipeline command runs 13 stages from raw exports to tests; API, web app, engines and language layer share one data store.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Manual: </a:t>
            </a:r>
            <a:r>
              <a:rPr lang="en-US" sz="2500" dirty="0">
                <a:solidFill>
                  <a:srgbClr val="1F2A44"/>
                </a:solidFill>
                <a:latin typeface="Calibri" panose="020F0502020204030204" charset="0"/>
                <a:cs typeface="Calibri" panose="020F0502020204030204" charset="0"/>
              </a:rPr>
              <a:t>refreshing Agmarknet exports (download by hand); public deployment config exists but is not verified live.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Defects fixed: </a:t>
            </a:r>
            <a:r>
              <a:rPr lang="en-US" sz="2500" dirty="0">
                <a:solidFill>
                  <a:srgbClr val="1F2A44"/>
                </a:solidFill>
                <a:latin typeface="Calibri" panose="020F0502020204030204" charset="0"/>
                <a:cs typeface="Calibri" panose="020F0502020204030204" charset="0"/>
              </a:rPr>
              <a:t>NumPy 2 broke pandas; fresh clone missed the observation store; hard deletion emptied trader pages; council weights summed above 1.</a:t>
            </a:r>
          </a:p>
        </p:txBody>
      </p:sp>
      <p:sp>
        <p:nvSpPr>
          <p:cNvPr id="10251" name="Rounded Rectangle 10250"/>
          <p:cNvSpPr/>
          <p:nvPr/>
        </p:nvSpPr>
        <p:spPr>
          <a:xfrm>
            <a:off x="1005840"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world</a:t>
            </a:r>
          </a:p>
        </p:txBody>
      </p:sp>
      <p:cxnSp>
        <p:nvCxnSpPr>
          <p:cNvPr id="10252" name="Connector 10251"/>
          <p:cNvCxnSpPr/>
          <p:nvPr/>
        </p:nvCxnSpPr>
        <p:spPr>
          <a:xfrm>
            <a:off x="2468880"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3" name="Rounded Rectangle 10252"/>
          <p:cNvSpPr/>
          <p:nvPr/>
        </p:nvSpPr>
        <p:spPr>
          <a:xfrm>
            <a:off x="2615184"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forecasts</a:t>
            </a:r>
          </a:p>
        </p:txBody>
      </p:sp>
      <p:cxnSp>
        <p:nvCxnSpPr>
          <p:cNvPr id="10254" name="Connector 10253"/>
          <p:cNvCxnSpPr/>
          <p:nvPr/>
        </p:nvCxnSpPr>
        <p:spPr>
          <a:xfrm>
            <a:off x="4078224"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5" name="Rounded Rectangle 10254"/>
          <p:cNvSpPr/>
          <p:nvPr/>
        </p:nvSpPr>
        <p:spPr>
          <a:xfrm>
            <a:off x="4224528"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market</a:t>
            </a:r>
          </a:p>
          <a:p>
            <a:pPr algn="ctr"/>
            <a:r>
              <a:rPr sz="1800" b="1" i="0">
                <a:solidFill>
                  <a:srgbClr val="1F2A44"/>
                </a:solidFill>
                <a:latin typeface="Calibri"/>
              </a:rPr>
              <a:t>choice</a:t>
            </a:r>
          </a:p>
        </p:txBody>
      </p:sp>
      <p:cxnSp>
        <p:nvCxnSpPr>
          <p:cNvPr id="10256" name="Connector 10255"/>
          <p:cNvCxnSpPr/>
          <p:nvPr/>
        </p:nvCxnSpPr>
        <p:spPr>
          <a:xfrm>
            <a:off x="5687568"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7" name="Rounded Rectangle 10256"/>
          <p:cNvSpPr/>
          <p:nvPr/>
        </p:nvSpPr>
        <p:spPr>
          <a:xfrm>
            <a:off x="5833872"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track</a:t>
            </a:r>
          </a:p>
          <a:p>
            <a:pPr algn="ctr"/>
            <a:r>
              <a:rPr sz="1800" b="1" i="0">
                <a:solidFill>
                  <a:srgbClr val="1F2A44"/>
                </a:solidFill>
                <a:latin typeface="Calibri"/>
              </a:rPr>
              <a:t>record</a:t>
            </a:r>
          </a:p>
        </p:txBody>
      </p:sp>
      <p:cxnSp>
        <p:nvCxnSpPr>
          <p:cNvPr id="10258" name="Connector 10257"/>
          <p:cNvCxnSpPr/>
          <p:nvPr/>
        </p:nvCxnSpPr>
        <p:spPr>
          <a:xfrm>
            <a:off x="7296912"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59" name="Rounded Rectangle 10258"/>
          <p:cNvSpPr/>
          <p:nvPr/>
        </p:nvSpPr>
        <p:spPr>
          <a:xfrm>
            <a:off x="7443216"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transmission</a:t>
            </a:r>
          </a:p>
        </p:txBody>
      </p:sp>
      <p:cxnSp>
        <p:nvCxnSpPr>
          <p:cNvPr id="10260" name="Connector 10259"/>
          <p:cNvCxnSpPr/>
          <p:nvPr/>
        </p:nvCxnSpPr>
        <p:spPr>
          <a:xfrm>
            <a:off x="8906256"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1" name="Rounded Rectangle 10260"/>
          <p:cNvSpPr/>
          <p:nvPr/>
        </p:nvSpPr>
        <p:spPr>
          <a:xfrm>
            <a:off x="9052560"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shock</a:t>
            </a:r>
          </a:p>
        </p:txBody>
      </p:sp>
      <p:cxnSp>
        <p:nvCxnSpPr>
          <p:cNvPr id="10262" name="Connector 10261"/>
          <p:cNvCxnSpPr/>
          <p:nvPr/>
        </p:nvCxnSpPr>
        <p:spPr>
          <a:xfrm>
            <a:off x="10515600"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3" name="Rounded Rectangle 10262"/>
          <p:cNvSpPr/>
          <p:nvPr/>
        </p:nvSpPr>
        <p:spPr>
          <a:xfrm>
            <a:off x="10661904"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spillover</a:t>
            </a:r>
          </a:p>
        </p:txBody>
      </p:sp>
      <p:cxnSp>
        <p:nvCxnSpPr>
          <p:cNvPr id="10264" name="Connector 10263"/>
          <p:cNvCxnSpPr/>
          <p:nvPr/>
        </p:nvCxnSpPr>
        <p:spPr>
          <a:xfrm>
            <a:off x="12124944"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5" name="Rounded Rectangle 10264"/>
          <p:cNvSpPr/>
          <p:nvPr/>
        </p:nvSpPr>
        <p:spPr>
          <a:xfrm>
            <a:off x="12271248"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council</a:t>
            </a:r>
          </a:p>
        </p:txBody>
      </p:sp>
      <p:cxnSp>
        <p:nvCxnSpPr>
          <p:cNvPr id="10266" name="Connector 10265"/>
          <p:cNvCxnSpPr/>
          <p:nvPr/>
        </p:nvCxnSpPr>
        <p:spPr>
          <a:xfrm>
            <a:off x="13734288"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7" name="Rounded Rectangle 10266"/>
          <p:cNvSpPr/>
          <p:nvPr/>
        </p:nvSpPr>
        <p:spPr>
          <a:xfrm>
            <a:off x="13880592"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research</a:t>
            </a:r>
          </a:p>
          <a:p>
            <a:pPr algn="ctr"/>
            <a:r>
              <a:rPr sz="1800" b="1" i="0">
                <a:solidFill>
                  <a:srgbClr val="1F2A44"/>
                </a:solidFill>
                <a:latin typeface="Calibri"/>
              </a:rPr>
              <a:t>evidence</a:t>
            </a:r>
          </a:p>
        </p:txBody>
      </p:sp>
      <p:cxnSp>
        <p:nvCxnSpPr>
          <p:cNvPr id="10268" name="Connector 10267"/>
          <p:cNvCxnSpPr/>
          <p:nvPr/>
        </p:nvCxnSpPr>
        <p:spPr>
          <a:xfrm>
            <a:off x="15343632"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69" name="Rounded Rectangle 10268"/>
          <p:cNvSpPr/>
          <p:nvPr/>
        </p:nvSpPr>
        <p:spPr>
          <a:xfrm>
            <a:off x="15489936" y="5394960"/>
            <a:ext cx="1463040" cy="105156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1F2A44"/>
                </a:solidFill>
                <a:latin typeface="Calibri"/>
              </a:rPr>
              <a:t>results</a:t>
            </a:r>
          </a:p>
          <a:p>
            <a:pPr algn="ctr"/>
            <a:r>
              <a:rPr sz="1800" b="1" i="0">
                <a:solidFill>
                  <a:srgbClr val="1F2A44"/>
                </a:solidFill>
                <a:latin typeface="Calibri"/>
              </a:rPr>
              <a:t>doc</a:t>
            </a:r>
          </a:p>
        </p:txBody>
      </p:sp>
      <p:cxnSp>
        <p:nvCxnSpPr>
          <p:cNvPr id="10270" name="Connector 10269"/>
          <p:cNvCxnSpPr/>
          <p:nvPr/>
        </p:nvCxnSpPr>
        <p:spPr>
          <a:xfrm>
            <a:off x="16952976" y="5920740"/>
            <a:ext cx="14630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0271" name="Rounded Rectangle 10270"/>
          <p:cNvSpPr/>
          <p:nvPr/>
        </p:nvSpPr>
        <p:spPr>
          <a:xfrm>
            <a:off x="17099280" y="5394960"/>
            <a:ext cx="1463040" cy="1051560"/>
          </a:xfrm>
          <a:prstGeom prst="roundRect">
            <a:avLst/>
          </a:prstGeom>
          <a:solidFill>
            <a:srgbClr val="2E8B5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800" b="1" i="0">
                <a:solidFill>
                  <a:srgbClr val="FFFFFF"/>
                </a:solidFill>
                <a:latin typeface="Calibri"/>
              </a:rPr>
              <a:t>tests</a:t>
            </a:r>
          </a:p>
        </p:txBody>
      </p:sp>
      <p:sp>
        <p:nvSpPr>
          <p:cNvPr id="10272" name="TextBox 10271"/>
          <p:cNvSpPr txBox="1"/>
          <p:nvPr/>
        </p:nvSpPr>
        <p:spPr>
          <a:xfrm>
            <a:off x="1005840" y="6720840"/>
            <a:ext cx="18105120" cy="457200"/>
          </a:xfrm>
          <a:prstGeom prst="rect">
            <a:avLst/>
          </a:prstGeom>
          <a:noFill/>
        </p:spPr>
        <p:txBody>
          <a:bodyPr wrap="square" anchor="t" lIns="73152" rIns="73152" tIns="36576" bIns="36576">
            <a:spAutoFit/>
          </a:bodyPr>
          <a:lstStyle/>
          <a:p>
            <a:pPr algn="l"/>
            <a:r>
              <a:rPr sz="2100" b="0" i="1">
                <a:solidFill>
                  <a:srgbClr val="5F6B7A"/>
                </a:solidFill>
                <a:latin typeface="Calibri"/>
              </a:rPr>
              <a:t>scripts/pipeline.py: each stage has declared outputs; run alone, skipped, or dry-run (--list, --only, --skip, --dry-run)</a:t>
            </a:r>
          </a:p>
        </p:txBody>
      </p:sp>
      <p:pic>
        <p:nvPicPr>
          <p:cNvPr id="10273" name="Picture 10272" descr="ui_farmer_home.png"/>
          <p:cNvPicPr>
            <a:picLocks noChangeAspect="1"/>
          </p:cNvPicPr>
          <p:nvPr/>
        </p:nvPicPr>
        <p:blipFill>
          <a:blip r:embed="rId3"/>
          <a:stretch>
            <a:fillRect/>
          </a:stretch>
        </p:blipFill>
        <p:spPr>
          <a:xfrm>
            <a:off x="1005840" y="7315200"/>
            <a:ext cx="2735885" cy="3017520"/>
          </a:xfrm>
          <a:prstGeom prst="rect">
            <a:avLst/>
          </a:prstGeom>
        </p:spPr>
      </p:pic>
      <p:pic>
        <p:nvPicPr>
          <p:cNvPr id="10274" name="Picture 10273" descr="ui_market_choice.png"/>
          <p:cNvPicPr>
            <a:picLocks noChangeAspect="1"/>
          </p:cNvPicPr>
          <p:nvPr/>
        </p:nvPicPr>
        <p:blipFill>
          <a:blip r:embed="rId4"/>
          <a:stretch>
            <a:fillRect/>
          </a:stretch>
        </p:blipFill>
        <p:spPr>
          <a:xfrm>
            <a:off x="4061765" y="7315200"/>
            <a:ext cx="2414016" cy="3017520"/>
          </a:xfrm>
          <a:prstGeom prst="rect">
            <a:avLst/>
          </a:prstGeom>
        </p:spPr>
      </p:pic>
      <p:pic>
        <p:nvPicPr>
          <p:cNvPr id="10275" name="Picture 10274" descr="ui_trader_hub.png"/>
          <p:cNvPicPr>
            <a:picLocks noChangeAspect="1"/>
          </p:cNvPicPr>
          <p:nvPr/>
        </p:nvPicPr>
        <p:blipFill>
          <a:blip r:embed="rId5"/>
          <a:stretch>
            <a:fillRect/>
          </a:stretch>
        </p:blipFill>
        <p:spPr>
          <a:xfrm>
            <a:off x="6795821" y="7315200"/>
            <a:ext cx="2735885" cy="3017520"/>
          </a:xfrm>
          <a:prstGeom prst="rect">
            <a:avLst/>
          </a:prstGeom>
        </p:spPr>
      </p:pic>
      <p:sp>
        <p:nvSpPr>
          <p:cNvPr id="10276" name="Rectangle 10275"/>
          <p:cNvSpPr/>
          <p:nvPr/>
        </p:nvSpPr>
        <p:spPr>
          <a:xfrm>
            <a:off x="14996159" y="7315200"/>
            <a:ext cx="4114800" cy="30175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000" b="1" i="0">
                <a:solidFill>
                  <a:srgbClr val="1F2A44"/>
                </a:solidFill>
                <a:latin typeface="Calibri"/>
              </a:rPr>
              <a:t>Endpoints: </a:t>
            </a:r>
            <a:r>
              <a:rPr sz="2000" b="0" i="0">
                <a:solidFill>
                  <a:srgbClr val="1F2A44"/>
                </a:solidFill>
                <a:latin typeface="Calibri"/>
              </a:rPr>
              <a:t>/v1/market-choice (+5 insight routes), /v1/farmer, /v1/trader, /v1/shock, /v1/council, /v1/spillover, /v1/intelligence, /v1/chat, /v1/notify</a:t>
            </a:r>
          </a:p>
        </p:txBody>
      </p:sp>
    </p:spTree>
    <p:extLst>
      <p:ext uri="{BB962C8B-B14F-4D97-AF65-F5344CB8AC3E}">
        <p14:creationId xmlns:p14="http://schemas.microsoft.com/office/powerpoint/2010/main" val="176901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Tools, Technology Stack and Code Quality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7</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4" name="Content Guidance"/>
          <p:cNvSpPr txBox="1"/>
          <p:nvPr/>
        </p:nvSpPr>
        <p:spPr>
          <a:xfrm>
            <a:off x="1005840" y="1737360"/>
            <a:ext cx="18105120" cy="27432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Repository: </a:t>
            </a:r>
            <a:r>
              <a:rPr lang="en-US" sz="2400" dirty="0">
                <a:solidFill>
                  <a:srgbClr val="1F2A44"/>
                </a:solidFill>
                <a:latin typeface="Calibri" panose="020F0502020204030204" charset="0"/>
                <a:cs typeface="Calibri" panose="020F0502020204030204" charset="0"/>
              </a:rPr>
              <a:t>Git, 69 commits; README, requirements.lock, docs for architecture, tool choices, shock study, council and LLM evaluation; CI workflow.</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Reproducible: </a:t>
            </a:r>
            <a:r>
              <a:rPr lang="en-US" sz="2400" dirty="0">
                <a:solidFill>
                  <a:srgbClr val="1F2A44"/>
                </a:solidFill>
                <a:latin typeface="Calibri" panose="020F0502020204030204" charset="0"/>
                <a:cs typeface="Calibri" panose="020F0502020204030204" charset="0"/>
              </a:rPr>
              <a:t>pipeline.py regenerates all artefacts; the thesis tables are generated from them, not typed.</a:t>
            </a:r>
          </a:p>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Tested: </a:t>
            </a:r>
            <a:r>
              <a:rPr lang="en-US" sz="2400" dirty="0">
                <a:solidFill>
                  <a:srgbClr val="1F2A44"/>
                </a:solidFill>
                <a:latin typeface="Calibri" panose="020F0502020204030204" charset="0"/>
                <a:cs typeface="Calibri" panose="020F0502020204030204" charset="0"/>
              </a:rPr>
              <a:t>669 backend tests and 11 web tests passing; a 60-check smoke test of every endpoint and page; fresh-clone check; CI.</a:t>
            </a:r>
          </a:p>
        </p:txBody>
      </p:sp>
      <p:graphicFrame>
        <p:nvGraphicFramePr>
          <p:cNvPr id="10251" name="Table 10250"/>
          <p:cNvGraphicFramePr>
            <a:graphicFrameLocks noGrp="1"/>
          </p:cNvGraphicFramePr>
          <p:nvPr/>
        </p:nvGraphicFramePr>
        <p:xfrm>
          <a:off x="1005840" y="4297680"/>
          <a:ext cx="18105118" cy="5760720"/>
        </p:xfrm>
        <a:graphic>
          <a:graphicData uri="http://schemas.openxmlformats.org/drawingml/2006/table">
            <a:tbl>
              <a:tblPr firstRow="1" bandRow="1">
                <a:tableStyleId>{5C22544A-7EE6-4342-B048-85BDC9FD1C3A}</a:tableStyleId>
              </a:tblPr>
              <a:tblGrid>
                <a:gridCol w="2399473"/>
                <a:gridCol w="9597894"/>
                <a:gridCol w="6107751"/>
              </a:tblGrid>
              <a:tr h="822960">
                <a:tc>
                  <a:txBody>
                    <a:bodyPr wrap="square"/>
                    <a:lstStyle/>
                    <a:p>
                      <a:pPr algn="ctr"/>
                      <a:r>
                        <a:rPr sz="2100" b="1">
                          <a:solidFill>
                            <a:srgbClr val="FFFFFF"/>
                          </a:solidFill>
                          <a:latin typeface="Calibri"/>
                        </a:rPr>
                        <a:t>Layer</a:t>
                      </a:r>
                    </a:p>
                  </a:txBody>
                  <a:tcPr marL="73152" marR="73152" marT="27432" marB="27432" anchor="ctr">
                    <a:solidFill>
                      <a:srgbClr val="1F4E79"/>
                    </a:solidFill>
                  </a:tcPr>
                </a:tc>
                <a:tc>
                  <a:txBody>
                    <a:bodyPr wrap="square"/>
                    <a:lstStyle/>
                    <a:p>
                      <a:pPr algn="ctr"/>
                      <a:r>
                        <a:rPr sz="2100" b="1">
                          <a:solidFill>
                            <a:srgbClr val="FFFFFF"/>
                          </a:solidFill>
                          <a:latin typeface="Calibri"/>
                        </a:rPr>
                        <a:t>Tool (version)</a:t>
                      </a:r>
                    </a:p>
                  </a:txBody>
                  <a:tcPr marL="73152" marR="73152" marT="27432" marB="27432" anchor="ctr">
                    <a:solidFill>
                      <a:srgbClr val="1F4E79"/>
                    </a:solidFill>
                  </a:tcPr>
                </a:tc>
                <a:tc>
                  <a:txBody>
                    <a:bodyPr wrap="square"/>
                    <a:lstStyle/>
                    <a:p>
                      <a:pPr algn="ctr"/>
                      <a:r>
                        <a:rPr sz="2100" b="1">
                          <a:solidFill>
                            <a:srgbClr val="FFFFFF"/>
                          </a:solidFill>
                          <a:latin typeface="Calibri"/>
                        </a:rPr>
                        <a:t>Why chosen</a:t>
                      </a:r>
                    </a:p>
                  </a:txBody>
                  <a:tcPr marL="73152" marR="73152" marT="27432" marB="27432" anchor="ctr">
                    <a:solidFill>
                      <a:srgbClr val="1F4E79"/>
                    </a:solidFill>
                  </a:tcPr>
                </a:tc>
              </a:tr>
              <a:tr h="822960">
                <a:tc>
                  <a:txBody>
                    <a:bodyPr wrap="square"/>
                    <a:lstStyle/>
                    <a:p>
                      <a:pPr algn="l"/>
                      <a:r>
                        <a:rPr sz="2100" b="1">
                          <a:solidFill>
                            <a:srgbClr val="1F2A44"/>
                          </a:solidFill>
                          <a:latin typeface="Calibri"/>
                        </a:rPr>
                        <a:t>Data / stats</a:t>
                      </a:r>
                    </a:p>
                  </a:txBody>
                  <a:tcPr marL="73152" marR="73152" marT="27432" marB="27432" anchor="ctr">
                    <a:solidFill>
                      <a:srgbClr val="FFFFFF"/>
                    </a:solidFill>
                  </a:tcPr>
                </a:tc>
                <a:tc>
                  <a:txBody>
                    <a:bodyPr wrap="square"/>
                    <a:lstStyle/>
                    <a:p>
                      <a:pPr algn="l"/>
                      <a:r>
                        <a:rPr sz="2100" b="0">
                          <a:solidFill>
                            <a:srgbClr val="1F2A44"/>
                          </a:solidFill>
                          <a:latin typeface="Calibri"/>
                        </a:rPr>
                        <a:t>NumPy 1.26.4, pandas 2.1.4, SciPy 1.11.4, statsmodels 0.14.1</a:t>
                      </a:r>
                    </a:p>
                  </a:txBody>
                  <a:tcPr marL="73152" marR="73152" marT="27432" marB="27432" anchor="ctr">
                    <a:solidFill>
                      <a:srgbClr val="FFFFFF"/>
                    </a:solidFill>
                  </a:tcPr>
                </a:tc>
                <a:tc>
                  <a:txBody>
                    <a:bodyPr wrap="square"/>
                    <a:lstStyle/>
                    <a:p>
                      <a:pPr algn="l"/>
                      <a:r>
                        <a:rPr sz="2100" b="0">
                          <a:solidFill>
                            <a:srgbClr val="1F2A44"/>
                          </a:solidFill>
                          <a:latin typeface="Calibri"/>
                        </a:rPr>
                        <a:t>tested, pinned stack</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Learning</a:t>
                      </a:r>
                    </a:p>
                  </a:txBody>
                  <a:tcPr marL="73152" marR="73152" marT="27432" marB="27432" anchor="ctr">
                    <a:solidFill>
                      <a:srgbClr val="F1F7FB"/>
                    </a:solidFill>
                  </a:tcPr>
                </a:tc>
                <a:tc>
                  <a:txBody>
                    <a:bodyPr wrap="square"/>
                    <a:lstStyle/>
                    <a:p>
                      <a:pPr algn="l"/>
                      <a:r>
                        <a:rPr sz="2100" b="0">
                          <a:solidFill>
                            <a:srgbClr val="1F2A44"/>
                          </a:solidFill>
                          <a:latin typeface="Calibri"/>
                        </a:rPr>
                        <a:t>LightGBM 4.6.0, XGBoost 2.0.3, scikit-learn 1.3.2, Optuna, PyTorch (research env)</a:t>
                      </a:r>
                    </a:p>
                  </a:txBody>
                  <a:tcPr marL="73152" marR="73152" marT="27432" marB="27432" anchor="ctr">
                    <a:solidFill>
                      <a:srgbClr val="F1F7FB"/>
                    </a:solidFill>
                  </a:tcPr>
                </a:tc>
                <a:tc>
                  <a:txBody>
                    <a:bodyPr wrap="square"/>
                    <a:lstStyle/>
                    <a:p>
                      <a:pPr algn="l"/>
                      <a:r>
                        <a:rPr sz="2100" b="0">
                          <a:solidFill>
                            <a:srgbClr val="1F2A44"/>
                          </a:solidFill>
                          <a:latin typeface="Calibri"/>
                        </a:rPr>
                        <a:t>trees win on tabular [19]; Optuna TPE [20]</a:t>
                      </a:r>
                    </a:p>
                  </a:txBody>
                  <a:tcPr marL="73152" marR="73152" marT="27432" marB="27432" anchor="ctr">
                    <a:solidFill>
                      <a:srgbClr val="F1F7FB"/>
                    </a:solidFill>
                  </a:tcPr>
                </a:tc>
              </a:tr>
              <a:tr h="822960">
                <a:tc>
                  <a:txBody>
                    <a:bodyPr wrap="square"/>
                    <a:lstStyle/>
                    <a:p>
                      <a:pPr algn="l"/>
                      <a:r>
                        <a:rPr sz="2100" b="1">
                          <a:solidFill>
                            <a:srgbClr val="1F2A44"/>
                          </a:solidFill>
                          <a:latin typeface="Calibri"/>
                        </a:rPr>
                        <a:t>Backend</a:t>
                      </a:r>
                    </a:p>
                  </a:txBody>
                  <a:tcPr marL="73152" marR="73152" marT="27432" marB="27432" anchor="ctr">
                    <a:solidFill>
                      <a:srgbClr val="FFFFFF"/>
                    </a:solidFill>
                  </a:tcPr>
                </a:tc>
                <a:tc>
                  <a:txBody>
                    <a:bodyPr wrap="square"/>
                    <a:lstStyle/>
                    <a:p>
                      <a:pPr algn="l"/>
                      <a:r>
                        <a:rPr sz="2100" b="0">
                          <a:solidFill>
                            <a:srgbClr val="1F2A44"/>
                          </a:solidFill>
                          <a:latin typeface="Calibri"/>
                        </a:rPr>
                        <a:t>FastAPI 0.136.1, Uvicorn 0.46.0, Pydantic 2.13.3</a:t>
                      </a:r>
                    </a:p>
                  </a:txBody>
                  <a:tcPr marL="73152" marR="73152" marT="27432" marB="27432" anchor="ctr">
                    <a:solidFill>
                      <a:srgbClr val="FFFFFF"/>
                    </a:solidFill>
                  </a:tcPr>
                </a:tc>
                <a:tc>
                  <a:txBody>
                    <a:bodyPr wrap="square"/>
                    <a:lstStyle/>
                    <a:p>
                      <a:pPr algn="l"/>
                      <a:r>
                        <a:rPr sz="2100" b="0">
                          <a:solidFill>
                            <a:srgbClr val="1F2A44"/>
                          </a:solidFill>
                          <a:latin typeface="Calibri"/>
                        </a:rPr>
                        <a:t>typed requests, auto API docs</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Frontend</a:t>
                      </a:r>
                    </a:p>
                  </a:txBody>
                  <a:tcPr marL="73152" marR="73152" marT="27432" marB="27432" anchor="ctr">
                    <a:solidFill>
                      <a:srgbClr val="F1F7FB"/>
                    </a:solidFill>
                  </a:tcPr>
                </a:tc>
                <a:tc>
                  <a:txBody>
                    <a:bodyPr wrap="square"/>
                    <a:lstStyle/>
                    <a:p>
                      <a:pPr algn="l"/>
                      <a:r>
                        <a:rPr sz="2100" b="0">
                          <a:solidFill>
                            <a:srgbClr val="1F2A44"/>
                          </a:solidFill>
                          <a:latin typeface="Calibri"/>
                        </a:rPr>
                        <a:t>Next.js 16.2.4, React 19.2.4, TypeScript 5, Tailwind 4</a:t>
                      </a:r>
                    </a:p>
                  </a:txBody>
                  <a:tcPr marL="73152" marR="73152" marT="27432" marB="27432" anchor="ctr">
                    <a:solidFill>
                      <a:srgbClr val="F1F7FB"/>
                    </a:solidFill>
                  </a:tcPr>
                </a:tc>
                <a:tc>
                  <a:txBody>
                    <a:bodyPr wrap="square"/>
                    <a:lstStyle/>
                    <a:p>
                      <a:pPr algn="l"/>
                      <a:r>
                        <a:rPr sz="2100" b="0">
                          <a:solidFill>
                            <a:srgbClr val="1F2A44"/>
                          </a:solidFill>
                          <a:latin typeface="Calibri"/>
                        </a:rPr>
                        <a:t>fast pages on weak connections</a:t>
                      </a:r>
                    </a:p>
                  </a:txBody>
                  <a:tcPr marL="73152" marR="73152" marT="27432" marB="27432" anchor="ctr">
                    <a:solidFill>
                      <a:srgbClr val="F1F7FB"/>
                    </a:solidFill>
                  </a:tcPr>
                </a:tc>
              </a:tr>
              <a:tr h="822960">
                <a:tc>
                  <a:txBody>
                    <a:bodyPr wrap="square"/>
                    <a:lstStyle/>
                    <a:p>
                      <a:pPr algn="l"/>
                      <a:r>
                        <a:rPr sz="2100" b="1">
                          <a:solidFill>
                            <a:srgbClr val="1F2A44"/>
                          </a:solidFill>
                          <a:latin typeface="Calibri"/>
                        </a:rPr>
                        <a:t>Language layer</a:t>
                      </a:r>
                    </a:p>
                  </a:txBody>
                  <a:tcPr marL="73152" marR="73152" marT="27432" marB="27432" anchor="ctr">
                    <a:solidFill>
                      <a:srgbClr val="FFFFFF"/>
                    </a:solidFill>
                  </a:tcPr>
                </a:tc>
                <a:tc>
                  <a:txBody>
                    <a:bodyPr wrap="square"/>
                    <a:lstStyle/>
                    <a:p>
                      <a:pPr algn="l"/>
                      <a:r>
                        <a:rPr sz="2100" b="0">
                          <a:solidFill>
                            <a:srgbClr val="1F2A44"/>
                          </a:solidFill>
                          <a:latin typeface="Calibri"/>
                        </a:rPr>
                        <a:t>gpt-oss-120b writer, Qwen judge (Groq); Claude provider optional</a:t>
                      </a:r>
                    </a:p>
                  </a:txBody>
                  <a:tcPr marL="73152" marR="73152" marT="27432" marB="27432" anchor="ctr">
                    <a:solidFill>
                      <a:srgbClr val="FFFFFF"/>
                    </a:solidFill>
                  </a:tcPr>
                </a:tc>
                <a:tc>
                  <a:txBody>
                    <a:bodyPr wrap="square"/>
                    <a:lstStyle/>
                    <a:p>
                      <a:pPr algn="l"/>
                      <a:r>
                        <a:rPr sz="2100" b="0">
                          <a:solidFill>
                            <a:srgbClr val="1F2A44"/>
                          </a:solidFill>
                          <a:latin typeface="Calibri"/>
                        </a:rPr>
                        <a:t>two model families; deterministic fallback</a:t>
                      </a:r>
                    </a:p>
                  </a:txBody>
                  <a:tcPr marL="73152" marR="73152" marT="27432" marB="27432" anchor="ctr">
                    <a:solidFill>
                      <a:srgbClr val="FFFFFF"/>
                    </a:solidFill>
                  </a:tcPr>
                </a:tc>
              </a:tr>
              <a:tr h="822960">
                <a:tc>
                  <a:txBody>
                    <a:bodyPr wrap="square"/>
                    <a:lstStyle/>
                    <a:p>
                      <a:pPr algn="l"/>
                      <a:r>
                        <a:rPr sz="2100" b="1">
                          <a:solidFill>
                            <a:srgbClr val="1F2A44"/>
                          </a:solidFill>
                          <a:latin typeface="Calibri"/>
                        </a:rPr>
                        <a:t>Quality</a:t>
                      </a:r>
                    </a:p>
                  </a:txBody>
                  <a:tcPr marL="73152" marR="73152" marT="27432" marB="27432" anchor="ctr">
                    <a:solidFill>
                      <a:srgbClr val="F1F7FB"/>
                    </a:solidFill>
                  </a:tcPr>
                </a:tc>
                <a:tc>
                  <a:txBody>
                    <a:bodyPr wrap="square"/>
                    <a:lstStyle/>
                    <a:p>
                      <a:pPr algn="l"/>
                      <a:r>
                        <a:rPr sz="2100" b="0">
                          <a:solidFill>
                            <a:srgbClr val="1F2A44"/>
                          </a:solidFill>
                          <a:latin typeface="Calibri"/>
                        </a:rPr>
                        <a:t>pytest 9.0.3, vitest 3.2, GitHub Actions, Docker, Render file</a:t>
                      </a:r>
                    </a:p>
                  </a:txBody>
                  <a:tcPr marL="73152" marR="73152" marT="27432" marB="27432" anchor="ctr">
                    <a:solidFill>
                      <a:srgbClr val="F1F7FB"/>
                    </a:solidFill>
                  </a:tcPr>
                </a:tc>
                <a:tc>
                  <a:txBody>
                    <a:bodyPr wrap="square"/>
                    <a:lstStyle/>
                    <a:p>
                      <a:pPr algn="l"/>
                      <a:r>
                        <a:rPr sz="2100" b="0">
                          <a:solidFill>
                            <a:srgbClr val="1F2A44"/>
                          </a:solidFill>
                          <a:latin typeface="Calibri"/>
                        </a:rPr>
                        <a:t>automated checks on every push</a:t>
                      </a:r>
                    </a:p>
                  </a:txBody>
                  <a:tcPr marL="73152" marR="73152" marT="27432" marB="27432" anchor="ctr">
                    <a:solidFill>
                      <a:srgbClr val="F1F7FB"/>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Experimental Setup and Evaluation Metrics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8</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5" name="Content Guidance"/>
          <p:cNvSpPr txBox="1"/>
          <p:nvPr/>
        </p:nvSpPr>
        <p:spPr>
          <a:xfrm>
            <a:off x="1005840" y="1737360"/>
            <a:ext cx="18105120" cy="45720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Split: </a:t>
            </a:r>
            <a:r>
              <a:rPr lang="en-US" sz="2500" dirty="0">
                <a:solidFill>
                  <a:srgbClr val="1F2A44"/>
                </a:solidFill>
                <a:latin typeface="Calibri" panose="020F0502020204030204" charset="0"/>
                <a:cs typeface="Calibri" panose="020F0502020204030204" charset="0"/>
              </a:rPr>
              <a:t>nested walk-forward, 5 outer blocks (2024-H1 → 2026-10); inner validation by Optuna (20 neural / 25 boosting trials); K+2-day gap before every block.</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Setup: </a:t>
            </a:r>
            <a:r>
              <a:rPr lang="en-US" sz="2500" dirty="0">
                <a:solidFill>
                  <a:srgbClr val="1F2A44"/>
                </a:solidFill>
                <a:latin typeface="Calibri" panose="020F0502020204030204" charset="0"/>
                <a:cs typeface="Calibri" panose="020F0502020204030204" charset="0"/>
              </a:rPr>
              <a:t>Core i9-13900HX, 31.7 GB, RTX 4060; fixed seeds recorded in configuration; same tuning budget for every method.</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Metrics: </a:t>
            </a:r>
            <a:r>
              <a:rPr lang="en-US" sz="2500" dirty="0">
                <a:solidFill>
                  <a:srgbClr val="1F2A44"/>
                </a:solidFill>
                <a:latin typeface="Calibri" panose="020F0502020204030204" charset="0"/>
                <a:cs typeface="Calibri" panose="020F0502020204030204" charset="0"/>
              </a:rPr>
              <a:t>realised revenue, regret to hindsight oracle, share of oracle gap closed, silent-market trips, floor violation, forecast skill.</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Baselines (all retrained): </a:t>
            </a:r>
            <a:r>
              <a:rPr lang="en-US" sz="2500" dirty="0">
                <a:solidFill>
                  <a:srgbClr val="1F2A44"/>
                </a:solidFill>
                <a:latin typeface="Calibri" panose="020F0502020204030204" charset="0"/>
                <a:cs typeface="Calibri" panose="020F0502020204030204" charset="0"/>
              </a:rPr>
              <a:t>random walk, LightGBM/XGBoost on observed prices, nearest mandi, highest price yesterday, best 7-day mean, farm gate.</a:t>
            </a:r>
          </a:p>
        </p:txBody>
      </p:sp>
      <p:graphicFrame>
        <p:nvGraphicFramePr>
          <p:cNvPr id="10251" name="Table 10250"/>
          <p:cNvGraphicFramePr>
            <a:graphicFrameLocks noGrp="1"/>
          </p:cNvGraphicFramePr>
          <p:nvPr/>
        </p:nvGraphicFramePr>
        <p:xfrm>
          <a:off x="1005840" y="6400800"/>
          <a:ext cx="11338557" cy="3840480"/>
        </p:xfrm>
        <a:graphic>
          <a:graphicData uri="http://schemas.openxmlformats.org/drawingml/2006/table">
            <a:tbl>
              <a:tblPr firstRow="1" bandRow="1">
                <a:tableStyleId>{5C22544A-7EE6-4342-B048-85BDC9FD1C3A}</a:tableStyleId>
              </a:tblPr>
              <a:tblGrid>
                <a:gridCol w="1993592"/>
                <a:gridCol w="2242792"/>
                <a:gridCol w="1619794"/>
                <a:gridCol w="1619794"/>
                <a:gridCol w="1744393"/>
                <a:gridCol w="2118192"/>
              </a:tblGrid>
              <a:tr h="548640">
                <a:tc>
                  <a:txBody>
                    <a:bodyPr wrap="square"/>
                    <a:lstStyle/>
                    <a:p>
                      <a:pPr algn="ctr"/>
                      <a:r>
                        <a:rPr sz="2200" b="1">
                          <a:solidFill>
                            <a:srgbClr val="FFFFFF"/>
                          </a:solidFill>
                          <a:latin typeface="Calibri"/>
                        </a:rPr>
                        <a:t>Crop</a:t>
                      </a:r>
                    </a:p>
                  </a:txBody>
                  <a:tcPr marL="73152" marR="73152" marT="27432" marB="27432" anchor="ctr">
                    <a:solidFill>
                      <a:srgbClr val="1F4E79"/>
                    </a:solidFill>
                  </a:tcPr>
                </a:tc>
                <a:tc>
                  <a:txBody>
                    <a:bodyPr wrap="square"/>
                    <a:lstStyle/>
                    <a:p>
                      <a:pPr algn="ctr"/>
                      <a:r>
                        <a:rPr sz="2200" b="1">
                          <a:solidFill>
                            <a:srgbClr val="FFFFFF"/>
                          </a:solidFill>
                          <a:latin typeface="Calibri"/>
                        </a:rPr>
                        <a:t>Mandi-days</a:t>
                      </a:r>
                    </a:p>
                  </a:txBody>
                  <a:tcPr marL="73152" marR="73152" marT="27432" marB="27432" anchor="ctr">
                    <a:solidFill>
                      <a:srgbClr val="1F4E79"/>
                    </a:solidFill>
                  </a:tcPr>
                </a:tc>
                <a:tc>
                  <a:txBody>
                    <a:bodyPr wrap="square"/>
                    <a:lstStyle/>
                    <a:p>
                      <a:pPr algn="ctr"/>
                      <a:r>
                        <a:rPr sz="2200" b="1">
                          <a:solidFill>
                            <a:srgbClr val="FFFFFF"/>
                          </a:solidFill>
                          <a:latin typeface="Calibri"/>
                        </a:rPr>
                        <a:t>Mandis</a:t>
                      </a:r>
                    </a:p>
                  </a:txBody>
                  <a:tcPr marL="73152" marR="73152" marT="27432" marB="27432" anchor="ctr">
                    <a:solidFill>
                      <a:srgbClr val="1F4E79"/>
                    </a:solidFill>
                  </a:tcPr>
                </a:tc>
                <a:tc>
                  <a:txBody>
                    <a:bodyPr wrap="square"/>
                    <a:lstStyle/>
                    <a:p>
                      <a:pPr algn="ctr"/>
                      <a:r>
                        <a:rPr sz="2200" b="1">
                          <a:solidFill>
                            <a:srgbClr val="FFFFFF"/>
                          </a:solidFill>
                          <a:latin typeface="Calibri"/>
                        </a:rPr>
                        <a:t>Eligible</a:t>
                      </a:r>
                    </a:p>
                  </a:txBody>
                  <a:tcPr marL="73152" marR="73152" marT="27432" marB="27432" anchor="ctr">
                    <a:solidFill>
                      <a:srgbClr val="1F4E79"/>
                    </a:solidFill>
                  </a:tcPr>
                </a:tc>
                <a:tc>
                  <a:txBody>
                    <a:bodyPr wrap="square"/>
                    <a:lstStyle/>
                    <a:p>
                      <a:pPr algn="ctr"/>
                      <a:r>
                        <a:rPr sz="2200" b="1">
                          <a:solidFill>
                            <a:srgbClr val="FFFFFF"/>
                          </a:solidFill>
                          <a:latin typeface="Calibri"/>
                        </a:rPr>
                        <a:t>Test days</a:t>
                      </a:r>
                    </a:p>
                  </a:txBody>
                  <a:tcPr marL="73152" marR="73152" marT="27432" marB="27432" anchor="ctr">
                    <a:solidFill>
                      <a:srgbClr val="1F4E79"/>
                    </a:solidFill>
                  </a:tcPr>
                </a:tc>
                <a:tc>
                  <a:txBody>
                    <a:bodyPr wrap="square"/>
                    <a:lstStyle/>
                    <a:p>
                      <a:pPr algn="ctr"/>
                      <a:r>
                        <a:rPr sz="2200" b="1">
                          <a:solidFill>
                            <a:srgbClr val="FFFFFF"/>
                          </a:solidFill>
                          <a:latin typeface="Calibri"/>
                        </a:rPr>
                        <a:t>Studied</a:t>
                      </a:r>
                    </a:p>
                  </a:txBody>
                  <a:tcPr marL="73152" marR="73152" marT="27432" marB="27432" anchor="ctr">
                    <a:solidFill>
                      <a:srgbClr val="1F4E79"/>
                    </a:solidFill>
                  </a:tcPr>
                </a:tc>
              </a:tr>
              <a:tr h="548640">
                <a:tc>
                  <a:txBody>
                    <a:bodyPr wrap="square"/>
                    <a:lstStyle/>
                    <a:p>
                      <a:pPr algn="l"/>
                      <a:r>
                        <a:rPr sz="2200" b="0">
                          <a:solidFill>
                            <a:srgbClr val="1F2A44"/>
                          </a:solidFill>
                          <a:latin typeface="Calibri"/>
                        </a:rPr>
                        <a:t>Tomato</a:t>
                      </a:r>
                    </a:p>
                  </a:txBody>
                  <a:tcPr marL="73152" marR="73152" marT="27432" marB="27432" anchor="ctr">
                    <a:solidFill>
                      <a:srgbClr val="FFFFFF"/>
                    </a:solidFill>
                  </a:tcPr>
                </a:tc>
                <a:tc>
                  <a:txBody>
                    <a:bodyPr wrap="square"/>
                    <a:lstStyle/>
                    <a:p>
                      <a:pPr algn="ctr"/>
                      <a:r>
                        <a:rPr sz="2200" b="0">
                          <a:solidFill>
                            <a:srgbClr val="1F2A44"/>
                          </a:solidFill>
                          <a:latin typeface="Calibri"/>
                        </a:rPr>
                        <a:t>17,582</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ctr"/>
                      <a:r>
                        <a:rPr sz="2200" b="0">
                          <a:solidFill>
                            <a:srgbClr val="1F2A44"/>
                          </a:solidFill>
                          <a:latin typeface="Calibri"/>
                        </a:rPr>
                        <a:t>12</a:t>
                      </a:r>
                    </a:p>
                  </a:txBody>
                  <a:tcPr marL="73152" marR="73152" marT="27432" marB="27432" anchor="ctr">
                    <a:solidFill>
                      <a:srgbClr val="FFFFFF"/>
                    </a:solidFill>
                  </a:tcPr>
                </a:tc>
                <a:tc>
                  <a:txBody>
                    <a:bodyPr wrap="square"/>
                    <a:lstStyle/>
                    <a:p>
                      <a:pPr algn="ctr"/>
                      <a:r>
                        <a:rPr sz="2200" b="0">
                          <a:solidFill>
                            <a:srgbClr val="1F2A44"/>
                          </a:solidFill>
                          <a:latin typeface="Calibri"/>
                        </a:rPr>
                        <a:t>963</a:t>
                      </a:r>
                    </a:p>
                  </a:txBody>
                  <a:tcPr marL="73152" marR="73152" marT="27432" marB="27432" anchor="ctr">
                    <a:solidFill>
                      <a:srgbClr val="FFFFFF"/>
                    </a:solidFill>
                  </a:tcPr>
                </a:tc>
                <a:tc>
                  <a:txBody>
                    <a:bodyPr wrap="square"/>
                    <a:lstStyle/>
                    <a:p>
                      <a:pPr algn="ctr"/>
                      <a:r>
                        <a:rPr sz="2200" b="0">
                          <a:solidFill>
                            <a:srgbClr val="1F2A44"/>
                          </a:solidFill>
                          <a:latin typeface="Calibri"/>
                        </a:rPr>
                        <a:t>yes</a:t>
                      </a:r>
                    </a:p>
                  </a:txBody>
                  <a:tcPr marL="73152" marR="73152" marT="27432" marB="27432" anchor="ctr">
                    <a:solidFill>
                      <a:srgbClr val="FFFFFF"/>
                    </a:solidFill>
                  </a:tcPr>
                </a:tc>
              </a:tr>
              <a:tr h="548640">
                <a:tc>
                  <a:txBody>
                    <a:bodyPr wrap="square"/>
                    <a:lstStyle/>
                    <a:p>
                      <a:pPr algn="l"/>
                      <a:r>
                        <a:rPr sz="2200" b="0">
                          <a:solidFill>
                            <a:srgbClr val="1F2A44"/>
                          </a:solidFill>
                          <a:latin typeface="Calibri"/>
                        </a:rPr>
                        <a:t>Onion</a:t>
                      </a:r>
                    </a:p>
                  </a:txBody>
                  <a:tcPr marL="73152" marR="73152" marT="27432" marB="27432" anchor="ctr">
                    <a:solidFill>
                      <a:srgbClr val="F1F7FB"/>
                    </a:solidFill>
                  </a:tcPr>
                </a:tc>
                <a:tc>
                  <a:txBody>
                    <a:bodyPr wrap="square"/>
                    <a:lstStyle/>
                    <a:p>
                      <a:pPr algn="ctr"/>
                      <a:r>
                        <a:rPr sz="2200" b="0">
                          <a:solidFill>
                            <a:srgbClr val="1F2A44"/>
                          </a:solidFill>
                          <a:latin typeface="Calibri"/>
                        </a:rPr>
                        <a:t>5,343</a:t>
                      </a:r>
                    </a:p>
                  </a:txBody>
                  <a:tcPr marL="73152" marR="73152" marT="27432" marB="27432" anchor="ctr">
                    <a:solidFill>
                      <a:srgbClr val="F1F7FB"/>
                    </a:solidFill>
                  </a:tcPr>
                </a:tc>
                <a:tc>
                  <a:txBody>
                    <a:bodyPr wrap="square"/>
                    <a:lstStyle/>
                    <a:p>
                      <a:pPr algn="ctr"/>
                      <a:r>
                        <a:rPr sz="2200" b="0">
                          <a:solidFill>
                            <a:srgbClr val="1F2A44"/>
                          </a:solidFill>
                          <a:latin typeface="Calibri"/>
                        </a:rPr>
                        <a:t>11</a:t>
                      </a:r>
                    </a:p>
                  </a:txBody>
                  <a:tcPr marL="73152" marR="73152" marT="27432" marB="27432" anchor="ctr">
                    <a:solidFill>
                      <a:srgbClr val="F1F7FB"/>
                    </a:solidFill>
                  </a:tcPr>
                </a:tc>
                <a:tc>
                  <a:txBody>
                    <a:bodyPr wrap="square"/>
                    <a:lstStyle/>
                    <a:p>
                      <a:pPr algn="ctr"/>
                      <a:r>
                        <a:rPr sz="2200" b="0">
                          <a:solidFill>
                            <a:srgbClr val="1F2A44"/>
                          </a:solidFill>
                          <a:latin typeface="Calibri"/>
                        </a:rPr>
                        <a:t>4</a:t>
                      </a:r>
                    </a:p>
                  </a:txBody>
                  <a:tcPr marL="73152" marR="73152" marT="27432" marB="27432" anchor="ctr">
                    <a:solidFill>
                      <a:srgbClr val="F1F7FB"/>
                    </a:solidFill>
                  </a:tcPr>
                </a:tc>
                <a:tc>
                  <a:txBody>
                    <a:bodyPr wrap="square"/>
                    <a:lstStyle/>
                    <a:p>
                      <a:pPr algn="ctr"/>
                      <a:r>
                        <a:rPr sz="2200" b="0">
                          <a:solidFill>
                            <a:srgbClr val="1F2A44"/>
                          </a:solidFill>
                          <a:latin typeface="Calibri"/>
                        </a:rPr>
                        <a:t>511</a:t>
                      </a:r>
                    </a:p>
                  </a:txBody>
                  <a:tcPr marL="73152" marR="73152" marT="27432" marB="27432" anchor="ctr">
                    <a:solidFill>
                      <a:srgbClr val="F1F7FB"/>
                    </a:solidFill>
                  </a:tcPr>
                </a:tc>
                <a:tc>
                  <a:txBody>
                    <a:bodyPr wrap="square"/>
                    <a:lstStyle/>
                    <a:p>
                      <a:pPr algn="ctr"/>
                      <a:r>
                        <a:rPr sz="2200" b="0">
                          <a:solidFill>
                            <a:srgbClr val="1F2A44"/>
                          </a:solidFill>
                          <a:latin typeface="Calibri"/>
                        </a:rPr>
                        <a:t>yes</a:t>
                      </a:r>
                    </a:p>
                  </a:txBody>
                  <a:tcPr marL="73152" marR="73152" marT="27432" marB="27432" anchor="ctr">
                    <a:solidFill>
                      <a:srgbClr val="F1F7FB"/>
                    </a:solidFill>
                  </a:tcPr>
                </a:tc>
              </a:tr>
              <a:tr h="548640">
                <a:tc>
                  <a:txBody>
                    <a:bodyPr wrap="square"/>
                    <a:lstStyle/>
                    <a:p>
                      <a:pPr algn="l"/>
                      <a:r>
                        <a:rPr sz="2200" b="0">
                          <a:solidFill>
                            <a:srgbClr val="1F2A44"/>
                          </a:solidFill>
                          <a:latin typeface="Calibri"/>
                        </a:rPr>
                        <a:t>Potato</a:t>
                      </a:r>
                    </a:p>
                  </a:txBody>
                  <a:tcPr marL="73152" marR="73152" marT="27432" marB="27432" anchor="ctr">
                    <a:solidFill>
                      <a:srgbClr val="FFFFFF"/>
                    </a:solidFill>
                  </a:tcPr>
                </a:tc>
                <a:tc>
                  <a:txBody>
                    <a:bodyPr wrap="square"/>
                    <a:lstStyle/>
                    <a:p>
                      <a:pPr algn="ctr"/>
                      <a:r>
                        <a:rPr sz="2200" b="0">
                          <a:solidFill>
                            <a:srgbClr val="1F2A44"/>
                          </a:solidFill>
                          <a:latin typeface="Calibri"/>
                        </a:rPr>
                        <a:t>5,000</a:t>
                      </a:r>
                    </a:p>
                  </a:txBody>
                  <a:tcPr marL="73152" marR="73152" marT="27432" marB="27432" anchor="ctr">
                    <a:solidFill>
                      <a:srgbClr val="FFFFFF"/>
                    </a:solidFill>
                  </a:tcPr>
                </a:tc>
                <a:tc>
                  <a:txBody>
                    <a:bodyPr wrap="square"/>
                    <a:lstStyle/>
                    <a:p>
                      <a:pPr algn="ctr"/>
                      <a:r>
                        <a:rPr sz="2200" b="0">
                          <a:solidFill>
                            <a:srgbClr val="1F2A44"/>
                          </a:solidFill>
                          <a:latin typeface="Calibri"/>
                        </a:rPr>
                        <a:t>12</a:t>
                      </a:r>
                    </a:p>
                  </a:txBody>
                  <a:tcPr marL="73152" marR="73152" marT="27432" marB="27432" anchor="ctr">
                    <a:solidFill>
                      <a:srgbClr val="FFFFFF"/>
                    </a:solidFill>
                  </a:tcPr>
                </a:tc>
                <a:tc>
                  <a:txBody>
                    <a:bodyPr wrap="square"/>
                    <a:lstStyle/>
                    <a:p>
                      <a:pPr algn="ctr"/>
                      <a:r>
                        <a:rPr sz="2200" b="0">
                          <a:solidFill>
                            <a:srgbClr val="1F2A44"/>
                          </a:solidFill>
                          <a:latin typeface="Calibri"/>
                        </a:rPr>
                        <a:t>3</a:t>
                      </a:r>
                    </a:p>
                  </a:txBody>
                  <a:tcPr marL="73152" marR="73152" marT="27432" marB="27432" anchor="ctr">
                    <a:solidFill>
                      <a:srgbClr val="FFFFFF"/>
                    </a:solidFill>
                  </a:tcPr>
                </a:tc>
                <a:tc>
                  <a:txBody>
                    <a:bodyPr wrap="square"/>
                    <a:lstStyle/>
                    <a:p>
                      <a:pPr algn="ctr"/>
                      <a:r>
                        <a:rPr sz="2200" b="0">
                          <a:solidFill>
                            <a:srgbClr val="1F2A44"/>
                          </a:solidFill>
                          <a:latin typeface="Calibri"/>
                        </a:rPr>
                        <a:t>569</a:t>
                      </a:r>
                    </a:p>
                  </a:txBody>
                  <a:tcPr marL="73152" marR="73152" marT="27432" marB="27432" anchor="ctr">
                    <a:solidFill>
                      <a:srgbClr val="FFFFFF"/>
                    </a:solidFill>
                  </a:tcPr>
                </a:tc>
                <a:tc>
                  <a:txBody>
                    <a:bodyPr wrap="square"/>
                    <a:lstStyle/>
                    <a:p>
                      <a:pPr algn="ctr"/>
                      <a:r>
                        <a:rPr sz="2200" b="0">
                          <a:solidFill>
                            <a:srgbClr val="1F2A44"/>
                          </a:solidFill>
                          <a:latin typeface="Calibri"/>
                        </a:rPr>
                        <a:t>yes</a:t>
                      </a:r>
                    </a:p>
                  </a:txBody>
                  <a:tcPr marL="73152" marR="73152" marT="27432" marB="27432" anchor="ctr">
                    <a:solidFill>
                      <a:srgbClr val="FFFFFF"/>
                    </a:solidFill>
                  </a:tcPr>
                </a:tc>
              </a:tr>
              <a:tr h="548640">
                <a:tc>
                  <a:txBody>
                    <a:bodyPr wrap="square"/>
                    <a:lstStyle/>
                    <a:p>
                      <a:pPr algn="l"/>
                      <a:r>
                        <a:rPr sz="2200" b="0">
                          <a:solidFill>
                            <a:srgbClr val="1F2A44"/>
                          </a:solidFill>
                          <a:latin typeface="Calibri"/>
                        </a:rPr>
                        <a:t>Ginger</a:t>
                      </a:r>
                    </a:p>
                  </a:txBody>
                  <a:tcPr marL="73152" marR="73152" marT="27432" marB="27432" anchor="ctr">
                    <a:solidFill>
                      <a:srgbClr val="F1F7FB"/>
                    </a:solidFill>
                  </a:tcPr>
                </a:tc>
                <a:tc>
                  <a:txBody>
                    <a:bodyPr wrap="square"/>
                    <a:lstStyle/>
                    <a:p>
                      <a:pPr algn="ctr"/>
                      <a:r>
                        <a:rPr sz="2200" b="0">
                          <a:solidFill>
                            <a:srgbClr val="1F2A44"/>
                          </a:solidFill>
                          <a:latin typeface="Calibri"/>
                        </a:rPr>
                        <a:t>6,423</a:t>
                      </a:r>
                    </a:p>
                  </a:txBody>
                  <a:tcPr marL="73152" marR="73152" marT="27432" marB="27432" anchor="ctr">
                    <a:solidFill>
                      <a:srgbClr val="F1F7FB"/>
                    </a:solidFill>
                  </a:tcPr>
                </a:tc>
                <a:tc>
                  <a:txBody>
                    <a:bodyPr wrap="square"/>
                    <a:lstStyle/>
                    <a:p>
                      <a:pPr algn="ctr"/>
                      <a:r>
                        <a:rPr sz="2200" b="0">
                          <a:solidFill>
                            <a:srgbClr val="1F2A44"/>
                          </a:solidFill>
                          <a:latin typeface="Calibri"/>
                        </a:rPr>
                        <a:t>10</a:t>
                      </a:r>
                    </a:p>
                  </a:txBody>
                  <a:tcPr marL="73152" marR="73152" marT="27432" marB="27432" anchor="ctr">
                    <a:solidFill>
                      <a:srgbClr val="F1F7FB"/>
                    </a:solidFill>
                  </a:tcPr>
                </a:tc>
                <a:tc>
                  <a:txBody>
                    <a:bodyPr wrap="square"/>
                    <a:lstStyle/>
                    <a:p>
                      <a:pPr algn="ctr"/>
                      <a:r>
                        <a:rPr sz="2200" b="0">
                          <a:solidFill>
                            <a:srgbClr val="1F2A44"/>
                          </a:solidFill>
                          <a:latin typeface="Calibri"/>
                        </a:rPr>
                        <a:t>3</a:t>
                      </a:r>
                    </a:p>
                  </a:txBody>
                  <a:tcPr marL="73152" marR="73152" marT="27432" marB="27432" anchor="ctr">
                    <a:solidFill>
                      <a:srgbClr val="F1F7FB"/>
                    </a:solidFill>
                  </a:tcPr>
                </a:tc>
                <a:tc>
                  <a:txBody>
                    <a:bodyPr wrap="square"/>
                    <a:lstStyle/>
                    <a:p>
                      <a:pPr algn="ctr"/>
                      <a:r>
                        <a:rPr sz="2200" b="0">
                          <a:solidFill>
                            <a:srgbClr val="1F2A44"/>
                          </a:solidFill>
                          <a:latin typeface="Calibri"/>
                        </a:rPr>
                        <a:t>776</a:t>
                      </a:r>
                    </a:p>
                  </a:txBody>
                  <a:tcPr marL="73152" marR="73152" marT="27432" marB="27432" anchor="ctr">
                    <a:solidFill>
                      <a:srgbClr val="F1F7FB"/>
                    </a:solidFill>
                  </a:tcPr>
                </a:tc>
                <a:tc>
                  <a:txBody>
                    <a:bodyPr wrap="square"/>
                    <a:lstStyle/>
                    <a:p>
                      <a:pPr algn="ctr"/>
                      <a:r>
                        <a:rPr sz="2200" b="0">
                          <a:solidFill>
                            <a:srgbClr val="1F2A44"/>
                          </a:solidFill>
                          <a:latin typeface="Calibri"/>
                        </a:rPr>
                        <a:t>yes</a:t>
                      </a:r>
                    </a:p>
                  </a:txBody>
                  <a:tcPr marL="73152" marR="73152" marT="27432" marB="27432" anchor="ctr">
                    <a:solidFill>
                      <a:srgbClr val="F1F7FB"/>
                    </a:solidFill>
                  </a:tcPr>
                </a:tc>
              </a:tr>
              <a:tr h="548640">
                <a:tc>
                  <a:txBody>
                    <a:bodyPr wrap="square"/>
                    <a:lstStyle/>
                    <a:p>
                      <a:pPr algn="l"/>
                      <a:r>
                        <a:rPr sz="2200" b="0">
                          <a:solidFill>
                            <a:srgbClr val="1F2A44"/>
                          </a:solidFill>
                          <a:latin typeface="Calibri"/>
                        </a:rPr>
                        <a:t>Garlic</a:t>
                      </a:r>
                    </a:p>
                  </a:txBody>
                  <a:tcPr marL="73152" marR="73152" marT="27432" marB="27432" anchor="ctr">
                    <a:solidFill>
                      <a:srgbClr val="FFFFFF"/>
                    </a:solidFill>
                  </a:tcPr>
                </a:tc>
                <a:tc>
                  <a:txBody>
                    <a:bodyPr wrap="square"/>
                    <a:lstStyle/>
                    <a:p>
                      <a:pPr algn="ctr"/>
                      <a:r>
                        <a:rPr sz="2200" b="0">
                          <a:solidFill>
                            <a:srgbClr val="1F2A44"/>
                          </a:solidFill>
                          <a:latin typeface="Calibri"/>
                        </a:rPr>
                        <a:t>2,473</a:t>
                      </a:r>
                    </a:p>
                  </a:txBody>
                  <a:tcPr marL="73152" marR="73152" marT="27432" marB="27432" anchor="ctr">
                    <a:solidFill>
                      <a:srgbClr val="FFFFFF"/>
                    </a:solidFill>
                  </a:tcPr>
                </a:tc>
                <a:tc>
                  <a:txBody>
                    <a:bodyPr wrap="square"/>
                    <a:lstStyle/>
                    <a:p>
                      <a:pPr algn="ctr"/>
                      <a:r>
                        <a:rPr sz="2200" b="0">
                          <a:solidFill>
                            <a:srgbClr val="1F2A44"/>
                          </a:solidFill>
                          <a:latin typeface="Calibri"/>
                        </a:rPr>
                        <a:t>7</a:t>
                      </a:r>
                    </a:p>
                  </a:txBody>
                  <a:tcPr marL="73152" marR="73152" marT="27432" marB="27432" anchor="ctr">
                    <a:solidFill>
                      <a:srgbClr val="FFFFFF"/>
                    </a:solidFill>
                  </a:tcPr>
                </a:tc>
                <a:tc>
                  <a:txBody>
                    <a:bodyPr wrap="square"/>
                    <a:lstStyle/>
                    <a:p>
                      <a:pPr algn="ctr"/>
                      <a:r>
                        <a:rPr sz="2200" b="0">
                          <a:solidFill>
                            <a:srgbClr val="1F2A44"/>
                          </a:solidFill>
                          <a:latin typeface="Calibri"/>
                        </a:rPr>
                        <a:t>1</a:t>
                      </a:r>
                    </a:p>
                  </a:txBody>
                  <a:tcPr marL="73152" marR="73152" marT="27432" marB="27432" anchor="ctr">
                    <a:solidFill>
                      <a:srgbClr val="FFFFFF"/>
                    </a:solidFill>
                  </a:tcPr>
                </a:tc>
                <a:tc>
                  <a:txBody>
                    <a:bodyPr wrap="square"/>
                    <a:lstStyle/>
                    <a:p>
                      <a:pPr algn="ctr"/>
                      <a:r>
                        <a:rPr sz="2200" b="0">
                          <a:solidFill>
                            <a:srgbClr val="1F2A44"/>
                          </a:solidFill>
                          <a:latin typeface="Calibri"/>
                        </a:rPr>
                        <a:t>—</a:t>
                      </a:r>
                    </a:p>
                  </a:txBody>
                  <a:tcPr marL="73152" marR="73152" marT="27432" marB="27432" anchor="ctr">
                    <a:solidFill>
                      <a:srgbClr val="FFFFFF"/>
                    </a:solidFill>
                  </a:tcPr>
                </a:tc>
                <a:tc>
                  <a:txBody>
                    <a:bodyPr wrap="square"/>
                    <a:lstStyle/>
                    <a:p>
                      <a:pPr algn="ctr"/>
                      <a:r>
                        <a:rPr sz="2200" b="0">
                          <a:solidFill>
                            <a:srgbClr val="C0392B"/>
                          </a:solidFill>
                          <a:latin typeface="Calibri"/>
                        </a:rPr>
                        <a:t>refused</a:t>
                      </a:r>
                    </a:p>
                  </a:txBody>
                  <a:tcPr marL="73152" marR="73152" marT="27432" marB="27432" anchor="ctr">
                    <a:solidFill>
                      <a:srgbClr val="FFFFFF"/>
                    </a:solidFill>
                  </a:tcPr>
                </a:tc>
              </a:tr>
              <a:tr h="548640">
                <a:tc>
                  <a:txBody>
                    <a:bodyPr wrap="square"/>
                    <a:lstStyle/>
                    <a:p>
                      <a:pPr algn="l"/>
                      <a:r>
                        <a:rPr sz="2200" b="1">
                          <a:solidFill>
                            <a:srgbClr val="1F2A44"/>
                          </a:solidFill>
                          <a:latin typeface="Calibri"/>
                        </a:rPr>
                        <a:t>Total</a:t>
                      </a:r>
                    </a:p>
                  </a:txBody>
                  <a:tcPr marL="73152" marR="73152" marT="27432" marB="27432" anchor="ctr">
                    <a:solidFill>
                      <a:srgbClr val="DCEBF5"/>
                    </a:solidFill>
                  </a:tcPr>
                </a:tc>
                <a:tc>
                  <a:txBody>
                    <a:bodyPr wrap="square"/>
                    <a:lstStyle/>
                    <a:p>
                      <a:pPr algn="ctr"/>
                      <a:r>
                        <a:rPr sz="2200" b="1">
                          <a:solidFill>
                            <a:srgbClr val="1F2A44"/>
                          </a:solidFill>
                          <a:latin typeface="Calibri"/>
                        </a:rPr>
                        <a:t>36,821</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c>
                  <a:txBody>
                    <a:bodyPr wrap="square"/>
                    <a:lstStyle/>
                    <a:p>
                      <a:pPr algn="ctr"/>
                      <a:r>
                        <a:rPr sz="2200" b="1">
                          <a:solidFill>
                            <a:srgbClr val="1F2A44"/>
                          </a:solidFill>
                          <a:latin typeface="Calibri"/>
                        </a:rPr>
                        <a:t/>
                      </a:r>
                    </a:p>
                  </a:txBody>
                  <a:tcPr marL="73152" marR="73152" marT="27432" marB="27432" anchor="ctr">
                    <a:solidFill>
                      <a:srgbClr val="DCEBF5"/>
                    </a:solidFill>
                  </a:tcPr>
                </a:tc>
              </a:tr>
            </a:tbl>
          </a:graphicData>
        </a:graphic>
      </p:graphicFrame>
      <p:sp>
        <p:nvSpPr>
          <p:cNvPr id="10252" name="Rectangle 10251"/>
          <p:cNvSpPr/>
          <p:nvPr/>
        </p:nvSpPr>
        <p:spPr>
          <a:xfrm>
            <a:off x="12801600" y="6400800"/>
            <a:ext cx="6309360" cy="39319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200" b="1" i="0">
                <a:solidFill>
                  <a:srgbClr val="1F2A44"/>
                </a:solidFill>
                <a:latin typeface="Calibri"/>
              </a:rPr>
              <a:t>Inference: </a:t>
            </a:r>
            <a:r>
              <a:rPr sz="2200" b="0" i="0">
                <a:solidFill>
                  <a:srgbClr val="1F2A44"/>
                </a:solidFill>
                <a:latin typeface="Calibri"/>
              </a:rPr>
              <a:t>moving-block bootstrap (block 14); Newey–West Diebold–Mariano; Holm across all pre-specified comparisons; model confidence set [24]–[27].</a:t>
            </a:r>
          </a:p>
          <a:p>
            <a:pPr algn="l"/>
            <a:r>
              <a:rPr sz="2200" b="1" i="0">
                <a:solidFill>
                  <a:srgbClr val="1F2A44"/>
                </a:solidFill>
                <a:latin typeface="Calibri"/>
              </a:rPr>
              <a:t>Pre-specified: </a:t>
            </a:r>
            <a:r>
              <a:rPr sz="2200" b="0" i="0">
                <a:solidFill>
                  <a:srgbClr val="1F2A44"/>
                </a:solidFill>
                <a:latin typeface="Calibri"/>
              </a:rPr>
              <a:t>model ladder, 12 paired comparisons, silence tests and leakage protocol were fixed before tuned results were seen.</a:t>
            </a:r>
          </a:p>
        </p:txBody>
      </p:sp>
    </p:spTree>
    <p:extLst>
      <p:ext uri="{BB962C8B-B14F-4D97-AF65-F5344CB8AC3E}">
        <p14:creationId xmlns:p14="http://schemas.microsoft.com/office/powerpoint/2010/main" val="176901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Results and Validation: Decision Quality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6" name="Content Guidance"/>
          <p:cNvSpPr txBox="1"/>
          <p:nvPr/>
        </p:nvSpPr>
        <p:spPr>
          <a:xfrm>
            <a:off x="1005840" y="1737360"/>
            <a:ext cx="18105120" cy="18288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Result: </a:t>
            </a:r>
            <a:r>
              <a:rPr lang="en-US" sz="2500" dirty="0">
                <a:solidFill>
                  <a:srgbClr val="1F2A44"/>
                </a:solidFill>
                <a:latin typeface="Calibri" panose="020F0502020204030204" charset="0"/>
                <a:cs typeface="Calibri" panose="020F0502020204030204" charset="0"/>
              </a:rPr>
              <a:t>models trained on realised revenue earn the most in every crop; the oracle bounds what is possible.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Why: </a:t>
            </a:r>
            <a:r>
              <a:rPr lang="en-US" sz="2500" dirty="0">
                <a:solidFill>
                  <a:srgbClr val="1F2A44"/>
                </a:solidFill>
                <a:latin typeface="Calibri" panose="020F0502020204030204" charset="0"/>
                <a:cs typeface="Calibri" panose="020F0502020204030204" charset="0"/>
              </a:rPr>
              <a:t>observed-price models send 12–43% of trips to a silent market; realised-label models cut that to 5–21%.</a:t>
            </a:r>
          </a:p>
        </p:txBody>
      </p:sp>
      <p:graphicFrame>
        <p:nvGraphicFramePr>
          <p:cNvPr id="10251" name="Chart 10250"/>
          <p:cNvGraphicFramePr>
            <a:graphicFrameLocks noGrp="1"/>
          </p:cNvGraphicFramePr>
          <p:nvPr/>
        </p:nvGraphicFramePr>
        <p:xfrm>
          <a:off x="1005840" y="3200400"/>
          <a:ext cx="12984480" cy="6949440"/>
        </p:xfrm>
        <a:graphic>
          <a:graphicData uri="http://schemas.openxmlformats.org/drawingml/2006/chart">
            <c:chart xmlns:c="http://schemas.openxmlformats.org/drawingml/2006/chart" r:id="rId3"/>
          </a:graphicData>
        </a:graphic>
      </p:graphicFrame>
      <p:sp>
        <p:nvSpPr>
          <p:cNvPr id="10252" name="Rectangle 10251"/>
          <p:cNvSpPr/>
          <p:nvPr/>
        </p:nvSpPr>
        <p:spPr>
          <a:xfrm>
            <a:off x="14447520" y="3200400"/>
            <a:ext cx="4663440" cy="110642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Rs 2,156</a:t>
            </a:r>
          </a:p>
        </p:txBody>
      </p:sp>
      <p:sp>
        <p:nvSpPr>
          <p:cNvPr id="10253" name="Rectangle 10252"/>
          <p:cNvSpPr/>
          <p:nvPr/>
        </p:nvSpPr>
        <p:spPr>
          <a:xfrm>
            <a:off x="14447520" y="4306824"/>
            <a:ext cx="4663440" cy="90525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tomato, realised-label model (oracle 2,570)</a:t>
            </a:r>
          </a:p>
        </p:txBody>
      </p:sp>
      <p:sp>
        <p:nvSpPr>
          <p:cNvPr id="10254" name="Rectangle 10253"/>
          <p:cNvSpPr/>
          <p:nvPr/>
        </p:nvSpPr>
        <p:spPr>
          <a:xfrm>
            <a:off x="14447520" y="5486400"/>
            <a:ext cx="4663440" cy="110642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+Rs 556</a:t>
            </a:r>
          </a:p>
        </p:txBody>
      </p:sp>
      <p:sp>
        <p:nvSpPr>
          <p:cNvPr id="10255" name="Rectangle 10254"/>
          <p:cNvSpPr/>
          <p:nvPr/>
        </p:nvSpPr>
        <p:spPr>
          <a:xfrm>
            <a:off x="14447520" y="6592824"/>
            <a:ext cx="4663440" cy="90525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over nearest mandi, tomato (1,600 → 2,156)</a:t>
            </a:r>
          </a:p>
        </p:txBody>
      </p:sp>
      <p:sp>
        <p:nvSpPr>
          <p:cNvPr id="10256" name="Rectangle 10255"/>
          <p:cNvSpPr/>
          <p:nvPr/>
        </p:nvSpPr>
        <p:spPr>
          <a:xfrm>
            <a:off x="14447520" y="7772400"/>
            <a:ext cx="4663440" cy="130759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D9822B"/>
                </a:solidFill>
                <a:latin typeface="Calibri"/>
              </a:rPr>
              <a:t>Holm p &lt; 0.002</a:t>
            </a:r>
          </a:p>
        </p:txBody>
      </p:sp>
      <p:sp>
        <p:nvSpPr>
          <p:cNvPr id="10257" name="Rectangle 10256"/>
          <p:cNvSpPr/>
          <p:nvPr/>
        </p:nvSpPr>
        <p:spPr>
          <a:xfrm>
            <a:off x="14447520" y="9079992"/>
            <a:ext cx="4663440" cy="106984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labels effect in all four crops</a:t>
            </a:r>
          </a:p>
        </p:txBody>
      </p:sp>
    </p:spTree>
    <p:extLst>
      <p:ext uri="{BB962C8B-B14F-4D97-AF65-F5344CB8AC3E}">
        <p14:creationId xmlns:p14="http://schemas.microsoft.com/office/powerpoint/2010/main" val="176901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Comparative Benchmarking</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10</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7" name="Content Guidance"/>
          <p:cNvSpPr txBox="1"/>
          <p:nvPr/>
        </p:nvSpPr>
        <p:spPr>
          <a:xfrm>
            <a:off x="1005840" y="1737360"/>
            <a:ext cx="18105120" cy="34747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Same split, same metric, all retrained: </a:t>
            </a:r>
            <a:r>
              <a:rPr lang="en-US" sz="2500" dirty="0">
                <a:solidFill>
                  <a:srgbClr val="1F2A44"/>
                </a:solidFill>
                <a:latin typeface="Calibri" panose="020F0502020204030204" charset="0"/>
                <a:cs typeface="Calibri" panose="020F0502020204030204" charset="0"/>
              </a:rPr>
              <a:t>no published study scores mandi choice by regret on real reporting-gap data, so baselines are the heuristics farmers use and the standard predict-then-optimise models.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Where we win: </a:t>
            </a:r>
            <a:r>
              <a:rPr lang="en-US" sz="2500" dirty="0">
                <a:solidFill>
                  <a:srgbClr val="1F2A44"/>
                </a:solidFill>
                <a:latin typeface="Calibri" panose="020F0502020204030204" charset="0"/>
                <a:cs typeface="Calibri" panose="020F0502020204030204" charset="0"/>
              </a:rPr>
              <a:t>all four crops vs every heuristic and every observed-price model. Where we do not:</a:t>
            </a:r>
          </a:p>
          <a:p>
            <a:pPr marL="514350" indent="-514350">
              <a:lnSpc>
                <a:spcPct val="115000"/>
              </a:lnSpc>
              <a:spcAft>
                <a:spcPts val="600"/>
              </a:spcAft>
              <a:buFont typeface="Arial" panose="020B0604020202020204" pitchFamily="34" charset="0"/>
              <a:buChar char="•"/>
            </a:pPr>
            <a:r>
              <a:rPr lang="en-US" sz="2500" dirty="0">
                <a:solidFill>
                  <a:srgbClr val="1F2A44"/>
                </a:solidFill>
                <a:latin typeface="Calibri" panose="020F0502020204030204" charset="0"/>
                <a:cs typeface="Calibri" panose="020F0502020204030204" charset="0"/>
              </a:rPr>
              <a:t>potato back-test gain is not distinguishable from the best heuristic, and SPO+ ties the squared-error loss.</a:t>
            </a:r>
          </a:p>
        </p:txBody>
      </p:sp>
      <p:graphicFrame>
        <p:nvGraphicFramePr>
          <p:cNvPr id="10251" name="Table 10250"/>
          <p:cNvGraphicFramePr>
            <a:graphicFrameLocks noGrp="1"/>
          </p:cNvGraphicFramePr>
          <p:nvPr/>
        </p:nvGraphicFramePr>
        <p:xfrm>
          <a:off x="1005840" y="5394960"/>
          <a:ext cx="18105118" cy="4498848"/>
        </p:xfrm>
        <a:graphic>
          <a:graphicData uri="http://schemas.openxmlformats.org/drawingml/2006/table">
            <a:tbl>
              <a:tblPr firstRow="1" bandRow="1">
                <a:tableStyleId>{5C22544A-7EE6-4342-B048-85BDC9FD1C3A}</a:tableStyleId>
              </a:tblPr>
              <a:tblGrid>
                <a:gridCol w="6167678"/>
                <a:gridCol w="2984360"/>
                <a:gridCol w="2984360"/>
                <a:gridCol w="2984360"/>
                <a:gridCol w="2984360"/>
              </a:tblGrid>
              <a:tr h="749808">
                <a:tc>
                  <a:txBody>
                    <a:bodyPr wrap="square"/>
                    <a:lstStyle/>
                    <a:p>
                      <a:pPr algn="ctr"/>
                      <a:r>
                        <a:rPr sz="2100" b="1">
                          <a:solidFill>
                            <a:srgbClr val="FFFFFF"/>
                          </a:solidFill>
                          <a:latin typeface="Calibri"/>
                        </a:rPr>
                        <a:t>Gap closed (nearest → oracle) / silent-market trips</a:t>
                      </a:r>
                    </a:p>
                  </a:txBody>
                  <a:tcPr marL="73152" marR="73152" marT="27432" marB="27432" anchor="ctr">
                    <a:solidFill>
                      <a:srgbClr val="1F4E79"/>
                    </a:solidFill>
                  </a:tcPr>
                </a:tc>
                <a:tc>
                  <a:txBody>
                    <a:bodyPr wrap="square"/>
                    <a:lstStyle/>
                    <a:p>
                      <a:pPr algn="ctr"/>
                      <a:r>
                        <a:rPr sz="2100" b="1">
                          <a:solidFill>
                            <a:srgbClr val="FFFFFF"/>
                          </a:solidFill>
                          <a:latin typeface="Calibri"/>
                        </a:rPr>
                        <a:t>Tomato</a:t>
                      </a:r>
                    </a:p>
                  </a:txBody>
                  <a:tcPr marL="73152" marR="73152" marT="27432" marB="27432" anchor="ctr">
                    <a:solidFill>
                      <a:srgbClr val="1F4E79"/>
                    </a:solidFill>
                  </a:tcPr>
                </a:tc>
                <a:tc>
                  <a:txBody>
                    <a:bodyPr wrap="square"/>
                    <a:lstStyle/>
                    <a:p>
                      <a:pPr algn="ctr"/>
                      <a:r>
                        <a:rPr sz="2100" b="1">
                          <a:solidFill>
                            <a:srgbClr val="FFFFFF"/>
                          </a:solidFill>
                          <a:latin typeface="Calibri"/>
                        </a:rPr>
                        <a:t>Onion</a:t>
                      </a:r>
                    </a:p>
                  </a:txBody>
                  <a:tcPr marL="73152" marR="73152" marT="27432" marB="27432" anchor="ctr">
                    <a:solidFill>
                      <a:srgbClr val="1F4E79"/>
                    </a:solidFill>
                  </a:tcPr>
                </a:tc>
                <a:tc>
                  <a:txBody>
                    <a:bodyPr wrap="square"/>
                    <a:lstStyle/>
                    <a:p>
                      <a:pPr algn="ctr"/>
                      <a:r>
                        <a:rPr sz="2100" b="1">
                          <a:solidFill>
                            <a:srgbClr val="FFFFFF"/>
                          </a:solidFill>
                          <a:latin typeface="Calibri"/>
                        </a:rPr>
                        <a:t>Potato</a:t>
                      </a:r>
                    </a:p>
                  </a:txBody>
                  <a:tcPr marL="73152" marR="73152" marT="27432" marB="27432" anchor="ctr">
                    <a:solidFill>
                      <a:srgbClr val="1F4E79"/>
                    </a:solidFill>
                  </a:tcPr>
                </a:tc>
                <a:tc>
                  <a:txBody>
                    <a:bodyPr wrap="square"/>
                    <a:lstStyle/>
                    <a:p>
                      <a:pPr algn="ctr"/>
                      <a:r>
                        <a:rPr sz="2100" b="1">
                          <a:solidFill>
                            <a:srgbClr val="FFFFFF"/>
                          </a:solidFill>
                          <a:latin typeface="Calibri"/>
                        </a:rPr>
                        <a:t>Ginger</a:t>
                      </a:r>
                    </a:p>
                  </a:txBody>
                  <a:tcPr marL="73152" marR="73152" marT="27432" marB="27432" anchor="ctr">
                    <a:solidFill>
                      <a:srgbClr val="1F4E79"/>
                    </a:solidFill>
                  </a:tcPr>
                </a:tc>
              </a:tr>
              <a:tr h="749808">
                <a:tc>
                  <a:txBody>
                    <a:bodyPr wrap="square"/>
                    <a:lstStyle/>
                    <a:p>
                      <a:pPr algn="l"/>
                      <a:r>
                        <a:rPr sz="2300" b="0">
                          <a:solidFill>
                            <a:srgbClr val="1F2A44"/>
                          </a:solidFill>
                          <a:latin typeface="Calibri"/>
                        </a:rPr>
                        <a:t>Nearest mandi, sell today</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34%</a:t>
                      </a:r>
                    </a:p>
                  </a:txBody>
                  <a:tcPr marL="73152" marR="73152" marT="27432" marB="27432" anchor="ctr">
                    <a:solidFill>
                      <a:srgbClr val="FFFFFF"/>
                    </a:solidFill>
                  </a:tcPr>
                </a:tc>
                <a:tc>
                  <a:txBody>
                    <a:bodyPr wrap="square"/>
                    <a:lstStyle/>
                    <a:p>
                      <a:pPr algn="ctr"/>
                      <a:r>
                        <a:rPr sz="2300" b="0">
                          <a:solidFill>
                            <a:srgbClr val="1F2A44"/>
                          </a:solidFill>
                          <a:latin typeface="Calibri"/>
                        </a:rPr>
                        <a:t>0.00 / 24%</a:t>
                      </a:r>
                    </a:p>
                  </a:txBody>
                  <a:tcPr marL="73152" marR="73152" marT="27432" marB="27432" anchor="ctr">
                    <a:solidFill>
                      <a:srgbClr val="FFFFFF"/>
                    </a:solidFill>
                  </a:tcPr>
                </a:tc>
              </a:tr>
              <a:tr h="749808">
                <a:tc>
                  <a:txBody>
                    <a:bodyPr wrap="square"/>
                    <a:lstStyle/>
                    <a:p>
                      <a:pPr algn="l"/>
                      <a:r>
                        <a:rPr sz="2300" b="0">
                          <a:solidFill>
                            <a:srgbClr val="1F2A44"/>
                          </a:solidFill>
                          <a:latin typeface="Calibri"/>
                        </a:rPr>
                        <a:t>Highest price yesterday</a:t>
                      </a:r>
                    </a:p>
                  </a:txBody>
                  <a:tcPr marL="73152" marR="73152" marT="27432" marB="27432" anchor="ctr">
                    <a:solidFill>
                      <a:srgbClr val="F1F7FB"/>
                    </a:solidFill>
                  </a:tcPr>
                </a:tc>
                <a:tc>
                  <a:txBody>
                    <a:bodyPr wrap="square"/>
                    <a:lstStyle/>
                    <a:p>
                      <a:pPr algn="ctr"/>
                      <a:r>
                        <a:rPr sz="2300" b="0">
                          <a:solidFill>
                            <a:srgbClr val="1F2A44"/>
                          </a:solidFill>
                          <a:latin typeface="Calibri"/>
                        </a:rPr>
                        <a:t>0.43 / 28%</a:t>
                      </a:r>
                    </a:p>
                  </a:txBody>
                  <a:tcPr marL="73152" marR="73152" marT="27432" marB="27432" anchor="ctr">
                    <a:solidFill>
                      <a:srgbClr val="F1F7FB"/>
                    </a:solidFill>
                  </a:tcPr>
                </a:tc>
                <a:tc>
                  <a:txBody>
                    <a:bodyPr wrap="square"/>
                    <a:lstStyle/>
                    <a:p>
                      <a:pPr algn="ctr"/>
                      <a:r>
                        <a:rPr sz="2300" b="0">
                          <a:solidFill>
                            <a:srgbClr val="1F2A44"/>
                          </a:solidFill>
                          <a:latin typeface="Calibri"/>
                        </a:rPr>
                        <a:t>0.26 / 43%</a:t>
                      </a:r>
                    </a:p>
                  </a:txBody>
                  <a:tcPr marL="73152" marR="73152" marT="27432" marB="27432" anchor="ctr">
                    <a:solidFill>
                      <a:srgbClr val="F1F7FB"/>
                    </a:solidFill>
                  </a:tcPr>
                </a:tc>
                <a:tc>
                  <a:txBody>
                    <a:bodyPr wrap="square"/>
                    <a:lstStyle/>
                    <a:p>
                      <a:pPr algn="ctr"/>
                      <a:r>
                        <a:rPr sz="2300" b="0">
                          <a:solidFill>
                            <a:srgbClr val="1F2A44"/>
                          </a:solidFill>
                          <a:latin typeface="Calibri"/>
                        </a:rPr>
                        <a:t>0.17 / 35%</a:t>
                      </a:r>
                    </a:p>
                  </a:txBody>
                  <a:tcPr marL="73152" marR="73152" marT="27432" marB="27432" anchor="ctr">
                    <a:solidFill>
                      <a:srgbClr val="F1F7FB"/>
                    </a:solidFill>
                  </a:tcPr>
                </a:tc>
                <a:tc>
                  <a:txBody>
                    <a:bodyPr wrap="square"/>
                    <a:lstStyle/>
                    <a:p>
                      <a:pPr algn="ctr"/>
                      <a:r>
                        <a:rPr sz="2300" b="0">
                          <a:solidFill>
                            <a:srgbClr val="1F2A44"/>
                          </a:solidFill>
                          <a:latin typeface="Calibri"/>
                        </a:rPr>
                        <a:t>0.69 / 11%</a:t>
                      </a:r>
                    </a:p>
                  </a:txBody>
                  <a:tcPr marL="73152" marR="73152" marT="27432" marB="27432" anchor="ctr">
                    <a:solidFill>
                      <a:srgbClr val="F1F7FB"/>
                    </a:solidFill>
                  </a:tcPr>
                </a:tc>
              </a:tr>
              <a:tr h="749808">
                <a:tc>
                  <a:txBody>
                    <a:bodyPr wrap="square"/>
                    <a:lstStyle/>
                    <a:p>
                      <a:pPr algn="l"/>
                      <a:r>
                        <a:rPr sz="2300" b="0">
                          <a:solidFill>
                            <a:srgbClr val="1F2A44"/>
                          </a:solidFill>
                          <a:latin typeface="Calibri"/>
                        </a:rPr>
                        <a:t>LightGBM, observed prices</a:t>
                      </a:r>
                    </a:p>
                  </a:txBody>
                  <a:tcPr marL="73152" marR="73152" marT="27432" marB="27432" anchor="ctr">
                    <a:solidFill>
                      <a:srgbClr val="FFFFFF"/>
                    </a:solidFill>
                  </a:tcPr>
                </a:tc>
                <a:tc>
                  <a:txBody>
                    <a:bodyPr wrap="square"/>
                    <a:lstStyle/>
                    <a:p>
                      <a:pPr algn="ctr"/>
                      <a:r>
                        <a:rPr sz="2300" b="0">
                          <a:solidFill>
                            <a:srgbClr val="1F2A44"/>
                          </a:solidFill>
                          <a:latin typeface="Calibri"/>
                        </a:rPr>
                        <a:t>0.43 / 29%</a:t>
                      </a:r>
                    </a:p>
                  </a:txBody>
                  <a:tcPr marL="73152" marR="73152" marT="27432" marB="27432" anchor="ctr">
                    <a:solidFill>
                      <a:srgbClr val="FFFFFF"/>
                    </a:solidFill>
                  </a:tcPr>
                </a:tc>
                <a:tc>
                  <a:txBody>
                    <a:bodyPr wrap="square"/>
                    <a:lstStyle/>
                    <a:p>
                      <a:pPr algn="ctr"/>
                      <a:r>
                        <a:rPr sz="2300" b="0">
                          <a:solidFill>
                            <a:srgbClr val="1F2A44"/>
                          </a:solidFill>
                          <a:latin typeface="Calibri"/>
                        </a:rPr>
                        <a:t>0.24 / 43%</a:t>
                      </a:r>
                    </a:p>
                  </a:txBody>
                  <a:tcPr marL="73152" marR="73152" marT="27432" marB="27432" anchor="ctr">
                    <a:solidFill>
                      <a:srgbClr val="FFFFFF"/>
                    </a:solidFill>
                  </a:tcPr>
                </a:tc>
                <a:tc>
                  <a:txBody>
                    <a:bodyPr wrap="square"/>
                    <a:lstStyle/>
                    <a:p>
                      <a:pPr algn="ctr"/>
                      <a:r>
                        <a:rPr sz="2300" b="0">
                          <a:solidFill>
                            <a:srgbClr val="1F2A44"/>
                          </a:solidFill>
                          <a:latin typeface="Calibri"/>
                        </a:rPr>
                        <a:t>0.12 / 34%</a:t>
                      </a:r>
                    </a:p>
                  </a:txBody>
                  <a:tcPr marL="73152" marR="73152" marT="27432" marB="27432" anchor="ctr">
                    <a:solidFill>
                      <a:srgbClr val="FFFFFF"/>
                    </a:solidFill>
                  </a:tcPr>
                </a:tc>
                <a:tc>
                  <a:txBody>
                    <a:bodyPr wrap="square"/>
                    <a:lstStyle/>
                    <a:p>
                      <a:pPr algn="ctr"/>
                      <a:r>
                        <a:rPr sz="2300" b="0">
                          <a:solidFill>
                            <a:srgbClr val="1F2A44"/>
                          </a:solidFill>
                          <a:latin typeface="Calibri"/>
                        </a:rPr>
                        <a:t>0.69 / 12%</a:t>
                      </a:r>
                    </a:p>
                  </a:txBody>
                  <a:tcPr marL="73152" marR="73152" marT="27432" marB="27432" anchor="ctr">
                    <a:solidFill>
                      <a:srgbClr val="FFFFFF"/>
                    </a:solidFill>
                  </a:tcPr>
                </a:tc>
              </a:tr>
              <a:tr h="749808">
                <a:tc>
                  <a:txBody>
                    <a:bodyPr wrap="square"/>
                    <a:lstStyle/>
                    <a:p>
                      <a:pPr algn="l"/>
                      <a:r>
                        <a:rPr sz="2300" b="1">
                          <a:solidFill>
                            <a:srgbClr val="1F2A44"/>
                          </a:solidFill>
                          <a:latin typeface="Calibri"/>
                        </a:rPr>
                        <a:t>LightGBM, realised outcomes (ours)</a:t>
                      </a:r>
                    </a:p>
                  </a:txBody>
                  <a:tcPr marL="73152" marR="73152" marT="27432" marB="27432" anchor="ctr">
                    <a:solidFill>
                      <a:srgbClr val="DCEBF5"/>
                    </a:solidFill>
                  </a:tcPr>
                </a:tc>
                <a:tc>
                  <a:txBody>
                    <a:bodyPr wrap="square"/>
                    <a:lstStyle/>
                    <a:p>
                      <a:pPr algn="ctr"/>
                      <a:r>
                        <a:rPr sz="2300" b="1">
                          <a:solidFill>
                            <a:srgbClr val="1F2A44"/>
                          </a:solidFill>
                          <a:latin typeface="Calibri"/>
                        </a:rPr>
                        <a:t>0.57 / 12%</a:t>
                      </a:r>
                    </a:p>
                  </a:txBody>
                  <a:tcPr marL="73152" marR="73152" marT="27432" marB="27432" anchor="ctr">
                    <a:solidFill>
                      <a:srgbClr val="DCEBF5"/>
                    </a:solidFill>
                  </a:tcPr>
                </a:tc>
                <a:tc>
                  <a:txBody>
                    <a:bodyPr wrap="square"/>
                    <a:lstStyle/>
                    <a:p>
                      <a:pPr algn="ctr"/>
                      <a:r>
                        <a:rPr sz="2300" b="1">
                          <a:solidFill>
                            <a:srgbClr val="1F2A44"/>
                          </a:solidFill>
                          <a:latin typeface="Calibri"/>
                        </a:rPr>
                        <a:t>0.48 / 18%</a:t>
                      </a:r>
                    </a:p>
                  </a:txBody>
                  <a:tcPr marL="73152" marR="73152" marT="27432" marB="27432" anchor="ctr">
                    <a:solidFill>
                      <a:srgbClr val="DCEBF5"/>
                    </a:solidFill>
                  </a:tcPr>
                </a:tc>
                <a:tc>
                  <a:txBody>
                    <a:bodyPr wrap="square"/>
                    <a:lstStyle/>
                    <a:p>
                      <a:pPr algn="ctr"/>
                      <a:r>
                        <a:rPr sz="2300" b="1">
                          <a:solidFill>
                            <a:srgbClr val="1F2A44"/>
                          </a:solidFill>
                          <a:latin typeface="Calibri"/>
                        </a:rPr>
                        <a:t>0.31 / 21%</a:t>
                      </a:r>
                    </a:p>
                  </a:txBody>
                  <a:tcPr marL="73152" marR="73152" marT="27432" marB="27432" anchor="ctr">
                    <a:solidFill>
                      <a:srgbClr val="DCEBF5"/>
                    </a:solidFill>
                  </a:tcPr>
                </a:tc>
                <a:tc>
                  <a:txBody>
                    <a:bodyPr wrap="square"/>
                    <a:lstStyle/>
                    <a:p>
                      <a:pPr algn="ctr"/>
                      <a:r>
                        <a:rPr sz="2300" b="1">
                          <a:solidFill>
                            <a:srgbClr val="1F2A44"/>
                          </a:solidFill>
                          <a:latin typeface="Calibri"/>
                        </a:rPr>
                        <a:t>0.76 / 5%</a:t>
                      </a:r>
                    </a:p>
                  </a:txBody>
                  <a:tcPr marL="73152" marR="73152" marT="27432" marB="27432" anchor="ctr">
                    <a:solidFill>
                      <a:srgbClr val="DCEBF5"/>
                    </a:solidFill>
                  </a:tcPr>
                </a:tc>
              </a:tr>
              <a:tr h="749808">
                <a:tc>
                  <a:txBody>
                    <a:bodyPr wrap="square"/>
                    <a:lstStyle/>
                    <a:p>
                      <a:pPr algn="l"/>
                      <a:r>
                        <a:rPr sz="2300" b="1">
                          <a:solidFill>
                            <a:srgbClr val="1F2A44"/>
                          </a:solidFill>
                          <a:latin typeface="Calibri"/>
                        </a:rPr>
                        <a:t>Neural SPO+, realised outcomes (ours)</a:t>
                      </a:r>
                    </a:p>
                  </a:txBody>
                  <a:tcPr marL="73152" marR="73152" marT="27432" marB="27432" anchor="ctr">
                    <a:solidFill>
                      <a:srgbClr val="DCEBF5"/>
                    </a:solidFill>
                  </a:tcPr>
                </a:tc>
                <a:tc>
                  <a:txBody>
                    <a:bodyPr wrap="square"/>
                    <a:lstStyle/>
                    <a:p>
                      <a:pPr algn="ctr"/>
                      <a:r>
                        <a:rPr sz="2300" b="1">
                          <a:solidFill>
                            <a:srgbClr val="1F2A44"/>
                          </a:solidFill>
                          <a:latin typeface="Calibri"/>
                        </a:rPr>
                        <a:t>0.58 / 12%</a:t>
                      </a:r>
                    </a:p>
                  </a:txBody>
                  <a:tcPr marL="73152" marR="73152" marT="27432" marB="27432" anchor="ctr">
                    <a:solidFill>
                      <a:srgbClr val="DCEBF5"/>
                    </a:solidFill>
                  </a:tcPr>
                </a:tc>
                <a:tc>
                  <a:txBody>
                    <a:bodyPr wrap="square"/>
                    <a:lstStyle/>
                    <a:p>
                      <a:pPr algn="ctr"/>
                      <a:r>
                        <a:rPr sz="2300" b="1">
                          <a:solidFill>
                            <a:srgbClr val="1F2A44"/>
                          </a:solidFill>
                          <a:latin typeface="Calibri"/>
                        </a:rPr>
                        <a:t>0.50 / 20%</a:t>
                      </a:r>
                    </a:p>
                  </a:txBody>
                  <a:tcPr marL="73152" marR="73152" marT="27432" marB="27432" anchor="ctr">
                    <a:solidFill>
                      <a:srgbClr val="DCEBF5"/>
                    </a:solidFill>
                  </a:tcPr>
                </a:tc>
                <a:tc>
                  <a:txBody>
                    <a:bodyPr wrap="square"/>
                    <a:lstStyle/>
                    <a:p>
                      <a:pPr algn="ctr"/>
                      <a:r>
                        <a:rPr sz="2300" b="1">
                          <a:solidFill>
                            <a:srgbClr val="1F2A44"/>
                          </a:solidFill>
                          <a:latin typeface="Calibri"/>
                        </a:rPr>
                        <a:t>0.28 / 17%</a:t>
                      </a:r>
                    </a:p>
                  </a:txBody>
                  <a:tcPr marL="73152" marR="73152" marT="27432" marB="27432" anchor="ctr">
                    <a:solidFill>
                      <a:srgbClr val="DCEBF5"/>
                    </a:solidFill>
                  </a:tcPr>
                </a:tc>
                <a:tc>
                  <a:txBody>
                    <a:bodyPr wrap="square"/>
                    <a:lstStyle/>
                    <a:p>
                      <a:pPr algn="ctr"/>
                      <a:r>
                        <a:rPr sz="2300" b="1">
                          <a:solidFill>
                            <a:srgbClr val="1F2A44"/>
                          </a:solidFill>
                          <a:latin typeface="Calibri"/>
                        </a:rPr>
                        <a:t>0.76 / 5%</a:t>
                      </a:r>
                    </a:p>
                  </a:txBody>
                  <a:tcPr marL="73152" marR="73152" marT="27432" marB="27432" anchor="ctr">
                    <a:solidFill>
                      <a:srgbClr val="DCEBF5"/>
                    </a:solidFill>
                  </a:tcPr>
                </a:tc>
              </a:tr>
            </a:tbl>
          </a:graphicData>
        </a:graphic>
      </p:graphicFrame>
    </p:spTree>
    <p:extLst>
      <p:ext uri="{BB962C8B-B14F-4D97-AF65-F5344CB8AC3E}">
        <p14:creationId xmlns:p14="http://schemas.microsoft.com/office/powerpoint/2010/main" val="1769017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Novelty and Research Contribution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11</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8" name="Content Guidance"/>
          <p:cNvSpPr txBox="1"/>
          <p:nvPr/>
        </p:nvSpPr>
        <p:spPr>
          <a:xfrm>
            <a:off x="1005840" y="1737360"/>
            <a:ext cx="18105120" cy="14630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400" dirty="0" b="1">
                <a:solidFill>
                  <a:srgbClr val="1F2A44"/>
                </a:solidFill>
                <a:latin typeface="Calibri" panose="020F0502020204030204" charset="0"/>
                <a:cs typeface="Calibri" panose="020F0502020204030204" charset="0"/>
              </a:rPr>
              <a:t>In one sentence: </a:t>
            </a:r>
            <a:r>
              <a:rPr lang="en-US" sz="2400" dirty="0">
                <a:solidFill>
                  <a:srgbClr val="1F2A44"/>
                </a:solidFill>
                <a:latin typeface="Calibri" panose="020F0502020204030204" charset="0"/>
                <a:cs typeface="Calibri" panose="020F0502020204030204" charset="0"/>
              </a:rPr>
              <a:t>supervise market choice on realised, silence-aware revenue, certify it with delayed-feedback conformal floors, and audit the leakage in published hybrids.</a:t>
            </a:r>
          </a:p>
        </p:txBody>
      </p:sp>
      <p:sp>
        <p:nvSpPr>
          <p:cNvPr id="10251" name="Rectangle 10250"/>
          <p:cNvSpPr/>
          <p:nvPr/>
        </p:nvSpPr>
        <p:spPr>
          <a:xfrm>
            <a:off x="1005840" y="3291840"/>
            <a:ext cx="5760720" cy="566928"/>
          </a:xfrm>
          <a:prstGeom prst="rect">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Already exists</a:t>
            </a:r>
          </a:p>
        </p:txBody>
      </p:sp>
      <p:sp>
        <p:nvSpPr>
          <p:cNvPr id="10252" name="Rectangle 10251"/>
          <p:cNvSpPr/>
          <p:nvPr/>
        </p:nvSpPr>
        <p:spPr>
          <a:xfrm>
            <a:off x="10058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Forecasters of agricultural prices [9]–[14]</a:t>
            </a:r>
          </a:p>
          <a:p>
            <a:pPr algn="l"/>
            <a:r>
              <a:rPr sz="2700" b="0" i="0">
                <a:solidFill>
                  <a:srgbClr val="1F2A44"/>
                </a:solidFill>
                <a:latin typeface="Calibri"/>
              </a:rPr>
              <a:t>SPO+ and decision-focused learning [21], [22]</a:t>
            </a:r>
          </a:p>
          <a:p>
            <a:pPr algn="l"/>
            <a:r>
              <a:rPr sz="2700" b="0" i="0">
                <a:solidFill>
                  <a:srgbClr val="1F2A44"/>
                </a:solidFill>
                <a:latin typeface="Calibri"/>
              </a:rPr>
              <a:t>Adaptive conformal inference [25]–[28]</a:t>
            </a:r>
          </a:p>
        </p:txBody>
      </p:sp>
      <p:sp>
        <p:nvSpPr>
          <p:cNvPr id="10253" name="Rectangle 10252"/>
          <p:cNvSpPr/>
          <p:nvPr/>
        </p:nvSpPr>
        <p:spPr>
          <a:xfrm>
            <a:off x="7178040" y="3291840"/>
            <a:ext cx="576072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New here</a:t>
            </a:r>
          </a:p>
        </p:txBody>
      </p:sp>
      <p:sp>
        <p:nvSpPr>
          <p:cNvPr id="10254" name="Rectangle 10253"/>
          <p:cNvSpPr/>
          <p:nvPr/>
        </p:nvSpPr>
        <p:spPr>
          <a:xfrm>
            <a:off x="71780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Revenue labels that include silent markets, on real mandi data</a:t>
            </a:r>
          </a:p>
          <a:p>
            <a:pPr algn="l"/>
            <a:r>
              <a:rPr sz="2700" b="0" i="0">
                <a:solidFill>
                  <a:srgbClr val="1F2A44"/>
                </a:solidFill>
                <a:latin typeface="Calibri"/>
              </a:rPr>
              <a:t>Floors for selected actions whose outcome resolves k days later</a:t>
            </a:r>
          </a:p>
          <a:p>
            <a:pPr algn="l"/>
            <a:r>
              <a:rPr sz="2700" b="0" i="0">
                <a:solidFill>
                  <a:srgbClr val="1F2A44"/>
                </a:solidFill>
                <a:latin typeface="Calibri"/>
              </a:rPr>
              <a:t>Measured size of look-ahead leakage in STL/VMD hybrids</a:t>
            </a:r>
          </a:p>
          <a:p>
            <a:pPr algn="l"/>
            <a:r>
              <a:rPr sz="2700" b="0" i="0">
                <a:solidFill>
                  <a:srgbClr val="1F2A44"/>
                </a:solidFill>
                <a:latin typeface="Calibri"/>
              </a:rPr>
              <a:t>Verified language briefs and a withheld-by-default spillover engine</a:t>
            </a:r>
          </a:p>
        </p:txBody>
      </p:sp>
      <p:sp>
        <p:nvSpPr>
          <p:cNvPr id="10255" name="Rectangle 10254"/>
          <p:cNvSpPr/>
          <p:nvPr/>
        </p:nvSpPr>
        <p:spPr>
          <a:xfrm>
            <a:off x="13350240" y="3291840"/>
            <a:ext cx="576072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Ours vs adapted</a:t>
            </a:r>
          </a:p>
        </p:txBody>
      </p:sp>
      <p:sp>
        <p:nvSpPr>
          <p:cNvPr id="10256" name="Rectangle 10255"/>
          <p:cNvSpPr/>
          <p:nvPr/>
        </p:nvSpPr>
        <p:spPr>
          <a:xfrm>
            <a:off x="13350240" y="3858768"/>
            <a:ext cx="5760720" cy="455371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Ours: formulation, pipeline, leakage protocol, grounding verifier, engines, app</a:t>
            </a:r>
          </a:p>
          <a:p>
            <a:pPr algn="l"/>
            <a:r>
              <a:rPr sz="2700" b="0" i="0">
                <a:solidFill>
                  <a:srgbClr val="1F2A44"/>
                </a:solidFill>
                <a:latin typeface="Calibri"/>
              </a:rPr>
              <a:t>Adapted: SPO+ [21], ACI [26], DeepSets [29], Optuna [20], Chronos [17]</a:t>
            </a:r>
          </a:p>
        </p:txBody>
      </p:sp>
      <p:sp>
        <p:nvSpPr>
          <p:cNvPr id="10257" name="Rectangle 10256"/>
          <p:cNvSpPr/>
          <p:nvPr/>
        </p:nvSpPr>
        <p:spPr>
          <a:xfrm>
            <a:off x="1005840" y="8778240"/>
            <a:ext cx="18105120" cy="1280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400" b="0" i="0">
                <a:solidFill>
                  <a:srgbClr val="1F2A44"/>
                </a:solidFill>
                <a:latin typeface="Calibri"/>
              </a:rPr>
              <a:t>Honest scope: the positive contribution that survived testing is the label effect, the floor validity and the audit; the loss, reporting head, silence features, council and spillover are bounded negative results.</a:t>
            </a:r>
          </a:p>
        </p:txBody>
      </p:sp>
    </p:spTree>
    <p:extLst>
      <p:ext uri="{BB962C8B-B14F-4D97-AF65-F5344CB8AC3E}">
        <p14:creationId xmlns:p14="http://schemas.microsoft.com/office/powerpoint/2010/main" val="176901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Optimization and Ablation Study</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12</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09" name="Content Guidance"/>
          <p:cNvSpPr txBox="1"/>
          <p:nvPr/>
        </p:nvSpPr>
        <p:spPr>
          <a:xfrm>
            <a:off x="1005840" y="1737360"/>
            <a:ext cx="18105120" cy="21031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Tuning: </a:t>
            </a:r>
            <a:r>
              <a:rPr lang="en-US" sz="2500" dirty="0">
                <a:solidFill>
                  <a:srgbClr val="1F2A44"/>
                </a:solidFill>
                <a:latin typeface="Calibri" panose="020F0502020204030204" charset="0"/>
                <a:cs typeface="Calibri" panose="020F0502020204030204" charset="0"/>
              </a:rPr>
              <a:t>Optuna TPE per fold on each method's native criterion; same budget for all. Tuning on forecast loss instead of regret: no reliable change.</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Cost: </a:t>
            </a:r>
            <a:r>
              <a:rPr lang="en-US" sz="2500" dirty="0">
                <a:solidFill>
                  <a:srgbClr val="1F2A44"/>
                </a:solidFill>
                <a:latin typeface="Calibri" panose="020F0502020204030204" charset="0"/>
                <a:cs typeface="Calibri" panose="020F0502020204030204" charset="0"/>
              </a:rPr>
              <a:t>served boosting model chosen over the neural one: equal decisions, far cheaper to train, run and explain.</a:t>
            </a:r>
          </a:p>
        </p:txBody>
      </p:sp>
      <p:graphicFrame>
        <p:nvGraphicFramePr>
          <p:cNvPr id="10251" name="Table 10250"/>
          <p:cNvGraphicFramePr>
            <a:graphicFrameLocks noGrp="1"/>
          </p:cNvGraphicFramePr>
          <p:nvPr/>
        </p:nvGraphicFramePr>
        <p:xfrm>
          <a:off x="1005840" y="4206240"/>
          <a:ext cx="18105120" cy="2926080"/>
        </p:xfrm>
        <a:graphic>
          <a:graphicData uri="http://schemas.openxmlformats.org/drawingml/2006/table">
            <a:tbl>
              <a:tblPr firstRow="1" bandRow="1">
                <a:tableStyleId>{5C22544A-7EE6-4342-B048-85BDC9FD1C3A}</a:tableStyleId>
              </a:tblPr>
              <a:tblGrid>
                <a:gridCol w="6839712"/>
                <a:gridCol w="5230368"/>
                <a:gridCol w="1810512"/>
                <a:gridCol w="4224528"/>
              </a:tblGrid>
              <a:tr h="731520">
                <a:tc>
                  <a:txBody>
                    <a:bodyPr wrap="square"/>
                    <a:lstStyle/>
                    <a:p>
                      <a:pPr algn="ctr"/>
                      <a:r>
                        <a:rPr sz="2300" b="1">
                          <a:solidFill>
                            <a:srgbClr val="FFFFFF"/>
                          </a:solidFill>
                          <a:latin typeface="Calibri"/>
                        </a:rPr>
                        <a:t>One change at a time</a:t>
                      </a:r>
                    </a:p>
                  </a:txBody>
                  <a:tcPr marL="73152" marR="73152" marT="27432" marB="27432" anchor="ctr">
                    <a:solidFill>
                      <a:srgbClr val="1F4E79"/>
                    </a:solidFill>
                  </a:tcPr>
                </a:tc>
                <a:tc>
                  <a:txBody>
                    <a:bodyPr wrap="square"/>
                    <a:lstStyle/>
                    <a:p>
                      <a:pPr algn="ctr"/>
                      <a:r>
                        <a:rPr sz="2300" b="1">
                          <a:solidFill>
                            <a:srgbClr val="FFFFFF"/>
                          </a:solidFill>
                          <a:latin typeface="Calibri"/>
                        </a:rPr>
                        <a:t>Δ regret, Rs/q (95% CI)</a:t>
                      </a:r>
                    </a:p>
                  </a:txBody>
                  <a:tcPr marL="73152" marR="73152" marT="27432" marB="27432" anchor="ctr">
                    <a:solidFill>
                      <a:srgbClr val="1F4E79"/>
                    </a:solidFill>
                  </a:tcPr>
                </a:tc>
                <a:tc>
                  <a:txBody>
                    <a:bodyPr wrap="square"/>
                    <a:lstStyle/>
                    <a:p>
                      <a:pPr algn="ctr"/>
                      <a:r>
                        <a:rPr sz="2300" b="1">
                          <a:solidFill>
                            <a:srgbClr val="FFFFFF"/>
                          </a:solidFill>
                          <a:latin typeface="Calibri"/>
                        </a:rPr>
                        <a:t>Holm p</a:t>
                      </a:r>
                    </a:p>
                  </a:txBody>
                  <a:tcPr marL="73152" marR="73152" marT="27432" marB="27432" anchor="ctr">
                    <a:solidFill>
                      <a:srgbClr val="1F4E79"/>
                    </a:solidFill>
                  </a:tcPr>
                </a:tc>
                <a:tc>
                  <a:txBody>
                    <a:bodyPr wrap="square"/>
                    <a:lstStyle/>
                    <a:p>
                      <a:pPr algn="ctr"/>
                      <a:r>
                        <a:rPr sz="2300" b="1">
                          <a:solidFill>
                            <a:srgbClr val="FFFFFF"/>
                          </a:solidFill>
                          <a:latin typeface="Calibri"/>
                        </a:rPr>
                        <a:t>Verdict</a:t>
                      </a:r>
                    </a:p>
                  </a:txBody>
                  <a:tcPr marL="73152" marR="73152" marT="27432" marB="27432" anchor="ctr">
                    <a:solidFill>
                      <a:srgbClr val="1F4E79"/>
                    </a:solidFill>
                  </a:tcPr>
                </a:tc>
              </a:tr>
              <a:tr h="731520">
                <a:tc>
                  <a:txBody>
                    <a:bodyPr wrap="square"/>
                    <a:lstStyle/>
                    <a:p>
                      <a:pPr algn="l"/>
                      <a:r>
                        <a:rPr sz="2300" b="0">
                          <a:solidFill>
                            <a:srgbClr val="1F2A44"/>
                          </a:solidFill>
                          <a:latin typeface="Calibri"/>
                        </a:rPr>
                        <a:t>SPO+ loss instead of squared error</a:t>
                      </a:r>
                    </a:p>
                  </a:txBody>
                  <a:tcPr marL="73152" marR="73152" marT="27432" marB="27432" anchor="ctr">
                    <a:solidFill>
                      <a:srgbClr val="FFFFFF"/>
                    </a:solidFill>
                  </a:tcPr>
                </a:tc>
                <a:tc>
                  <a:txBody>
                    <a:bodyPr wrap="square"/>
                    <a:lstStyle/>
                    <a:p>
                      <a:pPr algn="ctr"/>
                      <a:r>
                        <a:rPr sz="2300" b="0">
                          <a:solidFill>
                            <a:srgbClr val="1F2A44"/>
                          </a:solidFill>
                          <a:latin typeface="Calibri"/>
                        </a:rPr>
                        <a:t>−25  [−53, +3]</a:t>
                      </a:r>
                    </a:p>
                  </a:txBody>
                  <a:tcPr marL="73152" marR="73152" marT="27432" marB="27432" anchor="ctr">
                    <a:solidFill>
                      <a:srgbClr val="FFFFFF"/>
                    </a:solidFill>
                  </a:tcPr>
                </a:tc>
                <a:tc>
                  <a:txBody>
                    <a:bodyPr wrap="square"/>
                    <a:lstStyle/>
                    <a:p>
                      <a:pPr algn="ctr"/>
                      <a:r>
                        <a:rPr sz="2300" b="0">
                          <a:solidFill>
                            <a:srgbClr val="1F2A44"/>
                          </a:solidFill>
                          <a:latin typeface="Calibri"/>
                        </a:rPr>
                        <a:t>0.505</a:t>
                      </a:r>
                    </a:p>
                  </a:txBody>
                  <a:tcPr marL="73152" marR="73152" marT="27432" marB="27432" anchor="ctr">
                    <a:solidFill>
                      <a:srgbClr val="FFFFFF"/>
                    </a:solidFill>
                  </a:tcPr>
                </a:tc>
                <a:tc>
                  <a:txBody>
                    <a:bodyPr wrap="square"/>
                    <a:lstStyle/>
                    <a:p>
                      <a:pPr algn="l"/>
                      <a:r>
                        <a:rPr sz="2300" b="0">
                          <a:solidFill>
                            <a:srgbClr val="5F6B7A"/>
                          </a:solidFill>
                          <a:latin typeface="Calibri"/>
                        </a:rPr>
                        <a:t>no reliable difference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Add reporting head (SPO+)</a:t>
                      </a:r>
                    </a:p>
                  </a:txBody>
                  <a:tcPr marL="73152" marR="73152" marT="27432" marB="27432" anchor="ctr">
                    <a:solidFill>
                      <a:srgbClr val="F1F7FB"/>
                    </a:solidFill>
                  </a:tcPr>
                </a:tc>
                <a:tc>
                  <a:txBody>
                    <a:bodyPr wrap="square"/>
                    <a:lstStyle/>
                    <a:p>
                      <a:pPr algn="ctr"/>
                      <a:r>
                        <a:rPr sz="2300" b="0">
                          <a:solidFill>
                            <a:srgbClr val="1F2A44"/>
                          </a:solidFill>
                          <a:latin typeface="Calibri"/>
                        </a:rPr>
                        <a:t>+23  [+8, +36]</a:t>
                      </a:r>
                    </a:p>
                  </a:txBody>
                  <a:tcPr marL="73152" marR="73152" marT="27432" marB="27432" anchor="ctr">
                    <a:solidFill>
                      <a:srgbClr val="F1F7FB"/>
                    </a:solidFill>
                  </a:tcPr>
                </a:tc>
                <a:tc>
                  <a:txBody>
                    <a:bodyPr wrap="square"/>
                    <a:lstStyle/>
                    <a:p>
                      <a:pPr algn="ctr"/>
                      <a:r>
                        <a:rPr sz="2300" b="0">
                          <a:solidFill>
                            <a:srgbClr val="1F2A44"/>
                          </a:solidFill>
                          <a:latin typeface="Calibri"/>
                        </a:rPr>
                        <a:t>0.012</a:t>
                      </a:r>
                    </a:p>
                  </a:txBody>
                  <a:tcPr marL="73152" marR="73152" marT="27432" marB="27432" anchor="ctr">
                    <a:solidFill>
                      <a:srgbClr val="F1F7FB"/>
                    </a:solidFill>
                  </a:tcPr>
                </a:tc>
                <a:tc>
                  <a:txBody>
                    <a:bodyPr wrap="square"/>
                    <a:lstStyle/>
                    <a:p>
                      <a:pPr algn="l"/>
                      <a:r>
                        <a:rPr sz="2300" b="0">
                          <a:solidFill>
                            <a:srgbClr val="C0392B"/>
                          </a:solidFill>
                          <a:latin typeface="Calibri"/>
                        </a:rPr>
                        <a:t>worse</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Add network-silence features (GBM)</a:t>
                      </a:r>
                    </a:p>
                  </a:txBody>
                  <a:tcPr marL="73152" marR="73152" marT="27432" marB="27432" anchor="ctr">
                    <a:solidFill>
                      <a:srgbClr val="FFFFFF"/>
                    </a:solidFill>
                  </a:tcPr>
                </a:tc>
                <a:tc>
                  <a:txBody>
                    <a:bodyPr wrap="square"/>
                    <a:lstStyle/>
                    <a:p>
                      <a:pPr algn="ctr"/>
                      <a:r>
                        <a:rPr sz="2300" b="0">
                          <a:solidFill>
                            <a:srgbClr val="1F2A44"/>
                          </a:solidFill>
                          <a:latin typeface="Calibri"/>
                        </a:rPr>
                        <a:t>−12  [−31, +3]</a:t>
                      </a:r>
                    </a:p>
                  </a:txBody>
                  <a:tcPr marL="73152" marR="73152" marT="27432" marB="27432" anchor="ctr">
                    <a:solidFill>
                      <a:srgbClr val="FFFFFF"/>
                    </a:solidFill>
                  </a:tcPr>
                </a:tc>
                <a:tc>
                  <a:txBody>
                    <a:bodyPr wrap="square"/>
                    <a:lstStyle/>
                    <a:p>
                      <a:pPr algn="ctr"/>
                      <a:r>
                        <a:rPr sz="2300" b="0">
                          <a:solidFill>
                            <a:srgbClr val="1F2A44"/>
                          </a:solidFill>
                          <a:latin typeface="Calibri"/>
                        </a:rPr>
                        <a:t>0.695</a:t>
                      </a:r>
                    </a:p>
                  </a:txBody>
                  <a:tcPr marL="73152" marR="73152" marT="27432" marB="27432" anchor="ctr">
                    <a:solidFill>
                      <a:srgbClr val="FFFFFF"/>
                    </a:solidFill>
                  </a:tcPr>
                </a:tc>
                <a:tc>
                  <a:txBody>
                    <a:bodyPr wrap="square"/>
                    <a:lstStyle/>
                    <a:p>
                      <a:pPr algn="l"/>
                      <a:r>
                        <a:rPr sz="2300" b="0">
                          <a:solidFill>
                            <a:srgbClr val="5F6B7A"/>
                          </a:solidFill>
                          <a:latin typeface="Calibri"/>
                        </a:rPr>
                        <a:t>no reliable difference</a:t>
                      </a:r>
                    </a:p>
                  </a:txBody>
                  <a:tcPr marL="73152" marR="73152" marT="27432" marB="27432" anchor="ctr">
                    <a:solidFill>
                      <a:srgbClr val="FFFFFF"/>
                    </a:solidFill>
                  </a:tcPr>
                </a:tc>
              </a:tr>
            </a:tbl>
          </a:graphicData>
        </a:graphic>
      </p:graphicFrame>
      <p:sp>
        <p:nvSpPr>
          <p:cNvPr id="10252" name="Rectangle 10251"/>
          <p:cNvSpPr/>
          <p:nvPr/>
        </p:nvSpPr>
        <p:spPr>
          <a:xfrm>
            <a:off x="1005840" y="8229600"/>
            <a:ext cx="18105120" cy="18288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Tried and did not work: </a:t>
            </a:r>
            <a:r>
              <a:rPr sz="2300" b="0" i="0">
                <a:solidFill>
                  <a:srgbClr val="1F2A44"/>
                </a:solidFill>
                <a:latin typeface="Calibri"/>
              </a:rPr>
              <a:t>reporting head (worse, p = 0.012), silence features, decision-regret tuning, unconstrained council weights (summed 2.4–3.1, significantly worse), SPO+ over squared error. Ablations shown for tomato; the other crops agree.</a:t>
            </a:r>
          </a:p>
        </p:txBody>
      </p:sp>
    </p:spTree>
    <p:extLst>
      <p:ext uri="{BB962C8B-B14F-4D97-AF65-F5344CB8AC3E}">
        <p14:creationId xmlns:p14="http://schemas.microsoft.com/office/powerpoint/2010/main" val="176901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Project Planning: WBS and Critical Path</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13</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046720" cy="4224528"/>
        </p:xfrm>
        <a:graphic>
          <a:graphicData uri="http://schemas.openxmlformats.org/drawingml/2006/table">
            <a:tbl>
              <a:tblPr firstRow="1" bandRow="1">
                <a:tableStyleId>{5C22544A-7EE6-4342-B048-85BDC9FD1C3A}</a:tableStyleId>
              </a:tblPr>
              <a:tblGrid>
                <a:gridCol w="4206240"/>
                <a:gridCol w="1280160"/>
                <a:gridCol w="2560320"/>
              </a:tblGrid>
              <a:tr h="603504">
                <a:tc>
                  <a:txBody>
                    <a:bodyPr wrap="square"/>
                    <a:lstStyle/>
                    <a:p>
                      <a:pPr algn="ctr"/>
                      <a:r>
                        <a:rPr sz="2100" b="1">
                          <a:solidFill>
                            <a:srgbClr val="FFFFFF"/>
                          </a:solidFill>
                          <a:latin typeface="Calibri"/>
                        </a:rPr>
                        <a:t>WBS package</a:t>
                      </a:r>
                    </a:p>
                  </a:txBody>
                  <a:tcPr marL="73152" marR="73152" marT="27432" marB="27432" anchor="ctr">
                    <a:solidFill>
                      <a:srgbClr val="1F4E79"/>
                    </a:solidFill>
                  </a:tcPr>
                </a:tc>
                <a:tc>
                  <a:txBody>
                    <a:bodyPr wrap="square"/>
                    <a:lstStyle/>
                    <a:p>
                      <a:pPr algn="ctr"/>
                      <a:r>
                        <a:rPr sz="2100" b="1">
                          <a:solidFill>
                            <a:srgbClr val="FFFFFF"/>
                          </a:solidFill>
                          <a:latin typeface="Calibri"/>
                        </a:rPr>
                        <a:t>Hours</a:t>
                      </a:r>
                    </a:p>
                  </a:txBody>
                  <a:tcPr marL="73152" marR="73152" marT="27432" marB="27432" anchor="ctr">
                    <a:solidFill>
                      <a:srgbClr val="1F4E79"/>
                    </a:solidFill>
                  </a:tcPr>
                </a:tc>
                <a:tc>
                  <a:txBody>
                    <a:bodyPr wrap="square"/>
                    <a:lstStyle/>
                    <a:p>
                      <a:pPr algn="ctr"/>
                      <a:r>
                        <a:rPr sz="2100" b="1">
                          <a:solidFill>
                            <a:srgbClr val="FFFFFF"/>
                          </a:solidFill>
                          <a:latin typeface="Calibri"/>
                        </a:rPr>
                        <a:t>Primary owner</a:t>
                      </a:r>
                    </a:p>
                  </a:txBody>
                  <a:tcPr marL="73152" marR="73152" marT="27432" marB="27432" anchor="ctr">
                    <a:solidFill>
                      <a:srgbClr val="1F4E79"/>
                    </a:solidFill>
                  </a:tcPr>
                </a:tc>
              </a:tr>
              <a:tr h="603504">
                <a:tc>
                  <a:txBody>
                    <a:bodyPr wrap="square"/>
                    <a:lstStyle/>
                    <a:p>
                      <a:pPr algn="l"/>
                      <a:r>
                        <a:rPr sz="2100" b="0">
                          <a:solidFill>
                            <a:srgbClr val="1F2A44"/>
                          </a:solidFill>
                          <a:latin typeface="Calibri"/>
                        </a:rPr>
                        <a:t>1 Management &amp; documentation</a:t>
                      </a:r>
                    </a:p>
                  </a:txBody>
                  <a:tcPr marL="73152" marR="73152" marT="27432" marB="27432" anchor="ctr">
                    <a:solidFill>
                      <a:srgbClr val="FFFFFF"/>
                    </a:solidFill>
                  </a:tcPr>
                </a:tc>
                <a:tc>
                  <a:txBody>
                    <a:bodyPr wrap="square"/>
                    <a:lstStyle/>
                    <a:p>
                      <a:pPr algn="ctr"/>
                      <a:r>
                        <a:rPr sz="2100" b="0">
                          <a:solidFill>
                            <a:srgbClr val="1F2A44"/>
                          </a:solidFill>
                          <a:latin typeface="Calibri"/>
                        </a:rPr>
                        <a:t>130 h</a:t>
                      </a:r>
                    </a:p>
                  </a:txBody>
                  <a:tcPr marL="73152" marR="73152" marT="27432" marB="27432" anchor="ctr">
                    <a:solidFill>
                      <a:srgbClr val="FFFFFF"/>
                    </a:solidFill>
                  </a:tcPr>
                </a:tc>
                <a:tc>
                  <a:txBody>
                    <a:bodyPr wrap="square"/>
                    <a:lstStyle/>
                    <a:p>
                      <a:pPr algn="l"/>
                      <a:r>
                        <a:rPr sz="2100" b="0">
                          <a:solidFill>
                            <a:srgbClr val="1F2A44"/>
                          </a:solidFill>
                          <a:latin typeface="Calibri"/>
                        </a:rPr>
                        <a:t>Shreejith</a:t>
                      </a:r>
                    </a:p>
                  </a:txBody>
                  <a:tcPr marL="73152" marR="73152" marT="27432" marB="27432" anchor="ctr">
                    <a:solidFill>
                      <a:srgbClr val="FFFFFF"/>
                    </a:solidFill>
                  </a:tcPr>
                </a:tc>
              </a:tr>
              <a:tr h="603504">
                <a:tc>
                  <a:txBody>
                    <a:bodyPr wrap="square"/>
                    <a:lstStyle/>
                    <a:p>
                      <a:pPr algn="l"/>
                      <a:r>
                        <a:rPr sz="2100" b="0">
                          <a:solidFill>
                            <a:srgbClr val="1F2A44"/>
                          </a:solidFill>
                          <a:latin typeface="Calibri"/>
                        </a:rPr>
                        <a:t>2 Data</a:t>
                      </a:r>
                    </a:p>
                  </a:txBody>
                  <a:tcPr marL="73152" marR="73152" marT="27432" marB="27432" anchor="ctr">
                    <a:solidFill>
                      <a:srgbClr val="F1F7FB"/>
                    </a:solidFill>
                  </a:tcPr>
                </a:tc>
                <a:tc>
                  <a:txBody>
                    <a:bodyPr wrap="square"/>
                    <a:lstStyle/>
                    <a:p>
                      <a:pPr algn="ctr"/>
                      <a:r>
                        <a:rPr sz="2100" b="0">
                          <a:solidFill>
                            <a:srgbClr val="1F2A44"/>
                          </a:solidFill>
                          <a:latin typeface="Calibri"/>
                        </a:rPr>
                        <a:t>100 h</a:t>
                      </a:r>
                    </a:p>
                  </a:txBody>
                  <a:tcPr marL="73152" marR="73152" marT="27432" marB="27432" anchor="ctr">
                    <a:solidFill>
                      <a:srgbClr val="F1F7FB"/>
                    </a:solidFill>
                  </a:tcPr>
                </a:tc>
                <a:tc>
                  <a:txBody>
                    <a:bodyPr wrap="square"/>
                    <a:lstStyle/>
                    <a:p>
                      <a:pPr algn="l"/>
                      <a:r>
                        <a:rPr sz="2100" b="0">
                          <a:solidFill>
                            <a:srgbClr val="1F2A44"/>
                          </a:solidFill>
                          <a:latin typeface="Calibri"/>
                        </a:rPr>
                        <a:t>Manohara</a:t>
                      </a:r>
                    </a:p>
                  </a:txBody>
                  <a:tcPr marL="73152" marR="73152" marT="27432" marB="27432" anchor="ctr">
                    <a:solidFill>
                      <a:srgbClr val="F1F7FB"/>
                    </a:solidFill>
                  </a:tcPr>
                </a:tc>
              </a:tr>
              <a:tr h="603504">
                <a:tc>
                  <a:txBody>
                    <a:bodyPr wrap="square"/>
                    <a:lstStyle/>
                    <a:p>
                      <a:pPr algn="l"/>
                      <a:r>
                        <a:rPr sz="2100" b="0">
                          <a:solidFill>
                            <a:srgbClr val="1F2A44"/>
                          </a:solidFill>
                          <a:latin typeface="Calibri"/>
                        </a:rPr>
                        <a:t>3 Models &amp; research</a:t>
                      </a:r>
                    </a:p>
                  </a:txBody>
                  <a:tcPr marL="73152" marR="73152" marT="27432" marB="27432" anchor="ctr">
                    <a:solidFill>
                      <a:srgbClr val="FFFFFF"/>
                    </a:solidFill>
                  </a:tcPr>
                </a:tc>
                <a:tc>
                  <a:txBody>
                    <a:bodyPr wrap="square"/>
                    <a:lstStyle/>
                    <a:p>
                      <a:pPr algn="ctr"/>
                      <a:r>
                        <a:rPr sz="2100" b="0">
                          <a:solidFill>
                            <a:srgbClr val="1F2A44"/>
                          </a:solidFill>
                          <a:latin typeface="Calibri"/>
                        </a:rPr>
                        <a:t>290 h</a:t>
                      </a:r>
                    </a:p>
                  </a:txBody>
                  <a:tcPr marL="73152" marR="73152" marT="27432" marB="27432" anchor="ctr">
                    <a:solidFill>
                      <a:srgbClr val="FFFFFF"/>
                    </a:solidFill>
                  </a:tcPr>
                </a:tc>
                <a:tc>
                  <a:txBody>
                    <a:bodyPr wrap="square"/>
                    <a:lstStyle/>
                    <a:p>
                      <a:pPr algn="l"/>
                      <a:r>
                        <a:rPr sz="2100" b="0">
                          <a:solidFill>
                            <a:srgbClr val="1F2A44"/>
                          </a:solidFill>
                          <a:latin typeface="Calibri"/>
                        </a:rPr>
                        <a:t>Manohara</a:t>
                      </a:r>
                    </a:p>
                  </a:txBody>
                  <a:tcPr marL="73152" marR="73152" marT="27432" marB="27432" anchor="ctr">
                    <a:solidFill>
                      <a:srgbClr val="FFFFFF"/>
                    </a:solidFill>
                  </a:tcPr>
                </a:tc>
              </a:tr>
              <a:tr h="603504">
                <a:tc>
                  <a:txBody>
                    <a:bodyPr wrap="square"/>
                    <a:lstStyle/>
                    <a:p>
                      <a:pPr algn="l"/>
                      <a:r>
                        <a:rPr sz="2100" b="0">
                          <a:solidFill>
                            <a:srgbClr val="1F2A44"/>
                          </a:solidFill>
                          <a:latin typeface="Calibri"/>
                        </a:rPr>
                        <a:t>4 Application</a:t>
                      </a:r>
                    </a:p>
                  </a:txBody>
                  <a:tcPr marL="73152" marR="73152" marT="27432" marB="27432" anchor="ctr">
                    <a:solidFill>
                      <a:srgbClr val="F1F7FB"/>
                    </a:solidFill>
                  </a:tcPr>
                </a:tc>
                <a:tc>
                  <a:txBody>
                    <a:bodyPr wrap="square"/>
                    <a:lstStyle/>
                    <a:p>
                      <a:pPr algn="ctr"/>
                      <a:r>
                        <a:rPr sz="2100" b="0">
                          <a:solidFill>
                            <a:srgbClr val="1F2A44"/>
                          </a:solidFill>
                          <a:latin typeface="Calibri"/>
                        </a:rPr>
                        <a:t>360 h</a:t>
                      </a:r>
                    </a:p>
                  </a:txBody>
                  <a:tcPr marL="73152" marR="73152" marT="27432" marB="27432" anchor="ctr">
                    <a:solidFill>
                      <a:srgbClr val="F1F7FB"/>
                    </a:solidFill>
                  </a:tcPr>
                </a:tc>
                <a:tc>
                  <a:txBody>
                    <a:bodyPr wrap="square"/>
                    <a:lstStyle/>
                    <a:p>
                      <a:pPr algn="l"/>
                      <a:r>
                        <a:rPr sz="2100" b="0">
                          <a:solidFill>
                            <a:srgbClr val="1F2A44"/>
                          </a:solidFill>
                          <a:latin typeface="Calibri"/>
                        </a:rPr>
                        <a:t>Srijan</a:t>
                      </a:r>
                    </a:p>
                  </a:txBody>
                  <a:tcPr marL="73152" marR="73152" marT="27432" marB="27432" anchor="ctr">
                    <a:solidFill>
                      <a:srgbClr val="F1F7FB"/>
                    </a:solidFill>
                  </a:tcPr>
                </a:tc>
              </a:tr>
              <a:tr h="603504">
                <a:tc>
                  <a:txBody>
                    <a:bodyPr wrap="square"/>
                    <a:lstStyle/>
                    <a:p>
                      <a:pPr algn="l"/>
                      <a:r>
                        <a:rPr sz="2100" b="0">
                          <a:solidFill>
                            <a:srgbClr val="1F2A44"/>
                          </a:solidFill>
                          <a:latin typeface="Calibri"/>
                        </a:rPr>
                        <a:t>5 Verification</a:t>
                      </a:r>
                    </a:p>
                  </a:txBody>
                  <a:tcPr marL="73152" marR="73152" marT="27432" marB="27432" anchor="ctr">
                    <a:solidFill>
                      <a:srgbClr val="FFFFFF"/>
                    </a:solidFill>
                  </a:tcPr>
                </a:tc>
                <a:tc>
                  <a:txBody>
                    <a:bodyPr wrap="square"/>
                    <a:lstStyle/>
                    <a:p>
                      <a:pPr algn="ctr"/>
                      <a:r>
                        <a:rPr sz="2100" b="0">
                          <a:solidFill>
                            <a:srgbClr val="1F2A44"/>
                          </a:solidFill>
                          <a:latin typeface="Calibri"/>
                        </a:rPr>
                        <a:t>90 h</a:t>
                      </a:r>
                    </a:p>
                  </a:txBody>
                  <a:tcPr marL="73152" marR="73152" marT="27432" marB="27432" anchor="ctr">
                    <a:solidFill>
                      <a:srgbClr val="FFFFFF"/>
                    </a:solidFill>
                  </a:tcPr>
                </a:tc>
                <a:tc>
                  <a:txBody>
                    <a:bodyPr wrap="square"/>
                    <a:lstStyle/>
                    <a:p>
                      <a:pPr algn="l"/>
                      <a:r>
                        <a:rPr sz="2100" b="0">
                          <a:solidFill>
                            <a:srgbClr val="1F2A44"/>
                          </a:solidFill>
                          <a:latin typeface="Calibri"/>
                        </a:rPr>
                        <a:t>Shreejith / Manohara</a:t>
                      </a:r>
                    </a:p>
                  </a:txBody>
                  <a:tcPr marL="73152" marR="73152" marT="27432" marB="27432" anchor="ctr">
                    <a:solidFill>
                      <a:srgbClr val="FFFFFF"/>
                    </a:solidFill>
                  </a:tcPr>
                </a:tc>
              </a:tr>
              <a:tr h="603504">
                <a:tc>
                  <a:txBody>
                    <a:bodyPr wrap="square"/>
                    <a:lstStyle/>
                    <a:p>
                      <a:pPr algn="l"/>
                      <a:r>
                        <a:rPr sz="2100" b="1">
                          <a:solidFill>
                            <a:srgbClr val="1F2A44"/>
                          </a:solidFill>
                          <a:latin typeface="Calibri"/>
                        </a:rPr>
                        <a:t>Total</a:t>
                      </a:r>
                    </a:p>
                  </a:txBody>
                  <a:tcPr marL="73152" marR="73152" marT="27432" marB="27432" anchor="ctr">
                    <a:solidFill>
                      <a:srgbClr val="DCEBF5"/>
                    </a:solidFill>
                  </a:tcPr>
                </a:tc>
                <a:tc>
                  <a:txBody>
                    <a:bodyPr wrap="square"/>
                    <a:lstStyle/>
                    <a:p>
                      <a:pPr algn="ctr"/>
                      <a:r>
                        <a:rPr sz="2100" b="1">
                          <a:solidFill>
                            <a:srgbClr val="1F2A44"/>
                          </a:solidFill>
                          <a:latin typeface="Calibri"/>
                        </a:rPr>
                        <a:t>970 h</a:t>
                      </a:r>
                    </a:p>
                  </a:txBody>
                  <a:tcPr marL="73152" marR="73152" marT="27432" marB="27432" anchor="ctr">
                    <a:solidFill>
                      <a:srgbClr val="DCEBF5"/>
                    </a:solidFill>
                  </a:tcPr>
                </a:tc>
                <a:tc>
                  <a:txBody>
                    <a:bodyPr wrap="square"/>
                    <a:lstStyle/>
                    <a:p>
                      <a:pPr algn="l"/>
                      <a:r>
                        <a:rPr sz="2100" b="1">
                          <a:solidFill>
                            <a:srgbClr val="1F2A44"/>
                          </a:solidFill>
                          <a:latin typeface="Calibri"/>
                        </a:rPr>
                        <a:t/>
                      </a:r>
                    </a:p>
                  </a:txBody>
                  <a:tcPr marL="73152" marR="73152" marT="27432" marB="27432" anchor="ctr">
                    <a:solidFill>
                      <a:srgbClr val="DCEBF5"/>
                    </a:solidFill>
                  </a:tcPr>
                </a:tc>
              </a:tr>
            </a:tbl>
          </a:graphicData>
        </a:graphic>
      </p:graphicFrame>
      <p:sp>
        <p:nvSpPr>
          <p:cNvPr id="10252" name="TextBox 10251"/>
          <p:cNvSpPr txBox="1"/>
          <p:nvPr/>
        </p:nvSpPr>
        <p:spPr>
          <a:xfrm>
            <a:off x="1005840" y="6355080"/>
            <a:ext cx="8046720" cy="731520"/>
          </a:xfrm>
          <a:prstGeom prst="rect">
            <a:avLst/>
          </a:prstGeom>
          <a:noFill/>
        </p:spPr>
        <p:txBody>
          <a:bodyPr wrap="square" anchor="t" lIns="73152" rIns="73152" tIns="36576" bIns="36576">
            <a:spAutoFit/>
          </a:bodyPr>
          <a:lstStyle/>
          <a:p>
            <a:pPr algn="l"/>
            <a:r>
              <a:rPr sz="1700" b="0" i="1">
                <a:solidFill>
                  <a:srgbClr val="5F6B7A"/>
                </a:solidFill>
                <a:latin typeface="Calibri"/>
              </a:rPr>
              <a:t>Hours are team estimates, not logged time. Each leaf task has one owner; children sum to parents.</a:t>
            </a:r>
          </a:p>
        </p:txBody>
      </p:sp>
      <p:sp>
        <p:nvSpPr>
          <p:cNvPr id="10253" name="Rounded Rectangle 10252"/>
          <p:cNvSpPr/>
          <p:nvPr/>
        </p:nvSpPr>
        <p:spPr>
          <a:xfrm>
            <a:off x="9418320"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A</a:t>
            </a:r>
          </a:p>
          <a:p>
            <a:pPr algn="ctr"/>
            <a:r>
              <a:rPr sz="1700" b="0" i="0">
                <a:solidFill>
                  <a:srgbClr val="1F2A44"/>
                </a:solidFill>
                <a:latin typeface="Calibri"/>
              </a:rPr>
              <a:t>Requirements</a:t>
            </a:r>
          </a:p>
          <a:p>
            <a:pPr algn="ctr"/>
            <a:r>
              <a:rPr sz="1700" b="0" i="0">
                <a:solidFill>
                  <a:srgbClr val="1F2A44"/>
                </a:solidFill>
                <a:latin typeface="Calibri"/>
              </a:rPr>
              <a:t>2 wk</a:t>
            </a:r>
          </a:p>
        </p:txBody>
      </p:sp>
      <p:sp>
        <p:nvSpPr>
          <p:cNvPr id="10254" name="Rounded Rectangle 10253"/>
          <p:cNvSpPr/>
          <p:nvPr/>
        </p:nvSpPr>
        <p:spPr>
          <a:xfrm>
            <a:off x="11356848"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B</a:t>
            </a:r>
          </a:p>
          <a:p>
            <a:pPr algn="ctr"/>
            <a:r>
              <a:rPr sz="1700" b="0" i="0">
                <a:solidFill>
                  <a:srgbClr val="1F2A44"/>
                </a:solidFill>
                <a:latin typeface="Calibri"/>
              </a:rPr>
              <a:t>Data</a:t>
            </a:r>
          </a:p>
          <a:p>
            <a:pPr algn="ctr"/>
            <a:r>
              <a:rPr sz="1700" b="0" i="0">
                <a:solidFill>
                  <a:srgbClr val="1F2A44"/>
                </a:solidFill>
                <a:latin typeface="Calibri"/>
              </a:rPr>
              <a:t>3 wk</a:t>
            </a:r>
          </a:p>
        </p:txBody>
      </p:sp>
      <p:sp>
        <p:nvSpPr>
          <p:cNvPr id="10255" name="Rounded Rectangle 10254"/>
          <p:cNvSpPr/>
          <p:nvPr/>
        </p:nvSpPr>
        <p:spPr>
          <a:xfrm>
            <a:off x="13295376"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C</a:t>
            </a:r>
          </a:p>
          <a:p>
            <a:pPr algn="ctr"/>
            <a:r>
              <a:rPr sz="1700" b="0" i="0">
                <a:solidFill>
                  <a:srgbClr val="1F2A44"/>
                </a:solidFill>
                <a:latin typeface="Calibri"/>
              </a:rPr>
              <a:t>Market choice</a:t>
            </a:r>
          </a:p>
          <a:p>
            <a:pPr algn="ctr"/>
            <a:r>
              <a:rPr sz="1700" b="0" i="0">
                <a:solidFill>
                  <a:srgbClr val="1F2A44"/>
                </a:solidFill>
                <a:latin typeface="Calibri"/>
              </a:rPr>
              <a:t>4 wk</a:t>
            </a:r>
          </a:p>
        </p:txBody>
      </p:sp>
      <p:sp>
        <p:nvSpPr>
          <p:cNvPr id="10256" name="Rounded Rectangle 10255"/>
          <p:cNvSpPr/>
          <p:nvPr/>
        </p:nvSpPr>
        <p:spPr>
          <a:xfrm>
            <a:off x="15233904"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F</a:t>
            </a:r>
          </a:p>
          <a:p>
            <a:pPr algn="ctr"/>
            <a:r>
              <a:rPr sz="1700" b="0" i="0">
                <a:solidFill>
                  <a:srgbClr val="1F2A44"/>
                </a:solidFill>
                <a:latin typeface="Calibri"/>
              </a:rPr>
              <a:t>Forecasters</a:t>
            </a:r>
          </a:p>
          <a:p>
            <a:pPr algn="ctr"/>
            <a:r>
              <a:rPr sz="1700" b="0" i="0">
                <a:solidFill>
                  <a:srgbClr val="1F2A44"/>
                </a:solidFill>
                <a:latin typeface="Calibri"/>
              </a:rPr>
              <a:t>3 wk</a:t>
            </a:r>
          </a:p>
        </p:txBody>
      </p:sp>
      <p:sp>
        <p:nvSpPr>
          <p:cNvPr id="10257" name="Rounded Rectangle 10256"/>
          <p:cNvSpPr/>
          <p:nvPr/>
        </p:nvSpPr>
        <p:spPr>
          <a:xfrm>
            <a:off x="17172432" y="173736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G</a:t>
            </a:r>
          </a:p>
          <a:p>
            <a:pPr algn="ctr"/>
            <a:r>
              <a:rPr sz="1700" b="0" i="0">
                <a:solidFill>
                  <a:srgbClr val="1F2A44"/>
                </a:solidFill>
                <a:latin typeface="Calibri"/>
              </a:rPr>
              <a:t>Experiments</a:t>
            </a:r>
          </a:p>
          <a:p>
            <a:pPr algn="ctr"/>
            <a:r>
              <a:rPr sz="1700" b="0" i="0">
                <a:solidFill>
                  <a:srgbClr val="1F2A44"/>
                </a:solidFill>
                <a:latin typeface="Calibri"/>
              </a:rPr>
              <a:t>4 wk</a:t>
            </a:r>
          </a:p>
        </p:txBody>
      </p:sp>
      <p:sp>
        <p:nvSpPr>
          <p:cNvPr id="10258" name="Rounded Rectangle 10257"/>
          <p:cNvSpPr/>
          <p:nvPr/>
        </p:nvSpPr>
        <p:spPr>
          <a:xfrm>
            <a:off x="17172432"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I</a:t>
            </a:r>
          </a:p>
          <a:p>
            <a:pPr algn="ctr"/>
            <a:r>
              <a:rPr sz="1700" b="0" i="0">
                <a:solidFill>
                  <a:srgbClr val="1F2A44"/>
                </a:solidFill>
                <a:latin typeface="Calibri"/>
              </a:rPr>
              <a:t>Testing</a:t>
            </a:r>
          </a:p>
          <a:p>
            <a:pPr algn="ctr"/>
            <a:r>
              <a:rPr sz="1700" b="0" i="0">
                <a:solidFill>
                  <a:srgbClr val="1F2A44"/>
                </a:solidFill>
                <a:latin typeface="Calibri"/>
              </a:rPr>
              <a:t>3 wk</a:t>
            </a:r>
          </a:p>
        </p:txBody>
      </p:sp>
      <p:sp>
        <p:nvSpPr>
          <p:cNvPr id="10259" name="Rounded Rectangle 10258"/>
          <p:cNvSpPr/>
          <p:nvPr/>
        </p:nvSpPr>
        <p:spPr>
          <a:xfrm>
            <a:off x="15233904"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J</a:t>
            </a:r>
          </a:p>
          <a:p>
            <a:pPr algn="ctr"/>
            <a:r>
              <a:rPr sz="1700" b="0" i="0">
                <a:solidFill>
                  <a:srgbClr val="1F2A44"/>
                </a:solidFill>
                <a:latin typeface="Calibri"/>
              </a:rPr>
              <a:t>Integration</a:t>
            </a:r>
          </a:p>
          <a:p>
            <a:pPr algn="ctr"/>
            <a:r>
              <a:rPr sz="1700" b="0" i="0">
                <a:solidFill>
                  <a:srgbClr val="1F2A44"/>
                </a:solidFill>
                <a:latin typeface="Calibri"/>
              </a:rPr>
              <a:t>2 wk</a:t>
            </a:r>
          </a:p>
        </p:txBody>
      </p:sp>
      <p:sp>
        <p:nvSpPr>
          <p:cNvPr id="10260" name="Rounded Rectangle 10259"/>
          <p:cNvSpPr/>
          <p:nvPr/>
        </p:nvSpPr>
        <p:spPr>
          <a:xfrm>
            <a:off x="13295376" y="3657600"/>
            <a:ext cx="1737360" cy="1371600"/>
          </a:xfrm>
          <a:prstGeom prst="roundRect">
            <a:avLst/>
          </a:prstGeom>
          <a:solidFill>
            <a:srgbClr val="F8D9D5"/>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K</a:t>
            </a:r>
          </a:p>
          <a:p>
            <a:pPr algn="ctr"/>
            <a:r>
              <a:rPr sz="1700" b="0" i="0">
                <a:solidFill>
                  <a:srgbClr val="1F2A44"/>
                </a:solidFill>
                <a:latin typeface="Calibri"/>
              </a:rPr>
              <a:t>Report</a:t>
            </a:r>
          </a:p>
          <a:p>
            <a:pPr algn="ctr"/>
            <a:r>
              <a:rPr sz="1700" b="0" i="0">
                <a:solidFill>
                  <a:srgbClr val="1F2A44"/>
                </a:solidFill>
                <a:latin typeface="Calibri"/>
              </a:rPr>
              <a:t>3 wk</a:t>
            </a:r>
          </a:p>
        </p:txBody>
      </p:sp>
      <p:sp>
        <p:nvSpPr>
          <p:cNvPr id="10261" name="Rounded Rectangle 10260"/>
          <p:cNvSpPr/>
          <p:nvPr/>
        </p:nvSpPr>
        <p:spPr>
          <a:xfrm>
            <a:off x="9418320"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D</a:t>
            </a:r>
          </a:p>
          <a:p>
            <a:pPr algn="ctr"/>
            <a:r>
              <a:rPr sz="1700" b="0" i="0">
                <a:solidFill>
                  <a:srgbClr val="1F2A44"/>
                </a:solidFill>
                <a:latin typeface="Calibri"/>
              </a:rPr>
              <a:t>Backend</a:t>
            </a:r>
          </a:p>
          <a:p>
            <a:pPr algn="ctr"/>
            <a:r>
              <a:rPr sz="1700" b="0" i="0">
                <a:solidFill>
                  <a:srgbClr val="1F2A44"/>
                </a:solidFill>
                <a:latin typeface="Calibri"/>
              </a:rPr>
              <a:t>4 wk</a:t>
            </a:r>
          </a:p>
        </p:txBody>
      </p:sp>
      <p:sp>
        <p:nvSpPr>
          <p:cNvPr id="10262" name="Rounded Rectangle 10261"/>
          <p:cNvSpPr/>
          <p:nvPr/>
        </p:nvSpPr>
        <p:spPr>
          <a:xfrm>
            <a:off x="11356848"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E</a:t>
            </a:r>
          </a:p>
          <a:p>
            <a:pPr algn="ctr"/>
            <a:r>
              <a:rPr sz="1700" b="0" i="0">
                <a:solidFill>
                  <a:srgbClr val="1F2A44"/>
                </a:solidFill>
                <a:latin typeface="Calibri"/>
              </a:rPr>
              <a:t>Web app</a:t>
            </a:r>
          </a:p>
          <a:p>
            <a:pPr algn="ctr"/>
            <a:r>
              <a:rPr sz="1700" b="0" i="0">
                <a:solidFill>
                  <a:srgbClr val="1F2A44"/>
                </a:solidFill>
                <a:latin typeface="Calibri"/>
              </a:rPr>
              <a:t>5 wk</a:t>
            </a:r>
          </a:p>
        </p:txBody>
      </p:sp>
      <p:sp>
        <p:nvSpPr>
          <p:cNvPr id="10263" name="Rounded Rectangle 10262"/>
          <p:cNvSpPr/>
          <p:nvPr/>
        </p:nvSpPr>
        <p:spPr>
          <a:xfrm>
            <a:off x="13295376" y="5486400"/>
            <a:ext cx="1737360" cy="1371600"/>
          </a:xfrm>
          <a:prstGeom prst="roundRect">
            <a:avLst/>
          </a:prstGeom>
          <a:solidFill>
            <a:srgbClr val="DCEBF5"/>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6576" bIns="36576"/>
          <a:lstStyle/>
          <a:p>
            <a:pPr algn="ctr"/>
            <a:r>
              <a:rPr sz="1700" b="1" i="0">
                <a:solidFill>
                  <a:srgbClr val="1F2A44"/>
                </a:solidFill>
                <a:latin typeface="Calibri"/>
              </a:rPr>
              <a:t>H</a:t>
            </a:r>
          </a:p>
          <a:p>
            <a:pPr algn="ctr"/>
            <a:r>
              <a:rPr sz="1700" b="0" i="0">
                <a:solidFill>
                  <a:srgbClr val="1F2A44"/>
                </a:solidFill>
                <a:latin typeface="Calibri"/>
              </a:rPr>
              <a:t>LLM layer</a:t>
            </a:r>
          </a:p>
          <a:p>
            <a:pPr algn="ctr"/>
            <a:r>
              <a:rPr sz="1700" b="0" i="0">
                <a:solidFill>
                  <a:srgbClr val="1F2A44"/>
                </a:solidFill>
                <a:latin typeface="Calibri"/>
              </a:rPr>
              <a:t>3 wk</a:t>
            </a:r>
          </a:p>
        </p:txBody>
      </p:sp>
      <p:cxnSp>
        <p:nvCxnSpPr>
          <p:cNvPr id="10264" name="Connector 10263"/>
          <p:cNvCxnSpPr/>
          <p:nvPr/>
        </p:nvCxnSpPr>
        <p:spPr>
          <a:xfrm>
            <a:off x="11155680"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5" name="Connector 10264"/>
          <p:cNvCxnSpPr/>
          <p:nvPr/>
        </p:nvCxnSpPr>
        <p:spPr>
          <a:xfrm>
            <a:off x="13094208"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6" name="Connector 10265"/>
          <p:cNvCxnSpPr/>
          <p:nvPr/>
        </p:nvCxnSpPr>
        <p:spPr>
          <a:xfrm>
            <a:off x="15032736"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7" name="Connector 10266"/>
          <p:cNvCxnSpPr/>
          <p:nvPr/>
        </p:nvCxnSpPr>
        <p:spPr>
          <a:xfrm>
            <a:off x="16971264" y="242316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8" name="Connector 10267"/>
          <p:cNvCxnSpPr/>
          <p:nvPr/>
        </p:nvCxnSpPr>
        <p:spPr>
          <a:xfrm>
            <a:off x="18041112" y="3108960"/>
            <a:ext cx="0" cy="54864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69" name="Connector 10268"/>
          <p:cNvCxnSpPr/>
          <p:nvPr/>
        </p:nvCxnSpPr>
        <p:spPr>
          <a:xfrm flipH="1">
            <a:off x="16971264" y="434340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70" name="Connector 10269"/>
          <p:cNvCxnSpPr/>
          <p:nvPr/>
        </p:nvCxnSpPr>
        <p:spPr>
          <a:xfrm flipH="1">
            <a:off x="15032736" y="4343400"/>
            <a:ext cx="201168" cy="0"/>
          </a:xfrm>
          <a:prstGeom prst="line">
            <a:avLst/>
          </a:prstGeom>
          <a:ln w="31750">
            <a:solidFill>
              <a:srgbClr val="C0392B"/>
            </a:solidFill>
            <a:tailEnd type="triangle"/>
          </a:ln>
        </p:spPr>
        <p:style>
          <a:lnRef idx="2">
            <a:schemeClr val="accent1"/>
          </a:lnRef>
          <a:fillRef idx="0">
            <a:schemeClr val="accent1"/>
          </a:fillRef>
          <a:effectRef idx="1">
            <a:schemeClr val="accent1"/>
          </a:effectRef>
          <a:fontRef idx="minor">
            <a:schemeClr val="tx1"/>
          </a:fontRef>
        </p:style>
      </p:cxnSp>
      <p:cxnSp>
        <p:nvCxnSpPr>
          <p:cNvPr id="10271" name="Connector 10270"/>
          <p:cNvCxnSpPr/>
          <p:nvPr/>
        </p:nvCxnSpPr>
        <p:spPr>
          <a:xfrm>
            <a:off x="10287000" y="3108960"/>
            <a:ext cx="0" cy="2377440"/>
          </a:xfrm>
          <a:prstGeom prst="line">
            <a:avLst/>
          </a:prstGeom>
          <a:ln w="25400">
            <a:solidFill>
              <a:srgbClr val="2E75B6"/>
            </a:solidFill>
            <a:tailEnd type="triangle"/>
          </a:ln>
        </p:spPr>
        <p:style>
          <a:lnRef idx="2">
            <a:schemeClr val="accent1"/>
          </a:lnRef>
          <a:fillRef idx="0">
            <a:schemeClr val="accent1"/>
          </a:fillRef>
          <a:effectRef idx="1">
            <a:schemeClr val="accent1"/>
          </a:effectRef>
          <a:fontRef idx="minor">
            <a:schemeClr val="tx1"/>
          </a:fontRef>
        </p:style>
      </p:cxnSp>
      <p:cxnSp>
        <p:nvCxnSpPr>
          <p:cNvPr id="10272" name="Connector 10271"/>
          <p:cNvCxnSpPr/>
          <p:nvPr/>
        </p:nvCxnSpPr>
        <p:spPr>
          <a:xfrm>
            <a:off x="11155680" y="6172200"/>
            <a:ext cx="201168" cy="0"/>
          </a:xfrm>
          <a:prstGeom prst="line">
            <a:avLst/>
          </a:prstGeom>
          <a:ln w="25400">
            <a:solidFill>
              <a:srgbClr val="2E75B6"/>
            </a:solidFill>
            <a:tailEnd type="triangle"/>
          </a:ln>
        </p:spPr>
        <p:style>
          <a:lnRef idx="2">
            <a:schemeClr val="accent1"/>
          </a:lnRef>
          <a:fillRef idx="0">
            <a:schemeClr val="accent1"/>
          </a:fillRef>
          <a:effectRef idx="1">
            <a:schemeClr val="accent1"/>
          </a:effectRef>
          <a:fontRef idx="minor">
            <a:schemeClr val="tx1"/>
          </a:fontRef>
        </p:style>
      </p:cxnSp>
      <p:sp>
        <p:nvSpPr>
          <p:cNvPr id="10273" name="TextBox 10272"/>
          <p:cNvSpPr txBox="1"/>
          <p:nvPr/>
        </p:nvSpPr>
        <p:spPr>
          <a:xfrm>
            <a:off x="15142463" y="5394960"/>
            <a:ext cx="4206240" cy="1554480"/>
          </a:xfrm>
          <a:prstGeom prst="rect">
            <a:avLst/>
          </a:prstGeom>
          <a:noFill/>
        </p:spPr>
        <p:txBody>
          <a:bodyPr wrap="square" anchor="t" lIns="73152" rIns="73152" tIns="36576" bIns="36576">
            <a:spAutoFit/>
          </a:bodyPr>
          <a:lstStyle/>
          <a:p>
            <a:pPr algn="l"/>
            <a:r>
              <a:rPr sz="1800" b="1" i="0">
                <a:solidFill>
                  <a:srgbClr val="C0392B"/>
                </a:solidFill>
                <a:latin typeface="Calibri"/>
              </a:rPr>
              <a:t>Critical path (red):</a:t>
            </a:r>
          </a:p>
          <a:p>
            <a:pPr algn="l"/>
            <a:r>
              <a:rPr sz="1800" b="1" i="0">
                <a:solidFill>
                  <a:srgbClr val="C0392B"/>
                </a:solidFill>
                <a:latin typeface="Calibri"/>
              </a:rPr>
              <a:t>A→B→C→F→G→I→J→K</a:t>
            </a:r>
          </a:p>
          <a:p>
            <a:pPr algn="l"/>
            <a:r>
              <a:rPr sz="1800" b="1" i="0">
                <a:solidFill>
                  <a:srgbClr val="C0392B"/>
                </a:solidFill>
                <a:latin typeface="Calibri"/>
              </a:rPr>
              <a:t>2+3+4+3+4+3+2+3 = 24 weeks</a:t>
            </a:r>
          </a:p>
          <a:p>
            <a:pPr algn="l"/>
            <a:r>
              <a:rPr sz="1800" b="1" i="0">
                <a:solidFill>
                  <a:srgbClr val="C0392B"/>
                </a:solidFill>
                <a:latin typeface="Calibri"/>
              </a:rPr>
              <a:t>D, E, H have slack</a:t>
            </a:r>
          </a:p>
        </p:txBody>
      </p:sp>
      <p:sp>
        <p:nvSpPr>
          <p:cNvPr id="10274" name="Rectangle 10273"/>
          <p:cNvSpPr/>
          <p:nvPr/>
        </p:nvSpPr>
        <p:spPr>
          <a:xfrm>
            <a:off x="1005840" y="7223760"/>
            <a:ext cx="18105120" cy="30175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Worked slack, activity E: </a:t>
            </a:r>
            <a:r>
              <a:rPr sz="2300" b="0" i="0">
                <a:solidFill>
                  <a:srgbClr val="1F2A44"/>
                </a:solidFill>
                <a:latin typeface="Calibri"/>
              </a:rPr>
              <a:t>LF(E) = LS(I) = 16 weeks, so LS(E) = 16 − 5 = 11; ES(E) = 6; slack = 11 − 6 = 5 weeks. </a:t>
            </a:r>
            <a:r>
              <a:rPr sz="2300" b="1" i="0">
                <a:solidFill>
                  <a:srgbClr val="1F2A44"/>
                </a:solidFill>
                <a:latin typeface="Calibri"/>
              </a:rPr>
              <a:t>For H: </a:t>
            </a:r>
            <a:r>
              <a:rPr sz="2300" b="0" i="0">
                <a:solidFill>
                  <a:srgbClr val="1F2A44"/>
                </a:solidFill>
                <a:latin typeface="Calibri"/>
              </a:rPr>
              <a:t>LS = 16 − 3 = 13, ES = 6, slack = 7. </a:t>
            </a:r>
            <a:r>
              <a:rPr sz="2300" b="1" i="0">
                <a:solidFill>
                  <a:srgbClr val="1F2A44"/>
                </a:solidFill>
                <a:latin typeface="Calibri"/>
              </a:rPr>
              <a:t>For D: </a:t>
            </a:r>
            <a:r>
              <a:rPr sz="2300" b="0" i="0">
                <a:solidFill>
                  <a:srgbClr val="1F2A44"/>
                </a:solidFill>
                <a:latin typeface="Calibri"/>
              </a:rPr>
              <a:t>LF = min(LS(E), LS(H)) = 11, LS = 7, ES = 2, slack = 5.</a:t>
            </a:r>
          </a:p>
          <a:p>
            <a:pPr algn="l"/>
            <a:r>
              <a:rPr sz="2300" b="1" i="0">
                <a:solidFill>
                  <a:srgbClr val="1F2A44"/>
                </a:solidFill>
                <a:latin typeface="Calibri"/>
              </a:rPr>
              <a:t>RAM: </a:t>
            </a:r>
            <a:r>
              <a:rPr sz="2300" b="0" i="0">
                <a:solidFill>
                  <a:srgbClr val="1F2A44"/>
                </a:solidFill>
                <a:latin typeface="Calibri"/>
              </a:rPr>
              <a:t>every work package has one primary owner (R) and the guide is accountable (A); Manohara 430 h, Srijan 360 h, Shreejith 180 h.</a:t>
            </a:r>
          </a:p>
        </p:txBody>
      </p:sp>
    </p:spTree>
    <p:extLst>
      <p:ext uri="{BB962C8B-B14F-4D97-AF65-F5344CB8AC3E}">
        <p14:creationId xmlns:p14="http://schemas.microsoft.com/office/powerpoint/2010/main" val="1769017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Schedule Tracking and Risk Management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14</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3657600"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0</a:t>
            </a:r>
          </a:p>
        </p:txBody>
      </p:sp>
      <p:cxnSp>
        <p:nvCxnSpPr>
          <p:cNvPr id="10252" name="Connector 10251"/>
          <p:cNvCxnSpPr/>
          <p:nvPr/>
        </p:nvCxnSpPr>
        <p:spPr>
          <a:xfrm>
            <a:off x="3931920"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3" name="TextBox 10252"/>
          <p:cNvSpPr txBox="1"/>
          <p:nvPr/>
        </p:nvSpPr>
        <p:spPr>
          <a:xfrm>
            <a:off x="4702628"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4</a:t>
            </a:r>
          </a:p>
        </p:txBody>
      </p:sp>
      <p:cxnSp>
        <p:nvCxnSpPr>
          <p:cNvPr id="10254" name="Connector 10253"/>
          <p:cNvCxnSpPr/>
          <p:nvPr/>
        </p:nvCxnSpPr>
        <p:spPr>
          <a:xfrm>
            <a:off x="4976948"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5" name="TextBox 10254"/>
          <p:cNvSpPr txBox="1"/>
          <p:nvPr/>
        </p:nvSpPr>
        <p:spPr>
          <a:xfrm>
            <a:off x="5747657"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8</a:t>
            </a:r>
          </a:p>
        </p:txBody>
      </p:sp>
      <p:cxnSp>
        <p:nvCxnSpPr>
          <p:cNvPr id="10256" name="Connector 10255"/>
          <p:cNvCxnSpPr/>
          <p:nvPr/>
        </p:nvCxnSpPr>
        <p:spPr>
          <a:xfrm>
            <a:off x="6021977"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7" name="TextBox 10256"/>
          <p:cNvSpPr txBox="1"/>
          <p:nvPr/>
        </p:nvSpPr>
        <p:spPr>
          <a:xfrm>
            <a:off x="6792685"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12</a:t>
            </a:r>
          </a:p>
        </p:txBody>
      </p:sp>
      <p:cxnSp>
        <p:nvCxnSpPr>
          <p:cNvPr id="10258" name="Connector 10257"/>
          <p:cNvCxnSpPr/>
          <p:nvPr/>
        </p:nvCxnSpPr>
        <p:spPr>
          <a:xfrm>
            <a:off x="7067005"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59" name="TextBox 10258"/>
          <p:cNvSpPr txBox="1"/>
          <p:nvPr/>
        </p:nvSpPr>
        <p:spPr>
          <a:xfrm>
            <a:off x="7837714"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16</a:t>
            </a:r>
          </a:p>
        </p:txBody>
      </p:sp>
      <p:cxnSp>
        <p:nvCxnSpPr>
          <p:cNvPr id="10260" name="Connector 10259"/>
          <p:cNvCxnSpPr/>
          <p:nvPr/>
        </p:nvCxnSpPr>
        <p:spPr>
          <a:xfrm>
            <a:off x="8112034"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1" name="TextBox 10260"/>
          <p:cNvSpPr txBox="1"/>
          <p:nvPr/>
        </p:nvSpPr>
        <p:spPr>
          <a:xfrm>
            <a:off x="8882742"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20</a:t>
            </a:r>
          </a:p>
        </p:txBody>
      </p:sp>
      <p:cxnSp>
        <p:nvCxnSpPr>
          <p:cNvPr id="10262" name="Connector 10261"/>
          <p:cNvCxnSpPr/>
          <p:nvPr/>
        </p:nvCxnSpPr>
        <p:spPr>
          <a:xfrm>
            <a:off x="9157062"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3" name="TextBox 10262"/>
          <p:cNvSpPr txBox="1"/>
          <p:nvPr/>
        </p:nvSpPr>
        <p:spPr>
          <a:xfrm>
            <a:off x="9927771"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24</a:t>
            </a:r>
          </a:p>
        </p:txBody>
      </p:sp>
      <p:cxnSp>
        <p:nvCxnSpPr>
          <p:cNvPr id="10264" name="Connector 10263"/>
          <p:cNvCxnSpPr/>
          <p:nvPr/>
        </p:nvCxnSpPr>
        <p:spPr>
          <a:xfrm>
            <a:off x="10202091"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5" name="TextBox 10264"/>
          <p:cNvSpPr txBox="1"/>
          <p:nvPr/>
        </p:nvSpPr>
        <p:spPr>
          <a:xfrm>
            <a:off x="10972800" y="1627632"/>
            <a:ext cx="548640" cy="365760"/>
          </a:xfrm>
          <a:prstGeom prst="rect">
            <a:avLst/>
          </a:prstGeom>
          <a:noFill/>
        </p:spPr>
        <p:txBody>
          <a:bodyPr wrap="square" anchor="t" lIns="0" rIns="0" tIns="36576" bIns="36576">
            <a:spAutoFit/>
          </a:bodyPr>
          <a:lstStyle/>
          <a:p>
            <a:pPr algn="ctr"/>
            <a:r>
              <a:rPr sz="1600" b="0" i="0">
                <a:solidFill>
                  <a:srgbClr val="5F6B7A"/>
                </a:solidFill>
                <a:latin typeface="Calibri"/>
              </a:rPr>
              <a:t>28</a:t>
            </a:r>
          </a:p>
        </p:txBody>
      </p:sp>
      <p:cxnSp>
        <p:nvCxnSpPr>
          <p:cNvPr id="10266" name="Connector 10265"/>
          <p:cNvCxnSpPr/>
          <p:nvPr/>
        </p:nvCxnSpPr>
        <p:spPr>
          <a:xfrm>
            <a:off x="11247120" y="2148840"/>
            <a:ext cx="0" cy="4517135"/>
          </a:xfrm>
          <a:prstGeom prst="line">
            <a:avLst/>
          </a:prstGeom>
          <a:ln w="9525">
            <a:solidFill>
              <a:srgbClr val="D5DBE3"/>
            </a:solidFill>
          </a:ln>
        </p:spPr>
        <p:style>
          <a:lnRef idx="2">
            <a:schemeClr val="accent1"/>
          </a:lnRef>
          <a:fillRef idx="0">
            <a:schemeClr val="accent1"/>
          </a:fillRef>
          <a:effectRef idx="1">
            <a:schemeClr val="accent1"/>
          </a:effectRef>
          <a:fontRef idx="minor">
            <a:schemeClr val="tx1"/>
          </a:fontRef>
        </p:style>
      </p:cxnSp>
      <p:sp>
        <p:nvSpPr>
          <p:cNvPr id="10267" name="TextBox 10266"/>
          <p:cNvSpPr txBox="1"/>
          <p:nvPr/>
        </p:nvSpPr>
        <p:spPr>
          <a:xfrm>
            <a:off x="1005840" y="214884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A Requirements</a:t>
            </a:r>
          </a:p>
        </p:txBody>
      </p:sp>
      <p:sp>
        <p:nvSpPr>
          <p:cNvPr id="10268" name="Rectangle 10267"/>
          <p:cNvSpPr/>
          <p:nvPr/>
        </p:nvSpPr>
        <p:spPr>
          <a:xfrm>
            <a:off x="3931920" y="2167128"/>
            <a:ext cx="522514"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69" name="Rectangle 10268"/>
          <p:cNvSpPr/>
          <p:nvPr/>
        </p:nvSpPr>
        <p:spPr>
          <a:xfrm>
            <a:off x="3931920" y="2340864"/>
            <a:ext cx="78377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0" name="TextBox 10269"/>
          <p:cNvSpPr txBox="1"/>
          <p:nvPr/>
        </p:nvSpPr>
        <p:spPr>
          <a:xfrm>
            <a:off x="1005840" y="2551176"/>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B Data</a:t>
            </a:r>
          </a:p>
        </p:txBody>
      </p:sp>
      <p:sp>
        <p:nvSpPr>
          <p:cNvPr id="10271" name="Rectangle 10270"/>
          <p:cNvSpPr/>
          <p:nvPr/>
        </p:nvSpPr>
        <p:spPr>
          <a:xfrm>
            <a:off x="4454434" y="2569464"/>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2" name="Rectangle 10271"/>
          <p:cNvSpPr/>
          <p:nvPr/>
        </p:nvSpPr>
        <p:spPr>
          <a:xfrm>
            <a:off x="4715691" y="2743200"/>
            <a:ext cx="5486400"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3" name="TextBox 10272"/>
          <p:cNvSpPr txBox="1"/>
          <p:nvPr/>
        </p:nvSpPr>
        <p:spPr>
          <a:xfrm>
            <a:off x="1005840" y="2953512"/>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C Market choice</a:t>
            </a:r>
          </a:p>
        </p:txBody>
      </p:sp>
      <p:sp>
        <p:nvSpPr>
          <p:cNvPr id="10274" name="Rectangle 10273"/>
          <p:cNvSpPr/>
          <p:nvPr/>
        </p:nvSpPr>
        <p:spPr>
          <a:xfrm>
            <a:off x="5238205" y="2971800"/>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5" name="Rectangle 10274"/>
          <p:cNvSpPr/>
          <p:nvPr/>
        </p:nvSpPr>
        <p:spPr>
          <a:xfrm>
            <a:off x="5499462" y="3145536"/>
            <a:ext cx="5225142"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6" name="TextBox 10275"/>
          <p:cNvSpPr txBox="1"/>
          <p:nvPr/>
        </p:nvSpPr>
        <p:spPr>
          <a:xfrm>
            <a:off x="1005840" y="3355848"/>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D Backend API</a:t>
            </a:r>
          </a:p>
        </p:txBody>
      </p:sp>
      <p:sp>
        <p:nvSpPr>
          <p:cNvPr id="10277" name="Rectangle 10276"/>
          <p:cNvSpPr/>
          <p:nvPr/>
        </p:nvSpPr>
        <p:spPr>
          <a:xfrm>
            <a:off x="4454434" y="3374136"/>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8" name="Rectangle 10277"/>
          <p:cNvSpPr/>
          <p:nvPr/>
        </p:nvSpPr>
        <p:spPr>
          <a:xfrm>
            <a:off x="4193177" y="3547872"/>
            <a:ext cx="5747657"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79" name="TextBox 10278"/>
          <p:cNvSpPr txBox="1"/>
          <p:nvPr/>
        </p:nvSpPr>
        <p:spPr>
          <a:xfrm>
            <a:off x="1005840" y="3758184"/>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E Web application</a:t>
            </a:r>
          </a:p>
        </p:txBody>
      </p:sp>
      <p:sp>
        <p:nvSpPr>
          <p:cNvPr id="10280" name="Rectangle 10279"/>
          <p:cNvSpPr/>
          <p:nvPr/>
        </p:nvSpPr>
        <p:spPr>
          <a:xfrm>
            <a:off x="5499462" y="3776472"/>
            <a:ext cx="1306285"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1" name="Rectangle 10280"/>
          <p:cNvSpPr/>
          <p:nvPr/>
        </p:nvSpPr>
        <p:spPr>
          <a:xfrm>
            <a:off x="5499462" y="3950208"/>
            <a:ext cx="4702628"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2" name="TextBox 10281"/>
          <p:cNvSpPr txBox="1"/>
          <p:nvPr/>
        </p:nvSpPr>
        <p:spPr>
          <a:xfrm>
            <a:off x="1005840" y="416052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F Forecasters</a:t>
            </a:r>
          </a:p>
        </p:txBody>
      </p:sp>
      <p:sp>
        <p:nvSpPr>
          <p:cNvPr id="10283" name="Rectangle 10282"/>
          <p:cNvSpPr/>
          <p:nvPr/>
        </p:nvSpPr>
        <p:spPr>
          <a:xfrm>
            <a:off x="6283234" y="4178808"/>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4" name="Rectangle 10283"/>
          <p:cNvSpPr/>
          <p:nvPr/>
        </p:nvSpPr>
        <p:spPr>
          <a:xfrm>
            <a:off x="9679577" y="4352544"/>
            <a:ext cx="1045028"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5" name="TextBox 10284"/>
          <p:cNvSpPr txBox="1"/>
          <p:nvPr/>
        </p:nvSpPr>
        <p:spPr>
          <a:xfrm>
            <a:off x="1005840" y="4562856"/>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G Experiments</a:t>
            </a:r>
          </a:p>
        </p:txBody>
      </p:sp>
      <p:sp>
        <p:nvSpPr>
          <p:cNvPr id="10286" name="Rectangle 10285"/>
          <p:cNvSpPr/>
          <p:nvPr/>
        </p:nvSpPr>
        <p:spPr>
          <a:xfrm>
            <a:off x="7067005" y="4581144"/>
            <a:ext cx="1045028"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7" name="Rectangle 10286"/>
          <p:cNvSpPr/>
          <p:nvPr/>
        </p:nvSpPr>
        <p:spPr>
          <a:xfrm>
            <a:off x="10202091" y="4754880"/>
            <a:ext cx="78377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88" name="TextBox 10287"/>
          <p:cNvSpPr txBox="1"/>
          <p:nvPr/>
        </p:nvSpPr>
        <p:spPr>
          <a:xfrm>
            <a:off x="1005840" y="4965192"/>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H LLM layer</a:t>
            </a:r>
          </a:p>
        </p:txBody>
      </p:sp>
      <p:sp>
        <p:nvSpPr>
          <p:cNvPr id="10289" name="Rectangle 10288"/>
          <p:cNvSpPr/>
          <p:nvPr/>
        </p:nvSpPr>
        <p:spPr>
          <a:xfrm>
            <a:off x="5499462" y="4983479"/>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0" name="Rectangle 10289"/>
          <p:cNvSpPr/>
          <p:nvPr/>
        </p:nvSpPr>
        <p:spPr>
          <a:xfrm>
            <a:off x="9679577" y="5157216"/>
            <a:ext cx="522514"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1" name="TextBox 10290"/>
          <p:cNvSpPr txBox="1"/>
          <p:nvPr/>
        </p:nvSpPr>
        <p:spPr>
          <a:xfrm>
            <a:off x="1005840" y="5367528"/>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I Testing</a:t>
            </a:r>
          </a:p>
        </p:txBody>
      </p:sp>
      <p:sp>
        <p:nvSpPr>
          <p:cNvPr id="10292" name="Rectangle 10291"/>
          <p:cNvSpPr/>
          <p:nvPr/>
        </p:nvSpPr>
        <p:spPr>
          <a:xfrm>
            <a:off x="8112034" y="5385816"/>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3" name="Rectangle 10292"/>
          <p:cNvSpPr/>
          <p:nvPr/>
        </p:nvSpPr>
        <p:spPr>
          <a:xfrm>
            <a:off x="9679577" y="5559552"/>
            <a:ext cx="1306285"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4" name="TextBox 10293"/>
          <p:cNvSpPr txBox="1"/>
          <p:nvPr/>
        </p:nvSpPr>
        <p:spPr>
          <a:xfrm>
            <a:off x="1005840" y="5769864"/>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J Integration</a:t>
            </a:r>
          </a:p>
        </p:txBody>
      </p:sp>
      <p:sp>
        <p:nvSpPr>
          <p:cNvPr id="10295" name="Rectangle 10294"/>
          <p:cNvSpPr/>
          <p:nvPr/>
        </p:nvSpPr>
        <p:spPr>
          <a:xfrm>
            <a:off x="8895805" y="5788152"/>
            <a:ext cx="522514"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6" name="Rectangle 10295"/>
          <p:cNvSpPr/>
          <p:nvPr/>
        </p:nvSpPr>
        <p:spPr>
          <a:xfrm>
            <a:off x="10463348" y="5961888"/>
            <a:ext cx="522514"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7" name="TextBox 10296"/>
          <p:cNvSpPr txBox="1"/>
          <p:nvPr/>
        </p:nvSpPr>
        <p:spPr>
          <a:xfrm>
            <a:off x="1005840" y="6172200"/>
            <a:ext cx="2834640" cy="402336"/>
          </a:xfrm>
          <a:prstGeom prst="rect">
            <a:avLst/>
          </a:prstGeom>
          <a:noFill/>
        </p:spPr>
        <p:txBody>
          <a:bodyPr wrap="square" anchor="ctr" lIns="36576" rIns="36576" tIns="36576" bIns="36576">
            <a:spAutoFit/>
          </a:bodyPr>
          <a:lstStyle/>
          <a:p>
            <a:pPr algn="r"/>
            <a:r>
              <a:rPr sz="1700" b="0" i="0">
                <a:solidFill>
                  <a:srgbClr val="1F2A44"/>
                </a:solidFill>
                <a:latin typeface="Calibri"/>
              </a:rPr>
              <a:t>K Report</a:t>
            </a:r>
          </a:p>
        </p:txBody>
      </p:sp>
      <p:sp>
        <p:nvSpPr>
          <p:cNvPr id="10298" name="Rectangle 10297"/>
          <p:cNvSpPr/>
          <p:nvPr/>
        </p:nvSpPr>
        <p:spPr>
          <a:xfrm>
            <a:off x="9418320" y="6190488"/>
            <a:ext cx="783771" cy="155448"/>
          </a:xfrm>
          <a:prstGeom prst="rect">
            <a:avLst/>
          </a:prstGeom>
          <a:solidFill>
            <a:srgbClr val="9DB9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299" name="Rectangle 10298"/>
          <p:cNvSpPr/>
          <p:nvPr/>
        </p:nvSpPr>
        <p:spPr>
          <a:xfrm>
            <a:off x="10463348" y="6364224"/>
            <a:ext cx="600891" cy="15544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2400" b="0" i="0">
                <a:solidFill>
                  <a:srgbClr val="1F2A44"/>
                </a:solidFill>
                <a:latin typeface="Calibri"/>
              </a:rPr>
              <a:t/>
            </a:r>
          </a:p>
        </p:txBody>
      </p:sp>
      <p:sp>
        <p:nvSpPr>
          <p:cNvPr id="10300" name="TextBox 10299"/>
          <p:cNvSpPr txBox="1"/>
          <p:nvPr/>
        </p:nvSpPr>
        <p:spPr>
          <a:xfrm>
            <a:off x="3931920" y="6711696"/>
            <a:ext cx="1371600" cy="274320"/>
          </a:xfrm>
          <a:prstGeom prst="rect">
            <a:avLst/>
          </a:prstGeom>
          <a:noFill/>
        </p:spPr>
        <p:txBody>
          <a:bodyPr wrap="square" anchor="t" lIns="0" rIns="0" tIns="36576" bIns="36576">
            <a:spAutoFit/>
          </a:bodyPr>
          <a:lstStyle/>
          <a:p>
            <a:pPr algn="l"/>
            <a:r>
              <a:rPr sz="1600" b="0" i="0">
                <a:solidFill>
                  <a:srgbClr val="6A8FB8"/>
                </a:solidFill>
                <a:latin typeface="Calibri"/>
              </a:rPr>
              <a:t>baseline</a:t>
            </a:r>
          </a:p>
        </p:txBody>
      </p:sp>
      <p:sp>
        <p:nvSpPr>
          <p:cNvPr id="10301" name="TextBox 10300"/>
          <p:cNvSpPr txBox="1"/>
          <p:nvPr/>
        </p:nvSpPr>
        <p:spPr>
          <a:xfrm>
            <a:off x="5577840" y="6711696"/>
            <a:ext cx="1371600" cy="274320"/>
          </a:xfrm>
          <a:prstGeom prst="rect">
            <a:avLst/>
          </a:prstGeom>
          <a:noFill/>
        </p:spPr>
        <p:txBody>
          <a:bodyPr wrap="square" anchor="t" lIns="0" rIns="0" tIns="36576" bIns="36576">
            <a:spAutoFit/>
          </a:bodyPr>
          <a:lstStyle/>
          <a:p>
            <a:pPr algn="l"/>
            <a:r>
              <a:rPr sz="1600" b="0" i="0">
                <a:solidFill>
                  <a:srgbClr val="D9822B"/>
                </a:solidFill>
                <a:latin typeface="Calibri"/>
              </a:rPr>
              <a:t>actual</a:t>
            </a:r>
          </a:p>
        </p:txBody>
      </p:sp>
      <p:sp>
        <p:nvSpPr>
          <p:cNvPr id="10302" name="Rectangle 10301"/>
          <p:cNvSpPr/>
          <p:nvPr/>
        </p:nvSpPr>
        <p:spPr>
          <a:xfrm>
            <a:off x="1005840" y="6949440"/>
            <a:ext cx="10058400" cy="3108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100" b="1" i="0">
                <a:solidFill>
                  <a:srgbClr val="1F2A44"/>
                </a:solidFill>
                <a:latin typeface="Calibri"/>
              </a:rPr>
              <a:t>Slip: </a:t>
            </a:r>
            <a:r>
              <a:rPr sz="2100" b="0" i="0">
                <a:solidFill>
                  <a:srgbClr val="1F2A44"/>
                </a:solidFill>
                <a:latin typeface="Calibri"/>
              </a:rPr>
              <a:t>24 weeks planned, about 27 actual (+3.3 weeks, 14%). Data (B) was reopened after the first dataset proved synthetic, which pushed C and G on the critical path; D, E and H sat on slack and absorbed their delay.</a:t>
            </a:r>
          </a:p>
          <a:p>
            <a:pPr algn="l"/>
            <a:r>
              <a:rPr sz="2100" b="1" i="0">
                <a:solidFill>
                  <a:srgbClr val="1F2A44"/>
                </a:solidFill>
                <a:latin typeface="Calibri"/>
              </a:rPr>
              <a:t>Milestones: </a:t>
            </a:r>
            <a:r>
              <a:rPr sz="2100" b="0" i="0">
                <a:solidFill>
                  <a:srgbClr val="1F2A44"/>
                </a:solidFill>
                <a:latin typeface="Calibri"/>
              </a:rPr>
              <a:t>M1 requirements (wk 3), M2 first deployed prototype 9 Jun, M3 farmer suite 30 Sep, M4 research results 29 Oct, M5 report (wk 27).</a:t>
            </a:r>
          </a:p>
        </p:txBody>
      </p:sp>
      <p:graphicFrame>
        <p:nvGraphicFramePr>
          <p:cNvPr id="10303" name="Table 10302"/>
          <p:cNvGraphicFramePr>
            <a:graphicFrameLocks noGrp="1"/>
          </p:cNvGraphicFramePr>
          <p:nvPr/>
        </p:nvGraphicFramePr>
        <p:xfrm>
          <a:off x="11430000" y="1645920"/>
          <a:ext cx="7680958" cy="6400800"/>
        </p:xfrm>
        <a:graphic>
          <a:graphicData uri="http://schemas.openxmlformats.org/drawingml/2006/table">
            <a:tbl>
              <a:tblPr firstRow="1" bandRow="1">
                <a:tableStyleId>{5C22544A-7EE6-4342-B048-85BDC9FD1C3A}</a:tableStyleId>
              </a:tblPr>
              <a:tblGrid>
                <a:gridCol w="2684607"/>
                <a:gridCol w="596579"/>
                <a:gridCol w="3281186"/>
                <a:gridCol w="1118586"/>
              </a:tblGrid>
              <a:tr h="640080">
                <a:tc>
                  <a:txBody>
                    <a:bodyPr wrap="square"/>
                    <a:lstStyle/>
                    <a:p>
                      <a:pPr algn="ctr"/>
                      <a:r>
                        <a:rPr sz="1700" b="1">
                          <a:solidFill>
                            <a:srgbClr val="FFFFFF"/>
                          </a:solidFill>
                          <a:latin typeface="Calibri"/>
                        </a:rPr>
                        <a:t>Risk</a:t>
                      </a:r>
                    </a:p>
                  </a:txBody>
                  <a:tcPr marL="73152" marR="73152" marT="27432" marB="27432" anchor="ctr">
                    <a:solidFill>
                      <a:srgbClr val="1F4E79"/>
                    </a:solidFill>
                  </a:tcPr>
                </a:tc>
                <a:tc>
                  <a:txBody>
                    <a:bodyPr wrap="square"/>
                    <a:lstStyle/>
                    <a:p>
                      <a:pPr algn="ctr"/>
                      <a:r>
                        <a:rPr sz="1700" b="1">
                          <a:solidFill>
                            <a:srgbClr val="FFFFFF"/>
                          </a:solidFill>
                          <a:latin typeface="Calibri"/>
                        </a:rPr>
                        <a:t>P×I</a:t>
                      </a:r>
                    </a:p>
                  </a:txBody>
                  <a:tcPr marL="73152" marR="73152" marT="27432" marB="27432" anchor="ctr">
                    <a:solidFill>
                      <a:srgbClr val="1F4E79"/>
                    </a:solidFill>
                  </a:tcPr>
                </a:tc>
                <a:tc>
                  <a:txBody>
                    <a:bodyPr wrap="square"/>
                    <a:lstStyle/>
                    <a:p>
                      <a:pPr algn="ctr"/>
                      <a:r>
                        <a:rPr sz="1700" b="1">
                          <a:solidFill>
                            <a:srgbClr val="FFFFFF"/>
                          </a:solidFill>
                          <a:latin typeface="Calibri"/>
                        </a:rPr>
                        <a:t>Response</a:t>
                      </a:r>
                    </a:p>
                  </a:txBody>
                  <a:tcPr marL="73152" marR="73152" marT="27432" marB="27432" anchor="ctr">
                    <a:solidFill>
                      <a:srgbClr val="1F4E79"/>
                    </a:solidFill>
                  </a:tcPr>
                </a:tc>
                <a:tc>
                  <a:txBody>
                    <a:bodyPr wrap="square"/>
                    <a:lstStyle/>
                    <a:p>
                      <a:pPr algn="ctr"/>
                      <a:r>
                        <a:rPr sz="1700" b="1">
                          <a:solidFill>
                            <a:srgbClr val="FFFFFF"/>
                          </a:solidFill>
                          <a:latin typeface="Calibri"/>
                        </a:rPr>
                        <a:t>Status</a:t>
                      </a:r>
                    </a:p>
                  </a:txBody>
                  <a:tcPr marL="73152" marR="73152" marT="27432" marB="27432" anchor="ctr">
                    <a:solidFill>
                      <a:srgbClr val="1F4E79"/>
                    </a:solidFill>
                  </a:tcPr>
                </a:tc>
              </a:tr>
              <a:tr h="640080">
                <a:tc>
                  <a:txBody>
                    <a:bodyPr wrap="square"/>
                    <a:lstStyle/>
                    <a:p>
                      <a:pPr algn="l"/>
                      <a:r>
                        <a:rPr sz="1700" b="0">
                          <a:solidFill>
                            <a:srgbClr val="1F2A44"/>
                          </a:solidFill>
                          <a:latin typeface="Calibri"/>
                        </a:rPr>
                        <a:t>R1 Source data synthetic</a:t>
                      </a:r>
                    </a:p>
                  </a:txBody>
                  <a:tcPr marL="73152" marR="73152" marT="27432" marB="27432" anchor="ctr">
                    <a:solidFill>
                      <a:srgbClr val="FFFFFF"/>
                    </a:solidFill>
                  </a:tcPr>
                </a:tc>
                <a:tc>
                  <a:txBody>
                    <a:bodyPr wrap="square"/>
                    <a:lstStyle/>
                    <a:p>
                      <a:pPr algn="ctr"/>
                      <a:r>
                        <a:rPr sz="1700" b="0">
                          <a:solidFill>
                            <a:srgbClr val="1F2A44"/>
                          </a:solidFill>
                          <a:latin typeface="Calibri"/>
                        </a:rPr>
                        <a:t>15</a:t>
                      </a:r>
                    </a:p>
                  </a:txBody>
                  <a:tcPr marL="73152" marR="73152" marT="27432" marB="27432" anchor="ctr">
                    <a:solidFill>
                      <a:srgbClr val="FFFFFF"/>
                    </a:solidFill>
                  </a:tcPr>
                </a:tc>
                <a:tc>
                  <a:txBody>
                    <a:bodyPr wrap="square"/>
                    <a:lstStyle/>
                    <a:p>
                      <a:pPr algn="l"/>
                      <a:r>
                        <a:rPr sz="1700" b="0">
                          <a:solidFill>
                            <a:srgbClr val="1F2A44"/>
                          </a:solidFill>
                          <a:latin typeface="Calibri"/>
                        </a:rPr>
                        <a:t>Re-acquired Agmarknet exports, integrity check, removed synthetic</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R2 Look-ahead leakage</a:t>
                      </a:r>
                    </a:p>
                  </a:txBody>
                  <a:tcPr marL="73152" marR="73152" marT="27432" marB="27432" anchor="ctr">
                    <a:solidFill>
                      <a:srgbClr val="F1F7FB"/>
                    </a:solidFill>
                  </a:tcPr>
                </a:tc>
                <a:tc>
                  <a:txBody>
                    <a:bodyPr wrap="square"/>
                    <a:lstStyle/>
                    <a:p>
                      <a:pPr algn="ctr"/>
                      <a:r>
                        <a:rPr sz="1700" b="0">
                          <a:solidFill>
                            <a:srgbClr val="1F2A44"/>
                          </a:solidFill>
                          <a:latin typeface="Calibri"/>
                        </a:rPr>
                        <a:t>20</a:t>
                      </a:r>
                    </a:p>
                  </a:txBody>
                  <a:tcPr marL="73152" marR="73152" marT="27432" marB="27432" anchor="ctr">
                    <a:solidFill>
                      <a:srgbClr val="F1F7FB"/>
                    </a:solidFill>
                  </a:tcPr>
                </a:tc>
                <a:tc>
                  <a:txBody>
                    <a:bodyPr wrap="square"/>
                    <a:lstStyle/>
                    <a:p>
                      <a:pPr algn="l"/>
                      <a:r>
                        <a:rPr sz="1700" b="0">
                          <a:solidFill>
                            <a:srgbClr val="1F2A44"/>
                          </a:solidFill>
                          <a:latin typeface="Calibri"/>
                        </a:rPr>
                        <a:t>Leakage unit tests; caught 2 whole-series-centred features</a:t>
                      </a:r>
                    </a:p>
                  </a:txBody>
                  <a:tcPr marL="73152" marR="73152" marT="27432" marB="27432" anchor="ctr">
                    <a:solidFill>
                      <a:srgbClr val="F1F7FB"/>
                    </a:solidFill>
                  </a:tcPr>
                </a:tc>
                <a:tc>
                  <a:txBody>
                    <a:bodyPr wrap="square"/>
                    <a:lstStyle/>
                    <a:p>
                      <a:pPr algn="ctr"/>
                      <a:r>
                        <a:rPr sz="1700" b="0">
                          <a:solidFill>
                            <a:srgbClr val="C0392B"/>
                          </a:solidFill>
                          <a:latin typeface="Calibri"/>
                        </a:rPr>
                        <a:t>Occurred</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R3 Hard deletion broke trader pages</a:t>
                      </a:r>
                    </a:p>
                  </a:txBody>
                  <a:tcPr marL="73152" marR="73152" marT="27432" marB="27432" anchor="ctr">
                    <a:solidFill>
                      <a:srgbClr val="FFFFFF"/>
                    </a:solidFill>
                  </a:tcPr>
                </a:tc>
                <a:tc>
                  <a:txBody>
                    <a:bodyPr wrap="square"/>
                    <a:lstStyle/>
                    <a:p>
                      <a:pPr algn="ctr"/>
                      <a:r>
                        <a:rPr sz="1700" b="0">
                          <a:solidFill>
                            <a:srgbClr val="1F2A44"/>
                          </a:solidFill>
                          <a:latin typeface="Calibri"/>
                        </a:rPr>
                        <a:t>9</a:t>
                      </a:r>
                    </a:p>
                  </a:txBody>
                  <a:tcPr marL="73152" marR="73152" marT="27432" marB="27432" anchor="ctr">
                    <a:solidFill>
                      <a:srgbClr val="FFFFFF"/>
                    </a:solidFill>
                  </a:tcPr>
                </a:tc>
                <a:tc>
                  <a:txBody>
                    <a:bodyPr wrap="square"/>
                    <a:lstStyle/>
                    <a:p>
                      <a:pPr algn="l"/>
                      <a:r>
                        <a:rPr sz="1700" b="0">
                          <a:solidFill>
                            <a:srgbClr val="1F2A44"/>
                          </a:solidFill>
                          <a:latin typeface="Calibri"/>
                        </a:rPr>
                        <a:t>Soft delete, re-seeding, id aliasing</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R4 NumPy 2 broke pandas</a:t>
                      </a:r>
                    </a:p>
                  </a:txBody>
                  <a:tcPr marL="73152" marR="73152" marT="27432" marB="27432" anchor="ctr">
                    <a:solidFill>
                      <a:srgbClr val="F1F7FB"/>
                    </a:solidFill>
                  </a:tcPr>
                </a:tc>
                <a:tc>
                  <a:txBody>
                    <a:bodyPr wrap="square"/>
                    <a:lstStyle/>
                    <a:p>
                      <a:pPr algn="ctr"/>
                      <a:r>
                        <a:rPr sz="1700" b="0">
                          <a:solidFill>
                            <a:srgbClr val="1F2A44"/>
                          </a:solidFill>
                          <a:latin typeface="Calibri"/>
                        </a:rPr>
                        <a:t>9</a:t>
                      </a:r>
                    </a:p>
                  </a:txBody>
                  <a:tcPr marL="73152" marR="73152" marT="27432" marB="27432" anchor="ctr">
                    <a:solidFill>
                      <a:srgbClr val="F1F7FB"/>
                    </a:solidFill>
                  </a:tcPr>
                </a:tc>
                <a:tc>
                  <a:txBody>
                    <a:bodyPr wrap="square"/>
                    <a:lstStyle/>
                    <a:p>
                      <a:pPr algn="l"/>
                      <a:r>
                        <a:rPr sz="1700" b="0">
                          <a:solidFill>
                            <a:srgbClr val="1F2A44"/>
                          </a:solidFill>
                          <a:latin typeface="Calibri"/>
                        </a:rPr>
                        <a:t>Pinned 1.26.4; lock file</a:t>
                      </a:r>
                    </a:p>
                  </a:txBody>
                  <a:tcPr marL="73152" marR="73152" marT="27432" marB="27432" anchor="ctr">
                    <a:solidFill>
                      <a:srgbClr val="F1F7FB"/>
                    </a:solidFill>
                  </a:tcPr>
                </a:tc>
                <a:tc>
                  <a:txBody>
                    <a:bodyPr wrap="square"/>
                    <a:lstStyle/>
                    <a:p>
                      <a:pPr algn="ctr"/>
                      <a:r>
                        <a:rPr sz="1700" b="0">
                          <a:solidFill>
                            <a:srgbClr val="C0392B"/>
                          </a:solidFill>
                          <a:latin typeface="Calibri"/>
                        </a:rPr>
                        <a:t>Occurred</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R5 LLM rate limit 8k tokens/min</a:t>
                      </a:r>
                    </a:p>
                  </a:txBody>
                  <a:tcPr marL="73152" marR="73152" marT="27432" marB="27432" anchor="ctr">
                    <a:solidFill>
                      <a:srgbClr val="FFFFFF"/>
                    </a:solidFill>
                  </a:tcPr>
                </a:tc>
                <a:tc>
                  <a:txBody>
                    <a:bodyPr wrap="square"/>
                    <a:lstStyle/>
                    <a:p>
                      <a:pPr algn="ctr"/>
                      <a:r>
                        <a:rPr sz="1700" b="0">
                          <a:solidFill>
                            <a:srgbClr val="1F2A44"/>
                          </a:solidFill>
                          <a:latin typeface="Calibri"/>
                        </a:rPr>
                        <a:t>8</a:t>
                      </a:r>
                    </a:p>
                  </a:txBody>
                  <a:tcPr marL="73152" marR="73152" marT="27432" marB="27432" anchor="ctr">
                    <a:solidFill>
                      <a:srgbClr val="FFFFFF"/>
                    </a:solidFill>
                  </a:tcPr>
                </a:tc>
                <a:tc>
                  <a:txBody>
                    <a:bodyPr wrap="square"/>
                    <a:lstStyle/>
                    <a:p>
                      <a:pPr algn="l"/>
                      <a:r>
                        <a:rPr sz="1700" b="0">
                          <a:solidFill>
                            <a:srgbClr val="1F2A44"/>
                          </a:solidFill>
                          <a:latin typeface="Calibri"/>
                        </a:rPr>
                        <a:t>Throttling, small evaluation set</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R6 Uneven team contribution</a:t>
                      </a:r>
                    </a:p>
                  </a:txBody>
                  <a:tcPr marL="73152" marR="73152" marT="27432" marB="27432" anchor="ctr">
                    <a:solidFill>
                      <a:srgbClr val="F1F7FB"/>
                    </a:solidFill>
                  </a:tcPr>
                </a:tc>
                <a:tc>
                  <a:txBody>
                    <a:bodyPr wrap="square"/>
                    <a:lstStyle/>
                    <a:p>
                      <a:pPr algn="ctr"/>
                      <a:r>
                        <a:rPr sz="1700" b="0">
                          <a:solidFill>
                            <a:srgbClr val="1F2A44"/>
                          </a:solidFill>
                          <a:latin typeface="Calibri"/>
                        </a:rPr>
                        <a:t>12</a:t>
                      </a:r>
                    </a:p>
                  </a:txBody>
                  <a:tcPr marL="73152" marR="73152" marT="27432" marB="27432" anchor="ctr">
                    <a:solidFill>
                      <a:srgbClr val="F1F7FB"/>
                    </a:solidFill>
                  </a:tcPr>
                </a:tc>
                <a:tc>
                  <a:txBody>
                    <a:bodyPr wrap="square"/>
                    <a:lstStyle/>
                    <a:p>
                      <a:pPr algn="l"/>
                      <a:r>
                        <a:rPr sz="1700" b="0">
                          <a:solidFill>
                            <a:srgbClr val="1F2A44"/>
                          </a:solidFill>
                          <a:latin typeface="Calibri"/>
                        </a:rPr>
                        <a:t>Contribution record; owner split</a:t>
                      </a:r>
                    </a:p>
                  </a:txBody>
                  <a:tcPr marL="73152" marR="73152" marT="27432" marB="27432" anchor="ctr">
                    <a:solidFill>
                      <a:srgbClr val="F1F7FB"/>
                    </a:solidFill>
                  </a:tcPr>
                </a:tc>
                <a:tc>
                  <a:txBody>
                    <a:bodyPr wrap="square"/>
                    <a:lstStyle/>
                    <a:p>
                      <a:pPr algn="ctr"/>
                      <a:r>
                        <a:rPr sz="1700" b="0">
                          <a:solidFill>
                            <a:srgbClr val="D9822B"/>
                          </a:solidFill>
                          <a:latin typeface="Calibri"/>
                        </a:rPr>
                        <a:t>Open</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R7 Deployment unverified</a:t>
                      </a:r>
                    </a:p>
                  </a:txBody>
                  <a:tcPr marL="73152" marR="73152" marT="27432" marB="27432" anchor="ctr">
                    <a:solidFill>
                      <a:srgbClr val="FFFFFF"/>
                    </a:solidFill>
                  </a:tcPr>
                </a:tc>
                <a:tc>
                  <a:txBody>
                    <a:bodyPr wrap="square"/>
                    <a:lstStyle/>
                    <a:p>
                      <a:pPr algn="ctr"/>
                      <a:r>
                        <a:rPr sz="1700" b="0">
                          <a:solidFill>
                            <a:srgbClr val="1F2A44"/>
                          </a:solidFill>
                          <a:latin typeface="Calibri"/>
                        </a:rPr>
                        <a:t>9</a:t>
                      </a:r>
                    </a:p>
                  </a:txBody>
                  <a:tcPr marL="73152" marR="73152" marT="27432" marB="27432" anchor="ctr">
                    <a:solidFill>
                      <a:srgbClr val="FFFFFF"/>
                    </a:solidFill>
                  </a:tcPr>
                </a:tc>
                <a:tc>
                  <a:txBody>
                    <a:bodyPr wrap="square"/>
                    <a:lstStyle/>
                    <a:p>
                      <a:pPr algn="l"/>
                      <a:r>
                        <a:rPr sz="1700" b="0">
                          <a:solidFill>
                            <a:srgbClr val="1F2A44"/>
                          </a:solidFill>
                          <a:latin typeface="Calibri"/>
                        </a:rPr>
                        <a:t>Docker + Render files; to verify</a:t>
                      </a:r>
                    </a:p>
                  </a:txBody>
                  <a:tcPr marL="73152" marR="73152" marT="27432" marB="27432" anchor="ctr">
                    <a:solidFill>
                      <a:srgbClr val="FFFFFF"/>
                    </a:solidFill>
                  </a:tcPr>
                </a:tc>
                <a:tc>
                  <a:txBody>
                    <a:bodyPr wrap="square"/>
                    <a:lstStyle/>
                    <a:p>
                      <a:pPr algn="ctr"/>
                      <a:r>
                        <a:rPr sz="1700" b="0">
                          <a:solidFill>
                            <a:srgbClr val="D9822B"/>
                          </a:solidFill>
                          <a:latin typeface="Calibri"/>
                        </a:rPr>
                        <a:t>Open</a:t>
                      </a:r>
                    </a:p>
                  </a:txBody>
                  <a:tcPr marL="73152" marR="73152" marT="27432" marB="27432" anchor="ctr">
                    <a:solidFill>
                      <a:srgbClr val="FFFFFF"/>
                    </a:solidFill>
                  </a:tcPr>
                </a:tc>
              </a:tr>
              <a:tr h="640080">
                <a:tc>
                  <a:txBody>
                    <a:bodyPr wrap="square"/>
                    <a:lstStyle/>
                    <a:p>
                      <a:pPr algn="l"/>
                      <a:r>
                        <a:rPr sz="1700" b="0">
                          <a:solidFill>
                            <a:srgbClr val="1F2A44"/>
                          </a:solidFill>
                          <a:latin typeface="Calibri"/>
                        </a:rPr>
                        <a:t>R8 No field trial</a:t>
                      </a:r>
                    </a:p>
                  </a:txBody>
                  <a:tcPr marL="73152" marR="73152" marT="27432" marB="27432" anchor="ctr">
                    <a:solidFill>
                      <a:srgbClr val="F1F7FB"/>
                    </a:solidFill>
                  </a:tcPr>
                </a:tc>
                <a:tc>
                  <a:txBody>
                    <a:bodyPr wrap="square"/>
                    <a:lstStyle/>
                    <a:p>
                      <a:pPr algn="ctr"/>
                      <a:r>
                        <a:rPr sz="1700" b="0">
                          <a:solidFill>
                            <a:srgbClr val="1F2A44"/>
                          </a:solidFill>
                          <a:latin typeface="Calibri"/>
                        </a:rPr>
                        <a:t>12</a:t>
                      </a:r>
                    </a:p>
                  </a:txBody>
                  <a:tcPr marL="73152" marR="73152" marT="27432" marB="27432" anchor="ctr">
                    <a:solidFill>
                      <a:srgbClr val="F1F7FB"/>
                    </a:solidFill>
                  </a:tcPr>
                </a:tc>
                <a:tc>
                  <a:txBody>
                    <a:bodyPr wrap="square"/>
                    <a:lstStyle/>
                    <a:p>
                      <a:pPr algn="l"/>
                      <a:r>
                        <a:rPr sz="1700" b="0">
                          <a:solidFill>
                            <a:srgbClr val="1F2A44"/>
                          </a:solidFill>
                          <a:latin typeface="Calibri"/>
                        </a:rPr>
                        <a:t>Stated limitation; survey ready</a:t>
                      </a:r>
                    </a:p>
                  </a:txBody>
                  <a:tcPr marL="73152" marR="73152" marT="27432" marB="27432" anchor="ctr">
                    <a:solidFill>
                      <a:srgbClr val="F1F7FB"/>
                    </a:solidFill>
                  </a:tcPr>
                </a:tc>
                <a:tc>
                  <a:txBody>
                    <a:bodyPr wrap="square"/>
                    <a:lstStyle/>
                    <a:p>
                      <a:pPr algn="ctr"/>
                      <a:r>
                        <a:rPr sz="1700" b="0">
                          <a:solidFill>
                            <a:srgbClr val="D9822B"/>
                          </a:solidFill>
                          <a:latin typeface="Calibri"/>
                        </a:rPr>
                        <a:t>Open</a:t>
                      </a:r>
                    </a:p>
                  </a:txBody>
                  <a:tcPr marL="73152" marR="73152" marT="27432" marB="27432" anchor="ctr">
                    <a:solidFill>
                      <a:srgbClr val="F1F7FB"/>
                    </a:solidFill>
                  </a:tcPr>
                </a:tc>
              </a:tr>
              <a:tr h="640080">
                <a:tc>
                  <a:txBody>
                    <a:bodyPr wrap="square"/>
                    <a:lstStyle/>
                    <a:p>
                      <a:pPr algn="l"/>
                      <a:r>
                        <a:rPr sz="1700" b="0">
                          <a:solidFill>
                            <a:srgbClr val="1F2A44"/>
                          </a:solidFill>
                          <a:latin typeface="Calibri"/>
                        </a:rPr>
                        <a:t>R10 Stale server served old code</a:t>
                      </a:r>
                    </a:p>
                  </a:txBody>
                  <a:tcPr marL="73152" marR="73152" marT="27432" marB="27432" anchor="ctr">
                    <a:solidFill>
                      <a:srgbClr val="FFFFFF"/>
                    </a:solidFill>
                  </a:tcPr>
                </a:tc>
                <a:tc>
                  <a:txBody>
                    <a:bodyPr wrap="square"/>
                    <a:lstStyle/>
                    <a:p>
                      <a:pPr algn="ctr"/>
                      <a:r>
                        <a:rPr sz="1700" b="0">
                          <a:solidFill>
                            <a:srgbClr val="1F2A44"/>
                          </a:solidFill>
                          <a:latin typeface="Calibri"/>
                        </a:rPr>
                        <a:t>6</a:t>
                      </a:r>
                    </a:p>
                  </a:txBody>
                  <a:tcPr marL="73152" marR="73152" marT="27432" marB="27432" anchor="ctr">
                    <a:solidFill>
                      <a:srgbClr val="FFFFFF"/>
                    </a:solidFill>
                  </a:tcPr>
                </a:tc>
                <a:tc>
                  <a:txBody>
                    <a:bodyPr wrap="square"/>
                    <a:lstStyle/>
                    <a:p>
                      <a:pPr algn="l"/>
                      <a:r>
                        <a:rPr sz="1700" b="0">
                          <a:solidFill>
                            <a:srgbClr val="1F2A44"/>
                          </a:solidFill>
                          <a:latin typeface="Calibri"/>
                        </a:rPr>
                        <a:t>Restart; smoke test lists every endpoint</a:t>
                      </a:r>
                    </a:p>
                  </a:txBody>
                  <a:tcPr marL="73152" marR="73152" marT="27432" marB="27432" anchor="ctr">
                    <a:solidFill>
                      <a:srgbClr val="FFFFFF"/>
                    </a:solidFill>
                  </a:tcPr>
                </a:tc>
                <a:tc>
                  <a:txBody>
                    <a:bodyPr wrap="square"/>
                    <a:lstStyle/>
                    <a:p>
                      <a:pPr algn="ctr"/>
                      <a:r>
                        <a:rPr sz="1700" b="0">
                          <a:solidFill>
                            <a:srgbClr val="C0392B"/>
                          </a:solidFill>
                          <a:latin typeface="Calibri"/>
                        </a:rPr>
                        <a:t>Occurred</a:t>
                      </a:r>
                    </a:p>
                  </a:txBody>
                  <a:tcPr marL="73152" marR="73152" marT="27432" marB="27432" anchor="ctr">
                    <a:solidFill>
                      <a:srgbClr val="FFFFFF"/>
                    </a:solidFill>
                  </a:tcPr>
                </a:tc>
              </a:tr>
            </a:tbl>
          </a:graphicData>
        </a:graphic>
      </p:graphicFrame>
      <p:sp>
        <p:nvSpPr>
          <p:cNvPr id="10304" name="Rectangle 10303"/>
          <p:cNvSpPr/>
          <p:nvPr/>
        </p:nvSpPr>
        <p:spPr>
          <a:xfrm>
            <a:off x="11430000" y="8412480"/>
            <a:ext cx="7680960" cy="173736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000" b="1" i="0">
                <a:solidFill>
                  <a:srgbClr val="1F2A44"/>
                </a:solidFill>
                <a:latin typeface="Calibri"/>
              </a:rPr>
              <a:t>Materialised: R1. </a:t>
            </a:r>
            <a:r>
              <a:rPr sz="2000" b="0" i="0">
                <a:solidFill>
                  <a:srgbClr val="1F2A44"/>
                </a:solidFill>
                <a:latin typeface="Calibri"/>
              </a:rPr>
              <a:t>Trigger: results that looked too clean. Action: discard, rebuild from portal exports, re-run every experiment (see report Ch. 4).</a:t>
            </a:r>
          </a:p>
        </p:txBody>
      </p:sp>
    </p:spTree>
    <p:extLst>
      <p:ext uri="{BB962C8B-B14F-4D97-AF65-F5344CB8AC3E}">
        <p14:creationId xmlns:p14="http://schemas.microsoft.com/office/powerpoint/2010/main" val="1769017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Project Report and Documentation Status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2" name="Content Guidance"/>
          <p:cNvSpPr txBox="1"/>
          <p:nvPr/>
        </p:nvSpPr>
        <p:spPr>
          <a:xfrm>
            <a:off x="1005840" y="1737360"/>
            <a:ext cx="18105120" cy="32918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Report: </a:t>
            </a:r>
            <a:r>
              <a:rPr lang="en-US" sz="2500" dirty="0">
                <a:solidFill>
                  <a:srgbClr val="1F2A44"/>
                </a:solidFill>
                <a:latin typeface="Calibri" panose="020F0502020204030204" charset="0"/>
                <a:cs typeface="Calibri" panose="020F0502020204030204" charset="0"/>
              </a:rPr>
              <a:t>BMSCE thesis template, 83 pages, compiled in LaTeX; Chapters 1–7 written, now including the insight features and the digest; every table generated from experiment artefacts.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Appendices: </a:t>
            </a:r>
            <a:r>
              <a:rPr lang="en-US" sz="2500" dirty="0">
                <a:solidFill>
                  <a:srgbClr val="1F2A44"/>
                </a:solidFill>
                <a:latin typeface="Calibri" panose="020F0502020204030204" charset="0"/>
                <a:cs typeface="Calibri" panose="020F0502020204030204" charset="0"/>
              </a:rPr>
              <a:t>A code (read from source), B survey instrument, C per-fold evaluation, D dataset, E PO and SDG mapping, F similarity record.</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Remaining: </a:t>
            </a:r>
            <a:r>
              <a:rPr lang="en-US" sz="2500" dirty="0">
                <a:solidFill>
                  <a:srgbClr val="1F2A44"/>
                </a:solidFill>
                <a:latin typeface="Calibri" panose="020F0502020204030204" charset="0"/>
                <a:cs typeface="Calibri" panose="020F0502020204030204" charset="0"/>
              </a:rPr>
              <a:t>official Drillbit report, CO–PO matrix from the course file, declaration date, supervisor corrections.</a:t>
            </a:r>
          </a:p>
        </p:txBody>
      </p:sp>
      <p:graphicFrame>
        <p:nvGraphicFramePr>
          <p:cNvPr id="10251" name="Table 10250"/>
          <p:cNvGraphicFramePr>
            <a:graphicFrameLocks noGrp="1"/>
          </p:cNvGraphicFramePr>
          <p:nvPr/>
        </p:nvGraphicFramePr>
        <p:xfrm>
          <a:off x="1005840" y="4572000"/>
          <a:ext cx="10972799" cy="4389120"/>
        </p:xfrm>
        <a:graphic>
          <a:graphicData uri="http://schemas.openxmlformats.org/drawingml/2006/table">
            <a:tbl>
              <a:tblPr firstRow="1" bandRow="1">
                <a:tableStyleId>{5C22544A-7EE6-4342-B048-85BDC9FD1C3A}</a:tableStyleId>
              </a:tblPr>
              <a:tblGrid>
                <a:gridCol w="4023360"/>
                <a:gridCol w="6949439"/>
              </a:tblGrid>
              <a:tr h="731520">
                <a:tc>
                  <a:txBody>
                    <a:bodyPr wrap="square"/>
                    <a:lstStyle/>
                    <a:p>
                      <a:pPr algn="ctr"/>
                      <a:r>
                        <a:rPr sz="2300" b="1">
                          <a:solidFill>
                            <a:srgbClr val="FFFFFF"/>
                          </a:solidFill>
                          <a:latin typeface="Calibri"/>
                        </a:rPr>
                        <a:t>Item</a:t>
                      </a:r>
                    </a:p>
                  </a:txBody>
                  <a:tcPr marL="73152" marR="73152" marT="27432" marB="27432" anchor="ctr">
                    <a:solidFill>
                      <a:srgbClr val="1F4E79"/>
                    </a:solidFill>
                  </a:tcPr>
                </a:tc>
                <a:tc>
                  <a:txBody>
                    <a:bodyPr wrap="square"/>
                    <a:lstStyle/>
                    <a:p>
                      <a:pPr algn="ctr"/>
                      <a:r>
                        <a:rPr sz="2300" b="1">
                          <a:solidFill>
                            <a:srgbClr val="FFFFFF"/>
                          </a:solidFill>
                          <a:latin typeface="Calibri"/>
                        </a:rPr>
                        <a:t>State</a:t>
                      </a:r>
                    </a:p>
                  </a:txBody>
                  <a:tcPr marL="73152" marR="73152" marT="27432" marB="27432" anchor="ctr">
                    <a:solidFill>
                      <a:srgbClr val="1F4E79"/>
                    </a:solidFill>
                  </a:tcPr>
                </a:tc>
              </a:tr>
              <a:tr h="731520">
                <a:tc>
                  <a:txBody>
                    <a:bodyPr wrap="square"/>
                    <a:lstStyle/>
                    <a:p>
                      <a:pPr algn="l"/>
                      <a:r>
                        <a:rPr sz="2300" b="0">
                          <a:solidFill>
                            <a:srgbClr val="1F2A44"/>
                          </a:solidFill>
                          <a:latin typeface="Calibri"/>
                        </a:rPr>
                        <a:t>Chapters 1–7</a:t>
                      </a:r>
                    </a:p>
                  </a:txBody>
                  <a:tcPr marL="73152" marR="73152" marT="27432" marB="27432" anchor="ctr">
                    <a:solidFill>
                      <a:srgbClr val="FFFFFF"/>
                    </a:solidFill>
                  </a:tcPr>
                </a:tc>
                <a:tc>
                  <a:txBody>
                    <a:bodyPr wrap="square"/>
                    <a:lstStyle/>
                    <a:p>
                      <a:pPr algn="l"/>
                      <a:r>
                        <a:rPr sz="2300" b="0">
                          <a:solidFill>
                            <a:srgbClr val="2E8B57"/>
                          </a:solidFill>
                          <a:latin typeface="Calibri"/>
                        </a:rPr>
                        <a:t>complete</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Appendices A–E</a:t>
                      </a:r>
                    </a:p>
                  </a:txBody>
                  <a:tcPr marL="73152" marR="73152" marT="27432" marB="27432" anchor="ctr">
                    <a:solidFill>
                      <a:srgbClr val="F1F7FB"/>
                    </a:solidFill>
                  </a:tcPr>
                </a:tc>
                <a:tc>
                  <a:txBody>
                    <a:bodyPr wrap="square"/>
                    <a:lstStyle/>
                    <a:p>
                      <a:pPr algn="l"/>
                      <a:r>
                        <a:rPr sz="2300" b="0">
                          <a:solidFill>
                            <a:srgbClr val="D9822B"/>
                          </a:solidFill>
                          <a:latin typeface="Calibri"/>
                        </a:rPr>
                        <a:t>complete (E: CO–PO table to be inserted)</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Appendix F similarity record</a:t>
                      </a:r>
                    </a:p>
                  </a:txBody>
                  <a:tcPr marL="73152" marR="73152" marT="27432" marB="27432" anchor="ctr">
                    <a:solidFill>
                      <a:srgbClr val="FFFFFF"/>
                    </a:solidFill>
                  </a:tcPr>
                </a:tc>
                <a:tc>
                  <a:txBody>
                    <a:bodyPr wrap="square"/>
                    <a:lstStyle/>
                    <a:p>
                      <a:pPr algn="l"/>
                      <a:r>
                        <a:rPr sz="2300" b="0">
                          <a:solidFill>
                            <a:srgbClr val="C0392B"/>
                          </a:solidFill>
                          <a:latin typeface="Calibri"/>
                        </a:rPr>
                        <a:t>pending: Drillbit not yet run</a:t>
                      </a:r>
                    </a:p>
                  </a:txBody>
                  <a:tcPr marL="73152" marR="73152" marT="27432" marB="27432" anchor="ctr">
                    <a:solidFill>
                      <a:srgbClr val="FFFFFF"/>
                    </a:solidFill>
                  </a:tcPr>
                </a:tc>
              </a:tr>
              <a:tr h="731520">
                <a:tc>
                  <a:txBody>
                    <a:bodyPr wrap="square"/>
                    <a:lstStyle/>
                    <a:p>
                      <a:pPr algn="l"/>
                      <a:r>
                        <a:rPr sz="2300" b="0">
                          <a:solidFill>
                            <a:srgbClr val="1F2A44"/>
                          </a:solidFill>
                          <a:latin typeface="Calibri"/>
                        </a:rPr>
                        <a:t>Figures and tables</a:t>
                      </a:r>
                    </a:p>
                  </a:txBody>
                  <a:tcPr marL="73152" marR="73152" marT="27432" marB="27432" anchor="ctr">
                    <a:solidFill>
                      <a:srgbClr val="F1F7FB"/>
                    </a:solidFill>
                  </a:tcPr>
                </a:tc>
                <a:tc>
                  <a:txBody>
                    <a:bodyPr wrap="square"/>
                    <a:lstStyle/>
                    <a:p>
                      <a:pPr algn="l"/>
                      <a:r>
                        <a:rPr sz="2300" b="0">
                          <a:solidFill>
                            <a:srgbClr val="2E8B57"/>
                          </a:solidFill>
                          <a:latin typeface="Calibri"/>
                        </a:rPr>
                        <a:t>numbered, captioned, referenced</a:t>
                      </a:r>
                    </a:p>
                  </a:txBody>
                  <a:tcPr marL="73152" marR="73152" marT="27432" marB="27432" anchor="ctr">
                    <a:solidFill>
                      <a:srgbClr val="F1F7FB"/>
                    </a:solidFill>
                  </a:tcPr>
                </a:tc>
              </a:tr>
              <a:tr h="731520">
                <a:tc>
                  <a:txBody>
                    <a:bodyPr wrap="square"/>
                    <a:lstStyle/>
                    <a:p>
                      <a:pPr algn="l"/>
                      <a:r>
                        <a:rPr sz="2300" b="0">
                          <a:solidFill>
                            <a:srgbClr val="1F2A44"/>
                          </a:solidFill>
                          <a:latin typeface="Calibri"/>
                        </a:rPr>
                        <a:t>Citations</a:t>
                      </a:r>
                    </a:p>
                  </a:txBody>
                  <a:tcPr marL="73152" marR="73152" marT="27432" marB="27432" anchor="ctr">
                    <a:solidFill>
                      <a:srgbClr val="FFFFFF"/>
                    </a:solidFill>
                  </a:tcPr>
                </a:tc>
                <a:tc>
                  <a:txBody>
                    <a:bodyPr wrap="square"/>
                    <a:lstStyle/>
                    <a:p>
                      <a:pPr algn="l"/>
                      <a:r>
                        <a:rPr sz="2300" b="0">
                          <a:solidFill>
                            <a:srgbClr val="2E8B57"/>
                          </a:solidFill>
                          <a:latin typeface="Calibri"/>
                        </a:rPr>
                        <a:t>40 IEEE-style entries, all cited</a:t>
                      </a:r>
                    </a:p>
                  </a:txBody>
                  <a:tcPr marL="73152" marR="73152" marT="27432" marB="27432" anchor="ctr">
                    <a:solidFill>
                      <a:srgbClr val="FFFFFF"/>
                    </a:solidFill>
                  </a:tcPr>
                </a:tc>
              </a:tr>
            </a:tbl>
          </a:graphicData>
        </a:graphic>
      </p:graphicFrame>
      <p:sp>
        <p:nvSpPr>
          <p:cNvPr id="10252" name="Rectangle 10251"/>
          <p:cNvSpPr/>
          <p:nvPr/>
        </p:nvSpPr>
        <p:spPr>
          <a:xfrm>
            <a:off x="12527280" y="4572000"/>
            <a:ext cx="6583680" cy="438912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Similarity: </a:t>
            </a:r>
            <a:r>
              <a:rPr sz="2300" b="0" i="0">
                <a:solidFill>
                  <a:srgbClr val="1F2A44"/>
                </a:solidFill>
                <a:latin typeface="Calibri"/>
              </a:rPr>
              <a:t>target ≤ 20% with Drillbit, references excluded. The official check has not been run yet; no percentage is claimed. A self-check of the conference draft found no verbatim web matches, which is not a substitute.</a:t>
            </a:r>
          </a:p>
        </p:txBody>
      </p:sp>
    </p:spTree>
    <p:extLst>
      <p:ext uri="{BB962C8B-B14F-4D97-AF65-F5344CB8AC3E}">
        <p14:creationId xmlns:p14="http://schemas.microsoft.com/office/powerpoint/2010/main" val="1769017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SDG Mapping and Societal Impact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3" name="Content Guidance"/>
          <p:cNvSpPr txBox="1"/>
          <p:nvPr/>
        </p:nvSpPr>
        <p:spPr>
          <a:xfrm>
            <a:off x="1005840" y="1737360"/>
            <a:ext cx="18105120" cy="164592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Stakeholders: </a:t>
            </a:r>
            <a:r>
              <a:rPr lang="en-US" sz="2500" dirty="0">
                <a:solidFill>
                  <a:srgbClr val="1F2A44"/>
                </a:solidFill>
                <a:latin typeface="Calibri" panose="020F0502020204030204" charset="0"/>
                <a:cs typeface="Calibri" panose="020F0502020204030204" charset="0"/>
              </a:rPr>
              <a:t>smallholder farmers (need a plain answer and a floor), traders (need evidence tiers and arrivals), mandi officials and policy makers (need transparent data use).</a:t>
            </a:r>
          </a:p>
        </p:txBody>
      </p:sp>
      <p:graphicFrame>
        <p:nvGraphicFramePr>
          <p:cNvPr id="10251" name="Table 10250"/>
          <p:cNvGraphicFramePr>
            <a:graphicFrameLocks noGrp="1"/>
          </p:cNvGraphicFramePr>
          <p:nvPr/>
        </p:nvGraphicFramePr>
        <p:xfrm>
          <a:off x="1005840" y="3566160"/>
          <a:ext cx="18105118" cy="5029200"/>
        </p:xfrm>
        <a:graphic>
          <a:graphicData uri="http://schemas.openxmlformats.org/drawingml/2006/table">
            <a:tbl>
              <a:tblPr firstRow="1" bandRow="1">
                <a:tableStyleId>{5C22544A-7EE6-4342-B048-85BDC9FD1C3A}</a:tableStyleId>
              </a:tblPr>
              <a:tblGrid>
                <a:gridCol w="1917012"/>
                <a:gridCol w="5538036"/>
                <a:gridCol w="7881052"/>
                <a:gridCol w="2769018"/>
              </a:tblGrid>
              <a:tr h="1005840">
                <a:tc>
                  <a:txBody>
                    <a:bodyPr wrap="square"/>
                    <a:lstStyle/>
                    <a:p>
                      <a:pPr algn="ctr"/>
                      <a:r>
                        <a:rPr sz="2300" b="1">
                          <a:solidFill>
                            <a:srgbClr val="FFFFFF"/>
                          </a:solidFill>
                          <a:latin typeface="Calibri"/>
                        </a:rPr>
                        <a:t>SDG / target</a:t>
                      </a:r>
                    </a:p>
                  </a:txBody>
                  <a:tcPr marL="73152" marR="73152" marT="27432" marB="27432" anchor="ctr">
                    <a:solidFill>
                      <a:srgbClr val="1F4E79"/>
                    </a:solidFill>
                  </a:tcPr>
                </a:tc>
                <a:tc>
                  <a:txBody>
                    <a:bodyPr wrap="square"/>
                    <a:lstStyle/>
                    <a:p>
                      <a:pPr algn="ctr"/>
                      <a:r>
                        <a:rPr sz="2300" b="1">
                          <a:solidFill>
                            <a:srgbClr val="FFFFFF"/>
                          </a:solidFill>
                          <a:latin typeface="Calibri"/>
                        </a:rPr>
                        <a:t>Link</a:t>
                      </a:r>
                    </a:p>
                  </a:txBody>
                  <a:tcPr marL="73152" marR="73152" marT="27432" marB="27432" anchor="ctr">
                    <a:solidFill>
                      <a:srgbClr val="1F4E79"/>
                    </a:solidFill>
                  </a:tcPr>
                </a:tc>
                <a:tc>
                  <a:txBody>
                    <a:bodyPr wrap="square"/>
                    <a:lstStyle/>
                    <a:p>
                      <a:pPr algn="ctr"/>
                      <a:r>
                        <a:rPr sz="2300" b="1">
                          <a:solidFill>
                            <a:srgbClr val="FFFFFF"/>
                          </a:solidFill>
                          <a:latin typeface="Calibri"/>
                        </a:rPr>
                        <a:t>Support in our results</a:t>
                      </a:r>
                    </a:p>
                  </a:txBody>
                  <a:tcPr marL="73152" marR="73152" marT="27432" marB="27432" anchor="ctr">
                    <a:solidFill>
                      <a:srgbClr val="1F4E79"/>
                    </a:solidFill>
                  </a:tcPr>
                </a:tc>
                <a:tc>
                  <a:txBody>
                    <a:bodyPr wrap="square"/>
                    <a:lstStyle/>
                    <a:p>
                      <a:pPr algn="ctr"/>
                      <a:r>
                        <a:rPr sz="2300" b="1">
                          <a:solidFill>
                            <a:srgbClr val="FFFFFF"/>
                          </a:solidFill>
                          <a:latin typeface="Calibri"/>
                        </a:rPr>
                        <a:t>Status</a:t>
                      </a:r>
                    </a:p>
                  </a:txBody>
                  <a:tcPr marL="73152" marR="73152" marT="27432" marB="27432" anchor="ctr">
                    <a:solidFill>
                      <a:srgbClr val="1F4E79"/>
                    </a:solidFill>
                  </a:tcPr>
                </a:tc>
              </a:tr>
              <a:tr h="1005840">
                <a:tc>
                  <a:txBody>
                    <a:bodyPr wrap="square"/>
                    <a:lstStyle/>
                    <a:p>
                      <a:pPr algn="l"/>
                      <a:r>
                        <a:rPr sz="2300" b="1">
                          <a:solidFill>
                            <a:srgbClr val="1F2A44"/>
                          </a:solidFill>
                          <a:latin typeface="Calibri"/>
                        </a:rPr>
                        <a:t>2 / 2.3</a:t>
                      </a:r>
                    </a:p>
                  </a:txBody>
                  <a:tcPr marL="73152" marR="73152" marT="27432" marB="27432" anchor="ctr">
                    <a:solidFill>
                      <a:srgbClr val="FFFFFF"/>
                    </a:solidFill>
                  </a:tcPr>
                </a:tc>
                <a:tc>
                  <a:txBody>
                    <a:bodyPr wrap="square"/>
                    <a:lstStyle/>
                    <a:p>
                      <a:pPr algn="l"/>
                      <a:r>
                        <a:rPr sz="2300" b="0">
                          <a:solidFill>
                            <a:srgbClr val="1F2A44"/>
                          </a:solidFill>
                          <a:latin typeface="Calibri"/>
                        </a:rPr>
                        <a:t>income of small-scale producers through market information</a:t>
                      </a:r>
                    </a:p>
                  </a:txBody>
                  <a:tcPr marL="73152" marR="73152" marT="27432" marB="27432" anchor="ctr">
                    <a:solidFill>
                      <a:srgbClr val="FFFFFF"/>
                    </a:solidFill>
                  </a:tcPr>
                </a:tc>
                <a:tc>
                  <a:txBody>
                    <a:bodyPr wrap="square"/>
                    <a:lstStyle/>
                    <a:p>
                      <a:pPr algn="l"/>
                      <a:r>
                        <a:rPr sz="2300" b="0">
                          <a:solidFill>
                            <a:srgbClr val="1F2A44"/>
                          </a:solidFill>
                          <a:latin typeface="Calibri"/>
                        </a:rPr>
                        <a:t>back-test gains Rs 60–202 per quintal over the best simple rule in 3 of 4 crops; morning digest on a free channel (untested with farmers)</a:t>
                      </a:r>
                    </a:p>
                  </a:txBody>
                  <a:tcPr marL="73152" marR="73152" marT="27432" marB="27432" anchor="ctr">
                    <a:solidFill>
                      <a:srgbClr val="FFFFFF"/>
                    </a:solidFill>
                  </a:tcPr>
                </a:tc>
                <a:tc>
                  <a:txBody>
                    <a:bodyPr wrap="square"/>
                    <a:lstStyle/>
                    <a:p>
                      <a:pPr algn="l"/>
                      <a:r>
                        <a:rPr sz="2300" b="0">
                          <a:solidFill>
                            <a:srgbClr val="2E8B57"/>
                          </a:solidFill>
                          <a:latin typeface="Calibri"/>
                        </a:rPr>
                        <a:t>Measured offline</a:t>
                      </a:r>
                    </a:p>
                  </a:txBody>
                  <a:tcPr marL="73152" marR="73152" marT="27432" marB="27432" anchor="ctr">
                    <a:solidFill>
                      <a:srgbClr val="FFFFFF"/>
                    </a:solidFill>
                  </a:tcPr>
                </a:tc>
              </a:tr>
              <a:tr h="1005840">
                <a:tc>
                  <a:txBody>
                    <a:bodyPr wrap="square"/>
                    <a:lstStyle/>
                    <a:p>
                      <a:pPr algn="l"/>
                      <a:r>
                        <a:rPr sz="2300" b="1">
                          <a:solidFill>
                            <a:srgbClr val="1F2A44"/>
                          </a:solidFill>
                          <a:latin typeface="Calibri"/>
                        </a:rPr>
                        <a:t>1 / 1.4</a:t>
                      </a:r>
                    </a:p>
                  </a:txBody>
                  <a:tcPr marL="73152" marR="73152" marT="27432" marB="27432" anchor="ctr">
                    <a:solidFill>
                      <a:srgbClr val="F1F7FB"/>
                    </a:solidFill>
                  </a:tcPr>
                </a:tc>
                <a:tc>
                  <a:txBody>
                    <a:bodyPr wrap="square"/>
                    <a:lstStyle/>
                    <a:p>
                      <a:pPr algn="l"/>
                      <a:r>
                        <a:rPr sz="2300" b="0">
                          <a:solidFill>
                            <a:srgbClr val="1F2A44"/>
                          </a:solidFill>
                          <a:latin typeface="Calibri"/>
                        </a:rPr>
                        <a:t>access to economic services</a:t>
                      </a:r>
                    </a:p>
                  </a:txBody>
                  <a:tcPr marL="73152" marR="73152" marT="27432" marB="27432" anchor="ctr">
                    <a:solidFill>
                      <a:srgbClr val="F1F7FB"/>
                    </a:solidFill>
                  </a:tcPr>
                </a:tc>
                <a:tc>
                  <a:txBody>
                    <a:bodyPr wrap="square"/>
                    <a:lstStyle/>
                    <a:p>
                      <a:pPr algn="l"/>
                      <a:r>
                        <a:rPr sz="2300" b="0">
                          <a:solidFill>
                            <a:srgbClr val="1F2A44"/>
                          </a:solidFill>
                          <a:latin typeface="Calibri"/>
                        </a:rPr>
                        <a:t>free trilingual tool for small sellers</a:t>
                      </a:r>
                    </a:p>
                  </a:txBody>
                  <a:tcPr marL="73152" marR="73152" marT="27432" marB="27432" anchor="ctr">
                    <a:solidFill>
                      <a:srgbClr val="F1F7FB"/>
                    </a:solidFill>
                  </a:tcPr>
                </a:tc>
                <a:tc>
                  <a:txBody>
                    <a:bodyPr wrap="square"/>
                    <a:lstStyle/>
                    <a:p>
                      <a:pPr algn="l"/>
                      <a:r>
                        <a:rPr sz="2300" b="0">
                          <a:solidFill>
                            <a:srgbClr val="D9822B"/>
                          </a:solidFill>
                          <a:latin typeface="Calibri"/>
                        </a:rPr>
                        <a:t>Not measured</a:t>
                      </a:r>
                    </a:p>
                  </a:txBody>
                  <a:tcPr marL="73152" marR="73152" marT="27432" marB="27432" anchor="ctr">
                    <a:solidFill>
                      <a:srgbClr val="F1F7FB"/>
                    </a:solidFill>
                  </a:tcPr>
                </a:tc>
              </a:tr>
              <a:tr h="1005840">
                <a:tc>
                  <a:txBody>
                    <a:bodyPr wrap="square"/>
                    <a:lstStyle/>
                    <a:p>
                      <a:pPr algn="l"/>
                      <a:r>
                        <a:rPr sz="2300" b="1">
                          <a:solidFill>
                            <a:srgbClr val="1F2A44"/>
                          </a:solidFill>
                          <a:latin typeface="Calibri"/>
                        </a:rPr>
                        <a:t>12 / 12.3</a:t>
                      </a:r>
                    </a:p>
                  </a:txBody>
                  <a:tcPr marL="73152" marR="73152" marT="27432" marB="27432" anchor="ctr">
                    <a:solidFill>
                      <a:srgbClr val="FFFFFF"/>
                    </a:solidFill>
                  </a:tcPr>
                </a:tc>
                <a:tc>
                  <a:txBody>
                    <a:bodyPr wrap="square"/>
                    <a:lstStyle/>
                    <a:p>
                      <a:pPr algn="l"/>
                      <a:r>
                        <a:rPr sz="2300" b="0">
                          <a:solidFill>
                            <a:srgbClr val="1F2A44"/>
                          </a:solidFill>
                          <a:latin typeface="Calibri"/>
                        </a:rPr>
                        <a:t>reduce food loss along supply chains</a:t>
                      </a:r>
                    </a:p>
                  </a:txBody>
                  <a:tcPr marL="73152" marR="73152" marT="27432" marB="27432" anchor="ctr">
                    <a:solidFill>
                      <a:srgbClr val="FFFFFF"/>
                    </a:solidFill>
                  </a:tcPr>
                </a:tc>
                <a:tc>
                  <a:txBody>
                    <a:bodyPr wrap="square"/>
                    <a:lstStyle/>
                    <a:p>
                      <a:pPr algn="l"/>
                      <a:r>
                        <a:rPr sz="2300" b="0">
                          <a:solidFill>
                            <a:srgbClr val="1F2A44"/>
                          </a:solidFill>
                          <a:latin typeface="Calibri"/>
                        </a:rPr>
                        <a:t>spoilage built into advice; kg avoided not measured</a:t>
                      </a:r>
                    </a:p>
                  </a:txBody>
                  <a:tcPr marL="73152" marR="73152" marT="27432" marB="27432" anchor="ctr">
                    <a:solidFill>
                      <a:srgbClr val="FFFFFF"/>
                    </a:solidFill>
                  </a:tcPr>
                </a:tc>
                <a:tc>
                  <a:txBody>
                    <a:bodyPr wrap="square"/>
                    <a:lstStyle/>
                    <a:p>
                      <a:pPr algn="l"/>
                      <a:r>
                        <a:rPr sz="2300" b="0">
                          <a:solidFill>
                            <a:srgbClr val="D9822B"/>
                          </a:solidFill>
                          <a:latin typeface="Calibri"/>
                        </a:rPr>
                        <a:t>Potential</a:t>
                      </a:r>
                    </a:p>
                  </a:txBody>
                  <a:tcPr marL="73152" marR="73152" marT="27432" marB="27432" anchor="ctr">
                    <a:solidFill>
                      <a:srgbClr val="FFFFFF"/>
                    </a:solidFill>
                  </a:tcPr>
                </a:tc>
              </a:tr>
              <a:tr h="1005840">
                <a:tc>
                  <a:txBody>
                    <a:bodyPr wrap="square"/>
                    <a:lstStyle/>
                    <a:p>
                      <a:pPr algn="l"/>
                      <a:r>
                        <a:rPr sz="2300" b="1">
                          <a:solidFill>
                            <a:srgbClr val="1F2A44"/>
                          </a:solidFill>
                          <a:latin typeface="Calibri"/>
                        </a:rPr>
                        <a:t>9 / 9.c</a:t>
                      </a:r>
                    </a:p>
                  </a:txBody>
                  <a:tcPr marL="73152" marR="73152" marT="27432" marB="27432" anchor="ctr">
                    <a:solidFill>
                      <a:srgbClr val="F1F7FB"/>
                    </a:solidFill>
                  </a:tcPr>
                </a:tc>
                <a:tc>
                  <a:txBody>
                    <a:bodyPr wrap="square"/>
                    <a:lstStyle/>
                    <a:p>
                      <a:pPr algn="l"/>
                      <a:r>
                        <a:rPr sz="2300" b="0">
                          <a:solidFill>
                            <a:srgbClr val="1F2A44"/>
                          </a:solidFill>
                          <a:latin typeface="Calibri"/>
                        </a:rPr>
                        <a:t>access to information technology</a:t>
                      </a:r>
                    </a:p>
                  </a:txBody>
                  <a:tcPr marL="73152" marR="73152" marT="27432" marB="27432" anchor="ctr">
                    <a:solidFill>
                      <a:srgbClr val="F1F7FB"/>
                    </a:solidFill>
                  </a:tcPr>
                </a:tc>
                <a:tc>
                  <a:txBody>
                    <a:bodyPr wrap="square"/>
                    <a:lstStyle/>
                    <a:p>
                      <a:pPr algn="l"/>
                      <a:r>
                        <a:rPr sz="2300" b="0">
                          <a:solidFill>
                            <a:srgbClr val="1F2A44"/>
                          </a:solidFill>
                          <a:latin typeface="Calibri"/>
                        </a:rPr>
                        <a:t>open pipeline on a public data feed</a:t>
                      </a:r>
                    </a:p>
                  </a:txBody>
                  <a:tcPr marL="73152" marR="73152" marT="27432" marB="27432" anchor="ctr">
                    <a:solidFill>
                      <a:srgbClr val="F1F7FB"/>
                    </a:solidFill>
                  </a:tcPr>
                </a:tc>
                <a:tc>
                  <a:txBody>
                    <a:bodyPr wrap="square"/>
                    <a:lstStyle/>
                    <a:p>
                      <a:pPr algn="l"/>
                      <a:r>
                        <a:rPr sz="2300" b="0">
                          <a:solidFill>
                            <a:srgbClr val="5F6B7A"/>
                          </a:solidFill>
                          <a:latin typeface="Calibri"/>
                        </a:rPr>
                        <a:t>Engineering</a:t>
                      </a:r>
                    </a:p>
                  </a:txBody>
                  <a:tcPr marL="73152" marR="73152" marT="27432" marB="27432" anchor="ctr">
                    <a:solidFill>
                      <a:srgbClr val="F1F7FB"/>
                    </a:solidFill>
                  </a:tcPr>
                </a:tc>
              </a:tr>
            </a:tbl>
          </a:graphicData>
        </a:graphic>
      </p:graphicFrame>
      <p:sp>
        <p:nvSpPr>
          <p:cNvPr id="10252" name="TextBox 10251"/>
          <p:cNvSpPr txBox="1"/>
          <p:nvPr/>
        </p:nvSpPr>
        <p:spPr>
          <a:xfrm>
            <a:off x="1005840" y="9509760"/>
            <a:ext cx="18105120" cy="822960"/>
          </a:xfrm>
          <a:prstGeom prst="rect">
            <a:avLst/>
          </a:prstGeom>
          <a:noFill/>
        </p:spPr>
        <p:txBody>
          <a:bodyPr wrap="square" anchor="t" lIns="73152" rIns="73152" tIns="36576" bIns="36576">
            <a:spAutoFit/>
          </a:bodyPr>
          <a:lstStyle/>
          <a:p>
            <a:pPr algn="l"/>
            <a:r>
              <a:rPr sz="2300" b="0" i="1">
                <a:solidFill>
                  <a:srgbClr val="5F6B7A"/>
                </a:solidFill>
                <a:latin typeface="Calibri"/>
              </a:rPr>
              <a:t>Impact is claimed only where held-out numbers support it; the benefit to farmers' real income needs a field trial.</a:t>
            </a:r>
          </a:p>
        </p:txBody>
      </p:sp>
    </p:spTree>
    <p:extLst>
      <p:ext uri="{BB962C8B-B14F-4D97-AF65-F5344CB8AC3E}">
        <p14:creationId xmlns:p14="http://schemas.microsoft.com/office/powerpoint/2010/main" val="176901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Research Paper Status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17</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4" name="Content Guidance"/>
          <p:cNvSpPr txBox="1"/>
          <p:nvPr/>
        </p:nvSpPr>
        <p:spPr>
          <a:xfrm>
            <a:off x="1005840" y="1737360"/>
            <a:ext cx="18105120" cy="237744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Primary target: </a:t>
            </a:r>
            <a:r>
              <a:rPr lang="en-US" sz="2500" dirty="0">
                <a:solidFill>
                  <a:srgbClr val="1F2A44"/>
                </a:solidFill>
                <a:latin typeface="Calibri" panose="020F0502020204030204" charset="0"/>
                <a:cs typeface="Calibri" panose="020F0502020204030204" charset="0"/>
              </a:rPr>
              <a:t>IEEE Access, a broad applied-engineering journal that accepts long empirical papers with negative results.</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Status: </a:t>
            </a:r>
            <a:r>
              <a:rPr lang="en-US" sz="2500" dirty="0">
                <a:solidFill>
                  <a:srgbClr val="1F2A44"/>
                </a:solidFill>
                <a:latin typeface="Calibri" panose="020F0502020204030204" charset="0"/>
                <a:cs typeface="Calibri" panose="020F0502020204030204" charset="0"/>
              </a:rPr>
              <a:t>manuscripts drafted; none submitted yet, so there is no acknowledgement, review or acceptance to show.</a:t>
            </a:r>
          </a:p>
        </p:txBody>
      </p:sp>
      <p:graphicFrame>
        <p:nvGraphicFramePr>
          <p:cNvPr id="10251" name="Table 10250"/>
          <p:cNvGraphicFramePr>
            <a:graphicFrameLocks noGrp="1"/>
          </p:cNvGraphicFramePr>
          <p:nvPr/>
        </p:nvGraphicFramePr>
        <p:xfrm>
          <a:off x="1005840" y="4114800"/>
          <a:ext cx="18105119" cy="4937760"/>
        </p:xfrm>
        <a:graphic>
          <a:graphicData uri="http://schemas.openxmlformats.org/drawingml/2006/table">
            <a:tbl>
              <a:tblPr firstRow="1" bandRow="1">
                <a:tableStyleId>{5C22544A-7EE6-4342-B048-85BDC9FD1C3A}</a:tableStyleId>
              </a:tblPr>
              <a:tblGrid>
                <a:gridCol w="9350996"/>
                <a:gridCol w="4178104"/>
                <a:gridCol w="1193744"/>
                <a:gridCol w="3382275"/>
              </a:tblGrid>
              <a:tr h="1234440">
                <a:tc>
                  <a:txBody>
                    <a:bodyPr wrap="square"/>
                    <a:lstStyle/>
                    <a:p>
                      <a:pPr algn="ctr"/>
                      <a:r>
                        <a:rPr sz="2200" b="1">
                          <a:solidFill>
                            <a:srgbClr val="FFFFFF"/>
                          </a:solidFill>
                          <a:latin typeface="Calibri"/>
                        </a:rPr>
                        <a:t>Manuscript</a:t>
                      </a:r>
                    </a:p>
                  </a:txBody>
                  <a:tcPr marL="73152" marR="73152" marT="27432" marB="27432" anchor="ctr">
                    <a:solidFill>
                      <a:srgbClr val="1F4E79"/>
                    </a:solidFill>
                  </a:tcPr>
                </a:tc>
                <a:tc>
                  <a:txBody>
                    <a:bodyPr wrap="square"/>
                    <a:lstStyle/>
                    <a:p>
                      <a:pPr algn="ctr"/>
                      <a:r>
                        <a:rPr sz="2200" b="1">
                          <a:solidFill>
                            <a:srgbClr val="FFFFFF"/>
                          </a:solidFill>
                          <a:latin typeface="Calibri"/>
                        </a:rPr>
                        <a:t>Venue</a:t>
                      </a:r>
                    </a:p>
                  </a:txBody>
                  <a:tcPr marL="73152" marR="73152" marT="27432" marB="27432" anchor="ctr">
                    <a:solidFill>
                      <a:srgbClr val="1F4E79"/>
                    </a:solidFill>
                  </a:tcPr>
                </a:tc>
                <a:tc>
                  <a:txBody>
                    <a:bodyPr wrap="square"/>
                    <a:lstStyle/>
                    <a:p>
                      <a:pPr algn="ctr"/>
                      <a:r>
                        <a:rPr sz="2200" b="1">
                          <a:solidFill>
                            <a:srgbClr val="FFFFFF"/>
                          </a:solidFill>
                          <a:latin typeface="Calibri"/>
                        </a:rPr>
                        <a:t>Pages</a:t>
                      </a:r>
                    </a:p>
                  </a:txBody>
                  <a:tcPr marL="73152" marR="73152" marT="27432" marB="27432" anchor="ctr">
                    <a:solidFill>
                      <a:srgbClr val="1F4E79"/>
                    </a:solidFill>
                  </a:tcPr>
                </a:tc>
                <a:tc>
                  <a:txBody>
                    <a:bodyPr wrap="square"/>
                    <a:lstStyle/>
                    <a:p>
                      <a:pPr algn="ctr"/>
                      <a:r>
                        <a:rPr sz="2200" b="1">
                          <a:solidFill>
                            <a:srgbClr val="FFFFFF"/>
                          </a:solidFill>
                          <a:latin typeface="Calibri"/>
                        </a:rPr>
                        <a:t>Status</a:t>
                      </a:r>
                    </a:p>
                  </a:txBody>
                  <a:tcPr marL="73152" marR="73152" marT="27432" marB="27432" anchor="ctr">
                    <a:solidFill>
                      <a:srgbClr val="1F4E79"/>
                    </a:solidFill>
                  </a:tcPr>
                </a:tc>
              </a:tr>
              <a:tr h="1234440">
                <a:tc>
                  <a:txBody>
                    <a:bodyPr wrap="square"/>
                    <a:lstStyle/>
                    <a:p>
                      <a:pPr algn="l"/>
                      <a:r>
                        <a:rPr sz="2200" b="0">
                          <a:solidFill>
                            <a:srgbClr val="1F2A44"/>
                          </a:solidFill>
                          <a:latin typeface="Calibri"/>
                        </a:rPr>
                        <a:t>Where and When to Sell: Outcome-Supervised Market Choice with Conformal Revenue Floors, and a Look-Ahead Audit of Decomposition Forecasters</a:t>
                      </a:r>
                    </a:p>
                  </a:txBody>
                  <a:tcPr marL="73152" marR="73152" marT="27432" marB="27432" anchor="ctr">
                    <a:solidFill>
                      <a:srgbClr val="FFFFFF"/>
                    </a:solidFill>
                  </a:tcPr>
                </a:tc>
                <a:tc>
                  <a:txBody>
                    <a:bodyPr wrap="square"/>
                    <a:lstStyle/>
                    <a:p>
                      <a:pPr algn="l"/>
                      <a:r>
                        <a:rPr sz="2200" b="0">
                          <a:solidFill>
                            <a:srgbClr val="1F2A44"/>
                          </a:solidFill>
                          <a:latin typeface="Calibri"/>
                        </a:rPr>
                        <a:t>IEEE Access</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l"/>
                      <a:r>
                        <a:rPr sz="2200" b="0">
                          <a:solidFill>
                            <a:srgbClr val="D9822B"/>
                          </a:solidFill>
                          <a:latin typeface="Calibri"/>
                        </a:rPr>
                        <a:t>Drafted, not submitted</a:t>
                      </a:r>
                    </a:p>
                  </a:txBody>
                  <a:tcPr marL="73152" marR="73152" marT="27432" marB="27432" anchor="ctr">
                    <a:solidFill>
                      <a:srgbClr val="FFFFFF"/>
                    </a:solidFill>
                  </a:tcPr>
                </a:tc>
              </a:tr>
              <a:tr h="1234440">
                <a:tc>
                  <a:txBody>
                    <a:bodyPr wrap="square"/>
                    <a:lstStyle/>
                    <a:p>
                      <a:pPr algn="l"/>
                      <a:r>
                        <a:rPr sz="2200" b="0">
                          <a:solidFill>
                            <a:srgbClr val="1F2A44"/>
                          </a:solidFill>
                          <a:latin typeface="Calibri"/>
                        </a:rPr>
                        <a:t>Fusing Specialist Agents and Market Signals into Calibrated Price Ranges: A Pre-Registered Evaluation on Indian Agricultural Mandis</a:t>
                      </a:r>
                    </a:p>
                  </a:txBody>
                  <a:tcPr marL="73152" marR="73152" marT="27432" marB="27432" anchor="ctr">
                    <a:solidFill>
                      <a:srgbClr val="F1F7FB"/>
                    </a:solidFill>
                  </a:tcPr>
                </a:tc>
                <a:tc>
                  <a:txBody>
                    <a:bodyPr wrap="square"/>
                    <a:lstStyle/>
                    <a:p>
                      <a:pPr algn="l"/>
                      <a:r>
                        <a:rPr sz="2200" b="0">
                          <a:solidFill>
                            <a:srgbClr val="1F2A44"/>
                          </a:solidFill>
                          <a:latin typeface="Calibri"/>
                        </a:rPr>
                        <a:t>CICPS 2027 (Springer LNNS)</a:t>
                      </a:r>
                    </a:p>
                  </a:txBody>
                  <a:tcPr marL="73152" marR="73152" marT="27432" marB="27432" anchor="ctr">
                    <a:solidFill>
                      <a:srgbClr val="F1F7FB"/>
                    </a:solidFill>
                  </a:tcPr>
                </a:tc>
                <a:tc>
                  <a:txBody>
                    <a:bodyPr wrap="square"/>
                    <a:lstStyle/>
                    <a:p>
                      <a:pPr algn="ctr"/>
                      <a:r>
                        <a:rPr sz="2200" b="0">
                          <a:solidFill>
                            <a:srgbClr val="1F2A44"/>
                          </a:solidFill>
                          <a:latin typeface="Calibri"/>
                        </a:rPr>
                        <a:t>12</a:t>
                      </a:r>
                    </a:p>
                  </a:txBody>
                  <a:tcPr marL="73152" marR="73152" marT="27432" marB="27432" anchor="ctr">
                    <a:solidFill>
                      <a:srgbClr val="F1F7FB"/>
                    </a:solidFill>
                  </a:tcPr>
                </a:tc>
                <a:tc>
                  <a:txBody>
                    <a:bodyPr wrap="square"/>
                    <a:lstStyle/>
                    <a:p>
                      <a:pPr algn="l"/>
                      <a:r>
                        <a:rPr sz="2200" b="0">
                          <a:solidFill>
                            <a:srgbClr val="D9822B"/>
                          </a:solidFill>
                          <a:latin typeface="Calibri"/>
                        </a:rPr>
                        <a:t>Drafted, not submitted</a:t>
                      </a:r>
                    </a:p>
                  </a:txBody>
                  <a:tcPr marL="73152" marR="73152" marT="27432" marB="27432" anchor="ctr">
                    <a:solidFill>
                      <a:srgbClr val="F1F7FB"/>
                    </a:solidFill>
                  </a:tcPr>
                </a:tc>
              </a:tr>
              <a:tr h="1234440">
                <a:tc>
                  <a:txBody>
                    <a:bodyPr wrap="square"/>
                    <a:lstStyle/>
                    <a:p>
                      <a:pPr algn="l"/>
                      <a:r>
                        <a:rPr sz="2200" b="0">
                          <a:solidFill>
                            <a:srgbClr val="1F2A44"/>
                          </a:solidFill>
                          <a:latin typeface="Calibri"/>
                        </a:rPr>
                        <a:t>MandiSense project proposal</a:t>
                      </a:r>
                    </a:p>
                  </a:txBody>
                  <a:tcPr marL="73152" marR="73152" marT="27432" marB="27432" anchor="ctr">
                    <a:solidFill>
                      <a:srgbClr val="FFFFFF"/>
                    </a:solidFill>
                  </a:tcPr>
                </a:tc>
                <a:tc>
                  <a:txBody>
                    <a:bodyPr wrap="square"/>
                    <a:lstStyle/>
                    <a:p>
                      <a:pPr algn="l"/>
                      <a:r>
                        <a:rPr sz="2200" b="0">
                          <a:solidFill>
                            <a:srgbClr val="1F2A44"/>
                          </a:solidFill>
                          <a:latin typeface="Calibri"/>
                        </a:rPr>
                        <a:t>KSCST SPP 50th series</a:t>
                      </a:r>
                    </a:p>
                  </a:txBody>
                  <a:tcPr marL="73152" marR="73152" marT="27432" marB="27432" anchor="ctr">
                    <a:solidFill>
                      <a:srgbClr val="FFFFFF"/>
                    </a:solidFill>
                  </a:tcPr>
                </a:tc>
                <a:tc>
                  <a:txBody>
                    <a:bodyPr wrap="square"/>
                    <a:lstStyle/>
                    <a:p>
                      <a:pPr algn="ctr"/>
                      <a:r>
                        <a:rPr sz="2200" b="0">
                          <a:solidFill>
                            <a:srgbClr val="1F2A44"/>
                          </a:solidFill>
                          <a:latin typeface="Calibri"/>
                        </a:rPr>
                        <a:t>14</a:t>
                      </a:r>
                    </a:p>
                  </a:txBody>
                  <a:tcPr marL="73152" marR="73152" marT="27432" marB="27432" anchor="ctr">
                    <a:solidFill>
                      <a:srgbClr val="FFFFFF"/>
                    </a:solidFill>
                  </a:tcPr>
                </a:tc>
                <a:tc>
                  <a:txBody>
                    <a:bodyPr wrap="square"/>
                    <a:lstStyle/>
                    <a:p>
                      <a:pPr algn="l"/>
                      <a:r>
                        <a:rPr sz="2200" b="0">
                          <a:solidFill>
                            <a:srgbClr val="D9822B"/>
                          </a:solidFill>
                          <a:latin typeface="Calibri"/>
                        </a:rPr>
                        <a:t>Proposal drafted</a:t>
                      </a:r>
                    </a:p>
                  </a:txBody>
                  <a:tcPr marL="73152" marR="73152" marT="27432" marB="27432" anchor="ctr">
                    <a:solidFill>
                      <a:srgbClr val="FFFFFF"/>
                    </a:solidFill>
                  </a:tcPr>
                </a:tc>
              </a:tr>
            </a:tbl>
          </a:graphicData>
        </a:graphic>
      </p:graphicFrame>
      <p:sp>
        <p:nvSpPr>
          <p:cNvPr id="10252" name="TextBox 10251"/>
          <p:cNvSpPr txBox="1"/>
          <p:nvPr/>
        </p:nvSpPr>
        <p:spPr>
          <a:xfrm>
            <a:off x="1005840" y="9144000"/>
            <a:ext cx="18105120" cy="1097280"/>
          </a:xfrm>
          <a:prstGeom prst="rect">
            <a:avLst/>
          </a:prstGeom>
          <a:noFill/>
        </p:spPr>
        <p:txBody>
          <a:bodyPr wrap="square" anchor="t" lIns="73152" rIns="73152" tIns="36576" bIns="36576">
            <a:spAutoFit/>
          </a:bodyPr>
          <a:lstStyle/>
          <a:p>
            <a:pPr algn="l"/>
            <a:r>
              <a:rPr sz="2200" b="0" i="1">
                <a:solidFill>
                  <a:srgbClr val="5F6B7A"/>
                </a:solidFill>
                <a:latin typeface="Calibri"/>
              </a:rPr>
              <a:t>Similarity: only a self-conducted check exists for the conference draft (no verbatim web matches). Official Drillbit percentages will be added at submission.</a:t>
            </a:r>
          </a:p>
        </p:txBody>
      </p:sp>
    </p:spTree>
    <p:extLst>
      <p:ext uri="{BB962C8B-B14F-4D97-AF65-F5344CB8AC3E}">
        <p14:creationId xmlns:p14="http://schemas.microsoft.com/office/powerpoint/2010/main" val="1769017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Conclusion and Future Work</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18</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5" name="Content Guidance"/>
          <p:cNvSpPr txBox="1"/>
          <p:nvPr/>
        </p:nvSpPr>
        <p:spPr>
          <a:xfrm>
            <a:off x="1005840" y="1737360"/>
            <a:ext cx="18105120" cy="274320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Key outcome: </a:t>
            </a:r>
            <a:r>
              <a:rPr lang="en-US" sz="2500" dirty="0">
                <a:solidFill>
                  <a:srgbClr val="1F2A44"/>
                </a:solidFill>
                <a:latin typeface="Calibri" panose="020F0502020204030204" charset="0"/>
                <a:cs typeface="Calibri" panose="020F0502020204030204" charset="0"/>
              </a:rPr>
              <a:t>advice trained on realised revenue beats the best simple rule by Rs 170 per quintal for tomato and Rs 202 for ginger, with floors that hold their level.</a:t>
            </a:r>
          </a:p>
          <a:p>
            <a:pPr marL="514350" indent="-514350">
              <a:lnSpc>
                <a:spcPct val="115000"/>
              </a:lnSpc>
              <a:spcAft>
                <a:spcPts val="600"/>
              </a:spcAft>
              <a:buFont typeface="Arial" panose="020B0604020202020204" pitchFamily="34" charset="0"/>
              <a:buChar char="•"/>
            </a:pPr>
            <a:r>
              <a:rPr lang="en-US" sz="2500" dirty="0" b="1">
                <a:solidFill>
                  <a:srgbClr val="1F2A44"/>
                </a:solidFill>
                <a:latin typeface="Calibri" panose="020F0502020204030204" charset="0"/>
                <a:cs typeface="Calibri" panose="020F0502020204030204" charset="0"/>
              </a:rPr>
              <a:t>Against objectives: </a:t>
            </a:r>
            <a:r>
              <a:rPr lang="en-US" sz="2500" dirty="0">
                <a:solidFill>
                  <a:srgbClr val="1F2A44"/>
                </a:solidFill>
                <a:latin typeface="Calibri" panose="020F0502020204030204" charset="0"/>
                <a:cs typeface="Calibri" panose="020F0502020204030204" charset="0"/>
              </a:rPr>
              <a:t>7 met, 1 partly met, 1 null result, 1 built and tested (the digest); negative results reported.</a:t>
            </a:r>
          </a:p>
        </p:txBody>
      </p:sp>
      <p:sp>
        <p:nvSpPr>
          <p:cNvPr id="10251" name="Rectangle 10250"/>
          <p:cNvSpPr/>
          <p:nvPr/>
        </p:nvSpPr>
        <p:spPr>
          <a:xfrm>
            <a:off x="1005840" y="4114800"/>
            <a:ext cx="8869680"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Limitations</a:t>
            </a:r>
          </a:p>
        </p:txBody>
      </p:sp>
      <p:sp>
        <p:nvSpPr>
          <p:cNvPr id="10252" name="Rectangle 10251"/>
          <p:cNvSpPr/>
          <p:nvPr/>
        </p:nvSpPr>
        <p:spPr>
          <a:xfrm>
            <a:off x="1005840" y="4681728"/>
            <a:ext cx="8869680" cy="5285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3000" b="0" i="0">
                <a:solidFill>
                  <a:srgbClr val="1F2A44"/>
                </a:solidFill>
                <a:latin typeface="Calibri"/>
              </a:rPr>
              <a:t>One region, one source, 5.8 years</a:t>
            </a:r>
          </a:p>
          <a:p>
            <a:pPr algn="l"/>
            <a:r>
              <a:rPr sz="3000" b="0" i="0">
                <a:solidFill>
                  <a:srgbClr val="1F2A44"/>
                </a:solidFill>
                <a:latin typeface="Calibri"/>
              </a:rPr>
              <a:t>Offline only; no farmer acted on the advice; digest not piloted</a:t>
            </a:r>
          </a:p>
          <a:p>
            <a:pPr algn="l"/>
            <a:r>
              <a:rPr sz="3000" b="0" i="0">
                <a:solidFill>
                  <a:srgbClr val="1F2A44"/>
                </a:solidFill>
                <a:latin typeface="Calibri"/>
              </a:rPr>
              <a:t>Revenue and crowd parameters are scenarios; replayed floors held 84–92% (aim 90%)</a:t>
            </a:r>
          </a:p>
          <a:p>
            <a:pPr algn="l"/>
            <a:r>
              <a:rPr sz="3000" b="0" i="0">
                <a:solidFill>
                  <a:srgbClr val="1F2A44"/>
                </a:solidFill>
                <a:latin typeface="Calibri"/>
              </a:rPr>
              <a:t>Briefs checked for traceability, not user-tested</a:t>
            </a:r>
          </a:p>
          <a:p>
            <a:pPr algn="l"/>
            <a:r>
              <a:rPr sz="3000" b="0" i="0">
                <a:solidFill>
                  <a:srgbClr val="1F2A44"/>
                </a:solidFill>
                <a:latin typeface="Calibri"/>
              </a:rPr>
              <a:t>Spillover found no episodes; deployment unverified</a:t>
            </a:r>
          </a:p>
        </p:txBody>
      </p:sp>
      <p:sp>
        <p:nvSpPr>
          <p:cNvPr id="10253" name="Rectangle 10252"/>
          <p:cNvSpPr/>
          <p:nvPr/>
        </p:nvSpPr>
        <p:spPr>
          <a:xfrm>
            <a:off x="10241280" y="4114800"/>
            <a:ext cx="886968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Future work (from those limits)</a:t>
            </a:r>
          </a:p>
        </p:txBody>
      </p:sp>
      <p:sp>
        <p:nvSpPr>
          <p:cNvPr id="10254" name="Rectangle 10253"/>
          <p:cNvSpPr/>
          <p:nvPr/>
        </p:nvSpPr>
        <p:spPr>
          <a:xfrm>
            <a:off x="10241280" y="4681728"/>
            <a:ext cx="8869680" cy="5285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3000" b="0" i="0">
                <a:solidFill>
                  <a:srgbClr val="1F2A44"/>
                </a:solidFill>
                <a:latin typeface="Calibri"/>
              </a:rPr>
              <a:t>Field pilot through the bot, with an outcome form and the survey</a:t>
            </a:r>
          </a:p>
          <a:p>
            <a:pPr algn="l"/>
            <a:r>
              <a:rPr sz="3000" b="0" i="0">
                <a:solidFill>
                  <a:srgbClr val="1F2A44"/>
                </a:solidFill>
                <a:latin typeface="Calibri"/>
              </a:rPr>
              <a:t>Estimate transport, spoilage and silence from data</a:t>
            </a:r>
          </a:p>
          <a:p>
            <a:pPr algn="l"/>
            <a:r>
              <a:rPr sz="3000" b="0" i="0">
                <a:solidFill>
                  <a:srgbClr val="1F2A44"/>
                </a:solidFill>
                <a:latin typeface="Calibri"/>
              </a:rPr>
              <a:t>Diagnose the spillover labelling; define episodes from arrivals</a:t>
            </a:r>
          </a:p>
          <a:p>
            <a:pPr algn="l"/>
            <a:r>
              <a:rPr sz="3000" b="0" i="0">
                <a:solidFill>
                  <a:srgbClr val="1F2A44"/>
                </a:solidFill>
                <a:latin typeface="Calibri"/>
              </a:rPr>
              <a:t>User test of briefs; native-speaker review of KN/HI</a:t>
            </a:r>
          </a:p>
          <a:p>
            <a:pPr algn="l"/>
            <a:r>
              <a:rPr sz="3000" b="0" i="0">
                <a:solidFill>
                  <a:srgbClr val="1F2A44"/>
                </a:solidFill>
                <a:latin typeface="Calibri"/>
              </a:rPr>
              <a:t>Verify deployment and monitor live floor violations</a:t>
            </a:r>
          </a:p>
        </p:txBody>
      </p:sp>
    </p:spTree>
    <p:extLst>
      <p:ext uri="{BB962C8B-B14F-4D97-AF65-F5344CB8AC3E}">
        <p14:creationId xmlns:p14="http://schemas.microsoft.com/office/powerpoint/2010/main" val="1769017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References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19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916" name="Content Guidance"/>
          <p:cNvSpPr txBox="1"/>
          <p:nvPr/>
        </p:nvSpPr>
        <p:spPr>
          <a:xfrm>
            <a:off x="1005840" y="1737360"/>
            <a:ext cx="8961120" cy="84124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 P. Birthal et al., J. Agribusiness Develop. Emerg. Econ.,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 AGMARKNET, Directorate of Marketing and Inspection, Govt. of India</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 R. Jensen, Quart. J. Econ., 122(3), 2007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[4] J. Aker, AEJ: Appl. Econ., 2(3), 2010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[5] S. Ray et al., Appl. Soft Comput., 149, 2023</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[6] K. Meena, B. Chaitra, IEEE Access, 12,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[7] G. Jha, K. Sinha, Neural Comput. Appl., 24, 2014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[8] Wu et al., Expert Syst., 2026</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[9] R. Cleveland et al., J. Official Statist., 6(1), 1990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[10] Hyndman, Athanasopoulos, Forecasting: Principles and Practice, 3e, 2021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[11] A. Sathe et al., Results Eng., 27,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[12] B. Celik, S. Celik, Borsa Istanbul Rev.,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[13] K. Dragomiretskiy, D. Zosso, IEEE TSP, 62(3), 2014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[14] Bergmeir, Benítez, Inf. Sci., 191, 2012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[15] Cerqueira et al., Mach. Learn., 109, 2020</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[16] Bundak et al., IEEE Access, 13, 2025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[17] Ansari et al., Chronos, TMLR,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[18] Wang, Zhang, arXiv:2601.06371, 2026</a:t>
            </a:r>
          </a:p>
        </p:txBody>
      </p:sp>
      <p:sp>
        <p:nvSpPr>
          <p:cNvPr id="916" name="Content Guidance"/>
          <p:cNvSpPr txBox="1"/>
          <p:nvPr/>
        </p:nvSpPr>
        <p:spPr>
          <a:xfrm>
            <a:off x="10241280" y="1737360"/>
            <a:ext cx="8961120" cy="8412480"/>
          </a:xfrm>
          <a:prstGeom prst="rect">
            <a:avLst/>
          </a:prstGeom>
          <a:noFill/>
        </p:spPr>
        <p:txBody>
          <a:bodyPr wrap="square" lIns="0" tIns="0" rIns="0" bIns="0">
            <a:normAutofit/>
          </a:bodyPr>
          <a:lstStyle/>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[19] Grinsztajn et al., NeurIPS D&amp;B, 2022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[20] Akiba et al., Optuna, KDD,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[21] Elmachtoub, Grigas, Manage. Sci., 68(1), 2022</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[22] Mandi et al., J. Artif. Intell. Res., 80, 2024</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[23] Chen, Guestrin, XGBoost, KDD, 2016; Ke et al., LightGBM, NeurIPS, 2017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[24] Diebold, Mariano, JBES, 13(3), 1995</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[25] Newey, West, Econometrica, 55(3), 1987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[26] Gibbs, Candès, NeurIPS, 2021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[27] Hansen, Lunde, Nason, Econometrica, 79(2), 2011</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[28] Vovk et al., Algorithmic Learning in a Random World, 2005; Angelopoulos, Bates, 2023</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[29] Zaheer et al., Deep Sets, NeurIPS, 2017</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[30] Holm, Scand. J. Statist., 6(2), 1979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[31] Künsch, Ann. Statist., 17(3), 1989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[32] Romano et al., CQR, NeurIPS, 2019</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[33] Rubin, Biometrika, 63(3), 1976</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[34] Che et al., Sci. Rep., 8, 2018</a:t>
            </a:r>
          </a:p>
          <a:p>
            <a:pPr marL="514350" indent="-514350">
              <a:lnSpc>
                <a:spcPct val="115000"/>
              </a:lnSpc>
              <a:spcAft>
                <a:spcPts val="600"/>
              </a:spcAft>
              <a:buFont typeface="Arial" panose="020B0604020202020204" pitchFamily="34" charset="0"/>
              <a:buChar char="•"/>
            </a:pPr>
            <a:r>
              <a:rPr lang="en-US" sz="1900" dirty="0">
                <a:solidFill>
                  <a:srgbClr val="1F2A44"/>
                </a:solidFill>
                <a:latin typeface="Calibri" panose="020F0502020204030204" charset="0"/>
                <a:cs typeface="Calibri" panose="020F0502020204030204" charset="0"/>
              </a:rPr>
              <a:t>Full 40-entry list with all details is in the thesis bibliography.</a:t>
            </a:r>
          </a:p>
        </p:txBody>
      </p:sp>
    </p:spTree>
    <p:extLst>
      <p:ext uri="{BB962C8B-B14F-4D97-AF65-F5344CB8AC3E}">
        <p14:creationId xmlns:p14="http://schemas.microsoft.com/office/powerpoint/2010/main" val="1769017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6894008" y="4686301"/>
            <a:ext cx="12963380" cy="112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r>
              <a:rPr lang="en-US" altLang="en-US" sz="7200" dirty="0">
                <a:solidFill>
                  <a:srgbClr val="002060"/>
                </a:solidFill>
                <a:latin typeface="Forte" panose="03060902040502070203" pitchFamily="66" charset="0"/>
                <a:cs typeface="Times New Roman" panose="02020603050405020304" pitchFamily="18" charset="0"/>
              </a:rPr>
              <a:t>T</a:t>
            </a:r>
            <a:r>
              <a:rPr lang="en-IN" altLang="en-US" sz="7200" dirty="0">
                <a:solidFill>
                  <a:srgbClr val="002060"/>
                </a:solidFill>
                <a:latin typeface="Forte" panose="03060902040502070203" pitchFamily="66" charset="0"/>
                <a:cs typeface="Times New Roman" panose="02020603050405020304" pitchFamily="18" charset="0"/>
              </a:rPr>
              <a:t>HANK YOU</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20</a:t>
            </a:fld>
            <a:endParaRPr lang="en-US" altLang="en-US">
              <a:solidFill>
                <a:srgbClr val="898989"/>
              </a:solidFill>
            </a:endParaRPr>
          </a:p>
        </p:txBody>
      </p:sp>
      <p:pic>
        <p:nvPicPr>
          <p:cNvPr id="13" name="Picture 12">
            <a:extLst>
              <a:ext uri="{FF2B5EF4-FFF2-40B4-BE49-F238E27FC236}">
                <a16:creationId xmlns:a16="http://schemas.microsoft.com/office/drawing/2014/main" id="{661981A2-D64C-4E9C-92C3-CCB759219B5A}"/>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CE96DF61-0004-4796-BA3B-2487D712B085}"/>
              </a:ext>
            </a:extLst>
          </p:cNvPr>
          <p:cNvSpPr txBox="1"/>
          <p:nvPr/>
        </p:nvSpPr>
        <p:spPr>
          <a:xfrm>
            <a:off x="6068436" y="10546485"/>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Tree>
    <p:extLst>
      <p:ext uri="{BB962C8B-B14F-4D97-AF65-F5344CB8AC3E}">
        <p14:creationId xmlns:p14="http://schemas.microsoft.com/office/powerpoint/2010/main" val="4017000412"/>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Key Formulation: Revenue, Loss and Verified Floor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1005840" y="164592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Net revenue of action (m, k) from origin ℓ</a:t>
            </a:r>
          </a:p>
        </p:txBody>
      </p:sp>
      <p:sp>
        <p:nvSpPr>
          <p:cNvPr id="10252" name="Rectangle 10251"/>
          <p:cNvSpPr/>
          <p:nvPr/>
        </p:nvSpPr>
        <p:spPr>
          <a:xfrm>
            <a:off x="1005840" y="210312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R(m,k | ℓ) = (1 − f)(1 − δ)ᵏ · P̃(m, t+k) − τ·ρ·d(ℓ,m) − c₀</a:t>
            </a:r>
          </a:p>
        </p:txBody>
      </p:sp>
      <p:sp>
        <p:nvSpPr>
          <p:cNvPr id="10253" name="TextBox 10252"/>
          <p:cNvSpPr txBox="1"/>
          <p:nvPr/>
        </p:nvSpPr>
        <p:spPr>
          <a:xfrm>
            <a:off x="1005840" y="292608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P̃ = P if market m reported on day t+k, else φ · P̄(t+k) (wasted trip); farm gate pays φ_g · P̄(t)</a:t>
            </a:r>
          </a:p>
        </p:txBody>
      </p:sp>
      <p:sp>
        <p:nvSpPr>
          <p:cNvPr id="10254" name="TextBox 10253"/>
          <p:cNvSpPr txBox="1"/>
          <p:nvPr/>
        </p:nvSpPr>
        <p:spPr>
          <a:xfrm>
            <a:off x="1005840" y="429768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Decision-focused loss (SPO+)</a:t>
            </a:r>
          </a:p>
        </p:txBody>
      </p:sp>
      <p:sp>
        <p:nvSpPr>
          <p:cNvPr id="10255" name="Rectangle 10254"/>
          <p:cNvSpPr/>
          <p:nvPr/>
        </p:nvSpPr>
        <p:spPr>
          <a:xfrm>
            <a:off x="1005840" y="475488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L(r̂, r) = max_a (2r̂ₐ − rₐ) − 2r̂ₐ* + rₐ*</a:t>
            </a:r>
          </a:p>
        </p:txBody>
      </p:sp>
      <p:sp>
        <p:nvSpPr>
          <p:cNvPr id="10256" name="TextBox 10255"/>
          <p:cNvSpPr txBox="1"/>
          <p:nvPr/>
        </p:nvSpPr>
        <p:spPr>
          <a:xfrm>
            <a:off x="1005840" y="557784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non-negative, zero at the truth, upper-bounds regret; tested against squared error</a:t>
            </a:r>
          </a:p>
        </p:txBody>
      </p:sp>
      <p:sp>
        <p:nvSpPr>
          <p:cNvPr id="10257" name="TextBox 10256"/>
          <p:cNvSpPr txBox="1"/>
          <p:nvPr/>
        </p:nvSpPr>
        <p:spPr>
          <a:xfrm>
            <a:off x="1005840" y="6949440"/>
            <a:ext cx="11338560" cy="457200"/>
          </a:xfrm>
          <a:prstGeom prst="rect">
            <a:avLst/>
          </a:prstGeom>
          <a:noFill/>
        </p:spPr>
        <p:txBody>
          <a:bodyPr wrap="square" anchor="t" lIns="73152" rIns="73152" tIns="36576" bIns="36576">
            <a:spAutoFit/>
          </a:bodyPr>
          <a:lstStyle/>
          <a:p>
            <a:pPr algn="l"/>
            <a:r>
              <a:rPr sz="2300" b="1" i="0">
                <a:solidFill>
                  <a:srgbClr val="1F4E79"/>
                </a:solidFill>
                <a:latin typeface="Calibri"/>
              </a:rPr>
              <a:t>Guaranteed floor and adaptive level</a:t>
            </a:r>
          </a:p>
        </p:txBody>
      </p:sp>
      <p:sp>
        <p:nvSpPr>
          <p:cNvPr id="10258" name="Rectangle 10257"/>
          <p:cNvSpPr/>
          <p:nvPr/>
        </p:nvSpPr>
        <p:spPr>
          <a:xfrm>
            <a:off x="1005840" y="7406640"/>
            <a:ext cx="11338560" cy="77724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900" b="1" i="0">
                <a:solidFill>
                  <a:srgbClr val="1F2A44"/>
                </a:solidFill>
                <a:latin typeface="Cambria Math"/>
              </a:rPr>
              <a:t>L = r̂ − q·σ̂ ;   αₜ₊₁ = αₜ + γ (α − 1[R &lt; L])</a:t>
            </a:r>
          </a:p>
        </p:txBody>
      </p:sp>
      <p:sp>
        <p:nvSpPr>
          <p:cNvPr id="10259" name="TextBox 10258"/>
          <p:cNvSpPr txBox="1"/>
          <p:nvPr/>
        </p:nvSpPr>
        <p:spPr>
          <a:xfrm>
            <a:off x="1005840" y="8229600"/>
            <a:ext cx="11338560" cy="822960"/>
          </a:xfrm>
          <a:prstGeom prst="rect">
            <a:avLst/>
          </a:prstGeom>
          <a:noFill/>
        </p:spPr>
        <p:txBody>
          <a:bodyPr wrap="square" anchor="t" lIns="73152" rIns="73152" tIns="36576" bIns="36576">
            <a:spAutoFit/>
          </a:bodyPr>
          <a:lstStyle/>
          <a:p>
            <a:pPr algn="l"/>
            <a:r>
              <a:rPr sz="2100" b="0" i="0">
                <a:solidFill>
                  <a:srgbClr val="5F6B7A"/>
                </a:solidFill>
                <a:latin typeface="Calibri"/>
              </a:rPr>
              <a:t>q = (1 − αₜ) quantile of past normalised scores; outcomes of a k-day hold are released only after the sale date</a:t>
            </a:r>
          </a:p>
        </p:txBody>
      </p:sp>
      <p:graphicFrame>
        <p:nvGraphicFramePr>
          <p:cNvPr id="10260" name="Table 10259"/>
          <p:cNvGraphicFramePr>
            <a:graphicFrameLocks noGrp="1"/>
          </p:cNvGraphicFramePr>
          <p:nvPr/>
        </p:nvGraphicFramePr>
        <p:xfrm>
          <a:off x="12801600" y="1737360"/>
          <a:ext cx="6309358" cy="5102352"/>
        </p:xfrm>
        <a:graphic>
          <a:graphicData uri="http://schemas.openxmlformats.org/drawingml/2006/table">
            <a:tbl>
              <a:tblPr firstRow="1" bandRow="1">
                <a:tableStyleId>{5C22544A-7EE6-4342-B048-85BDC9FD1C3A}</a:tableStyleId>
              </a:tblPr>
              <a:tblGrid>
                <a:gridCol w="941695"/>
                <a:gridCol w="3578442"/>
                <a:gridCol w="1789221"/>
              </a:tblGrid>
              <a:tr h="566928">
                <a:tc>
                  <a:txBody>
                    <a:bodyPr wrap="square"/>
                    <a:lstStyle/>
                    <a:p>
                      <a:pPr algn="ctr"/>
                      <a:r>
                        <a:rPr sz="2100" b="1">
                          <a:solidFill>
                            <a:srgbClr val="FFFFFF"/>
                          </a:solidFill>
                          <a:latin typeface="Calibri"/>
                        </a:rPr>
                        <a:t>Sym.</a:t>
                      </a:r>
                    </a:p>
                  </a:txBody>
                  <a:tcPr marL="73152" marR="73152" marT="27432" marB="27432" anchor="ctr">
                    <a:solidFill>
                      <a:srgbClr val="1F4E79"/>
                    </a:solidFill>
                  </a:tcPr>
                </a:tc>
                <a:tc>
                  <a:txBody>
                    <a:bodyPr wrap="square"/>
                    <a:lstStyle/>
                    <a:p>
                      <a:pPr algn="ctr"/>
                      <a:r>
                        <a:rPr sz="2100" b="1">
                          <a:solidFill>
                            <a:srgbClr val="FFFFFF"/>
                          </a:solidFill>
                          <a:latin typeface="Calibri"/>
                        </a:rPr>
                        <a:t>Meaning</a:t>
                      </a:r>
                    </a:p>
                  </a:txBody>
                  <a:tcPr marL="73152" marR="73152" marT="27432" marB="27432" anchor="ctr">
                    <a:solidFill>
                      <a:srgbClr val="1F4E79"/>
                    </a:solidFill>
                  </a:tcPr>
                </a:tc>
                <a:tc>
                  <a:txBody>
                    <a:bodyPr wrap="square"/>
                    <a:lstStyle/>
                    <a:p>
                      <a:pPr algn="ctr"/>
                      <a:r>
                        <a:rPr sz="2100" b="1">
                          <a:solidFill>
                            <a:srgbClr val="FFFFFF"/>
                          </a:solidFill>
                          <a:latin typeface="Calibri"/>
                        </a:rPr>
                        <a:t>Default</a:t>
                      </a:r>
                    </a:p>
                  </a:txBody>
                  <a:tcPr marL="73152" marR="73152" marT="27432" marB="27432" anchor="ctr">
                    <a:solidFill>
                      <a:srgbClr val="1F4E79"/>
                    </a:solidFill>
                  </a:tcPr>
                </a:tc>
              </a:tr>
              <a:tr h="566928">
                <a:tc>
                  <a:txBody>
                    <a:bodyPr wrap="square"/>
                    <a:lstStyle/>
                    <a:p>
                      <a:pPr algn="ctr"/>
                      <a:r>
                        <a:rPr sz="2100" b="0">
                          <a:solidFill>
                            <a:srgbClr val="1F2A44"/>
                          </a:solidFill>
                          <a:latin typeface="Calibri"/>
                        </a:rPr>
                        <a:t>f</a:t>
                      </a:r>
                    </a:p>
                  </a:txBody>
                  <a:tcPr marL="73152" marR="73152" marT="27432" marB="27432" anchor="ctr">
                    <a:solidFill>
                      <a:srgbClr val="FFFFFF"/>
                    </a:solidFill>
                  </a:tcPr>
                </a:tc>
                <a:tc>
                  <a:txBody>
                    <a:bodyPr wrap="square"/>
                    <a:lstStyle/>
                    <a:p>
                      <a:pPr algn="l"/>
                      <a:r>
                        <a:rPr sz="2100" b="0">
                          <a:solidFill>
                            <a:srgbClr val="1F2A44"/>
                          </a:solidFill>
                          <a:latin typeface="Calibri"/>
                        </a:rPr>
                        <a:t>market fee + commission</a:t>
                      </a:r>
                    </a:p>
                  </a:txBody>
                  <a:tcPr marL="73152" marR="73152" marT="27432" marB="27432" anchor="ctr">
                    <a:solidFill>
                      <a:srgbClr val="FFFFFF"/>
                    </a:solidFill>
                  </a:tcPr>
                </a:tc>
                <a:tc>
                  <a:txBody>
                    <a:bodyPr wrap="square"/>
                    <a:lstStyle/>
                    <a:p>
                      <a:pPr algn="ctr"/>
                      <a:r>
                        <a:rPr sz="2100" b="0">
                          <a:solidFill>
                            <a:srgbClr val="1F2A44"/>
                          </a:solidFill>
                          <a:latin typeface="Calibri"/>
                        </a:rPr>
                        <a:t>4 %</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c₀</a:t>
                      </a:r>
                    </a:p>
                  </a:txBody>
                  <a:tcPr marL="73152" marR="73152" marT="27432" marB="27432" anchor="ctr">
                    <a:solidFill>
                      <a:srgbClr val="F1F7FB"/>
                    </a:solidFill>
                  </a:tcPr>
                </a:tc>
                <a:tc>
                  <a:txBody>
                    <a:bodyPr wrap="square"/>
                    <a:lstStyle/>
                    <a:p>
                      <a:pPr algn="l"/>
                      <a:r>
                        <a:rPr sz="2100" b="0">
                          <a:solidFill>
                            <a:srgbClr val="1F2A44"/>
                          </a:solidFill>
                          <a:latin typeface="Calibri"/>
                        </a:rPr>
                        <a:t>handling per trip</a:t>
                      </a:r>
                    </a:p>
                  </a:txBody>
                  <a:tcPr marL="73152" marR="73152" marT="27432" marB="27432" anchor="ctr">
                    <a:solidFill>
                      <a:srgbClr val="F1F7FB"/>
                    </a:solidFill>
                  </a:tcPr>
                </a:tc>
                <a:tc>
                  <a:txBody>
                    <a:bodyPr wrap="square"/>
                    <a:lstStyle/>
                    <a:p>
                      <a:pPr algn="ctr"/>
                      <a:r>
                        <a:rPr sz="2100" b="0">
                          <a:solidFill>
                            <a:srgbClr val="1F2A44"/>
                          </a:solidFill>
                          <a:latin typeface="Calibri"/>
                        </a:rPr>
                        <a:t>Rs 20</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τ</a:t>
                      </a:r>
                    </a:p>
                  </a:txBody>
                  <a:tcPr marL="73152" marR="73152" marT="27432" marB="27432" anchor="ctr">
                    <a:solidFill>
                      <a:srgbClr val="FFFFFF"/>
                    </a:solidFill>
                  </a:tcPr>
                </a:tc>
                <a:tc>
                  <a:txBody>
                    <a:bodyPr wrap="square"/>
                    <a:lstStyle/>
                    <a:p>
                      <a:pPr algn="l"/>
                      <a:r>
                        <a:rPr sz="2100" b="0">
                          <a:solidFill>
                            <a:srgbClr val="1F2A44"/>
                          </a:solidFill>
                          <a:latin typeface="Calibri"/>
                        </a:rPr>
                        <a:t>transport, Rs per quintal-km</a:t>
                      </a:r>
                    </a:p>
                  </a:txBody>
                  <a:tcPr marL="73152" marR="73152" marT="27432" marB="27432" anchor="ctr">
                    <a:solidFill>
                      <a:srgbClr val="FFFFFF"/>
                    </a:solidFill>
                  </a:tcPr>
                </a:tc>
                <a:tc>
                  <a:txBody>
                    <a:bodyPr wrap="square"/>
                    <a:lstStyle/>
                    <a:p>
                      <a:pPr algn="ctr"/>
                      <a:r>
                        <a:rPr sz="2100" b="0">
                          <a:solidFill>
                            <a:srgbClr val="1F2A44"/>
                          </a:solidFill>
                          <a:latin typeface="Calibri"/>
                        </a:rPr>
                        <a:t>0.35</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ρ</a:t>
                      </a:r>
                    </a:p>
                  </a:txBody>
                  <a:tcPr marL="73152" marR="73152" marT="27432" marB="27432" anchor="ctr">
                    <a:solidFill>
                      <a:srgbClr val="F1F7FB"/>
                    </a:solidFill>
                  </a:tcPr>
                </a:tc>
                <a:tc>
                  <a:txBody>
                    <a:bodyPr wrap="square"/>
                    <a:lstStyle/>
                    <a:p>
                      <a:pPr algn="l"/>
                      <a:r>
                        <a:rPr sz="2100" b="0">
                          <a:solidFill>
                            <a:srgbClr val="1F2A44"/>
                          </a:solidFill>
                          <a:latin typeface="Calibri"/>
                        </a:rPr>
                        <a:t>road / great-circle distance</a:t>
                      </a:r>
                    </a:p>
                  </a:txBody>
                  <a:tcPr marL="73152" marR="73152" marT="27432" marB="27432" anchor="ctr">
                    <a:solidFill>
                      <a:srgbClr val="F1F7FB"/>
                    </a:solidFill>
                  </a:tcPr>
                </a:tc>
                <a:tc>
                  <a:txBody>
                    <a:bodyPr wrap="square"/>
                    <a:lstStyle/>
                    <a:p>
                      <a:pPr algn="ctr"/>
                      <a:r>
                        <a:rPr sz="2100" b="0">
                          <a:solidFill>
                            <a:srgbClr val="1F2A44"/>
                          </a:solidFill>
                          <a:latin typeface="Calibri"/>
                        </a:rPr>
                        <a:t>1.3</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δ</a:t>
                      </a:r>
                    </a:p>
                  </a:txBody>
                  <a:tcPr marL="73152" marR="73152" marT="27432" marB="27432" anchor="ctr">
                    <a:solidFill>
                      <a:srgbClr val="FFFFFF"/>
                    </a:solidFill>
                  </a:tcPr>
                </a:tc>
                <a:tc>
                  <a:txBody>
                    <a:bodyPr wrap="square"/>
                    <a:lstStyle/>
                    <a:p>
                      <a:pPr algn="l"/>
                      <a:r>
                        <a:rPr sz="2100" b="0">
                          <a:solidFill>
                            <a:srgbClr val="1F2A44"/>
                          </a:solidFill>
                          <a:latin typeface="Calibri"/>
                        </a:rPr>
                        <a:t>daily spoilage (tomato / onion / potato)</a:t>
                      </a:r>
                    </a:p>
                  </a:txBody>
                  <a:tcPr marL="73152" marR="73152" marT="27432" marB="27432" anchor="ctr">
                    <a:solidFill>
                      <a:srgbClr val="FFFFFF"/>
                    </a:solidFill>
                  </a:tcPr>
                </a:tc>
                <a:tc>
                  <a:txBody>
                    <a:bodyPr wrap="square"/>
                    <a:lstStyle/>
                    <a:p>
                      <a:pPr algn="ctr"/>
                      <a:r>
                        <a:rPr sz="2100" b="0">
                          <a:solidFill>
                            <a:srgbClr val="1F2A44"/>
                          </a:solidFill>
                          <a:latin typeface="Calibri"/>
                        </a:rPr>
                        <a:t>3 / 0.8 / 0.4 %</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φ</a:t>
                      </a:r>
                    </a:p>
                  </a:txBody>
                  <a:tcPr marL="73152" marR="73152" marT="27432" marB="27432" anchor="ctr">
                    <a:solidFill>
                      <a:srgbClr val="F1F7FB"/>
                    </a:solidFill>
                  </a:tcPr>
                </a:tc>
                <a:tc>
                  <a:txBody>
                    <a:bodyPr wrap="square"/>
                    <a:lstStyle/>
                    <a:p>
                      <a:pPr algn="l"/>
                      <a:r>
                        <a:rPr sz="2100" b="0">
                          <a:solidFill>
                            <a:srgbClr val="1F2A44"/>
                          </a:solidFill>
                          <a:latin typeface="Calibri"/>
                        </a:rPr>
                        <a:t>price discount if mandi silent</a:t>
                      </a:r>
                    </a:p>
                  </a:txBody>
                  <a:tcPr marL="73152" marR="73152" marT="27432" marB="27432" anchor="ctr">
                    <a:solidFill>
                      <a:srgbClr val="F1F7FB"/>
                    </a:solidFill>
                  </a:tcPr>
                </a:tc>
                <a:tc>
                  <a:txBody>
                    <a:bodyPr wrap="square"/>
                    <a:lstStyle/>
                    <a:p>
                      <a:pPr algn="ctr"/>
                      <a:r>
                        <a:rPr sz="2100" b="0">
                          <a:solidFill>
                            <a:srgbClr val="1F2A44"/>
                          </a:solidFill>
                          <a:latin typeface="Calibri"/>
                        </a:rPr>
                        <a:t>0.85</a:t>
                      </a:r>
                    </a:p>
                  </a:txBody>
                  <a:tcPr marL="73152" marR="73152" marT="27432" marB="27432" anchor="ctr">
                    <a:solidFill>
                      <a:srgbClr val="F1F7FB"/>
                    </a:solidFill>
                  </a:tcPr>
                </a:tc>
              </a:tr>
              <a:tr h="566928">
                <a:tc>
                  <a:txBody>
                    <a:bodyPr wrap="square"/>
                    <a:lstStyle/>
                    <a:p>
                      <a:pPr algn="ctr"/>
                      <a:r>
                        <a:rPr sz="2100" b="0">
                          <a:solidFill>
                            <a:srgbClr val="1F2A44"/>
                          </a:solidFill>
                          <a:latin typeface="Calibri"/>
                        </a:rPr>
                        <a:t>φ_g</a:t>
                      </a:r>
                    </a:p>
                  </a:txBody>
                  <a:tcPr marL="73152" marR="73152" marT="27432" marB="27432" anchor="ctr">
                    <a:solidFill>
                      <a:srgbClr val="FFFFFF"/>
                    </a:solidFill>
                  </a:tcPr>
                </a:tc>
                <a:tc>
                  <a:txBody>
                    <a:bodyPr wrap="square"/>
                    <a:lstStyle/>
                    <a:p>
                      <a:pPr algn="l"/>
                      <a:r>
                        <a:rPr sz="2100" b="0">
                          <a:solidFill>
                            <a:srgbClr val="1F2A44"/>
                          </a:solidFill>
                          <a:latin typeface="Calibri"/>
                        </a:rPr>
                        <a:t>farm-gate discount</a:t>
                      </a:r>
                    </a:p>
                  </a:txBody>
                  <a:tcPr marL="73152" marR="73152" marT="27432" marB="27432" anchor="ctr">
                    <a:solidFill>
                      <a:srgbClr val="FFFFFF"/>
                    </a:solidFill>
                  </a:tcPr>
                </a:tc>
                <a:tc>
                  <a:txBody>
                    <a:bodyPr wrap="square"/>
                    <a:lstStyle/>
                    <a:p>
                      <a:pPr algn="ctr"/>
                      <a:r>
                        <a:rPr sz="2100" b="0">
                          <a:solidFill>
                            <a:srgbClr val="1F2A44"/>
                          </a:solidFill>
                          <a:latin typeface="Calibri"/>
                        </a:rPr>
                        <a:t>0.80</a:t>
                      </a:r>
                    </a:p>
                  </a:txBody>
                  <a:tcPr marL="73152" marR="73152" marT="27432" marB="27432" anchor="ctr">
                    <a:solidFill>
                      <a:srgbClr val="FFFFFF"/>
                    </a:solidFill>
                  </a:tcPr>
                </a:tc>
              </a:tr>
              <a:tr h="566928">
                <a:tc>
                  <a:txBody>
                    <a:bodyPr wrap="square"/>
                    <a:lstStyle/>
                    <a:p>
                      <a:pPr algn="ctr"/>
                      <a:r>
                        <a:rPr sz="2100" b="0">
                          <a:solidFill>
                            <a:srgbClr val="1F2A44"/>
                          </a:solidFill>
                          <a:latin typeface="Calibri"/>
                        </a:rPr>
                        <a:t>α, γ</a:t>
                      </a:r>
                    </a:p>
                  </a:txBody>
                  <a:tcPr marL="73152" marR="73152" marT="27432" marB="27432" anchor="ctr">
                    <a:solidFill>
                      <a:srgbClr val="F1F7FB"/>
                    </a:solidFill>
                  </a:tcPr>
                </a:tc>
                <a:tc>
                  <a:txBody>
                    <a:bodyPr wrap="square"/>
                    <a:lstStyle/>
                    <a:p>
                      <a:pPr algn="l"/>
                      <a:r>
                        <a:rPr sz="2100" b="0">
                          <a:solidFill>
                            <a:srgbClr val="1F2A44"/>
                          </a:solidFill>
                          <a:latin typeface="Calibri"/>
                        </a:rPr>
                        <a:t>floor level, ACI step</a:t>
                      </a:r>
                    </a:p>
                  </a:txBody>
                  <a:tcPr marL="73152" marR="73152" marT="27432" marB="27432" anchor="ctr">
                    <a:solidFill>
                      <a:srgbClr val="F1F7FB"/>
                    </a:solidFill>
                  </a:tcPr>
                </a:tc>
                <a:tc>
                  <a:txBody>
                    <a:bodyPr wrap="square"/>
                    <a:lstStyle/>
                    <a:p>
                      <a:pPr algn="ctr"/>
                      <a:r>
                        <a:rPr sz="2100" b="0">
                          <a:solidFill>
                            <a:srgbClr val="1F2A44"/>
                          </a:solidFill>
                          <a:latin typeface="Calibri"/>
                        </a:rPr>
                        <a:t>0.10, 0.01</a:t>
                      </a:r>
                    </a:p>
                  </a:txBody>
                  <a:tcPr marL="73152" marR="73152" marT="27432" marB="27432" anchor="ctr">
                    <a:solidFill>
                      <a:srgbClr val="F1F7FB"/>
                    </a:solidFill>
                  </a:tcPr>
                </a:tc>
              </a:tr>
            </a:tbl>
          </a:graphicData>
        </a:graphic>
      </p:graphicFrame>
      <p:sp>
        <p:nvSpPr>
          <p:cNvPr id="10261" name="Rectangle 10260"/>
          <p:cNvSpPr/>
          <p:nvPr/>
        </p:nvSpPr>
        <p:spPr>
          <a:xfrm>
            <a:off x="12801600" y="7040880"/>
            <a:ext cx="6309360" cy="26517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300" b="1" i="0">
                <a:solidFill>
                  <a:srgbClr val="1F2A44"/>
                </a:solidFill>
                <a:latin typeface="Calibri"/>
              </a:rPr>
              <a:t>Parameters are scenario assumptions, not estimates. </a:t>
            </a:r>
            <a:r>
              <a:rPr sz="2300" b="0" i="0">
                <a:solidFill>
                  <a:srgbClr val="1F2A44"/>
                </a:solidFill>
                <a:latin typeface="Calibri"/>
              </a:rPr>
              <a:t>τ, δ and φ are swept at evaluation time; conclusions hold across all 10 settings per crop.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Decision Intelligence and Cross-Commodity Spillover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5</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Rectangle 10250"/>
          <p:cNvSpPr/>
          <p:nvPr/>
        </p:nvSpPr>
        <p:spPr>
          <a:xfrm>
            <a:off x="1005840" y="1737360"/>
            <a:ext cx="88696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Objective 7: grounded decision briefs</a:t>
            </a:r>
          </a:p>
        </p:txBody>
      </p:sp>
      <p:sp>
        <p:nvSpPr>
          <p:cNvPr id="10252" name="Rectangle 10251"/>
          <p:cNvSpPr/>
          <p:nvPr/>
        </p:nvSpPr>
        <p:spPr>
          <a:xfrm>
            <a:off x="1005840" y="2304288"/>
            <a:ext cx="8869680" cy="71140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1" i="0">
                <a:solidFill>
                  <a:srgbClr val="1F2A44"/>
                </a:solidFill>
                <a:latin typeface="Calibri"/>
              </a:rPr>
              <a:t>1. Evidence bundle: </a:t>
            </a:r>
            <a:r>
              <a:rPr sz="2800" b="0" i="0">
                <a:solidFill>
                  <a:srgbClr val="1F2A44"/>
                </a:solidFill>
                <a:latin typeface="Calibri"/>
              </a:rPr>
              <a:t>flat map of dotted keys (forecast.h5.point, market-choice, arrivals, spillover) + what was unavailable</a:t>
            </a:r>
          </a:p>
          <a:p>
            <a:pPr algn="l"/>
            <a:r>
              <a:rPr sz="2800" b="1" i="0">
                <a:solidFill>
                  <a:srgbClr val="1F2A44"/>
                </a:solidFill>
                <a:latin typeface="Calibri"/>
              </a:rPr>
              <a:t>2. Provider fills a fixed schema: </a:t>
            </a:r>
            <a:r>
              <a:rPr sz="2800" b="0" i="0">
                <a:solidFill>
                  <a:srgbClr val="1F2A44"/>
                </a:solidFill>
                <a:latin typeface="Calibri"/>
              </a:rPr>
              <a:t>action BUY/SELL/HOLD/WAIT, confidence (may be INSUFFICIENT_EVIDENCE), factors that each cite an evidence key</a:t>
            </a:r>
          </a:p>
          <a:p>
            <a:pPr algn="l"/>
            <a:r>
              <a:rPr sz="2800" b="1" i="0">
                <a:solidFill>
                  <a:srgbClr val="1F2A44"/>
                </a:solidFill>
                <a:latin typeface="Calibri"/>
              </a:rPr>
              <a:t>3. Grounding check: </a:t>
            </a:r>
            <a:r>
              <a:rPr sz="2800" b="0" i="0">
                <a:solidFill>
                  <a:srgbClr val="1F2A44"/>
                </a:solidFill>
                <a:latin typeface="Calibri"/>
              </a:rPr>
              <a:t>every figure within 1% of an evidence value, every key exists, no market named outside the evidence</a:t>
            </a:r>
          </a:p>
          <a:p>
            <a:pPr algn="l"/>
            <a:r>
              <a:rPr sz="2800" b="1" i="0">
                <a:solidFill>
                  <a:srgbClr val="1F2A44"/>
                </a:solidFill>
                <a:latin typeface="Calibri"/>
              </a:rPr>
              <a:t>4. Never fails silently: </a:t>
            </a:r>
            <a:r>
              <a:rPr sz="2800" b="0" i="0">
                <a:solidFill>
                  <a:srgbClr val="1F2A44"/>
                </a:solidFill>
                <a:latin typeface="Calibri"/>
              </a:rPr>
              <a:t>failing provider → deterministic fallback; ungrounded brief served as grounded:false with issues listed</a:t>
            </a:r>
          </a:p>
          <a:p>
            <a:pPr algn="l"/>
            <a:r>
              <a:rPr sz="2800" b="1" i="0">
                <a:solidFill>
                  <a:srgbClr val="1F2A44"/>
                </a:solidFill>
                <a:latin typeface="Calibri"/>
              </a:rPr>
              <a:t>Policy: </a:t>
            </a:r>
            <a:r>
              <a:rPr sz="2800" b="0" i="0">
                <a:solidFill>
                  <a:srgbClr val="1F2A44"/>
                </a:solidFill>
                <a:latin typeface="Calibri"/>
              </a:rPr>
              <a:t>a HOLD is overridden when spoilage outruns the expected gain</a:t>
            </a:r>
          </a:p>
        </p:txBody>
      </p:sp>
      <p:sp>
        <p:nvSpPr>
          <p:cNvPr id="10253" name="Rectangle 10252"/>
          <p:cNvSpPr/>
          <p:nvPr/>
        </p:nvSpPr>
        <p:spPr>
          <a:xfrm>
            <a:off x="10241280" y="1737360"/>
            <a:ext cx="88696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Objective 8: spillover between crops</a:t>
            </a:r>
          </a:p>
        </p:txBody>
      </p:sp>
      <p:sp>
        <p:nvSpPr>
          <p:cNvPr id="10254" name="Rectangle 10253"/>
          <p:cNvSpPr/>
          <p:nvPr/>
        </p:nvSpPr>
        <p:spPr>
          <a:xfrm>
            <a:off x="10241280" y="2304288"/>
            <a:ext cx="8869680" cy="71140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1" i="0">
                <a:solidFill>
                  <a:srgbClr val="1F2A44"/>
                </a:solidFill>
                <a:latin typeface="Calibri"/>
              </a:rPr>
              <a:t>Panel: </a:t>
            </a:r>
            <a:r>
              <a:rPr sz="2800" b="0" i="0">
                <a:solidFill>
                  <a:srgbClr val="1F2A44"/>
                </a:solidFill>
                <a:latin typeface="Calibri"/>
              </a:rPr>
              <a:t>weekly returns of 5 crops, 232 weeks, one reference market each</a:t>
            </a:r>
          </a:p>
          <a:p>
            <a:pPr algn="l"/>
            <a:r>
              <a:rPr sz="2800" b="1" i="0">
                <a:solidFill>
                  <a:srgbClr val="1F2A44"/>
                </a:solidFill>
                <a:latin typeface="Calibri"/>
              </a:rPr>
              <a:t>Clean: </a:t>
            </a:r>
            <a:r>
              <a:rPr sz="2800" b="0" i="0">
                <a:solidFill>
                  <a:srgbClr val="1F2A44"/>
                </a:solidFill>
                <a:latin typeface="Calibri"/>
              </a:rPr>
              <a:t>remove first common factor (24.5% of variance) and calendar-month means so shared shocks are not read as transmission</a:t>
            </a:r>
          </a:p>
          <a:p>
            <a:pPr algn="l"/>
            <a:r>
              <a:rPr sz="2800" b="1" i="0">
                <a:solidFill>
                  <a:srgbClr val="1F2A44"/>
                </a:solidFill>
                <a:latin typeface="Calibri"/>
              </a:rPr>
              <a:t>Episodes: </a:t>
            </a:r>
            <a:r>
              <a:rPr sz="2800" b="0" i="0">
                <a:solidFill>
                  <a:srgbClr val="1F2A44"/>
                </a:solidFill>
                <a:latin typeface="Calibri"/>
              </a:rPr>
              <a:t>source crop in squeeze or glut; onsets &lt;4 weeks apart merged</a:t>
            </a:r>
          </a:p>
          <a:p>
            <a:pPr algn="l"/>
            <a:r>
              <a:rPr sz="2800" b="1" i="0">
                <a:solidFill>
                  <a:srgbClr val="1F2A44"/>
                </a:solidFill>
                <a:latin typeface="Calibri"/>
              </a:rPr>
              <a:t>Effect: </a:t>
            </a:r>
            <a:r>
              <a:rPr sz="2800" b="0" i="0">
                <a:solidFill>
                  <a:srgbClr val="1F2A44"/>
                </a:solidFill>
                <a:latin typeface="Calibri"/>
              </a:rPr>
              <a:t>mean response of target over h = 1–4 weeks minus its unconditional baseline</a:t>
            </a:r>
          </a:p>
          <a:p>
            <a:pPr algn="l"/>
            <a:r>
              <a:rPr sz="2800" b="1" i="0">
                <a:solidFill>
                  <a:srgbClr val="1F2A44"/>
                </a:solidFill>
                <a:latin typeface="Calibri"/>
              </a:rPr>
              <a:t>Inference: </a:t>
            </a:r>
            <a:r>
              <a:rPr sz="2800" b="0" i="0">
                <a:solidFill>
                  <a:srgbClr val="1F2A44"/>
                </a:solidFill>
                <a:latin typeface="Calibri"/>
              </a:rPr>
              <a:t>bootstrap over whole episodes (2,000 draws, 90%); Benjamini–Hochberg FDR 10% across 40 edges</a:t>
            </a:r>
          </a:p>
          <a:p>
            <a:pPr algn="l"/>
            <a:r>
              <a:rPr sz="2800" b="1" i="0">
                <a:solidFill>
                  <a:srgbClr val="1F2A44"/>
                </a:solidFill>
                <a:latin typeface="Calibri"/>
              </a:rPr>
              <a:t>Gates: </a:t>
            </a:r>
            <a:r>
              <a:rPr sz="2800" b="0" i="0">
                <a:solidFill>
                  <a:srgbClr val="1F2A44"/>
                </a:solidFill>
                <a:latin typeface="Calibri"/>
              </a:rPr>
              <a:t>≥8 episodes, CI excludes 0, |effect| ≥ 1%; otherwise INSUFFICIENT_EVIDENCE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Live Demonstration (1/2): Farmer Tool</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6</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20" cy="7360920"/>
        </p:xfrm>
        <a:graphic>
          <a:graphicData uri="http://schemas.openxmlformats.org/drawingml/2006/table">
            <a:tbl>
              <a:tblPr firstRow="1" bandRow="1">
                <a:tableStyleId>{5C22544A-7EE6-4342-B048-85BDC9FD1C3A}</a:tableStyleId>
              </a:tblPr>
              <a:tblGrid>
                <a:gridCol w="822960"/>
                <a:gridCol w="7498080"/>
                <a:gridCol w="9784080"/>
              </a:tblGrid>
              <a:tr h="1051560">
                <a:tc>
                  <a:txBody>
                    <a:bodyPr wrap="square"/>
                    <a:lstStyle/>
                    <a:p>
                      <a:pPr algn="ctr"/>
                      <a:r>
                        <a:rPr sz="2100" b="1">
                          <a:solidFill>
                            <a:srgbClr val="FFFFFF"/>
                          </a:solidFill>
                          <a:latin typeface="Calibri"/>
                        </a:rPr>
                        <a:t>Step</a:t>
                      </a:r>
                    </a:p>
                  </a:txBody>
                  <a:tcPr marL="73152" marR="73152" marT="27432" marB="27432" anchor="ctr">
                    <a:solidFill>
                      <a:srgbClr val="1F4E79"/>
                    </a:solidFill>
                  </a:tcPr>
                </a:tc>
                <a:tc>
                  <a:txBody>
                    <a:bodyPr wrap="square"/>
                    <a:lstStyle/>
                    <a:p>
                      <a:pPr algn="ctr"/>
                      <a:r>
                        <a:rPr sz="2100" b="1">
                          <a:solidFill>
                            <a:srgbClr val="FFFFFF"/>
                          </a:solidFill>
                          <a:latin typeface="Calibri"/>
                        </a:rPr>
                        <a:t>Do</a:t>
                      </a:r>
                    </a:p>
                  </a:txBody>
                  <a:tcPr marL="73152" marR="73152" marT="27432" marB="27432" anchor="ctr">
                    <a:solidFill>
                      <a:srgbClr val="1F4E79"/>
                    </a:solidFill>
                  </a:tcPr>
                </a:tc>
                <a:tc>
                  <a:txBody>
                    <a:bodyPr wrap="square"/>
                    <a:lstStyle/>
                    <a:p>
                      <a:pPr algn="ctr"/>
                      <a:r>
                        <a:rPr sz="2100" b="1">
                          <a:solidFill>
                            <a:srgbClr val="FFFFFF"/>
                          </a:solidFill>
                          <a:latin typeface="Calibri"/>
                        </a:rPr>
                        <a:t>You will see</a:t>
                      </a:r>
                    </a:p>
                  </a:txBody>
                  <a:tcPr marL="73152" marR="73152" marT="27432" marB="27432" anchor="ctr">
                    <a:solidFill>
                      <a:srgbClr val="1F4E79"/>
                    </a:solidFill>
                  </a:tcPr>
                </a:tc>
              </a:tr>
              <a:tr h="1051560">
                <a:tc>
                  <a:txBody>
                    <a:bodyPr wrap="square"/>
                    <a:lstStyle/>
                    <a:p>
                      <a:pPr algn="l"/>
                      <a:r>
                        <a:rPr sz="2100" b="1">
                          <a:solidFill>
                            <a:srgbClr val="1F2A44"/>
                          </a:solidFill>
                          <a:latin typeface="Calibri"/>
                        </a:rPr>
                        <a:t>A1</a:t>
                      </a:r>
                    </a:p>
                  </a:txBody>
                  <a:tcPr marL="73152" marR="73152" marT="27432" marB="27432" anchor="ctr">
                    <a:solidFill>
                      <a:srgbClr val="FFFFFF"/>
                    </a:solidFill>
                  </a:tcPr>
                </a:tc>
                <a:tc>
                  <a:txBody>
                    <a:bodyPr wrap="square"/>
                    <a:lstStyle/>
                    <a:p>
                      <a:pPr algn="l"/>
                      <a:r>
                        <a:rPr sz="2100" b="0">
                          <a:solidFill>
                            <a:srgbClr val="1F2A44"/>
                          </a:solidFill>
                          <a:latin typeface="Calibri"/>
                        </a:rPr>
                        <a:t>Tools → Best Place &amp; Day to Sell · Kolar, tomato, 10 q, tempo</a:t>
                      </a:r>
                    </a:p>
                  </a:txBody>
                  <a:tcPr marL="73152" marR="73152" marT="27432" marB="27432" anchor="ctr">
                    <a:solidFill>
                      <a:srgbClr val="FFFFFF"/>
                    </a:solidFill>
                  </a:tcPr>
                </a:tc>
                <a:tc>
                  <a:txBody>
                    <a:bodyPr wrap="square"/>
                    <a:lstStyle/>
                    <a:p>
                      <a:pPr algn="l"/>
                      <a:r>
                        <a:rPr sz="2100" b="0">
                          <a:solidFill>
                            <a:srgbClr val="1F2A44"/>
                          </a:solidFill>
                          <a:latin typeface="Calibri"/>
                        </a:rPr>
                        <a:t>Ramanagara, Wed 28 Oct, 103 km · ₹1,824 expected · ₹1,316 floor · ₹592 above nearest</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A2</a:t>
                      </a:r>
                    </a:p>
                  </a:txBody>
                  <a:tcPr marL="73152" marR="73152" marT="27432" marB="27432" anchor="ctr">
                    <a:solidFill>
                      <a:srgbClr val="F1F7FB"/>
                    </a:solidFill>
                  </a:tcPr>
                </a:tc>
                <a:tc>
                  <a:txBody>
                    <a:bodyPr wrap="square"/>
                    <a:lstStyle/>
                    <a:p>
                      <a:pPr algn="l"/>
                      <a:r>
                        <a:rPr sz="2100" b="0">
                          <a:solidFill>
                            <a:srgbClr val="1F2A44"/>
                          </a:solidFill>
                          <a:latin typeface="Calibri"/>
                        </a:rPr>
                        <a:t>Open “Why this mandi?”</a:t>
                      </a:r>
                    </a:p>
                  </a:txBody>
                  <a:tcPr marL="73152" marR="73152" marT="27432" marB="27432" anchor="ctr">
                    <a:solidFill>
                      <a:srgbClr val="F1F7FB"/>
                    </a:solidFill>
                  </a:tcPr>
                </a:tc>
                <a:tc>
                  <a:txBody>
                    <a:bodyPr wrap="square"/>
                    <a:lstStyle/>
                    <a:p>
                      <a:pPr algn="l"/>
                      <a:r>
                        <a:rPr sz="2100" b="0">
                          <a:solidFill>
                            <a:srgbClr val="1F2A44"/>
                          </a:solidFill>
                          <a:latin typeface="Calibri"/>
                        </a:rPr>
                        <a:t>2,081 − 83 − 60 − 94 − 20 = ₹1,824; nearest Kolar ₹1,233</a:t>
                      </a:r>
                    </a:p>
                  </a:txBody>
                  <a:tcPr marL="73152" marR="73152" marT="27432" marB="27432" anchor="ctr">
                    <a:solidFill>
                      <a:srgbClr val="F1F7FB"/>
                    </a:solidFill>
                  </a:tcPr>
                </a:tc>
              </a:tr>
              <a:tr h="1051560">
                <a:tc>
                  <a:txBody>
                    <a:bodyPr wrap="square"/>
                    <a:lstStyle/>
                    <a:p>
                      <a:pPr algn="l"/>
                      <a:r>
                        <a:rPr sz="2100" b="1">
                          <a:solidFill>
                            <a:srgbClr val="1F2A44"/>
                          </a:solidFill>
                          <a:latin typeface="Calibri"/>
                        </a:rPr>
                        <a:t>A3</a:t>
                      </a:r>
                    </a:p>
                  </a:txBody>
                  <a:tcPr marL="73152" marR="73152" marT="27432" marB="27432" anchor="ctr">
                    <a:solidFill>
                      <a:srgbClr val="FFFFFF"/>
                    </a:solidFill>
                  </a:tcPr>
                </a:tc>
                <a:tc>
                  <a:txBody>
                    <a:bodyPr wrap="square"/>
                    <a:lstStyle/>
                    <a:p>
                      <a:pPr algn="l"/>
                      <a:r>
                        <a:rPr sz="2100" b="0">
                          <a:solidFill>
                            <a:srgbClr val="1F2A44"/>
                          </a:solidFill>
                          <a:latin typeface="Calibri"/>
                        </a:rPr>
                        <a:t>What if: drag transport to ₹3.00</a:t>
                      </a:r>
                    </a:p>
                  </a:txBody>
                  <a:tcPr marL="73152" marR="73152" marT="27432" marB="27432" anchor="ctr">
                    <a:solidFill>
                      <a:srgbClr val="FFFFFF"/>
                    </a:solidFill>
                  </a:tcPr>
                </a:tc>
                <a:tc>
                  <a:txBody>
                    <a:bodyPr wrap="square"/>
                    <a:lstStyle/>
                    <a:p>
                      <a:pPr algn="l"/>
                      <a:r>
                        <a:rPr sz="2100" b="0">
                          <a:solidFill>
                            <a:srgbClr val="1F2A44"/>
                          </a:solidFill>
                          <a:latin typeface="Calibri"/>
                        </a:rPr>
                        <a:t>Same advice, net ₹1,515</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A4</a:t>
                      </a:r>
                    </a:p>
                  </a:txBody>
                  <a:tcPr marL="73152" marR="73152" marT="27432" marB="27432" anchor="ctr">
                    <a:solidFill>
                      <a:srgbClr val="F1F7FB"/>
                    </a:solidFill>
                  </a:tcPr>
                </a:tc>
                <a:tc>
                  <a:txBody>
                    <a:bodyPr wrap="square"/>
                    <a:lstStyle/>
                    <a:p>
                      <a:pPr algn="l"/>
                      <a:r>
                        <a:rPr sz="2100" b="0">
                          <a:solidFill>
                            <a:srgbClr val="1F2A44"/>
                          </a:solidFill>
                          <a:latin typeface="Calibri"/>
                        </a:rPr>
                        <a:t>What if: drag spoilage to 5%</a:t>
                      </a:r>
                    </a:p>
                  </a:txBody>
                  <a:tcPr marL="73152" marR="73152" marT="27432" marB="27432" anchor="ctr">
                    <a:solidFill>
                      <a:srgbClr val="F1F7FB"/>
                    </a:solidFill>
                  </a:tcPr>
                </a:tc>
                <a:tc>
                  <a:txBody>
                    <a:bodyPr wrap="square"/>
                    <a:lstStyle/>
                    <a:p>
                      <a:pPr algn="l"/>
                      <a:r>
                        <a:rPr sz="2100" b="0">
                          <a:solidFill>
                            <a:srgbClr val="1F2A44"/>
                          </a:solidFill>
                          <a:latin typeface="Calibri"/>
                        </a:rPr>
                        <a:t>Advice changes: Ramanagara today, ₹1,789</a:t>
                      </a:r>
                    </a:p>
                  </a:txBody>
                  <a:tcPr marL="73152" marR="73152" marT="27432" marB="27432" anchor="ctr">
                    <a:solidFill>
                      <a:srgbClr val="F1F7FB"/>
                    </a:solidFill>
                  </a:tcPr>
                </a:tc>
              </a:tr>
              <a:tr h="1051560">
                <a:tc>
                  <a:txBody>
                    <a:bodyPr wrap="square"/>
                    <a:lstStyle/>
                    <a:p>
                      <a:pPr algn="l"/>
                      <a:r>
                        <a:rPr sz="2100" b="1">
                          <a:solidFill>
                            <a:srgbClr val="1F2A44"/>
                          </a:solidFill>
                          <a:latin typeface="Calibri"/>
                        </a:rPr>
                        <a:t>A5</a:t>
                      </a:r>
                    </a:p>
                  </a:txBody>
                  <a:tcPr marL="73152" marR="73152" marT="27432" marB="27432" anchor="ctr">
                    <a:solidFill>
                      <a:srgbClr val="FFFFFF"/>
                    </a:solidFill>
                  </a:tcPr>
                </a:tc>
                <a:tc>
                  <a:txBody>
                    <a:bodyPr wrap="square"/>
                    <a:lstStyle/>
                    <a:p>
                      <a:pPr algn="l"/>
                      <a:r>
                        <a:rPr sz="2100" b="0">
                          <a:solidFill>
                            <a:srgbClr val="1F2A44"/>
                          </a:solidFill>
                          <a:latin typeface="Calibri"/>
                        </a:rPr>
                        <a:t>Open “Has this advice worked?”</a:t>
                      </a:r>
                    </a:p>
                  </a:txBody>
                  <a:tcPr marL="73152" marR="73152" marT="27432" marB="27432" anchor="ctr">
                    <a:solidFill>
                      <a:srgbClr val="FFFFFF"/>
                    </a:solidFill>
                  </a:tcPr>
                </a:tc>
                <a:tc>
                  <a:txBody>
                    <a:bodyPr wrap="square"/>
                    <a:lstStyle/>
                    <a:p>
                      <a:pPr algn="l"/>
                      <a:r>
                        <a:rPr sz="2100" b="0">
                          <a:solidFill>
                            <a:srgbClr val="1F2A44"/>
                          </a:solidFill>
                          <a:latin typeface="Calibri"/>
                        </a:rPr>
                        <a:t>93% better than nearest · floor held 84% (aim 90%)</a:t>
                      </a:r>
                    </a:p>
                  </a:txBody>
                  <a:tcPr marL="73152" marR="73152" marT="27432" marB="27432" anchor="ctr">
                    <a:solidFill>
                      <a:srgbClr val="FFFFFF"/>
                    </a:solidFill>
                  </a:tcPr>
                </a:tc>
              </a:tr>
              <a:tr h="1051560">
                <a:tc>
                  <a:txBody>
                    <a:bodyPr wrap="square"/>
                    <a:lstStyle/>
                    <a:p>
                      <a:pPr algn="l"/>
                      <a:r>
                        <a:rPr sz="2100" b="1">
                          <a:solidFill>
                            <a:srgbClr val="1F2A44"/>
                          </a:solidFill>
                          <a:latin typeface="Calibri"/>
                        </a:rPr>
                        <a:t>A6</a:t>
                      </a:r>
                    </a:p>
                  </a:txBody>
                  <a:tcPr marL="73152" marR="73152" marT="27432" marB="27432" anchor="ctr">
                    <a:solidFill>
                      <a:srgbClr val="F1F7FB"/>
                    </a:solidFill>
                  </a:tcPr>
                </a:tc>
                <a:tc>
                  <a:txBody>
                    <a:bodyPr wrap="square"/>
                    <a:lstStyle/>
                    <a:p>
                      <a:pPr algn="l"/>
                      <a:r>
                        <a:rPr sz="2100" b="0">
                          <a:solidFill>
                            <a:srgbClr val="1F2A44"/>
                          </a:solidFill>
                          <a:latin typeface="Calibri"/>
                        </a:rPr>
                        <a:t>Switch language to Kannada, then back</a:t>
                      </a:r>
                    </a:p>
                  </a:txBody>
                  <a:tcPr marL="73152" marR="73152" marT="27432" marB="27432" anchor="ctr">
                    <a:solidFill>
                      <a:srgbClr val="F1F7FB"/>
                    </a:solidFill>
                  </a:tcPr>
                </a:tc>
                <a:tc>
                  <a:txBody>
                    <a:bodyPr wrap="square"/>
                    <a:lstStyle/>
                    <a:p>
                      <a:pPr algn="l"/>
                      <a:r>
                        <a:rPr sz="2100" b="0">
                          <a:solidFill>
                            <a:srgbClr val="1F2A44"/>
                          </a:solidFill>
                          <a:latin typeface="Calibri"/>
                        </a:rPr>
                        <a:t>All panels in Kannada</a:t>
                      </a:r>
                    </a:p>
                  </a:txBody>
                  <a:tcPr marL="73152" marR="73152" marT="27432" marB="27432" anchor="ctr">
                    <a:solidFill>
                      <a:srgbClr val="F1F7FB"/>
                    </a:solidFill>
                  </a:tcPr>
                </a:tc>
              </a:tr>
            </a:tbl>
          </a:graphicData>
        </a:graphic>
      </p:graphicFrame>
      <p:sp>
        <p:nvSpPr>
          <p:cNvPr id="10252" name="TextBox 10251"/>
          <p:cNvSpPr txBox="1"/>
          <p:nvPr/>
        </p:nvSpPr>
        <p:spPr>
          <a:xfrm>
            <a:off x="1005840" y="9326880"/>
            <a:ext cx="18105120" cy="1005840"/>
          </a:xfrm>
          <a:prstGeom prst="rect">
            <a:avLst/>
          </a:prstGeom>
          <a:noFill/>
        </p:spPr>
        <p:txBody>
          <a:bodyPr wrap="square" anchor="t" lIns="73152" rIns="73152" tIns="36576" bIns="36576">
            <a:spAutoFit/>
          </a:bodyPr>
          <a:lstStyle/>
          <a:p>
            <a:pPr algn="l"/>
            <a:r>
              <a:rPr sz="2200" b="0" i="1">
                <a:solidFill>
                  <a:srgbClr val="5F6B7A"/>
                </a:solidFill>
                <a:latin typeface="Calibri"/>
              </a:rPr>
              <a:t>Live: the demonstration runs from the repository. Figures are from the data loaded on 29 October 2026 (prices to 26 October).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Statistical Validation: What Actually Improved Decisions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16" cy="4343400"/>
        </p:xfrm>
        <a:graphic>
          <a:graphicData uri="http://schemas.openxmlformats.org/drawingml/2006/table">
            <a:tbl>
              <a:tblPr firstRow="1" bandRow="1">
                <a:tableStyleId>{5C22544A-7EE6-4342-B048-85BDC9FD1C3A}</a:tableStyleId>
              </a:tblPr>
              <a:tblGrid>
                <a:gridCol w="1799266"/>
                <a:gridCol w="4048349"/>
                <a:gridCol w="3373624"/>
                <a:gridCol w="2024174"/>
                <a:gridCol w="5172891"/>
                <a:gridCol w="1686812"/>
              </a:tblGrid>
              <a:tr h="868680">
                <a:tc>
                  <a:txBody>
                    <a:bodyPr wrap="square"/>
                    <a:lstStyle/>
                    <a:p>
                      <a:pPr algn="ctr"/>
                      <a:r>
                        <a:rPr sz="2100" b="1">
                          <a:solidFill>
                            <a:srgbClr val="FFFFFF"/>
                          </a:solidFill>
                          <a:latin typeface="Calibri"/>
                        </a:rPr>
                        <a:t>Crop</a:t>
                      </a:r>
                    </a:p>
                  </a:txBody>
                  <a:tcPr marL="73152" marR="73152" marT="27432" marB="27432" anchor="ctr">
                    <a:solidFill>
                      <a:srgbClr val="1F4E79"/>
                    </a:solidFill>
                  </a:tcPr>
                </a:tc>
                <a:tc>
                  <a:txBody>
                    <a:bodyPr wrap="square"/>
                    <a:lstStyle/>
                    <a:p>
                      <a:pPr algn="ctr"/>
                      <a:r>
                        <a:rPr sz="2100" b="1">
                          <a:solidFill>
                            <a:srgbClr val="FFFFFF"/>
                          </a:solidFill>
                          <a:latin typeface="Calibri"/>
                        </a:rPr>
                        <a:t>Labels: realised vs observed
(Δ regret, Rs/q)</a:t>
                      </a:r>
                    </a:p>
                  </a:txBody>
                  <a:tcPr marL="73152" marR="73152" marT="27432" marB="27432" anchor="ctr">
                    <a:solidFill>
                      <a:srgbClr val="1F4E79"/>
                    </a:solidFill>
                  </a:tcPr>
                </a:tc>
                <a:tc>
                  <a:txBody>
                    <a:bodyPr wrap="square"/>
                    <a:lstStyle/>
                    <a:p>
                      <a:pPr algn="ctr"/>
                      <a:r>
                        <a:rPr sz="2100" b="1">
                          <a:solidFill>
                            <a:srgbClr val="FFFFFF"/>
                          </a:solidFill>
                          <a:latin typeface="Calibri"/>
                        </a:rPr>
                        <a:t>95% CI</a:t>
                      </a:r>
                    </a:p>
                  </a:txBody>
                  <a:tcPr marL="73152" marR="73152" marT="27432" marB="27432" anchor="ctr">
                    <a:solidFill>
                      <a:srgbClr val="1F4E79"/>
                    </a:solidFill>
                  </a:tcPr>
                </a:tc>
                <a:tc>
                  <a:txBody>
                    <a:bodyPr wrap="square"/>
                    <a:lstStyle/>
                    <a:p>
                      <a:pPr algn="ctr"/>
                      <a:r>
                        <a:rPr sz="2100" b="1">
                          <a:solidFill>
                            <a:srgbClr val="FFFFFF"/>
                          </a:solidFill>
                          <a:latin typeface="Calibri"/>
                        </a:rPr>
                        <a:t>Holm p</a:t>
                      </a:r>
                    </a:p>
                  </a:txBody>
                  <a:tcPr marL="73152" marR="73152" marT="27432" marB="27432" anchor="ctr">
                    <a:solidFill>
                      <a:srgbClr val="1F4E79"/>
                    </a:solidFill>
                  </a:tcPr>
                </a:tc>
                <a:tc>
                  <a:txBody>
                    <a:bodyPr wrap="square"/>
                    <a:lstStyle/>
                    <a:p>
                      <a:pPr algn="ctr"/>
                      <a:r>
                        <a:rPr sz="2100" b="1">
                          <a:solidFill>
                            <a:srgbClr val="FFFFFF"/>
                          </a:solidFill>
                          <a:latin typeface="Calibri"/>
                        </a:rPr>
                        <a:t>SPO+ vs squared error
(Δ regret, Rs/q)</a:t>
                      </a:r>
                    </a:p>
                  </a:txBody>
                  <a:tcPr marL="73152" marR="73152" marT="27432" marB="27432" anchor="ctr">
                    <a:solidFill>
                      <a:srgbClr val="1F4E79"/>
                    </a:solidFill>
                  </a:tcPr>
                </a:tc>
                <a:tc>
                  <a:txBody>
                    <a:bodyPr wrap="square"/>
                    <a:lstStyle/>
                    <a:p>
                      <a:pPr algn="ctr"/>
                      <a:r>
                        <a:rPr sz="2100" b="1">
                          <a:solidFill>
                            <a:srgbClr val="FFFFFF"/>
                          </a:solidFill>
                          <a:latin typeface="Calibri"/>
                        </a:rPr>
                        <a:t>Holm p</a:t>
                      </a:r>
                    </a:p>
                  </a:txBody>
                  <a:tcPr marL="73152" marR="73152" marT="27432" marB="27432" anchor="ctr">
                    <a:solidFill>
                      <a:srgbClr val="1F4E79"/>
                    </a:solidFill>
                  </a:tcPr>
                </a:tc>
              </a:tr>
              <a:tr h="868680">
                <a:tc>
                  <a:txBody>
                    <a:bodyPr wrap="square"/>
                    <a:lstStyle/>
                    <a:p>
                      <a:pPr algn="l"/>
                      <a:r>
                        <a:rPr sz="2300" b="0">
                          <a:solidFill>
                            <a:srgbClr val="1F2A44"/>
                          </a:solidFill>
                          <a:latin typeface="Calibri"/>
                        </a:rPr>
                        <a:t>Tomato</a:t>
                      </a:r>
                    </a:p>
                  </a:txBody>
                  <a:tcPr marL="73152" marR="73152" marT="27432" marB="27432" anchor="ctr">
                    <a:solidFill>
                      <a:srgbClr val="FFFFFF"/>
                    </a:solidFill>
                  </a:tcPr>
                </a:tc>
                <a:tc>
                  <a:txBody>
                    <a:bodyPr wrap="square"/>
                    <a:lstStyle/>
                    <a:p>
                      <a:pPr algn="ctr"/>
                      <a:r>
                        <a:rPr sz="2300" b="0">
                          <a:solidFill>
                            <a:srgbClr val="2E8B57"/>
                          </a:solidFill>
                          <a:latin typeface="Calibri"/>
                        </a:rPr>
                        <a:t>−140</a:t>
                      </a:r>
                    </a:p>
                  </a:txBody>
                  <a:tcPr marL="73152" marR="73152" marT="27432" marB="27432" anchor="ctr">
                    <a:solidFill>
                      <a:srgbClr val="FFFFFF"/>
                    </a:solidFill>
                  </a:tcPr>
                </a:tc>
                <a:tc>
                  <a:txBody>
                    <a:bodyPr wrap="square"/>
                    <a:lstStyle/>
                    <a:p>
                      <a:pPr algn="ctr"/>
                      <a:r>
                        <a:rPr sz="2300" b="0">
                          <a:solidFill>
                            <a:srgbClr val="1F2A44"/>
                          </a:solidFill>
                          <a:latin typeface="Calibri"/>
                        </a:rPr>
                        <a:t>[−181, −102]</a:t>
                      </a:r>
                    </a:p>
                  </a:txBody>
                  <a:tcPr marL="73152" marR="73152" marT="27432" marB="27432" anchor="ctr">
                    <a:solidFill>
                      <a:srgbClr val="FFFFFF"/>
                    </a:solidFill>
                  </a:tcPr>
                </a:tc>
                <a:tc>
                  <a:txBody>
                    <a:bodyPr wrap="square"/>
                    <a:lstStyle/>
                    <a:p>
                      <a:pPr algn="ctr"/>
                      <a:r>
                        <a:rPr sz="2300" b="0">
                          <a:solidFill>
                            <a:srgbClr val="1F2A44"/>
                          </a:solidFill>
                          <a:latin typeface="Calibri"/>
                        </a:rPr>
                        <a:t>&lt; 0.0001</a:t>
                      </a:r>
                    </a:p>
                  </a:txBody>
                  <a:tcPr marL="73152" marR="73152" marT="27432" marB="27432" anchor="ctr">
                    <a:solidFill>
                      <a:srgbClr val="FFFFFF"/>
                    </a:solidFill>
                  </a:tcPr>
                </a:tc>
                <a:tc>
                  <a:txBody>
                    <a:bodyPr wrap="square"/>
                    <a:lstStyle/>
                    <a:p>
                      <a:pPr algn="ctr"/>
                      <a:r>
                        <a:rPr sz="2300" b="0">
                          <a:solidFill>
                            <a:srgbClr val="5F6B7A"/>
                          </a:solidFill>
                          <a:latin typeface="Calibri"/>
                        </a:rPr>
                        <a:t>−25  [−53, +3]</a:t>
                      </a:r>
                    </a:p>
                  </a:txBody>
                  <a:tcPr marL="73152" marR="73152" marT="27432" marB="27432" anchor="ctr">
                    <a:solidFill>
                      <a:srgbClr val="FFFFFF"/>
                    </a:solidFill>
                  </a:tcPr>
                </a:tc>
                <a:tc>
                  <a:txBody>
                    <a:bodyPr wrap="square"/>
                    <a:lstStyle/>
                    <a:p>
                      <a:pPr algn="ctr"/>
                      <a:r>
                        <a:rPr sz="2300" b="0">
                          <a:solidFill>
                            <a:srgbClr val="1F2A44"/>
                          </a:solidFill>
                          <a:latin typeface="Calibri"/>
                        </a:rPr>
                        <a:t>0.51</a:t>
                      </a:r>
                    </a:p>
                  </a:txBody>
                  <a:tcPr marL="73152" marR="73152" marT="27432" marB="27432" anchor="ctr">
                    <a:solidFill>
                      <a:srgbClr val="FFFFFF"/>
                    </a:solidFill>
                  </a:tcPr>
                </a:tc>
              </a:tr>
              <a:tr h="868680">
                <a:tc>
                  <a:txBody>
                    <a:bodyPr wrap="square"/>
                    <a:lstStyle/>
                    <a:p>
                      <a:pPr algn="l"/>
                      <a:r>
                        <a:rPr sz="2300" b="0">
                          <a:solidFill>
                            <a:srgbClr val="1F2A44"/>
                          </a:solidFill>
                          <a:latin typeface="Calibri"/>
                        </a:rPr>
                        <a:t>Onion</a:t>
                      </a:r>
                    </a:p>
                  </a:txBody>
                  <a:tcPr marL="73152" marR="73152" marT="27432" marB="27432" anchor="ctr">
                    <a:solidFill>
                      <a:srgbClr val="F1F7FB"/>
                    </a:solidFill>
                  </a:tcPr>
                </a:tc>
                <a:tc>
                  <a:txBody>
                    <a:bodyPr wrap="square"/>
                    <a:lstStyle/>
                    <a:p>
                      <a:pPr algn="ctr"/>
                      <a:r>
                        <a:rPr sz="2300" b="0">
                          <a:solidFill>
                            <a:srgbClr val="2E8B57"/>
                          </a:solidFill>
                          <a:latin typeface="Calibri"/>
                        </a:rPr>
                        <a:t>−157</a:t>
                      </a:r>
                    </a:p>
                  </a:txBody>
                  <a:tcPr marL="73152" marR="73152" marT="27432" marB="27432" anchor="ctr">
                    <a:solidFill>
                      <a:srgbClr val="F1F7FB"/>
                    </a:solidFill>
                  </a:tcPr>
                </a:tc>
                <a:tc>
                  <a:txBody>
                    <a:bodyPr wrap="square"/>
                    <a:lstStyle/>
                    <a:p>
                      <a:pPr algn="ctr"/>
                      <a:r>
                        <a:rPr sz="2300" b="0">
                          <a:solidFill>
                            <a:srgbClr val="1F2A44"/>
                          </a:solidFill>
                          <a:latin typeface="Calibri"/>
                        </a:rPr>
                        <a:t>[−224, −89]</a:t>
                      </a:r>
                    </a:p>
                  </a:txBody>
                  <a:tcPr marL="73152" marR="73152" marT="27432" marB="27432" anchor="ctr">
                    <a:solidFill>
                      <a:srgbClr val="F1F7FB"/>
                    </a:solidFill>
                  </a:tcPr>
                </a:tc>
                <a:tc>
                  <a:txBody>
                    <a:bodyPr wrap="square"/>
                    <a:lstStyle/>
                    <a:p>
                      <a:pPr algn="ctr"/>
                      <a:r>
                        <a:rPr sz="2300" b="0">
                          <a:solidFill>
                            <a:srgbClr val="1F2A44"/>
                          </a:solidFill>
                          <a:latin typeface="Calibri"/>
                        </a:rPr>
                        <a:t>&lt; 0.0001</a:t>
                      </a:r>
                    </a:p>
                  </a:txBody>
                  <a:tcPr marL="73152" marR="73152" marT="27432" marB="27432" anchor="ctr">
                    <a:solidFill>
                      <a:srgbClr val="F1F7FB"/>
                    </a:solidFill>
                  </a:tcPr>
                </a:tc>
                <a:tc>
                  <a:txBody>
                    <a:bodyPr wrap="square"/>
                    <a:lstStyle/>
                    <a:p>
                      <a:pPr algn="ctr"/>
                      <a:r>
                        <a:rPr sz="2300" b="0">
                          <a:solidFill>
                            <a:srgbClr val="5F6B7A"/>
                          </a:solidFill>
                          <a:latin typeface="Calibri"/>
                        </a:rPr>
                        <a:t>−23  [−62, +11]</a:t>
                      </a:r>
                    </a:p>
                  </a:txBody>
                  <a:tcPr marL="73152" marR="73152" marT="27432" marB="27432" anchor="ctr">
                    <a:solidFill>
                      <a:srgbClr val="F1F7FB"/>
                    </a:solidFill>
                  </a:tcPr>
                </a:tc>
                <a:tc>
                  <a:txBody>
                    <a:bodyPr wrap="square"/>
                    <a:lstStyle/>
                    <a:p>
                      <a:pPr algn="ctr"/>
                      <a:r>
                        <a:rPr sz="2300" b="0">
                          <a:solidFill>
                            <a:srgbClr val="1F2A44"/>
                          </a:solidFill>
                          <a:latin typeface="Calibri"/>
                        </a:rPr>
                        <a:t>0.21</a:t>
                      </a:r>
                    </a:p>
                  </a:txBody>
                  <a:tcPr marL="73152" marR="73152" marT="27432" marB="27432" anchor="ctr">
                    <a:solidFill>
                      <a:srgbClr val="F1F7FB"/>
                    </a:solidFill>
                  </a:tcPr>
                </a:tc>
              </a:tr>
              <a:tr h="868680">
                <a:tc>
                  <a:txBody>
                    <a:bodyPr wrap="square"/>
                    <a:lstStyle/>
                    <a:p>
                      <a:pPr algn="l"/>
                      <a:r>
                        <a:rPr sz="2300" b="0">
                          <a:solidFill>
                            <a:srgbClr val="1F2A44"/>
                          </a:solidFill>
                          <a:latin typeface="Calibri"/>
                        </a:rPr>
                        <a:t>Potato</a:t>
                      </a:r>
                    </a:p>
                  </a:txBody>
                  <a:tcPr marL="73152" marR="73152" marT="27432" marB="27432" anchor="ctr">
                    <a:solidFill>
                      <a:srgbClr val="FFFFFF"/>
                    </a:solidFill>
                  </a:tcPr>
                </a:tc>
                <a:tc>
                  <a:txBody>
                    <a:bodyPr wrap="square"/>
                    <a:lstStyle/>
                    <a:p>
                      <a:pPr algn="ctr"/>
                      <a:r>
                        <a:rPr sz="2300" b="0">
                          <a:solidFill>
                            <a:srgbClr val="2E8B57"/>
                          </a:solidFill>
                          <a:latin typeface="Calibri"/>
                        </a:rPr>
                        <a:t>−87</a:t>
                      </a:r>
                    </a:p>
                  </a:txBody>
                  <a:tcPr marL="73152" marR="73152" marT="27432" marB="27432" anchor="ctr">
                    <a:solidFill>
                      <a:srgbClr val="FFFFFF"/>
                    </a:solidFill>
                  </a:tcPr>
                </a:tc>
                <a:tc>
                  <a:txBody>
                    <a:bodyPr wrap="square"/>
                    <a:lstStyle/>
                    <a:p>
                      <a:pPr algn="ctr"/>
                      <a:r>
                        <a:rPr sz="2300" b="0">
                          <a:solidFill>
                            <a:srgbClr val="1F2A44"/>
                          </a:solidFill>
                          <a:latin typeface="Calibri"/>
                        </a:rPr>
                        <a:t>[−142, −39]</a:t>
                      </a:r>
                    </a:p>
                  </a:txBody>
                  <a:tcPr marL="73152" marR="73152" marT="27432" marB="27432" anchor="ctr">
                    <a:solidFill>
                      <a:srgbClr val="FFFFFF"/>
                    </a:solidFill>
                  </a:tcPr>
                </a:tc>
                <a:tc>
                  <a:txBody>
                    <a:bodyPr wrap="square"/>
                    <a:lstStyle/>
                    <a:p>
                      <a:pPr algn="ctr"/>
                      <a:r>
                        <a:rPr sz="2300" b="0">
                          <a:solidFill>
                            <a:srgbClr val="1F2A44"/>
                          </a:solidFill>
                          <a:latin typeface="Calibri"/>
                        </a:rPr>
                        <a:t>0.002</a:t>
                      </a:r>
                    </a:p>
                  </a:txBody>
                  <a:tcPr marL="73152" marR="73152" marT="27432" marB="27432" anchor="ctr">
                    <a:solidFill>
                      <a:srgbClr val="FFFFFF"/>
                    </a:solidFill>
                  </a:tcPr>
                </a:tc>
                <a:tc>
                  <a:txBody>
                    <a:bodyPr wrap="square"/>
                    <a:lstStyle/>
                    <a:p>
                      <a:pPr algn="ctr"/>
                      <a:r>
                        <a:rPr sz="2300" b="0">
                          <a:solidFill>
                            <a:srgbClr val="5F6B7A"/>
                          </a:solidFill>
                          <a:latin typeface="Calibri"/>
                        </a:rPr>
                        <a:t>+1  [−27, +32]</a:t>
                      </a:r>
                    </a:p>
                  </a:txBody>
                  <a:tcPr marL="73152" marR="73152" marT="27432" marB="27432" anchor="ctr">
                    <a:solidFill>
                      <a:srgbClr val="FFFFFF"/>
                    </a:solidFill>
                  </a:tcPr>
                </a:tc>
                <a:tc>
                  <a:txBody>
                    <a:bodyPr wrap="square"/>
                    <a:lstStyle/>
                    <a:p>
                      <a:pPr algn="ctr"/>
                      <a:r>
                        <a:rPr sz="2300" b="0">
                          <a:solidFill>
                            <a:srgbClr val="1F2A44"/>
                          </a:solidFill>
                          <a:latin typeface="Calibri"/>
                        </a:rPr>
                        <a:t>0.95</a:t>
                      </a:r>
                    </a:p>
                  </a:txBody>
                  <a:tcPr marL="73152" marR="73152" marT="27432" marB="27432" anchor="ctr">
                    <a:solidFill>
                      <a:srgbClr val="FFFFFF"/>
                    </a:solidFill>
                  </a:tcPr>
                </a:tc>
              </a:tr>
              <a:tr h="868680">
                <a:tc>
                  <a:txBody>
                    <a:bodyPr wrap="square"/>
                    <a:lstStyle/>
                    <a:p>
                      <a:pPr algn="l"/>
                      <a:r>
                        <a:rPr sz="2300" b="0">
                          <a:solidFill>
                            <a:srgbClr val="1F2A44"/>
                          </a:solidFill>
                          <a:latin typeface="Calibri"/>
                        </a:rPr>
                        <a:t>Ginger</a:t>
                      </a:r>
                    </a:p>
                  </a:txBody>
                  <a:tcPr marL="73152" marR="73152" marT="27432" marB="27432" anchor="ctr">
                    <a:solidFill>
                      <a:srgbClr val="F1F7FB"/>
                    </a:solidFill>
                  </a:tcPr>
                </a:tc>
                <a:tc>
                  <a:txBody>
                    <a:bodyPr wrap="square"/>
                    <a:lstStyle/>
                    <a:p>
                      <a:pPr algn="ctr"/>
                      <a:r>
                        <a:rPr sz="2300" b="0">
                          <a:solidFill>
                            <a:srgbClr val="2E8B57"/>
                          </a:solidFill>
                          <a:latin typeface="Calibri"/>
                        </a:rPr>
                        <a:t>−149</a:t>
                      </a:r>
                    </a:p>
                  </a:txBody>
                  <a:tcPr marL="73152" marR="73152" marT="27432" marB="27432" anchor="ctr">
                    <a:solidFill>
                      <a:srgbClr val="F1F7FB"/>
                    </a:solidFill>
                  </a:tcPr>
                </a:tc>
                <a:tc>
                  <a:txBody>
                    <a:bodyPr wrap="square"/>
                    <a:lstStyle/>
                    <a:p>
                      <a:pPr algn="ctr"/>
                      <a:r>
                        <a:rPr sz="2300" b="0">
                          <a:solidFill>
                            <a:srgbClr val="1F2A44"/>
                          </a:solidFill>
                          <a:latin typeface="Calibri"/>
                        </a:rPr>
                        <a:t>[−232, −80]</a:t>
                      </a:r>
                    </a:p>
                  </a:txBody>
                  <a:tcPr marL="73152" marR="73152" marT="27432" marB="27432" anchor="ctr">
                    <a:solidFill>
                      <a:srgbClr val="F1F7FB"/>
                    </a:solidFill>
                  </a:tcPr>
                </a:tc>
                <a:tc>
                  <a:txBody>
                    <a:bodyPr wrap="square"/>
                    <a:lstStyle/>
                    <a:p>
                      <a:pPr algn="ctr"/>
                      <a:r>
                        <a:rPr sz="2300" b="0">
                          <a:solidFill>
                            <a:srgbClr val="1F2A44"/>
                          </a:solidFill>
                          <a:latin typeface="Calibri"/>
                        </a:rPr>
                        <a:t>&lt; 0.0001</a:t>
                      </a:r>
                    </a:p>
                  </a:txBody>
                  <a:tcPr marL="73152" marR="73152" marT="27432" marB="27432" anchor="ctr">
                    <a:solidFill>
                      <a:srgbClr val="F1F7FB"/>
                    </a:solidFill>
                  </a:tcPr>
                </a:tc>
                <a:tc>
                  <a:txBody>
                    <a:bodyPr wrap="square"/>
                    <a:lstStyle/>
                    <a:p>
                      <a:pPr algn="ctr"/>
                      <a:r>
                        <a:rPr sz="2300" b="0">
                          <a:solidFill>
                            <a:srgbClr val="5F6B7A"/>
                          </a:solidFill>
                          <a:latin typeface="Calibri"/>
                        </a:rPr>
                        <a:t>−66  [−180, +30]</a:t>
                      </a:r>
                    </a:p>
                  </a:txBody>
                  <a:tcPr marL="73152" marR="73152" marT="27432" marB="27432" anchor="ctr">
                    <a:solidFill>
                      <a:srgbClr val="F1F7FB"/>
                    </a:solidFill>
                  </a:tcPr>
                </a:tc>
                <a:tc>
                  <a:txBody>
                    <a:bodyPr wrap="square"/>
                    <a:lstStyle/>
                    <a:p>
                      <a:pPr algn="ctr"/>
                      <a:r>
                        <a:rPr sz="2300" b="0">
                          <a:solidFill>
                            <a:srgbClr val="1F2A44"/>
                          </a:solidFill>
                          <a:latin typeface="Calibri"/>
                        </a:rPr>
                        <a:t>0.17</a:t>
                      </a:r>
                    </a:p>
                  </a:txBody>
                  <a:tcPr marL="73152" marR="73152" marT="27432" marB="27432" anchor="ctr">
                    <a:solidFill>
                      <a:srgbClr val="F1F7FB"/>
                    </a:solidFill>
                  </a:tcPr>
                </a:tc>
              </a:tr>
            </a:tbl>
          </a:graphicData>
        </a:graphic>
      </p:graphicFrame>
      <p:sp>
        <p:nvSpPr>
          <p:cNvPr id="10252" name="Rectangle 10251"/>
          <p:cNvSpPr/>
          <p:nvPr/>
        </p:nvSpPr>
        <p:spPr>
          <a:xfrm>
            <a:off x="1005840" y="6400800"/>
            <a:ext cx="576072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Finding</a:t>
            </a:r>
          </a:p>
        </p:txBody>
      </p:sp>
      <p:sp>
        <p:nvSpPr>
          <p:cNvPr id="10253" name="Rectangle 10252"/>
          <p:cNvSpPr/>
          <p:nvPr/>
        </p:nvSpPr>
        <p:spPr>
          <a:xfrm>
            <a:off x="10058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Better labels, not a fancier loss: realised-outcome supervision cuts regret in all four crops; SPO+ adds nothing reliable.</a:t>
            </a:r>
          </a:p>
        </p:txBody>
      </p:sp>
      <p:sp>
        <p:nvSpPr>
          <p:cNvPr id="10254" name="Rectangle 10253"/>
          <p:cNvSpPr/>
          <p:nvPr/>
        </p:nvSpPr>
        <p:spPr>
          <a:xfrm>
            <a:off x="7178040" y="6400800"/>
            <a:ext cx="5760720" cy="5669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Model confidence set</a:t>
            </a:r>
          </a:p>
        </p:txBody>
      </p:sp>
      <p:sp>
        <p:nvSpPr>
          <p:cNvPr id="10255" name="Rectangle 10254"/>
          <p:cNvSpPr/>
          <p:nvPr/>
        </p:nvSpPr>
        <p:spPr>
          <a:xfrm>
            <a:off x="71780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Only realised-label models survive in every crop; no observed-price model does. Tomato keeps 7 specifications; the others 3.</a:t>
            </a:r>
          </a:p>
        </p:txBody>
      </p:sp>
      <p:sp>
        <p:nvSpPr>
          <p:cNvPr id="10256" name="Rectangle 10255"/>
          <p:cNvSpPr/>
          <p:nvPr/>
        </p:nvSpPr>
        <p:spPr>
          <a:xfrm>
            <a:off x="13350240" y="6400800"/>
            <a:ext cx="5760720"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Limits</a:t>
            </a:r>
          </a:p>
        </p:txBody>
      </p:sp>
      <p:sp>
        <p:nvSpPr>
          <p:cNvPr id="10257" name="Rectangle 10256"/>
          <p:cNvSpPr/>
          <p:nvPr/>
        </p:nvSpPr>
        <p:spPr>
          <a:xfrm>
            <a:off x="13350240" y="6967728"/>
            <a:ext cx="5760720" cy="299923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800" b="0" i="0">
                <a:solidFill>
                  <a:srgbClr val="1F2A44"/>
                </a:solidFill>
                <a:latin typeface="Calibri"/>
              </a:rPr>
              <a:t>One region, one source, 5.8 years; revenue parameters are scenarios; silent day treated as no sale; offline only.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Verified Floors and Served-Engine Back-test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778237" cy="3657600"/>
        </p:xfrm>
        <a:graphic>
          <a:graphicData uri="http://schemas.openxmlformats.org/drawingml/2006/table">
            <a:tbl>
              <a:tblPr firstRow="1" bandRow="1">
                <a:tableStyleId>{5C22544A-7EE6-4342-B048-85BDC9FD1C3A}</a:tableStyleId>
              </a:tblPr>
              <a:tblGrid>
                <a:gridCol w="2006454"/>
                <a:gridCol w="1337636"/>
                <a:gridCol w="1337636"/>
                <a:gridCol w="1337636"/>
                <a:gridCol w="1254034"/>
                <a:gridCol w="1504841"/>
              </a:tblGrid>
              <a:tr h="731520">
                <a:tc>
                  <a:txBody>
                    <a:bodyPr wrap="square"/>
                    <a:lstStyle/>
                    <a:p>
                      <a:pPr algn="ctr"/>
                      <a:r>
                        <a:rPr sz="1800" b="1">
                          <a:solidFill>
                            <a:srgbClr val="FFFFFF"/>
                          </a:solidFill>
                          <a:latin typeface="Calibri"/>
                        </a:rPr>
                        <a:t>Floor violation (%)
target 10%</a:t>
                      </a:r>
                    </a:p>
                  </a:txBody>
                  <a:tcPr marL="73152" marR="73152" marT="27432" marB="27432" anchor="ctr">
                    <a:solidFill>
                      <a:srgbClr val="1F4E79"/>
                    </a:solidFill>
                  </a:tcPr>
                </a:tc>
                <a:tc>
                  <a:txBody>
                    <a:bodyPr wrap="square"/>
                    <a:lstStyle/>
                    <a:p>
                      <a:pPr algn="ctr"/>
                      <a:r>
                        <a:rPr sz="1800" b="1">
                          <a:solidFill>
                            <a:srgbClr val="FFFFFF"/>
                          </a:solidFill>
                          <a:latin typeface="Calibri"/>
                        </a:rPr>
                        <a:t>Adaptive 5%</a:t>
                      </a:r>
                    </a:p>
                  </a:txBody>
                  <a:tcPr marL="73152" marR="73152" marT="27432" marB="27432" anchor="ctr">
                    <a:solidFill>
                      <a:srgbClr val="1F4E79"/>
                    </a:solidFill>
                  </a:tcPr>
                </a:tc>
                <a:tc>
                  <a:txBody>
                    <a:bodyPr wrap="square"/>
                    <a:lstStyle/>
                    <a:p>
                      <a:pPr algn="ctr"/>
                      <a:r>
                        <a:rPr sz="1800" b="1">
                          <a:solidFill>
                            <a:srgbClr val="FFFFFF"/>
                          </a:solidFill>
                          <a:latin typeface="Calibri"/>
                        </a:rPr>
                        <a:t>Adaptive 10%</a:t>
                      </a:r>
                    </a:p>
                  </a:txBody>
                  <a:tcPr marL="73152" marR="73152" marT="27432" marB="27432" anchor="ctr">
                    <a:solidFill>
                      <a:srgbClr val="1F4E79"/>
                    </a:solidFill>
                  </a:tcPr>
                </a:tc>
                <a:tc>
                  <a:txBody>
                    <a:bodyPr wrap="square"/>
                    <a:lstStyle/>
                    <a:p>
                      <a:pPr algn="ctr"/>
                      <a:r>
                        <a:rPr sz="1800" b="1">
                          <a:solidFill>
                            <a:srgbClr val="FFFFFF"/>
                          </a:solidFill>
                          <a:latin typeface="Calibri"/>
                        </a:rPr>
                        <a:t>Adaptive 20%</a:t>
                      </a:r>
                    </a:p>
                  </a:txBody>
                  <a:tcPr marL="73152" marR="73152" marT="27432" marB="27432" anchor="ctr">
                    <a:solidFill>
                      <a:srgbClr val="1F4E79"/>
                    </a:solidFill>
                  </a:tcPr>
                </a:tc>
                <a:tc>
                  <a:txBody>
                    <a:bodyPr wrap="square"/>
                    <a:lstStyle/>
                    <a:p>
                      <a:pPr algn="ctr"/>
                      <a:r>
                        <a:rPr sz="1800" b="1">
                          <a:solidFill>
                            <a:srgbClr val="FFFFFF"/>
                          </a:solidFill>
                          <a:latin typeface="Calibri"/>
                        </a:rPr>
                        <a:t>Static 10%</a:t>
                      </a:r>
                    </a:p>
                  </a:txBody>
                  <a:tcPr marL="73152" marR="73152" marT="27432" marB="27432" anchor="ctr">
                    <a:solidFill>
                      <a:srgbClr val="1F4E79"/>
                    </a:solidFill>
                  </a:tcPr>
                </a:tc>
                <a:tc>
                  <a:txBody>
                    <a:bodyPr wrap="square"/>
                    <a:lstStyle/>
                    <a:p>
                      <a:pPr algn="ctr"/>
                      <a:r>
                        <a:rPr sz="1800" b="1">
                          <a:solidFill>
                            <a:srgbClr val="FFFFFF"/>
                          </a:solidFill>
                          <a:latin typeface="Calibri"/>
                        </a:rPr>
                        <a:t>Naive Gaussian</a:t>
                      </a:r>
                    </a:p>
                  </a:txBody>
                  <a:tcPr marL="73152" marR="73152" marT="27432" marB="27432" anchor="ctr">
                    <a:solidFill>
                      <a:srgbClr val="1F4E79"/>
                    </a:solidFill>
                  </a:tcPr>
                </a:tc>
              </a:tr>
              <a:tr h="731520">
                <a:tc>
                  <a:txBody>
                    <a:bodyPr wrap="square"/>
                    <a:lstStyle/>
                    <a:p>
                      <a:pPr algn="l"/>
                      <a:r>
                        <a:rPr sz="2200" b="0">
                          <a:solidFill>
                            <a:srgbClr val="1F2A44"/>
                          </a:solidFill>
                          <a:latin typeface="Calibri"/>
                        </a:rPr>
                        <a:t>Tomato</a:t>
                      </a:r>
                    </a:p>
                  </a:txBody>
                  <a:tcPr marL="73152" marR="73152" marT="27432" marB="27432" anchor="ctr">
                    <a:solidFill>
                      <a:srgbClr val="FFFFFF"/>
                    </a:solidFill>
                  </a:tcPr>
                </a:tc>
                <a:tc>
                  <a:txBody>
                    <a:bodyPr wrap="square"/>
                    <a:lstStyle/>
                    <a:p>
                      <a:pPr algn="ctr"/>
                      <a:r>
                        <a:rPr sz="2200" b="0">
                          <a:solidFill>
                            <a:srgbClr val="2E8B57"/>
                          </a:solidFill>
                          <a:latin typeface="Calibri"/>
                        </a:rPr>
                        <a:t>3.0</a:t>
                      </a:r>
                    </a:p>
                  </a:txBody>
                  <a:tcPr marL="73152" marR="73152" marT="27432" marB="27432" anchor="ctr">
                    <a:solidFill>
                      <a:srgbClr val="FFFFFF"/>
                    </a:solidFill>
                  </a:tcPr>
                </a:tc>
                <a:tc>
                  <a:txBody>
                    <a:bodyPr wrap="square"/>
                    <a:lstStyle/>
                    <a:p>
                      <a:pPr algn="ctr"/>
                      <a:r>
                        <a:rPr sz="2200" b="0">
                          <a:solidFill>
                            <a:srgbClr val="2E8B57"/>
                          </a:solidFill>
                          <a:latin typeface="Calibri"/>
                        </a:rPr>
                        <a:t>9.0</a:t>
                      </a:r>
                    </a:p>
                  </a:txBody>
                  <a:tcPr marL="73152" marR="73152" marT="27432" marB="27432" anchor="ctr">
                    <a:solidFill>
                      <a:srgbClr val="FFFFFF"/>
                    </a:solidFill>
                  </a:tcPr>
                </a:tc>
                <a:tc>
                  <a:txBody>
                    <a:bodyPr wrap="square"/>
                    <a:lstStyle/>
                    <a:p>
                      <a:pPr algn="ctr"/>
                      <a:r>
                        <a:rPr sz="2200" b="0">
                          <a:solidFill>
                            <a:srgbClr val="2E8B57"/>
                          </a:solidFill>
                          <a:latin typeface="Calibri"/>
                        </a:rPr>
                        <a:t>21.3</a:t>
                      </a:r>
                    </a:p>
                  </a:txBody>
                  <a:tcPr marL="73152" marR="73152" marT="27432" marB="27432" anchor="ctr">
                    <a:solidFill>
                      <a:srgbClr val="FFFFFF"/>
                    </a:solidFill>
                  </a:tcPr>
                </a:tc>
                <a:tc>
                  <a:txBody>
                    <a:bodyPr wrap="square"/>
                    <a:lstStyle/>
                    <a:p>
                      <a:pPr algn="ctr"/>
                      <a:r>
                        <a:rPr sz="2200" b="0">
                          <a:solidFill>
                            <a:srgbClr val="1F2A44"/>
                          </a:solidFill>
                          <a:latin typeface="Calibri"/>
                        </a:rPr>
                        <a:t>6.0</a:t>
                      </a:r>
                    </a:p>
                  </a:txBody>
                  <a:tcPr marL="73152" marR="73152" marT="27432" marB="27432" anchor="ctr">
                    <a:solidFill>
                      <a:srgbClr val="FFFFFF"/>
                    </a:solidFill>
                  </a:tcPr>
                </a:tc>
                <a:tc>
                  <a:txBody>
                    <a:bodyPr wrap="square"/>
                    <a:lstStyle/>
                    <a:p>
                      <a:pPr algn="ctr"/>
                      <a:r>
                        <a:rPr sz="2200" b="0">
                          <a:solidFill>
                            <a:srgbClr val="C0392B"/>
                          </a:solidFill>
                          <a:latin typeface="Calibri"/>
                        </a:rPr>
                        <a:t>27.4</a:t>
                      </a:r>
                    </a:p>
                  </a:txBody>
                  <a:tcPr marL="73152" marR="73152" marT="27432" marB="27432" anchor="ctr">
                    <a:solidFill>
                      <a:srgbClr val="FFFFFF"/>
                    </a:solidFill>
                  </a:tcPr>
                </a:tc>
              </a:tr>
              <a:tr h="731520">
                <a:tc>
                  <a:txBody>
                    <a:bodyPr wrap="square"/>
                    <a:lstStyle/>
                    <a:p>
                      <a:pPr algn="l"/>
                      <a:r>
                        <a:rPr sz="2200" b="0">
                          <a:solidFill>
                            <a:srgbClr val="1F2A44"/>
                          </a:solidFill>
                          <a:latin typeface="Calibri"/>
                        </a:rPr>
                        <a:t>Onion</a:t>
                      </a:r>
                    </a:p>
                  </a:txBody>
                  <a:tcPr marL="73152" marR="73152" marT="27432" marB="27432" anchor="ctr">
                    <a:solidFill>
                      <a:srgbClr val="F1F7FB"/>
                    </a:solidFill>
                  </a:tcPr>
                </a:tc>
                <a:tc>
                  <a:txBody>
                    <a:bodyPr wrap="square"/>
                    <a:lstStyle/>
                    <a:p>
                      <a:pPr algn="ctr"/>
                      <a:r>
                        <a:rPr sz="2200" b="0">
                          <a:solidFill>
                            <a:srgbClr val="D9822B"/>
                          </a:solidFill>
                          <a:latin typeface="Calibri"/>
                        </a:rPr>
                        <a:t>1.6</a:t>
                      </a:r>
                    </a:p>
                  </a:txBody>
                  <a:tcPr marL="73152" marR="73152" marT="27432" marB="27432" anchor="ctr">
                    <a:solidFill>
                      <a:srgbClr val="F1F7FB"/>
                    </a:solidFill>
                  </a:tcPr>
                </a:tc>
                <a:tc>
                  <a:txBody>
                    <a:bodyPr wrap="square"/>
                    <a:lstStyle/>
                    <a:p>
                      <a:pPr algn="ctr"/>
                      <a:r>
                        <a:rPr sz="2200" b="0">
                          <a:solidFill>
                            <a:srgbClr val="D9822B"/>
                          </a:solidFill>
                          <a:latin typeface="Calibri"/>
                        </a:rPr>
                        <a:t>6.3</a:t>
                      </a:r>
                    </a:p>
                  </a:txBody>
                  <a:tcPr marL="73152" marR="73152" marT="27432" marB="27432" anchor="ctr">
                    <a:solidFill>
                      <a:srgbClr val="F1F7FB"/>
                    </a:solidFill>
                  </a:tcPr>
                </a:tc>
                <a:tc>
                  <a:txBody>
                    <a:bodyPr wrap="square"/>
                    <a:lstStyle/>
                    <a:p>
                      <a:pPr algn="ctr"/>
                      <a:r>
                        <a:rPr sz="2200" b="0">
                          <a:solidFill>
                            <a:srgbClr val="D9822B"/>
                          </a:solidFill>
                          <a:latin typeface="Calibri"/>
                        </a:rPr>
                        <a:t>15.5</a:t>
                      </a:r>
                    </a:p>
                  </a:txBody>
                  <a:tcPr marL="73152" marR="73152" marT="27432" marB="27432" anchor="ctr">
                    <a:solidFill>
                      <a:srgbClr val="F1F7FB"/>
                    </a:solidFill>
                  </a:tcPr>
                </a:tc>
                <a:tc>
                  <a:txBody>
                    <a:bodyPr wrap="square"/>
                    <a:lstStyle/>
                    <a:p>
                      <a:pPr algn="ctr"/>
                      <a:r>
                        <a:rPr sz="2200" b="0">
                          <a:solidFill>
                            <a:srgbClr val="1F2A44"/>
                          </a:solidFill>
                          <a:latin typeface="Calibri"/>
                        </a:rPr>
                        <a:t>4.0</a:t>
                      </a:r>
                    </a:p>
                  </a:txBody>
                  <a:tcPr marL="73152" marR="73152" marT="27432" marB="27432" anchor="ctr">
                    <a:solidFill>
                      <a:srgbClr val="F1F7FB"/>
                    </a:solidFill>
                  </a:tcPr>
                </a:tc>
                <a:tc>
                  <a:txBody>
                    <a:bodyPr wrap="square"/>
                    <a:lstStyle/>
                    <a:p>
                      <a:pPr algn="ctr"/>
                      <a:r>
                        <a:rPr sz="2200" b="0">
                          <a:solidFill>
                            <a:srgbClr val="C0392B"/>
                          </a:solidFill>
                          <a:latin typeface="Calibri"/>
                        </a:rPr>
                        <a:t>34.5</a:t>
                      </a:r>
                    </a:p>
                  </a:txBody>
                  <a:tcPr marL="73152" marR="73152" marT="27432" marB="27432" anchor="ctr">
                    <a:solidFill>
                      <a:srgbClr val="F1F7FB"/>
                    </a:solidFill>
                  </a:tcPr>
                </a:tc>
              </a:tr>
              <a:tr h="731520">
                <a:tc>
                  <a:txBody>
                    <a:bodyPr wrap="square"/>
                    <a:lstStyle/>
                    <a:p>
                      <a:pPr algn="l"/>
                      <a:r>
                        <a:rPr sz="2200" b="0">
                          <a:solidFill>
                            <a:srgbClr val="1F2A44"/>
                          </a:solidFill>
                          <a:latin typeface="Calibri"/>
                        </a:rPr>
                        <a:t>Potato</a:t>
                      </a:r>
                    </a:p>
                  </a:txBody>
                  <a:tcPr marL="73152" marR="73152" marT="27432" marB="27432" anchor="ctr">
                    <a:solidFill>
                      <a:srgbClr val="FFFFFF"/>
                    </a:solidFill>
                  </a:tcPr>
                </a:tc>
                <a:tc>
                  <a:txBody>
                    <a:bodyPr wrap="square"/>
                    <a:lstStyle/>
                    <a:p>
                      <a:pPr algn="ctr"/>
                      <a:r>
                        <a:rPr sz="2200" b="0">
                          <a:solidFill>
                            <a:srgbClr val="D9822B"/>
                          </a:solidFill>
                          <a:latin typeface="Calibri"/>
                        </a:rPr>
                        <a:t>2.5</a:t>
                      </a:r>
                    </a:p>
                  </a:txBody>
                  <a:tcPr marL="73152" marR="73152" marT="27432" marB="27432" anchor="ctr">
                    <a:solidFill>
                      <a:srgbClr val="FFFFFF"/>
                    </a:solidFill>
                  </a:tcPr>
                </a:tc>
                <a:tc>
                  <a:txBody>
                    <a:bodyPr wrap="square"/>
                    <a:lstStyle/>
                    <a:p>
                      <a:pPr algn="ctr"/>
                      <a:r>
                        <a:rPr sz="2200" b="0">
                          <a:solidFill>
                            <a:srgbClr val="D9822B"/>
                          </a:solidFill>
                          <a:latin typeface="Calibri"/>
                        </a:rPr>
                        <a:t>6.9</a:t>
                      </a:r>
                    </a:p>
                  </a:txBody>
                  <a:tcPr marL="73152" marR="73152" marT="27432" marB="27432" anchor="ctr">
                    <a:solidFill>
                      <a:srgbClr val="FFFFFF"/>
                    </a:solidFill>
                  </a:tcPr>
                </a:tc>
                <a:tc>
                  <a:txBody>
                    <a:bodyPr wrap="square"/>
                    <a:lstStyle/>
                    <a:p>
                      <a:pPr algn="ctr"/>
                      <a:r>
                        <a:rPr sz="2200" b="0">
                          <a:solidFill>
                            <a:srgbClr val="2E8B57"/>
                          </a:solidFill>
                          <a:latin typeface="Calibri"/>
                        </a:rPr>
                        <a:t>17.7</a:t>
                      </a:r>
                    </a:p>
                  </a:txBody>
                  <a:tcPr marL="73152" marR="73152" marT="27432" marB="27432" anchor="ctr">
                    <a:solidFill>
                      <a:srgbClr val="FFFFFF"/>
                    </a:solidFill>
                  </a:tcPr>
                </a:tc>
                <a:tc>
                  <a:txBody>
                    <a:bodyPr wrap="square"/>
                    <a:lstStyle/>
                    <a:p>
                      <a:pPr algn="ctr"/>
                      <a:r>
                        <a:rPr sz="2200" b="0">
                          <a:solidFill>
                            <a:srgbClr val="1F2A44"/>
                          </a:solidFill>
                          <a:latin typeface="Calibri"/>
                        </a:rPr>
                        <a:t>6.2</a:t>
                      </a:r>
                    </a:p>
                  </a:txBody>
                  <a:tcPr marL="73152" marR="73152" marT="27432" marB="27432" anchor="ctr">
                    <a:solidFill>
                      <a:srgbClr val="FFFFFF"/>
                    </a:solidFill>
                  </a:tcPr>
                </a:tc>
                <a:tc>
                  <a:txBody>
                    <a:bodyPr wrap="square"/>
                    <a:lstStyle/>
                    <a:p>
                      <a:pPr algn="ctr"/>
                      <a:r>
                        <a:rPr sz="2200" b="0">
                          <a:solidFill>
                            <a:srgbClr val="C0392B"/>
                          </a:solidFill>
                          <a:latin typeface="Calibri"/>
                        </a:rPr>
                        <a:t>25.8</a:t>
                      </a:r>
                    </a:p>
                  </a:txBody>
                  <a:tcPr marL="73152" marR="73152" marT="27432" marB="27432" anchor="ctr">
                    <a:solidFill>
                      <a:srgbClr val="FFFFFF"/>
                    </a:solidFill>
                  </a:tcPr>
                </a:tc>
              </a:tr>
              <a:tr h="731520">
                <a:tc>
                  <a:txBody>
                    <a:bodyPr wrap="square"/>
                    <a:lstStyle/>
                    <a:p>
                      <a:pPr algn="l"/>
                      <a:r>
                        <a:rPr sz="2200" b="0">
                          <a:solidFill>
                            <a:srgbClr val="1F2A44"/>
                          </a:solidFill>
                          <a:latin typeface="Calibri"/>
                        </a:rPr>
                        <a:t>Ginger</a:t>
                      </a:r>
                    </a:p>
                  </a:txBody>
                  <a:tcPr marL="73152" marR="73152" marT="27432" marB="27432" anchor="ctr">
                    <a:solidFill>
                      <a:srgbClr val="F1F7FB"/>
                    </a:solidFill>
                  </a:tcPr>
                </a:tc>
                <a:tc>
                  <a:txBody>
                    <a:bodyPr wrap="square"/>
                    <a:lstStyle/>
                    <a:p>
                      <a:pPr algn="ctr"/>
                      <a:r>
                        <a:rPr sz="2200" b="0">
                          <a:solidFill>
                            <a:srgbClr val="2E8B57"/>
                          </a:solidFill>
                          <a:latin typeface="Calibri"/>
                        </a:rPr>
                        <a:t>4.3</a:t>
                      </a:r>
                    </a:p>
                  </a:txBody>
                  <a:tcPr marL="73152" marR="73152" marT="27432" marB="27432" anchor="ctr">
                    <a:solidFill>
                      <a:srgbClr val="F1F7FB"/>
                    </a:solidFill>
                  </a:tcPr>
                </a:tc>
                <a:tc>
                  <a:txBody>
                    <a:bodyPr wrap="square"/>
                    <a:lstStyle/>
                    <a:p>
                      <a:pPr algn="ctr"/>
                      <a:r>
                        <a:rPr sz="2200" b="0">
                          <a:solidFill>
                            <a:srgbClr val="2E8B57"/>
                          </a:solidFill>
                          <a:latin typeface="Calibri"/>
                        </a:rPr>
                        <a:t>10.5</a:t>
                      </a:r>
                    </a:p>
                  </a:txBody>
                  <a:tcPr marL="73152" marR="73152" marT="27432" marB="27432" anchor="ctr">
                    <a:solidFill>
                      <a:srgbClr val="F1F7FB"/>
                    </a:solidFill>
                  </a:tcPr>
                </a:tc>
                <a:tc>
                  <a:txBody>
                    <a:bodyPr wrap="square"/>
                    <a:lstStyle/>
                    <a:p>
                      <a:pPr algn="ctr"/>
                      <a:r>
                        <a:rPr sz="2200" b="0">
                          <a:solidFill>
                            <a:srgbClr val="2E8B57"/>
                          </a:solidFill>
                          <a:latin typeface="Calibri"/>
                        </a:rPr>
                        <a:t>20.4</a:t>
                      </a:r>
                    </a:p>
                  </a:txBody>
                  <a:tcPr marL="73152" marR="73152" marT="27432" marB="27432" anchor="ctr">
                    <a:solidFill>
                      <a:srgbClr val="F1F7FB"/>
                    </a:solidFill>
                  </a:tcPr>
                </a:tc>
                <a:tc>
                  <a:txBody>
                    <a:bodyPr wrap="square"/>
                    <a:lstStyle/>
                    <a:p>
                      <a:pPr algn="ctr"/>
                      <a:r>
                        <a:rPr sz="2200" b="0">
                          <a:solidFill>
                            <a:srgbClr val="1F2A44"/>
                          </a:solidFill>
                          <a:latin typeface="Calibri"/>
                        </a:rPr>
                        <a:t>8.9</a:t>
                      </a:r>
                    </a:p>
                  </a:txBody>
                  <a:tcPr marL="73152" marR="73152" marT="27432" marB="27432" anchor="ctr">
                    <a:solidFill>
                      <a:srgbClr val="F1F7FB"/>
                    </a:solidFill>
                  </a:tcPr>
                </a:tc>
                <a:tc>
                  <a:txBody>
                    <a:bodyPr wrap="square"/>
                    <a:lstStyle/>
                    <a:p>
                      <a:pPr algn="ctr"/>
                      <a:r>
                        <a:rPr sz="2200" b="0">
                          <a:solidFill>
                            <a:srgbClr val="1F2A44"/>
                          </a:solidFill>
                          <a:latin typeface="Calibri"/>
                        </a:rPr>
                        <a:t>11.9</a:t>
                      </a:r>
                    </a:p>
                  </a:txBody>
                  <a:tcPr marL="73152" marR="73152" marT="27432" marB="27432" anchor="ctr">
                    <a:solidFill>
                      <a:srgbClr val="F1F7FB"/>
                    </a:solidFill>
                  </a:tcPr>
                </a:tc>
              </a:tr>
            </a:tbl>
          </a:graphicData>
        </a:graphic>
      </p:graphicFrame>
      <p:sp>
        <p:nvSpPr>
          <p:cNvPr id="10252" name="Rectangle 10251"/>
          <p:cNvSpPr/>
          <p:nvPr/>
        </p:nvSpPr>
        <p:spPr>
          <a:xfrm>
            <a:off x="1005840" y="5669280"/>
            <a:ext cx="8778240" cy="27432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0" i="0">
                <a:solidFill>
                  <a:srgbClr val="1F2A44"/>
                </a:solidFill>
                <a:latin typeface="Calibri"/>
              </a:rPr>
              <a:t>Adaptive floors track the nominal level; the static quantile is cautious; a naive Gaussian floor is breached on 26–35% of days in three crops.</a:t>
            </a:r>
          </a:p>
        </p:txBody>
      </p:sp>
      <p:graphicFrame>
        <p:nvGraphicFramePr>
          <p:cNvPr id="10253" name="Table 10252"/>
          <p:cNvGraphicFramePr>
            <a:graphicFrameLocks noGrp="1"/>
          </p:cNvGraphicFramePr>
          <p:nvPr/>
        </p:nvGraphicFramePr>
        <p:xfrm>
          <a:off x="10241280" y="1737360"/>
          <a:ext cx="8869678" cy="3657600"/>
        </p:xfrm>
        <a:graphic>
          <a:graphicData uri="http://schemas.openxmlformats.org/drawingml/2006/table">
            <a:tbl>
              <a:tblPr firstRow="1" bandRow="1">
                <a:tableStyleId>{5C22544A-7EE6-4342-B048-85BDC9FD1C3A}</a:tableStyleId>
              </a:tblPr>
              <a:tblGrid>
                <a:gridCol w="1790993"/>
                <a:gridCol w="3070273"/>
                <a:gridCol w="1364566"/>
                <a:gridCol w="1279280"/>
                <a:gridCol w="1364566"/>
              </a:tblGrid>
              <a:tr h="731520">
                <a:tc>
                  <a:txBody>
                    <a:bodyPr wrap="square"/>
                    <a:lstStyle/>
                    <a:p>
                      <a:pPr algn="ctr"/>
                      <a:r>
                        <a:rPr sz="1800" b="1">
                          <a:solidFill>
                            <a:srgbClr val="FFFFFF"/>
                          </a:solidFill>
                          <a:latin typeface="Calibri"/>
                        </a:rPr>
                        <a:t>Back-test, last 330 days</a:t>
                      </a:r>
                    </a:p>
                  </a:txBody>
                  <a:tcPr marL="73152" marR="73152" marT="27432" marB="27432" anchor="ctr">
                    <a:solidFill>
                      <a:srgbClr val="1F4E79"/>
                    </a:solidFill>
                  </a:tcPr>
                </a:tc>
                <a:tc>
                  <a:txBody>
                    <a:bodyPr wrap="square"/>
                    <a:lstStyle/>
                    <a:p>
                      <a:pPr algn="ctr"/>
                      <a:r>
                        <a:rPr sz="1800" b="1">
                          <a:solidFill>
                            <a:srgbClr val="FFFFFF"/>
                          </a:solidFill>
                          <a:latin typeface="Calibri"/>
                        </a:rPr>
                        <a:t>Gain vs highest yesterday (Rs/q)</a:t>
                      </a:r>
                    </a:p>
                  </a:txBody>
                  <a:tcPr marL="73152" marR="73152" marT="27432" marB="27432" anchor="ctr">
                    <a:solidFill>
                      <a:srgbClr val="1F4E79"/>
                    </a:solidFill>
                  </a:tcPr>
                </a:tc>
                <a:tc>
                  <a:txBody>
                    <a:bodyPr wrap="square"/>
                    <a:lstStyle/>
                    <a:p>
                      <a:pPr algn="ctr"/>
                      <a:r>
                        <a:rPr sz="1800" b="1">
                          <a:solidFill>
                            <a:srgbClr val="FFFFFF"/>
                          </a:solidFill>
                          <a:latin typeface="Calibri"/>
                        </a:rPr>
                        <a:t>vs nearest</a:t>
                      </a:r>
                    </a:p>
                  </a:txBody>
                  <a:tcPr marL="73152" marR="73152" marT="27432" marB="27432" anchor="ctr">
                    <a:solidFill>
                      <a:srgbClr val="1F4E79"/>
                    </a:solidFill>
                  </a:tcPr>
                </a:tc>
                <a:tc>
                  <a:txBody>
                    <a:bodyPr wrap="square"/>
                    <a:lstStyle/>
                    <a:p>
                      <a:pPr algn="ctr"/>
                      <a:r>
                        <a:rPr sz="1800" b="1">
                          <a:solidFill>
                            <a:srgbClr val="FFFFFF"/>
                          </a:solidFill>
                          <a:latin typeface="Calibri"/>
                        </a:rPr>
                        <a:t>Gap closed</a:t>
                      </a:r>
                    </a:p>
                  </a:txBody>
                  <a:tcPr marL="73152" marR="73152" marT="27432" marB="27432" anchor="ctr">
                    <a:solidFill>
                      <a:srgbClr val="1F4E79"/>
                    </a:solidFill>
                  </a:tcPr>
                </a:tc>
                <a:tc>
                  <a:txBody>
                    <a:bodyPr wrap="square"/>
                    <a:lstStyle/>
                    <a:p>
                      <a:pPr algn="ctr"/>
                      <a:r>
                        <a:rPr sz="1800" b="1">
                          <a:solidFill>
                            <a:srgbClr val="FFFFFF"/>
                          </a:solidFill>
                          <a:latin typeface="Calibri"/>
                        </a:rPr>
                        <a:t>Evidence</a:t>
                      </a:r>
                    </a:p>
                  </a:txBody>
                  <a:tcPr marL="73152" marR="73152" marT="27432" marB="27432" anchor="ctr">
                    <a:solidFill>
                      <a:srgbClr val="1F4E79"/>
                    </a:solidFill>
                  </a:tcPr>
                </a:tc>
              </a:tr>
              <a:tr h="731520">
                <a:tc>
                  <a:txBody>
                    <a:bodyPr wrap="square"/>
                    <a:lstStyle/>
                    <a:p>
                      <a:pPr algn="l"/>
                      <a:r>
                        <a:rPr sz="2100" b="0">
                          <a:solidFill>
                            <a:srgbClr val="1F2A44"/>
                          </a:solidFill>
                          <a:latin typeface="Calibri"/>
                        </a:rPr>
                        <a:t>Tomato</a:t>
                      </a:r>
                    </a:p>
                  </a:txBody>
                  <a:tcPr marL="73152" marR="73152" marT="27432" marB="27432" anchor="ctr">
                    <a:solidFill>
                      <a:srgbClr val="FFFFFF"/>
                    </a:solidFill>
                  </a:tcPr>
                </a:tc>
                <a:tc>
                  <a:txBody>
                    <a:bodyPr wrap="square"/>
                    <a:lstStyle/>
                    <a:p>
                      <a:pPr algn="ctr"/>
                      <a:r>
                        <a:rPr sz="2100" b="0">
                          <a:solidFill>
                            <a:srgbClr val="1F2A44"/>
                          </a:solidFill>
                          <a:latin typeface="Calibri"/>
                        </a:rPr>
                        <a:t>+170 [+104, +255]</a:t>
                      </a:r>
                    </a:p>
                  </a:txBody>
                  <a:tcPr marL="73152" marR="73152" marT="27432" marB="27432" anchor="ctr">
                    <a:solidFill>
                      <a:srgbClr val="FFFFFF"/>
                    </a:solidFill>
                  </a:tcPr>
                </a:tc>
                <a:tc>
                  <a:txBody>
                    <a:bodyPr wrap="square"/>
                    <a:lstStyle/>
                    <a:p>
                      <a:pPr algn="ctr"/>
                      <a:r>
                        <a:rPr sz="2100" b="0">
                          <a:solidFill>
                            <a:srgbClr val="1F2A44"/>
                          </a:solidFill>
                          <a:latin typeface="Calibri"/>
                        </a:rPr>
                        <a:t>+571</a:t>
                      </a:r>
                    </a:p>
                  </a:txBody>
                  <a:tcPr marL="73152" marR="73152" marT="27432" marB="27432" anchor="ctr">
                    <a:solidFill>
                      <a:srgbClr val="FFFFFF"/>
                    </a:solidFill>
                  </a:tcPr>
                </a:tc>
                <a:tc>
                  <a:txBody>
                    <a:bodyPr wrap="square"/>
                    <a:lstStyle/>
                    <a:p>
                      <a:pPr algn="ctr"/>
                      <a:r>
                        <a:rPr sz="2100" b="0">
                          <a:solidFill>
                            <a:srgbClr val="1F2A44"/>
                          </a:solidFill>
                          <a:latin typeface="Calibri"/>
                        </a:rPr>
                        <a:t>62%</a:t>
                      </a:r>
                    </a:p>
                  </a:txBody>
                  <a:tcPr marL="73152" marR="73152" marT="27432" marB="27432" anchor="ctr">
                    <a:solidFill>
                      <a:srgbClr val="FFFFFF"/>
                    </a:solidFill>
                  </a:tcPr>
                </a:tc>
                <a:tc>
                  <a:txBody>
                    <a:bodyPr wrap="square"/>
                    <a:lstStyle/>
                    <a:p>
                      <a:pPr algn="ctr"/>
                      <a:r>
                        <a:rPr sz="2100" b="0">
                          <a:solidFill>
                            <a:srgbClr val="2E8B57"/>
                          </a:solidFill>
                          <a:latin typeface="Calibri"/>
                        </a:rPr>
                        <a:t>strong</a:t>
                      </a:r>
                    </a:p>
                  </a:txBody>
                  <a:tcPr marL="73152" marR="73152" marT="27432" marB="27432" anchor="ctr">
                    <a:solidFill>
                      <a:srgbClr val="FFFFFF"/>
                    </a:solidFill>
                  </a:tcPr>
                </a:tc>
              </a:tr>
              <a:tr h="731520">
                <a:tc>
                  <a:txBody>
                    <a:bodyPr wrap="square"/>
                    <a:lstStyle/>
                    <a:p>
                      <a:pPr algn="l"/>
                      <a:r>
                        <a:rPr sz="2100" b="0">
                          <a:solidFill>
                            <a:srgbClr val="1F2A44"/>
                          </a:solidFill>
                          <a:latin typeface="Calibri"/>
                        </a:rPr>
                        <a:t>Onion</a:t>
                      </a:r>
                    </a:p>
                  </a:txBody>
                  <a:tcPr marL="73152" marR="73152" marT="27432" marB="27432" anchor="ctr">
                    <a:solidFill>
                      <a:srgbClr val="F1F7FB"/>
                    </a:solidFill>
                  </a:tcPr>
                </a:tc>
                <a:tc>
                  <a:txBody>
                    <a:bodyPr wrap="square"/>
                    <a:lstStyle/>
                    <a:p>
                      <a:pPr algn="ctr"/>
                      <a:r>
                        <a:rPr sz="2100" b="0">
                          <a:solidFill>
                            <a:srgbClr val="1F2A44"/>
                          </a:solidFill>
                          <a:latin typeface="Calibri"/>
                        </a:rPr>
                        <a:t>+60 [+16, +119]</a:t>
                      </a:r>
                    </a:p>
                  </a:txBody>
                  <a:tcPr marL="73152" marR="73152" marT="27432" marB="27432" anchor="ctr">
                    <a:solidFill>
                      <a:srgbClr val="F1F7FB"/>
                    </a:solidFill>
                  </a:tcPr>
                </a:tc>
                <a:tc>
                  <a:txBody>
                    <a:bodyPr wrap="square"/>
                    <a:lstStyle/>
                    <a:p>
                      <a:pPr algn="ctr"/>
                      <a:r>
                        <a:rPr sz="2100" b="0">
                          <a:solidFill>
                            <a:srgbClr val="1F2A44"/>
                          </a:solidFill>
                          <a:latin typeface="Calibri"/>
                        </a:rPr>
                        <a:t>+300</a:t>
                      </a:r>
                    </a:p>
                  </a:txBody>
                  <a:tcPr marL="73152" marR="73152" marT="27432" marB="27432" anchor="ctr">
                    <a:solidFill>
                      <a:srgbClr val="F1F7FB"/>
                    </a:solidFill>
                  </a:tcPr>
                </a:tc>
                <a:tc>
                  <a:txBody>
                    <a:bodyPr wrap="square"/>
                    <a:lstStyle/>
                    <a:p>
                      <a:pPr algn="ctr"/>
                      <a:r>
                        <a:rPr sz="2100" b="0">
                          <a:solidFill>
                            <a:srgbClr val="1F2A44"/>
                          </a:solidFill>
                          <a:latin typeface="Calibri"/>
                        </a:rPr>
                        <a:t>46%</a:t>
                      </a:r>
                    </a:p>
                  </a:txBody>
                  <a:tcPr marL="73152" marR="73152" marT="27432" marB="27432" anchor="ctr">
                    <a:solidFill>
                      <a:srgbClr val="F1F7FB"/>
                    </a:solidFill>
                  </a:tcPr>
                </a:tc>
                <a:tc>
                  <a:txBody>
                    <a:bodyPr wrap="square"/>
                    <a:lstStyle/>
                    <a:p>
                      <a:pPr algn="ctr"/>
                      <a:r>
                        <a:rPr sz="2100" b="0">
                          <a:solidFill>
                            <a:srgbClr val="2E8B57"/>
                          </a:solidFill>
                          <a:latin typeface="Calibri"/>
                        </a:rPr>
                        <a:t>strong</a:t>
                      </a:r>
                    </a:p>
                  </a:txBody>
                  <a:tcPr marL="73152" marR="73152" marT="27432" marB="27432" anchor="ctr">
                    <a:solidFill>
                      <a:srgbClr val="F1F7FB"/>
                    </a:solidFill>
                  </a:tcPr>
                </a:tc>
              </a:tr>
              <a:tr h="731520">
                <a:tc>
                  <a:txBody>
                    <a:bodyPr wrap="square"/>
                    <a:lstStyle/>
                    <a:p>
                      <a:pPr algn="l"/>
                      <a:r>
                        <a:rPr sz="2100" b="0">
                          <a:solidFill>
                            <a:srgbClr val="1F2A44"/>
                          </a:solidFill>
                          <a:latin typeface="Calibri"/>
                        </a:rPr>
                        <a:t>Potato</a:t>
                      </a:r>
                    </a:p>
                  </a:txBody>
                  <a:tcPr marL="73152" marR="73152" marT="27432" marB="27432" anchor="ctr">
                    <a:solidFill>
                      <a:srgbClr val="FFFFFF"/>
                    </a:solidFill>
                  </a:tcPr>
                </a:tc>
                <a:tc>
                  <a:txBody>
                    <a:bodyPr wrap="square"/>
                    <a:lstStyle/>
                    <a:p>
                      <a:pPr algn="ctr"/>
                      <a:r>
                        <a:rPr sz="2100" b="0">
                          <a:solidFill>
                            <a:srgbClr val="1F2A44"/>
                          </a:solidFill>
                          <a:latin typeface="Calibri"/>
                        </a:rPr>
                        <a:t>+15 [−38, +60]</a:t>
                      </a:r>
                    </a:p>
                  </a:txBody>
                  <a:tcPr marL="73152" marR="73152" marT="27432" marB="27432" anchor="ctr">
                    <a:solidFill>
                      <a:srgbClr val="FFFFFF"/>
                    </a:solidFill>
                  </a:tcPr>
                </a:tc>
                <a:tc>
                  <a:txBody>
                    <a:bodyPr wrap="square"/>
                    <a:lstStyle/>
                    <a:p>
                      <a:pPr algn="ctr"/>
                      <a:r>
                        <a:rPr sz="2100" b="0">
                          <a:solidFill>
                            <a:srgbClr val="1F2A44"/>
                          </a:solidFill>
                          <a:latin typeface="Calibri"/>
                        </a:rPr>
                        <a:t>+69</a:t>
                      </a:r>
                    </a:p>
                  </a:txBody>
                  <a:tcPr marL="73152" marR="73152" marT="27432" marB="27432" anchor="ctr">
                    <a:solidFill>
                      <a:srgbClr val="FFFFFF"/>
                    </a:solidFill>
                  </a:tcPr>
                </a:tc>
                <a:tc>
                  <a:txBody>
                    <a:bodyPr wrap="square"/>
                    <a:lstStyle/>
                    <a:p>
                      <a:pPr algn="ctr"/>
                      <a:r>
                        <a:rPr sz="2100" b="0">
                          <a:solidFill>
                            <a:srgbClr val="1F2A44"/>
                          </a:solidFill>
                          <a:latin typeface="Calibri"/>
                        </a:rPr>
                        <a:t>11%</a:t>
                      </a:r>
                    </a:p>
                  </a:txBody>
                  <a:tcPr marL="73152" marR="73152" marT="27432" marB="27432" anchor="ctr">
                    <a:solidFill>
                      <a:srgbClr val="FFFFFF"/>
                    </a:solidFill>
                  </a:tcPr>
                </a:tc>
                <a:tc>
                  <a:txBody>
                    <a:bodyPr wrap="square"/>
                    <a:lstStyle/>
                    <a:p>
                      <a:pPr algn="ctr"/>
                      <a:r>
                        <a:rPr sz="2100" b="0">
                          <a:solidFill>
                            <a:srgbClr val="D9822B"/>
                          </a:solidFill>
                          <a:latin typeface="Calibri"/>
                        </a:rPr>
                        <a:t>limited</a:t>
                      </a:r>
                    </a:p>
                  </a:txBody>
                  <a:tcPr marL="73152" marR="73152" marT="27432" marB="27432" anchor="ctr">
                    <a:solidFill>
                      <a:srgbClr val="FFFFFF"/>
                    </a:solidFill>
                  </a:tcPr>
                </a:tc>
              </a:tr>
              <a:tr h="731520">
                <a:tc>
                  <a:txBody>
                    <a:bodyPr wrap="square"/>
                    <a:lstStyle/>
                    <a:p>
                      <a:pPr algn="l"/>
                      <a:r>
                        <a:rPr sz="2100" b="0">
                          <a:solidFill>
                            <a:srgbClr val="1F2A44"/>
                          </a:solidFill>
                          <a:latin typeface="Calibri"/>
                        </a:rPr>
                        <a:t>Ginger</a:t>
                      </a:r>
                    </a:p>
                  </a:txBody>
                  <a:tcPr marL="73152" marR="73152" marT="27432" marB="27432" anchor="ctr">
                    <a:solidFill>
                      <a:srgbClr val="F1F7FB"/>
                    </a:solidFill>
                  </a:tcPr>
                </a:tc>
                <a:tc>
                  <a:txBody>
                    <a:bodyPr wrap="square"/>
                    <a:lstStyle/>
                    <a:p>
                      <a:pPr algn="ctr"/>
                      <a:r>
                        <a:rPr sz="2100" b="0">
                          <a:solidFill>
                            <a:srgbClr val="1F2A44"/>
                          </a:solidFill>
                          <a:latin typeface="Calibri"/>
                        </a:rPr>
                        <a:t>+202 [+25, +429]</a:t>
                      </a:r>
                    </a:p>
                  </a:txBody>
                  <a:tcPr marL="73152" marR="73152" marT="27432" marB="27432" anchor="ctr">
                    <a:solidFill>
                      <a:srgbClr val="F1F7FB"/>
                    </a:solidFill>
                  </a:tcPr>
                </a:tc>
                <a:tc>
                  <a:txBody>
                    <a:bodyPr wrap="square"/>
                    <a:lstStyle/>
                    <a:p>
                      <a:pPr algn="ctr"/>
                      <a:r>
                        <a:rPr sz="2100" b="0">
                          <a:solidFill>
                            <a:srgbClr val="1F2A44"/>
                          </a:solidFill>
                          <a:latin typeface="Calibri"/>
                        </a:rPr>
                        <a:t>+1,595</a:t>
                      </a:r>
                    </a:p>
                  </a:txBody>
                  <a:tcPr marL="73152" marR="73152" marT="27432" marB="27432" anchor="ctr">
                    <a:solidFill>
                      <a:srgbClr val="F1F7FB"/>
                    </a:solidFill>
                  </a:tcPr>
                </a:tc>
                <a:tc>
                  <a:txBody>
                    <a:bodyPr wrap="square"/>
                    <a:lstStyle/>
                    <a:p>
                      <a:pPr algn="ctr"/>
                      <a:r>
                        <a:rPr sz="2100" b="0">
                          <a:solidFill>
                            <a:srgbClr val="1F2A44"/>
                          </a:solidFill>
                          <a:latin typeface="Calibri"/>
                        </a:rPr>
                        <a:t>67%</a:t>
                      </a:r>
                    </a:p>
                  </a:txBody>
                  <a:tcPr marL="73152" marR="73152" marT="27432" marB="27432" anchor="ctr">
                    <a:solidFill>
                      <a:srgbClr val="F1F7FB"/>
                    </a:solidFill>
                  </a:tcPr>
                </a:tc>
                <a:tc>
                  <a:txBody>
                    <a:bodyPr wrap="square"/>
                    <a:lstStyle/>
                    <a:p>
                      <a:pPr algn="ctr"/>
                      <a:r>
                        <a:rPr sz="2100" b="0">
                          <a:solidFill>
                            <a:srgbClr val="2E8B57"/>
                          </a:solidFill>
                          <a:latin typeface="Calibri"/>
                        </a:rPr>
                        <a:t>strong</a:t>
                      </a:r>
                    </a:p>
                  </a:txBody>
                  <a:tcPr marL="73152" marR="73152" marT="27432" marB="27432" anchor="ctr">
                    <a:solidFill>
                      <a:srgbClr val="F1F7FB"/>
                    </a:solidFill>
                  </a:tcPr>
                </a:tc>
              </a:tr>
            </a:tbl>
          </a:graphicData>
        </a:graphic>
      </p:graphicFrame>
      <p:graphicFrame>
        <p:nvGraphicFramePr>
          <p:cNvPr id="10254" name="Chart 10253"/>
          <p:cNvGraphicFramePr>
            <a:graphicFrameLocks noGrp="1"/>
          </p:cNvGraphicFramePr>
          <p:nvPr/>
        </p:nvGraphicFramePr>
        <p:xfrm>
          <a:off x="10241280" y="5486400"/>
          <a:ext cx="8869680" cy="4754880"/>
        </p:xfrm>
        <a:graphic>
          <a:graphicData uri="http://schemas.openxmlformats.org/drawingml/2006/chart">
            <c:chart xmlns:c="http://schemas.openxmlformats.org/drawingml/2006/chart" r:id="rId3"/>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Look-Ahead Audit of Decompose-then-Forecast Models</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Chart 10250"/>
          <p:cNvGraphicFramePr>
            <a:graphicFrameLocks noGrp="1"/>
          </p:cNvGraphicFramePr>
          <p:nvPr/>
        </p:nvGraphicFramePr>
        <p:xfrm>
          <a:off x="1005840" y="1645920"/>
          <a:ext cx="12070080" cy="8138160"/>
        </p:xfrm>
        <a:graphic>
          <a:graphicData uri="http://schemas.openxmlformats.org/drawingml/2006/chart">
            <c:chart xmlns:c="http://schemas.openxmlformats.org/drawingml/2006/chart" r:id="rId3"/>
          </a:graphicData>
        </a:graphic>
      </p:graphicFrame>
      <p:sp>
        <p:nvSpPr>
          <p:cNvPr id="10252" name="Rectangle 10251"/>
          <p:cNvSpPr/>
          <p:nvPr/>
        </p:nvSpPr>
        <p:spPr>
          <a:xfrm>
            <a:off x="13533120" y="1737360"/>
            <a:ext cx="5577840" cy="120700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C0392B"/>
                </a:solidFill>
                <a:latin typeface="Calibri"/>
              </a:rPr>
              <a:t>+27 … +62%</a:t>
            </a:r>
          </a:p>
        </p:txBody>
      </p:sp>
      <p:sp>
        <p:nvSpPr>
          <p:cNvPr id="10253" name="Rectangle 10252"/>
          <p:cNvSpPr/>
          <p:nvPr/>
        </p:nvSpPr>
        <p:spPr>
          <a:xfrm>
            <a:off x="13533120" y="2944368"/>
            <a:ext cx="5577840" cy="98755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skill under the published protocol</a:t>
            </a:r>
          </a:p>
        </p:txBody>
      </p:sp>
      <p:sp>
        <p:nvSpPr>
          <p:cNvPr id="10254" name="Rectangle 10253"/>
          <p:cNvSpPr/>
          <p:nvPr/>
        </p:nvSpPr>
        <p:spPr>
          <a:xfrm>
            <a:off x="13533120" y="4206240"/>
            <a:ext cx="5577840" cy="1207008"/>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1F4E79"/>
                </a:solidFill>
                <a:latin typeface="Calibri"/>
              </a:rPr>
              <a:t>−15 … −1%</a:t>
            </a:r>
          </a:p>
        </p:txBody>
      </p:sp>
      <p:sp>
        <p:nvSpPr>
          <p:cNvPr id="10255" name="Rectangle 10254"/>
          <p:cNvSpPr/>
          <p:nvPr/>
        </p:nvSpPr>
        <p:spPr>
          <a:xfrm>
            <a:off x="13533120" y="5413248"/>
            <a:ext cx="5577840" cy="98755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the same models, causal decomposition</a:t>
            </a:r>
          </a:p>
        </p:txBody>
      </p:sp>
      <p:sp>
        <p:nvSpPr>
          <p:cNvPr id="10256" name="Rectangle 10255"/>
          <p:cNvSpPr/>
          <p:nvPr/>
        </p:nvSpPr>
        <p:spPr>
          <a:xfrm>
            <a:off x="13533120" y="6675120"/>
            <a:ext cx="5577840" cy="31089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200" b="1" i="0">
                <a:solidFill>
                  <a:srgbClr val="1F2A44"/>
                </a:solidFill>
                <a:latin typeface="Calibri"/>
              </a:rPr>
              <a:t>Why: </a:t>
            </a:r>
            <a:r>
              <a:rPr sz="2200" b="0" i="0">
                <a:solidFill>
                  <a:srgbClr val="1F2A44"/>
                </a:solidFill>
                <a:latin typeface="Calibri"/>
              </a:rPr>
              <a:t>STL and VMD are two-sided smoothers, so the component at day t already contains later prices. Zero-shot Chronos-Bolt [17] scores −9.4% at 1 day: no model here beats the random walk on the daily tomato series.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Council, Shocks, Spillover and Language Layer</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18" cy="7406640"/>
        </p:xfrm>
        <a:graphic>
          <a:graphicData uri="http://schemas.openxmlformats.org/drawingml/2006/table">
            <a:tbl>
              <a:tblPr firstRow="1" bandRow="1">
                <a:tableStyleId>{5C22544A-7EE6-4342-B048-85BDC9FD1C3A}</a:tableStyleId>
              </a:tblPr>
              <a:tblGrid>
                <a:gridCol w="2889114"/>
                <a:gridCol w="4815191"/>
                <a:gridCol w="7896914"/>
                <a:gridCol w="2503899"/>
              </a:tblGrid>
              <a:tr h="1234440">
                <a:tc>
                  <a:txBody>
                    <a:bodyPr wrap="square"/>
                    <a:lstStyle/>
                    <a:p>
                      <a:pPr algn="ctr"/>
                      <a:r>
                        <a:rPr sz="2200" b="1">
                          <a:solidFill>
                            <a:srgbClr val="FFFFFF"/>
                          </a:solidFill>
                          <a:latin typeface="Calibri"/>
                        </a:rPr>
                        <a:t>Study</a:t>
                      </a:r>
                    </a:p>
                  </a:txBody>
                  <a:tcPr marL="73152" marR="73152" marT="27432" marB="27432" anchor="ctr">
                    <a:solidFill>
                      <a:srgbClr val="1F4E79"/>
                    </a:solidFill>
                  </a:tcPr>
                </a:tc>
                <a:tc>
                  <a:txBody>
                    <a:bodyPr wrap="square"/>
                    <a:lstStyle/>
                    <a:p>
                      <a:pPr algn="ctr"/>
                      <a:r>
                        <a:rPr sz="2200" b="1">
                          <a:solidFill>
                            <a:srgbClr val="FFFFFF"/>
                          </a:solidFill>
                          <a:latin typeface="Calibri"/>
                        </a:rPr>
                        <a:t>What was tested</a:t>
                      </a:r>
                    </a:p>
                  </a:txBody>
                  <a:tcPr marL="73152" marR="73152" marT="27432" marB="27432" anchor="ctr">
                    <a:solidFill>
                      <a:srgbClr val="1F4E79"/>
                    </a:solidFill>
                  </a:tcPr>
                </a:tc>
                <a:tc>
                  <a:txBody>
                    <a:bodyPr wrap="square"/>
                    <a:lstStyle/>
                    <a:p>
                      <a:pPr algn="ctr"/>
                      <a:r>
                        <a:rPr sz="2200" b="1">
                          <a:solidFill>
                            <a:srgbClr val="FFFFFF"/>
                          </a:solidFill>
                          <a:latin typeface="Calibri"/>
                        </a:rPr>
                        <a:t>Result</a:t>
                      </a:r>
                    </a:p>
                  </a:txBody>
                  <a:tcPr marL="73152" marR="73152" marT="27432" marB="27432" anchor="ctr">
                    <a:solidFill>
                      <a:srgbClr val="1F4E79"/>
                    </a:solidFill>
                  </a:tcPr>
                </a:tc>
                <a:tc>
                  <a:txBody>
                    <a:bodyPr wrap="square"/>
                    <a:lstStyle/>
                    <a:p>
                      <a:pPr algn="ctr"/>
                      <a:r>
                        <a:rPr sz="2200" b="1">
                          <a:solidFill>
                            <a:srgbClr val="FFFFFF"/>
                          </a:solidFill>
                          <a:latin typeface="Calibri"/>
                        </a:rPr>
                        <a:t>Verdict</a:t>
                      </a:r>
                    </a:p>
                  </a:txBody>
                  <a:tcPr marL="73152" marR="73152" marT="27432" marB="27432" anchor="ctr">
                    <a:solidFill>
                      <a:srgbClr val="1F4E79"/>
                    </a:solidFill>
                  </a:tcPr>
                </a:tc>
              </a:tr>
              <a:tr h="1234440">
                <a:tc>
                  <a:txBody>
                    <a:bodyPr wrap="square"/>
                    <a:lstStyle/>
                    <a:p>
                      <a:pPr algn="l"/>
                      <a:r>
                        <a:rPr sz="2200" b="1">
                          <a:solidFill>
                            <a:srgbClr val="1F2A44"/>
                          </a:solidFill>
                          <a:latin typeface="Calibri"/>
                        </a:rPr>
                        <a:t>Specialist council</a:t>
                      </a:r>
                    </a:p>
                  </a:txBody>
                  <a:tcPr marL="73152" marR="73152" marT="27432" marB="27432" anchor="ctr">
                    <a:solidFill>
                      <a:srgbClr val="FFFFFF"/>
                    </a:solidFill>
                  </a:tcPr>
                </a:tc>
                <a:tc>
                  <a:txBody>
                    <a:bodyPr wrap="square"/>
                    <a:lstStyle/>
                    <a:p>
                      <a:pPr algn="l"/>
                      <a:r>
                        <a:rPr sz="2200" b="0">
                          <a:solidFill>
                            <a:srgbClr val="1F2A44"/>
                          </a:solidFill>
                          <a:latin typeface="Calibri"/>
                        </a:rPr>
                        <a:t>4 feature-family agents, weights ≤ 1, 4 folds</a:t>
                      </a:r>
                    </a:p>
                  </a:txBody>
                  <a:tcPr marL="73152" marR="73152" marT="27432" marB="27432" anchor="ctr">
                    <a:solidFill>
                      <a:srgbClr val="FFFFFF"/>
                    </a:solidFill>
                  </a:tcPr>
                </a:tc>
                <a:tc>
                  <a:txBody>
                    <a:bodyPr wrap="square"/>
                    <a:lstStyle/>
                    <a:p>
                      <a:pPr algn="l"/>
                      <a:r>
                        <a:rPr sz="2200" b="0">
                          <a:solidFill>
                            <a:srgbClr val="1F2A44"/>
                          </a:solidFill>
                          <a:latin typeface="Calibri"/>
                        </a:rPr>
                        <a:t>council +0.2…+0.4% vs single +0.6…+0.8% skill; wins 0–1 of 4 folds</a:t>
                      </a:r>
                    </a:p>
                  </a:txBody>
                  <a:tcPr marL="73152" marR="73152" marT="27432" marB="27432" anchor="ctr">
                    <a:solidFill>
                      <a:srgbClr val="FFFFFF"/>
                    </a:solidFill>
                  </a:tcPr>
                </a:tc>
                <a:tc>
                  <a:txBody>
                    <a:bodyPr wrap="square"/>
                    <a:lstStyle/>
                    <a:p>
                      <a:pPr algn="l"/>
                      <a:r>
                        <a:rPr sz="2200" b="0">
                          <a:solidFill>
                            <a:srgbClr val="D9822B"/>
                          </a:solidFill>
                          <a:latin typeface="Calibri"/>
                        </a:rPr>
                        <a:t>Not promoted</a:t>
                      </a:r>
                    </a:p>
                  </a:txBody>
                  <a:tcPr marL="73152" marR="73152" marT="27432" marB="27432" anchor="ctr">
                    <a:solidFill>
                      <a:srgbClr val="FFFFFF"/>
                    </a:solidFill>
                  </a:tcPr>
                </a:tc>
              </a:tr>
              <a:tr h="1234440">
                <a:tc>
                  <a:txBody>
                    <a:bodyPr wrap="square"/>
                    <a:lstStyle/>
                    <a:p>
                      <a:pPr algn="l"/>
                      <a:r>
                        <a:rPr sz="2200" b="1">
                          <a:solidFill>
                            <a:srgbClr val="1F2A44"/>
                          </a:solidFill>
                          <a:latin typeface="Calibri"/>
                        </a:rPr>
                        <a:t>Supply-shock event study</a:t>
                      </a:r>
                    </a:p>
                  </a:txBody>
                  <a:tcPr marL="73152" marR="73152" marT="27432" marB="27432" anchor="ctr">
                    <a:solidFill>
                      <a:srgbClr val="F1F7FB"/>
                    </a:solidFill>
                  </a:tcPr>
                </a:tc>
                <a:tc>
                  <a:txBody>
                    <a:bodyPr wrap="square"/>
                    <a:lstStyle/>
                    <a:p>
                      <a:pPr algn="l"/>
                      <a:r>
                        <a:rPr sz="2200" b="0">
                          <a:solidFill>
                            <a:srgbClr val="1F2A44"/>
                          </a:solidFill>
                          <a:latin typeface="Calibri"/>
                        </a:rPr>
                        <a:t>30 crop–horizon tests, placebo shifts, Holm</a:t>
                      </a:r>
                    </a:p>
                  </a:txBody>
                  <a:tcPr marL="73152" marR="73152" marT="27432" marB="27432" anchor="ctr">
                    <a:solidFill>
                      <a:srgbClr val="F1F7FB"/>
                    </a:solidFill>
                  </a:tcPr>
                </a:tc>
                <a:tc>
                  <a:txBody>
                    <a:bodyPr wrap="square"/>
                    <a:lstStyle/>
                    <a:p>
                      <a:pPr algn="l"/>
                      <a:r>
                        <a:rPr sz="2200" b="0">
                          <a:solidFill>
                            <a:srgbClr val="1F2A44"/>
                          </a:solidFill>
                          <a:latin typeface="Calibri"/>
                        </a:rPr>
                        <a:t>0 robust, 5 suggestive; effects as large as the detectable minimum</a:t>
                      </a:r>
                    </a:p>
                  </a:txBody>
                  <a:tcPr marL="73152" marR="73152" marT="27432" marB="27432" anchor="ctr">
                    <a:solidFill>
                      <a:srgbClr val="F1F7FB"/>
                    </a:solidFill>
                  </a:tcPr>
                </a:tc>
                <a:tc>
                  <a:txBody>
                    <a:bodyPr wrap="square"/>
                    <a:lstStyle/>
                    <a:p>
                      <a:pPr algn="l"/>
                      <a:r>
                        <a:rPr sz="2200" b="0">
                          <a:solidFill>
                            <a:srgbClr val="D9822B"/>
                          </a:solidFill>
                          <a:latin typeface="Calibri"/>
                        </a:rPr>
                        <a:t>Not served</a:t>
                      </a:r>
                    </a:p>
                  </a:txBody>
                  <a:tcPr marL="73152" marR="73152" marT="27432" marB="27432" anchor="ctr">
                    <a:solidFill>
                      <a:srgbClr val="F1F7FB"/>
                    </a:solidFill>
                  </a:tcPr>
                </a:tc>
              </a:tr>
              <a:tr h="1234440">
                <a:tc>
                  <a:txBody>
                    <a:bodyPr wrap="square"/>
                    <a:lstStyle/>
                    <a:p>
                      <a:pPr algn="l"/>
                      <a:r>
                        <a:rPr sz="2200" b="1">
                          <a:solidFill>
                            <a:srgbClr val="1F2A44"/>
                          </a:solidFill>
                          <a:latin typeface="Calibri"/>
                        </a:rPr>
                        <a:t>Cross-commodity spillover</a:t>
                      </a:r>
                    </a:p>
                  </a:txBody>
                  <a:tcPr marL="73152" marR="73152" marT="27432" marB="27432" anchor="ctr">
                    <a:solidFill>
                      <a:srgbClr val="FFFFFF"/>
                    </a:solidFill>
                  </a:tcPr>
                </a:tc>
                <a:tc>
                  <a:txBody>
                    <a:bodyPr wrap="square"/>
                    <a:lstStyle/>
                    <a:p>
                      <a:pPr algn="l"/>
                      <a:r>
                        <a:rPr sz="2200" b="0">
                          <a:solidFill>
                            <a:srgbClr val="1F2A44"/>
                          </a:solidFill>
                          <a:latin typeface="Calibri"/>
                        </a:rPr>
                        <a:t>5 crops, 40 edges, FDR 10%, ≥8 episodes</a:t>
                      </a:r>
                    </a:p>
                  </a:txBody>
                  <a:tcPr marL="73152" marR="73152" marT="27432" marB="27432" anchor="ctr">
                    <a:solidFill>
                      <a:srgbClr val="FFFFFF"/>
                    </a:solidFill>
                  </a:tcPr>
                </a:tc>
                <a:tc>
                  <a:txBody>
                    <a:bodyPr wrap="square"/>
                    <a:lstStyle/>
                    <a:p>
                      <a:pPr algn="l"/>
                      <a:r>
                        <a:rPr sz="2200" b="0">
                          <a:solidFill>
                            <a:srgbClr val="1F2A44"/>
                          </a:solidFill>
                          <a:latin typeface="Calibri"/>
                        </a:rPr>
                        <a:t>0 shock episodes in all 10 source cells; 40/40 insufficient evidence</a:t>
                      </a:r>
                    </a:p>
                  </a:txBody>
                  <a:tcPr marL="73152" marR="73152" marT="27432" marB="27432" anchor="ctr">
                    <a:solidFill>
                      <a:srgbClr val="FFFFFF"/>
                    </a:solidFill>
                  </a:tcPr>
                </a:tc>
                <a:tc>
                  <a:txBody>
                    <a:bodyPr wrap="square"/>
                    <a:lstStyle/>
                    <a:p>
                      <a:pPr algn="l"/>
                      <a:r>
                        <a:rPr sz="2200" b="0">
                          <a:solidFill>
                            <a:srgbClr val="C0392B"/>
                          </a:solidFill>
                          <a:latin typeface="Calibri"/>
                        </a:rPr>
                        <a:t>Withheld</a:t>
                      </a:r>
                    </a:p>
                  </a:txBody>
                  <a:tcPr marL="73152" marR="73152" marT="27432" marB="27432" anchor="ctr">
                    <a:solidFill>
                      <a:srgbClr val="FFFFFF"/>
                    </a:solidFill>
                  </a:tcPr>
                </a:tc>
              </a:tr>
              <a:tr h="1234440">
                <a:tc>
                  <a:txBody>
                    <a:bodyPr wrap="square"/>
                    <a:lstStyle/>
                    <a:p>
                      <a:pPr algn="l"/>
                      <a:r>
                        <a:rPr sz="2200" b="1">
                          <a:solidFill>
                            <a:srgbClr val="1F2A44"/>
                          </a:solidFill>
                          <a:latin typeface="Calibri"/>
                        </a:rPr>
                        <a:t>District forecasts</a:t>
                      </a:r>
                    </a:p>
                  </a:txBody>
                  <a:tcPr marL="73152" marR="73152" marT="27432" marB="27432" anchor="ctr">
                    <a:solidFill>
                      <a:srgbClr val="F1F7FB"/>
                    </a:solidFill>
                  </a:tcPr>
                </a:tc>
                <a:tc>
                  <a:txBody>
                    <a:bodyPr wrap="square"/>
                    <a:lstStyle/>
                    <a:p>
                      <a:pPr algn="l"/>
                      <a:r>
                        <a:rPr sz="2200" b="0">
                          <a:solidFill>
                            <a:srgbClr val="1F2A44"/>
                          </a:solidFill>
                          <a:latin typeface="Calibri"/>
                        </a:rPr>
                        <a:t>3-, 5-, 7-day vs no change, 90% band</a:t>
                      </a:r>
                    </a:p>
                  </a:txBody>
                  <a:tcPr marL="73152" marR="73152" marT="27432" marB="27432" anchor="ctr">
                    <a:solidFill>
                      <a:srgbClr val="F1F7FB"/>
                    </a:solidFill>
                  </a:tcPr>
                </a:tc>
                <a:tc>
                  <a:txBody>
                    <a:bodyPr wrap="square"/>
                    <a:lstStyle/>
                    <a:p>
                      <a:pPr algn="l"/>
                      <a:r>
                        <a:rPr sz="2200" b="0">
                          <a:solidFill>
                            <a:srgbClr val="1F2A44"/>
                          </a:solidFill>
                          <a:latin typeface="Calibri"/>
                        </a:rPr>
                        <a:t>skill +3.0…+4.0%, coverage 89.8%; 1-day not distinguishable</a:t>
                      </a:r>
                    </a:p>
                  </a:txBody>
                  <a:tcPr marL="73152" marR="73152" marT="27432" marB="27432" anchor="ctr">
                    <a:solidFill>
                      <a:srgbClr val="F1F7FB"/>
                    </a:solidFill>
                  </a:tcPr>
                </a:tc>
                <a:tc>
                  <a:txBody>
                    <a:bodyPr wrap="square"/>
                    <a:lstStyle/>
                    <a:p>
                      <a:pPr algn="l"/>
                      <a:r>
                        <a:rPr sz="2200" b="0">
                          <a:solidFill>
                            <a:srgbClr val="2E8B57"/>
                          </a:solidFill>
                          <a:latin typeface="Calibri"/>
                        </a:rPr>
                        <a:t>Served 3/5/7 d</a:t>
                      </a:r>
                    </a:p>
                  </a:txBody>
                  <a:tcPr marL="73152" marR="73152" marT="27432" marB="27432" anchor="ctr">
                    <a:solidFill>
                      <a:srgbClr val="F1F7FB"/>
                    </a:solidFill>
                  </a:tcPr>
                </a:tc>
              </a:tr>
              <a:tr h="1234440">
                <a:tc>
                  <a:txBody>
                    <a:bodyPr wrap="square"/>
                    <a:lstStyle/>
                    <a:p>
                      <a:pPr algn="l"/>
                      <a:r>
                        <a:rPr sz="2200" b="1">
                          <a:solidFill>
                            <a:srgbClr val="1F2A44"/>
                          </a:solidFill>
                          <a:latin typeface="Calibri"/>
                        </a:rPr>
                        <a:t>Explanation layer</a:t>
                      </a:r>
                    </a:p>
                  </a:txBody>
                  <a:tcPr marL="73152" marR="73152" marT="27432" marB="27432" anchor="ctr">
                    <a:solidFill>
                      <a:srgbClr val="FFFFFF"/>
                    </a:solidFill>
                  </a:tcPr>
                </a:tc>
                <a:tc>
                  <a:txBody>
                    <a:bodyPr wrap="square"/>
                    <a:lstStyle/>
                    <a:p>
                      <a:pPr algn="l"/>
                      <a:r>
                        <a:rPr sz="2200" b="0">
                          <a:solidFill>
                            <a:srgbClr val="1F2A44"/>
                          </a:solidFill>
                          <a:latin typeface="Calibri"/>
                        </a:rPr>
                        <a:t>24 texts, 120 sentences, EN/KN/HI, independent judge</a:t>
                      </a:r>
                    </a:p>
                  </a:txBody>
                  <a:tcPr marL="73152" marR="73152" marT="27432" marB="27432" anchor="ctr">
                    <a:solidFill>
                      <a:srgbClr val="FFFFFF"/>
                    </a:solidFill>
                  </a:tcPr>
                </a:tc>
                <a:tc>
                  <a:txBody>
                    <a:bodyPr wrap="square"/>
                    <a:lstStyle/>
                    <a:p>
                      <a:pPr algn="l"/>
                      <a:r>
                        <a:rPr sz="2200" b="0">
                          <a:solidFill>
                            <a:srgbClr val="1F2A44"/>
                          </a:solidFill>
                          <a:latin typeface="Calibri"/>
                        </a:rPr>
                        <a:t>kept: EN 0.83–0.99, KN 0.62–0.88, HI 0.68–0.91; judge caught 9/9 corrupted, 0/3 false alarms</a:t>
                      </a:r>
                    </a:p>
                  </a:txBody>
                  <a:tcPr marL="73152" marR="73152" marT="27432" marB="27432" anchor="ctr">
                    <a:solidFill>
                      <a:srgbClr val="FFFFFF"/>
                    </a:solidFill>
                  </a:tcPr>
                </a:tc>
                <a:tc>
                  <a:txBody>
                    <a:bodyPr wrap="square"/>
                    <a:lstStyle/>
                    <a:p>
                      <a:pPr algn="l"/>
                      <a:r>
                        <a:rPr sz="2200" b="0">
                          <a:solidFill>
                            <a:srgbClr val="2E8B57"/>
                          </a:solidFill>
                          <a:latin typeface="Calibri"/>
                        </a:rPr>
                        <a:t>Verified, small n</a:t>
                      </a:r>
                    </a:p>
                  </a:txBody>
                  <a:tcPr marL="73152" marR="73152" marT="27432" marB="27432" anchor="ctr">
                    <a:solidFill>
                      <a:srgbClr val="FFFFFF"/>
                    </a:solidFill>
                  </a:tcPr>
                </a:tc>
              </a:tr>
            </a:tbl>
          </a:graphicData>
        </a:graphic>
      </p:graphicFrame>
      <p:sp>
        <p:nvSpPr>
          <p:cNvPr id="10252" name="TextBox 10251"/>
          <p:cNvSpPr txBox="1"/>
          <p:nvPr/>
        </p:nvSpPr>
        <p:spPr>
          <a:xfrm>
            <a:off x="1005840" y="9144000"/>
            <a:ext cx="18105120" cy="1097280"/>
          </a:xfrm>
          <a:prstGeom prst="rect">
            <a:avLst/>
          </a:prstGeom>
          <a:noFill/>
        </p:spPr>
        <p:txBody>
          <a:bodyPr wrap="square" anchor="t" lIns="73152" rIns="73152" tIns="36576" bIns="36576">
            <a:spAutoFit/>
          </a:bodyPr>
          <a:lstStyle/>
          <a:p>
            <a:pPr algn="l"/>
            <a:r>
              <a:rPr sz="2200" b="0" i="1">
                <a:solidFill>
                  <a:srgbClr val="5F6B7A"/>
                </a:solidFill>
                <a:latin typeface="Calibri"/>
              </a:rPr>
              <a:t>Zero spillover episodes is also a finding about the pipeline: the detector depends on supply-regime labels that the real panel does not yet supply. Listed under future 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Insight Features: Method</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TextBox 10250"/>
          <p:cNvSpPr txBox="1"/>
          <p:nvPr/>
        </p:nvSpPr>
        <p:spPr>
          <a:xfrm>
            <a:off x="1005840" y="164592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1  Breakdown: why this mandi</a:t>
            </a:r>
          </a:p>
        </p:txBody>
      </p:sp>
      <p:sp>
        <p:nvSpPr>
          <p:cNvPr id="10252" name="Rectangle 10251"/>
          <p:cNvSpPr/>
          <p:nvPr/>
        </p:nvSpPr>
        <p:spPr>
          <a:xfrm>
            <a:off x="1005840" y="219456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R = P − fP − (1−f)·P·[1 − (1−δ)ᵏ] − τρd − c₀</a:t>
            </a:r>
          </a:p>
        </p:txBody>
      </p:sp>
      <p:sp>
        <p:nvSpPr>
          <p:cNvPr id="10253" name="TextBox 10252"/>
          <p:cNvSpPr txBox="1"/>
          <p:nvPr/>
        </p:nvSpPr>
        <p:spPr>
          <a:xfrm>
            <a:off x="1005840" y="320040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the parts add up to the served net revenue; the code asserts it</a:t>
            </a:r>
          </a:p>
        </p:txBody>
      </p:sp>
      <p:sp>
        <p:nvSpPr>
          <p:cNvPr id="10254" name="TextBox 10253"/>
          <p:cNvSpPr txBox="1"/>
          <p:nvPr/>
        </p:nvSpPr>
        <p:spPr>
          <a:xfrm>
            <a:off x="1005840" y="475488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2  What if: break-even cost</a:t>
            </a:r>
          </a:p>
        </p:txBody>
      </p:sp>
      <p:sp>
        <p:nvSpPr>
          <p:cNvPr id="10255" name="Rectangle 10254"/>
          <p:cNvSpPr/>
          <p:nvPr/>
        </p:nvSpPr>
        <p:spPr>
          <a:xfrm>
            <a:off x="1005840" y="530352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x* = min { x on grid : a*(x) ≠ a*(x₀) }</a:t>
            </a:r>
          </a:p>
        </p:txBody>
      </p:sp>
      <p:sp>
        <p:nvSpPr>
          <p:cNvPr id="10256" name="TextBox 10255"/>
          <p:cNvSpPr txBox="1"/>
          <p:nvPr/>
        </p:nvSpPr>
        <p:spPr>
          <a:xfrm>
            <a:off x="1005840" y="630936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re-price every action under the farmer's costs; report where the best action flips</a:t>
            </a:r>
          </a:p>
        </p:txBody>
      </p:sp>
      <p:sp>
        <p:nvSpPr>
          <p:cNvPr id="10257" name="TextBox 10256"/>
          <p:cNvSpPr txBox="1"/>
          <p:nvPr/>
        </p:nvSpPr>
        <p:spPr>
          <a:xfrm>
            <a:off x="1005840" y="786384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3  Track record</a:t>
            </a:r>
          </a:p>
        </p:txBody>
      </p:sp>
      <p:sp>
        <p:nvSpPr>
          <p:cNvPr id="10258" name="Rectangle 10257"/>
          <p:cNvSpPr/>
          <p:nvPr/>
        </p:nvSpPr>
        <p:spPr>
          <a:xfrm>
            <a:off x="1005840" y="841248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win: gain &gt; ₹1 · tie: |gain| ≤ ₹1 · loss: gain &lt; −₹1</a:t>
            </a:r>
          </a:p>
        </p:txBody>
      </p:sp>
      <p:sp>
        <p:nvSpPr>
          <p:cNvPr id="10259" name="TextBox 10258"/>
          <p:cNvSpPr txBox="1"/>
          <p:nvPr/>
        </p:nvSpPr>
        <p:spPr>
          <a:xfrm>
            <a:off x="1005840" y="9418319"/>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only days after the floor multiplier was fitted; floor held if R ≥ L</a:t>
            </a:r>
          </a:p>
        </p:txBody>
      </p:sp>
      <p:sp>
        <p:nvSpPr>
          <p:cNvPr id="10260" name="TextBox 10259"/>
          <p:cNvSpPr txBox="1"/>
          <p:nvPr/>
        </p:nvSpPr>
        <p:spPr>
          <a:xfrm>
            <a:off x="10332720" y="164592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4  Silence tax</a:t>
            </a:r>
          </a:p>
        </p:txBody>
      </p:sp>
      <p:sp>
        <p:nvSpPr>
          <p:cNvPr id="10261" name="Rectangle 10260"/>
          <p:cNvSpPr/>
          <p:nvPr/>
        </p:nvSpPr>
        <p:spPr>
          <a:xfrm>
            <a:off x="10332720" y="219456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Tₘ = sₘ · max( P̄ₘ − φ·P̄day , 0 )</a:t>
            </a:r>
          </a:p>
        </p:txBody>
      </p:sp>
      <p:sp>
        <p:nvSpPr>
          <p:cNvPr id="10262" name="TextBox 10261"/>
          <p:cNvSpPr txBox="1"/>
          <p:nvPr/>
        </p:nvSpPr>
        <p:spPr>
          <a:xfrm>
            <a:off x="10332720" y="320040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s = surprise silence on open days; weekdays silent ≥ 90% are known closed days</a:t>
            </a:r>
          </a:p>
        </p:txBody>
      </p:sp>
      <p:sp>
        <p:nvSpPr>
          <p:cNvPr id="10263" name="TextBox 10262"/>
          <p:cNvSpPr txBox="1"/>
          <p:nvPr/>
        </p:nvSpPr>
        <p:spPr>
          <a:xfrm>
            <a:off x="10332720" y="4754880"/>
            <a:ext cx="8869680" cy="502920"/>
          </a:xfrm>
          <a:prstGeom prst="rect">
            <a:avLst/>
          </a:prstGeom>
          <a:noFill/>
        </p:spPr>
        <p:txBody>
          <a:bodyPr wrap="square" anchor="t" lIns="73152" rIns="73152" tIns="36576" bIns="36576">
            <a:spAutoFit/>
          </a:bodyPr>
          <a:lstStyle/>
          <a:p>
            <a:pPr algn="l"/>
            <a:r>
              <a:rPr sz="2300" b="1" i="0">
                <a:solidFill>
                  <a:srgbClr val="1F4E79"/>
                </a:solidFill>
                <a:latin typeface="Calibri"/>
              </a:rPr>
              <a:t>5  Crowd simulator</a:t>
            </a:r>
          </a:p>
        </p:txBody>
      </p:sp>
      <p:sp>
        <p:nvSpPr>
          <p:cNvPr id="10264" name="Rectangle 10263"/>
          <p:cNvSpPr/>
          <p:nvPr/>
        </p:nvSpPr>
        <p:spPr>
          <a:xfrm>
            <a:off x="10332720" y="5303520"/>
            <a:ext cx="8869680" cy="9144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r>
              <a:rPr sz="2400" b="1" i="0">
                <a:solidFill>
                  <a:srgbClr val="1F2A44"/>
                </a:solidFill>
                <a:latin typeface="Cambria Math"/>
              </a:rPr>
              <a:t>Pₘ(x) = Pₘ · (1 + x / Aₘ)^(−b)</a:t>
            </a:r>
          </a:p>
        </p:txBody>
      </p:sp>
      <p:sp>
        <p:nvSpPr>
          <p:cNvPr id="10265" name="TextBox 10264"/>
          <p:cNvSpPr txBox="1"/>
          <p:nvPr/>
        </p:nvSpPr>
        <p:spPr>
          <a:xfrm>
            <a:off x="10332720" y="6309360"/>
            <a:ext cx="8869680" cy="1097280"/>
          </a:xfrm>
          <a:prstGeom prst="rect">
            <a:avLst/>
          </a:prstGeom>
          <a:noFill/>
        </p:spPr>
        <p:txBody>
          <a:bodyPr wrap="square" anchor="t" lIns="73152" rIns="73152" tIns="36576" bIns="36576">
            <a:spAutoFit/>
          </a:bodyPr>
          <a:lstStyle/>
          <a:p>
            <a:pPr algn="l"/>
            <a:r>
              <a:rPr sz="2100" b="0" i="0">
                <a:solidFill>
                  <a:srgbClr val="5F6B7A"/>
                </a:solidFill>
                <a:latin typeface="Calibri"/>
              </a:rPr>
              <a:t>Aₘ = median daily arrivals; b = 0.115 is an association (SE 0.023): a scenario</a:t>
            </a:r>
          </a:p>
        </p:txBody>
      </p:sp>
      <p:sp>
        <p:nvSpPr>
          <p:cNvPr id="10266" name="Rectangle 10265"/>
          <p:cNvSpPr/>
          <p:nvPr/>
        </p:nvSpPr>
        <p:spPr>
          <a:xfrm>
            <a:off x="10332720" y="7863840"/>
            <a:ext cx="8869680" cy="228600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300" b="1" i="0">
                <a:solidFill>
                  <a:srgbClr val="1F2A44"/>
                </a:solidFill>
                <a:latin typeface="Calibri"/>
              </a:rPr>
              <a:t>None of these fits a model at request time. </a:t>
            </a:r>
            <a:r>
              <a:rPr sz="2300" b="0" i="0">
                <a:solidFill>
                  <a:srgbClr val="1F2A44"/>
                </a:solidFill>
                <a:latin typeface="Calibri"/>
              </a:rPr>
              <a:t>Each reads the served engine and the ingested panel, and every assumption is returned with the answer.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What You Will See: Five Features and a Digest</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sp>
        <p:nvSpPr>
          <p:cNvPr id="10251" name="Rectangle 10250"/>
          <p:cNvSpPr/>
          <p:nvPr/>
        </p:nvSpPr>
        <p:spPr>
          <a:xfrm>
            <a:off x="10058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1  Why this mandi?</a:t>
            </a:r>
          </a:p>
        </p:txBody>
      </p:sp>
      <p:sp>
        <p:nvSpPr>
          <p:cNvPr id="10252" name="Rectangle 10251"/>
          <p:cNvSpPr/>
          <p:nvPr/>
        </p:nvSpPr>
        <p:spPr>
          <a:xfrm>
            <a:off x="10058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Per-quintal arithmetic of the advice: price − fee − spoilage − transport − handling = net.</a:t>
            </a:r>
          </a:p>
          <a:p>
            <a:pPr algn="l"/>
            <a:r>
              <a:rPr sz="2700" b="0" i="0">
                <a:solidFill>
                  <a:srgbClr val="1F2A44"/>
                </a:solidFill>
                <a:latin typeface="Calibri"/>
              </a:rPr>
              <a:t>Farmer app · /breakdown</a:t>
            </a:r>
          </a:p>
        </p:txBody>
      </p:sp>
      <p:sp>
        <p:nvSpPr>
          <p:cNvPr id="10253" name="Rectangle 10252"/>
          <p:cNvSpPr/>
          <p:nvPr/>
        </p:nvSpPr>
        <p:spPr>
          <a:xfrm>
            <a:off x="71780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2  What if my costs differ?</a:t>
            </a:r>
          </a:p>
        </p:txBody>
      </p:sp>
      <p:sp>
        <p:nvSpPr>
          <p:cNvPr id="10254" name="Rectangle 10253"/>
          <p:cNvSpPr/>
          <p:nvPr/>
        </p:nvSpPr>
        <p:spPr>
          <a:xfrm>
            <a:off x="71780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Sliders for transport, spoilage and longest wait; the advice updates and says where it flips.</a:t>
            </a:r>
          </a:p>
          <a:p>
            <a:pPr algn="l"/>
            <a:r>
              <a:rPr sz="2700" b="0" i="0">
                <a:solidFill>
                  <a:srgbClr val="1F2A44"/>
                </a:solidFill>
                <a:latin typeface="Calibri"/>
              </a:rPr>
              <a:t>Farmer app · /simulate</a:t>
            </a:r>
          </a:p>
        </p:txBody>
      </p:sp>
      <p:sp>
        <p:nvSpPr>
          <p:cNvPr id="10255" name="Rectangle 10254"/>
          <p:cNvSpPr/>
          <p:nvPr/>
        </p:nvSpPr>
        <p:spPr>
          <a:xfrm>
            <a:off x="13350240" y="1737360"/>
            <a:ext cx="5897880" cy="5669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3  Has this advice worked?</a:t>
            </a:r>
          </a:p>
        </p:txBody>
      </p:sp>
      <p:sp>
        <p:nvSpPr>
          <p:cNvPr id="10256" name="Rectangle 10255"/>
          <p:cNvSpPr/>
          <p:nvPr/>
        </p:nvSpPr>
        <p:spPr>
          <a:xfrm>
            <a:off x="13350240" y="230428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The advice replayed on 165 days it had not seen: wins, ties, losses; floor score.</a:t>
            </a:r>
          </a:p>
          <a:p>
            <a:pPr algn="l"/>
            <a:r>
              <a:rPr sz="2700" b="0" i="0">
                <a:solidFill>
                  <a:srgbClr val="1F2A44"/>
                </a:solidFill>
                <a:latin typeface="Calibri"/>
              </a:rPr>
              <a:t>Farmer app · /track-record</a:t>
            </a:r>
          </a:p>
        </p:txBody>
      </p:sp>
      <p:sp>
        <p:nvSpPr>
          <p:cNvPr id="10257" name="Rectangle 10256"/>
          <p:cNvSpPr/>
          <p:nvPr/>
        </p:nvSpPr>
        <p:spPr>
          <a:xfrm>
            <a:off x="1005840" y="6217920"/>
            <a:ext cx="58978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4  Silence Tax</a:t>
            </a:r>
          </a:p>
        </p:txBody>
      </p:sp>
      <p:sp>
        <p:nvSpPr>
          <p:cNvPr id="10258" name="Rectangle 10257"/>
          <p:cNvSpPr/>
          <p:nvPr/>
        </p:nvSpPr>
        <p:spPr>
          <a:xfrm>
            <a:off x="10058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Rupees lost per quintal on a trip because a mandi reports no price; weekday strip.</a:t>
            </a:r>
          </a:p>
          <a:p>
            <a:pPr algn="l"/>
            <a:r>
              <a:rPr sz="2700" b="0" i="0">
                <a:solidFill>
                  <a:srgbClr val="1F2A44"/>
                </a:solidFill>
                <a:latin typeface="Calibri"/>
              </a:rPr>
              <a:t>Trader desk · /reporting-value</a:t>
            </a:r>
          </a:p>
        </p:txBody>
      </p:sp>
      <p:sp>
        <p:nvSpPr>
          <p:cNvPr id="10259" name="Rectangle 10258"/>
          <p:cNvSpPr/>
          <p:nvPr/>
        </p:nvSpPr>
        <p:spPr>
          <a:xfrm>
            <a:off x="7178040" y="6217920"/>
            <a:ext cx="5897880" cy="56692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5  Crowd Simulator</a:t>
            </a:r>
          </a:p>
        </p:txBody>
      </p:sp>
      <p:sp>
        <p:nvSpPr>
          <p:cNvPr id="10260" name="Rectangle 10259"/>
          <p:cNvSpPr/>
          <p:nvPr/>
        </p:nvSpPr>
        <p:spPr>
          <a:xfrm>
            <a:off x="71780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What happens to a mandi's price when 200 farmers follow the same advice; coordinated split.</a:t>
            </a:r>
          </a:p>
          <a:p>
            <a:pPr algn="l"/>
            <a:r>
              <a:rPr sz="2700" b="0" i="0">
                <a:solidFill>
                  <a:srgbClr val="1F2A44"/>
                </a:solidFill>
                <a:latin typeface="Calibri"/>
              </a:rPr>
              <a:t>Trader desk · /crowd</a:t>
            </a:r>
          </a:p>
        </p:txBody>
      </p:sp>
      <p:sp>
        <p:nvSpPr>
          <p:cNvPr id="10261" name="Rectangle 10260"/>
          <p:cNvSpPr/>
          <p:nvPr/>
        </p:nvSpPr>
        <p:spPr>
          <a:xfrm>
            <a:off x="13350240" y="6217920"/>
            <a:ext cx="5897880" cy="56692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r>
              <a:rPr sz="2400" b="1" i="0">
                <a:solidFill>
                  <a:srgbClr val="FFFFFF"/>
                </a:solidFill>
                <a:latin typeface="Calibri"/>
              </a:rPr>
              <a:t>6  Daily digest</a:t>
            </a:r>
          </a:p>
        </p:txBody>
      </p:sp>
      <p:sp>
        <p:nvSpPr>
          <p:cNvPr id="10262" name="Rectangle 10261"/>
          <p:cNvSpPr/>
          <p:nvPr/>
        </p:nvSpPr>
        <p:spPr>
          <a:xfrm>
            <a:off x="13350240" y="6784848"/>
            <a:ext cx="5897880" cy="3547872"/>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r>
              <a:rPr sz="2700" b="0" i="0">
                <a:solidFill>
                  <a:srgbClr val="1F2A44"/>
                </a:solidFill>
                <a:latin typeface="Calibri"/>
              </a:rPr>
              <a:t>A dated morning message with advice only where evidence is strong.</a:t>
            </a:r>
          </a:p>
          <a:p>
            <a:pPr algn="l"/>
            <a:r>
              <a:rPr sz="2700" b="0" i="0">
                <a:solidFill>
                  <a:srgbClr val="1F2A44"/>
                </a:solidFill>
                <a:latin typeface="Calibri"/>
              </a:rPr>
              <a:t>Telegram bot · /v1/notify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Live Demonstration (2/2): Trader Desk and Telegram</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18105120" cy="7315200"/>
        </p:xfrm>
        <a:graphic>
          <a:graphicData uri="http://schemas.openxmlformats.org/drawingml/2006/table">
            <a:tbl>
              <a:tblPr firstRow="1" bandRow="1">
                <a:tableStyleId>{5C22544A-7EE6-4342-B048-85BDC9FD1C3A}</a:tableStyleId>
              </a:tblPr>
              <a:tblGrid>
                <a:gridCol w="822960"/>
                <a:gridCol w="7498080"/>
                <a:gridCol w="9784080"/>
              </a:tblGrid>
              <a:tr h="914400">
                <a:tc>
                  <a:txBody>
                    <a:bodyPr wrap="square"/>
                    <a:lstStyle/>
                    <a:p>
                      <a:pPr algn="ctr"/>
                      <a:r>
                        <a:rPr sz="2100" b="1">
                          <a:solidFill>
                            <a:srgbClr val="FFFFFF"/>
                          </a:solidFill>
                          <a:latin typeface="Calibri"/>
                        </a:rPr>
                        <a:t>Step</a:t>
                      </a:r>
                    </a:p>
                  </a:txBody>
                  <a:tcPr marL="73152" marR="73152" marT="27432" marB="27432" anchor="ctr">
                    <a:solidFill>
                      <a:srgbClr val="1F4E79"/>
                    </a:solidFill>
                  </a:tcPr>
                </a:tc>
                <a:tc>
                  <a:txBody>
                    <a:bodyPr wrap="square"/>
                    <a:lstStyle/>
                    <a:p>
                      <a:pPr algn="ctr"/>
                      <a:r>
                        <a:rPr sz="2100" b="1">
                          <a:solidFill>
                            <a:srgbClr val="FFFFFF"/>
                          </a:solidFill>
                          <a:latin typeface="Calibri"/>
                        </a:rPr>
                        <a:t>Do</a:t>
                      </a:r>
                    </a:p>
                  </a:txBody>
                  <a:tcPr marL="73152" marR="73152" marT="27432" marB="27432" anchor="ctr">
                    <a:solidFill>
                      <a:srgbClr val="1F4E79"/>
                    </a:solidFill>
                  </a:tcPr>
                </a:tc>
                <a:tc>
                  <a:txBody>
                    <a:bodyPr wrap="square"/>
                    <a:lstStyle/>
                    <a:p>
                      <a:pPr algn="ctr"/>
                      <a:r>
                        <a:rPr sz="2100" b="1">
                          <a:solidFill>
                            <a:srgbClr val="FFFFFF"/>
                          </a:solidFill>
                          <a:latin typeface="Calibri"/>
                        </a:rPr>
                        <a:t>You will see</a:t>
                      </a:r>
                    </a:p>
                  </a:txBody>
                  <a:tcPr marL="73152" marR="73152" marT="27432" marB="27432" anchor="ctr">
                    <a:solidFill>
                      <a:srgbClr val="1F4E79"/>
                    </a:solidFill>
                  </a:tcPr>
                </a:tc>
              </a:tr>
              <a:tr h="914400">
                <a:tc>
                  <a:txBody>
                    <a:bodyPr wrap="square"/>
                    <a:lstStyle/>
                    <a:p>
                      <a:pPr algn="l"/>
                      <a:r>
                        <a:rPr sz="2100" b="1">
                          <a:solidFill>
                            <a:srgbClr val="1F2A44"/>
                          </a:solidFill>
                          <a:latin typeface="Calibri"/>
                        </a:rPr>
                        <a:t>B1</a:t>
                      </a:r>
                    </a:p>
                  </a:txBody>
                  <a:tcPr marL="73152" marR="73152" marT="27432" marB="27432" anchor="ctr">
                    <a:solidFill>
                      <a:srgbClr val="FFFFFF"/>
                    </a:solidFill>
                  </a:tcPr>
                </a:tc>
                <a:tc>
                  <a:txBody>
                    <a:bodyPr wrap="square"/>
                    <a:lstStyle/>
                    <a:p>
                      <a:pPr algn="l"/>
                      <a:r>
                        <a:rPr sz="2100" b="0">
                          <a:solidFill>
                            <a:srgbClr val="1F2A44"/>
                          </a:solidFill>
                          <a:latin typeface="Calibri"/>
                        </a:rPr>
                        <a:t>Trader tools → Silence Tax (tomato)</a:t>
                      </a:r>
                    </a:p>
                  </a:txBody>
                  <a:tcPr marL="73152" marR="73152" marT="27432" marB="27432" anchor="ctr">
                    <a:solidFill>
                      <a:srgbClr val="FFFFFF"/>
                    </a:solidFill>
                  </a:tcPr>
                </a:tc>
                <a:tc>
                  <a:txBody>
                    <a:bodyPr wrap="square"/>
                    <a:lstStyle/>
                    <a:p>
                      <a:pPr algn="l"/>
                      <a:r>
                        <a:rPr sz="2100" b="0">
                          <a:solidFill>
                            <a:srgbClr val="1F2A44"/>
                          </a:solidFill>
                          <a:latin typeface="Calibri"/>
                        </a:rPr>
                        <a:t>Kanakapura ₹313 (16.5%); Chikkaballapur closed Thursdays; Kolar ₹0 ≠ reliable</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B2</a:t>
                      </a:r>
                    </a:p>
                  </a:txBody>
                  <a:tcPr marL="73152" marR="73152" marT="27432" marB="27432" anchor="ctr">
                    <a:solidFill>
                      <a:srgbClr val="F1F7FB"/>
                    </a:solidFill>
                  </a:tcPr>
                </a:tc>
                <a:tc>
                  <a:txBody>
                    <a:bodyPr wrap="square"/>
                    <a:lstStyle/>
                    <a:p>
                      <a:pPr algn="l"/>
                      <a:r>
                        <a:rPr sz="2100" b="0">
                          <a:solidFill>
                            <a:srgbClr val="1F2A44"/>
                          </a:solidFill>
                          <a:latin typeface="Calibri"/>
                        </a:rPr>
                        <a:t>Crowd Simulator: 200 farmers × 10 q</a:t>
                      </a:r>
                    </a:p>
                  </a:txBody>
                  <a:tcPr marL="73152" marR="73152" marT="27432" marB="27432" anchor="ctr">
                    <a:solidFill>
                      <a:srgbClr val="F1F7FB"/>
                    </a:solidFill>
                  </a:tcPr>
                </a:tc>
                <a:tc>
                  <a:txBody>
                    <a:bodyPr wrap="square"/>
                    <a:lstStyle/>
                    <a:p>
                      <a:pPr algn="l"/>
                      <a:r>
                        <a:rPr sz="2100" b="0">
                          <a:solidFill>
                            <a:srgbClr val="1F2A44"/>
                          </a:solidFill>
                          <a:latin typeface="Calibri"/>
                        </a:rPr>
                        <a:t>Alone ₹1,824 · all follow best ₹1,194 (−32.5%) · nearest ₹1,207 · coordinated ₹1,436</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B3</a:t>
                      </a:r>
                    </a:p>
                  </a:txBody>
                  <a:tcPr marL="73152" marR="73152" marT="27432" marB="27432" anchor="ctr">
                    <a:solidFill>
                      <a:srgbClr val="FFFFFF"/>
                    </a:solidFill>
                  </a:tcPr>
                </a:tc>
                <a:tc>
                  <a:txBody>
                    <a:bodyPr wrap="square"/>
                    <a:lstStyle/>
                    <a:p>
                      <a:pPr algn="l"/>
                      <a:r>
                        <a:rPr sz="2100" b="0">
                          <a:solidFill>
                            <a:srgbClr val="1F2A44"/>
                          </a:solidFill>
                          <a:latin typeface="Calibri"/>
                        </a:rPr>
                        <a:t>Drag farmers to 1; flexibility b to 0</a:t>
                      </a:r>
                    </a:p>
                  </a:txBody>
                  <a:tcPr marL="73152" marR="73152" marT="27432" marB="27432" anchor="ctr">
                    <a:solidFill>
                      <a:srgbClr val="FFFFFF"/>
                    </a:solidFill>
                  </a:tcPr>
                </a:tc>
                <a:tc>
                  <a:txBody>
                    <a:bodyPr wrap="square"/>
                    <a:lstStyle/>
                    <a:p>
                      <a:pPr algn="l"/>
                      <a:r>
                        <a:rPr sz="2100" b="0">
                          <a:solidFill>
                            <a:srgbClr val="1F2A44"/>
                          </a:solidFill>
                          <a:latin typeface="Calibri"/>
                        </a:rPr>
                        <a:t>All policies equal: the assumption is explicit</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C1</a:t>
                      </a:r>
                    </a:p>
                  </a:txBody>
                  <a:tcPr marL="73152" marR="73152" marT="27432" marB="27432" anchor="ctr">
                    <a:solidFill>
                      <a:srgbClr val="F1F7FB"/>
                    </a:solidFill>
                  </a:tcPr>
                </a:tc>
                <a:tc>
                  <a:txBody>
                    <a:bodyPr wrap="square"/>
                    <a:lstStyle/>
                    <a:p>
                      <a:pPr algn="l"/>
                      <a:r>
                        <a:rPr sz="2100" b="0">
                          <a:solidFill>
                            <a:srgbClr val="1F2A44"/>
                          </a:solidFill>
                          <a:latin typeface="Calibri"/>
                        </a:rPr>
                        <a:t>Phone: @MandiAis_BOT → /today</a:t>
                      </a:r>
                    </a:p>
                  </a:txBody>
                  <a:tcPr marL="73152" marR="73152" marT="27432" marB="27432" anchor="ctr">
                    <a:solidFill>
                      <a:srgbClr val="F1F7FB"/>
                    </a:solidFill>
                  </a:tcPr>
                </a:tc>
                <a:tc>
                  <a:txBody>
                    <a:bodyPr wrap="square"/>
                    <a:lstStyle/>
                    <a:p>
                      <a:pPr algn="l"/>
                      <a:r>
                        <a:rPr sz="2100" b="0">
                          <a:solidFill>
                            <a:srgbClr val="1F2A44"/>
                          </a:solidFill>
                          <a:latin typeface="Calibri"/>
                        </a:rPr>
                        <a:t>Dated digest: Ramanagara, ₹1,824, floor ₹1,316; potato prices only</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C2</a:t>
                      </a:r>
                    </a:p>
                  </a:txBody>
                  <a:tcPr marL="73152" marR="73152" marT="27432" marB="27432" anchor="ctr">
                    <a:solidFill>
                      <a:srgbClr val="FFFFFF"/>
                    </a:solidFill>
                  </a:tcPr>
                </a:tc>
                <a:tc>
                  <a:txBody>
                    <a:bodyPr wrap="square"/>
                    <a:lstStyle/>
                    <a:p>
                      <a:pPr algn="l"/>
                      <a:r>
                        <a:rPr sz="2100" b="0">
                          <a:solidFill>
                            <a:srgbClr val="1F2A44"/>
                          </a:solidFill>
                          <a:latin typeface="Calibri"/>
                        </a:rPr>
                        <a:t>Send “onion chintamani”</a:t>
                      </a:r>
                    </a:p>
                  </a:txBody>
                  <a:tcPr marL="73152" marR="73152" marT="27432" marB="27432" anchor="ctr">
                    <a:solidFill>
                      <a:srgbClr val="FFFFFF"/>
                    </a:solidFill>
                  </a:tcPr>
                </a:tc>
                <a:tc>
                  <a:txBody>
                    <a:bodyPr wrap="square"/>
                    <a:lstStyle/>
                    <a:p>
                      <a:pPr algn="l"/>
                      <a:r>
                        <a:rPr sz="2100" b="0">
                          <a:solidFill>
                            <a:srgbClr val="1F2A44"/>
                          </a:solidFill>
                          <a:latin typeface="Calibri"/>
                        </a:rPr>
                        <a:t>Digest for that crop and place</a:t>
                      </a:r>
                    </a:p>
                  </a:txBody>
                  <a:tcPr marL="73152" marR="73152" marT="27432" marB="27432" anchor="ctr">
                    <a:solidFill>
                      <a:srgbClr val="FFFFFF"/>
                    </a:solidFill>
                  </a:tcPr>
                </a:tc>
              </a:tr>
              <a:tr h="914400">
                <a:tc>
                  <a:txBody>
                    <a:bodyPr wrap="square"/>
                    <a:lstStyle/>
                    <a:p>
                      <a:pPr algn="l"/>
                      <a:r>
                        <a:rPr sz="2100" b="1">
                          <a:solidFill>
                            <a:srgbClr val="1F2A44"/>
                          </a:solidFill>
                          <a:latin typeface="Calibri"/>
                        </a:rPr>
                        <a:t>C3</a:t>
                      </a:r>
                    </a:p>
                  </a:txBody>
                  <a:tcPr marL="73152" marR="73152" marT="27432" marB="27432" anchor="ctr">
                    <a:solidFill>
                      <a:srgbClr val="F1F7FB"/>
                    </a:solidFill>
                  </a:tcPr>
                </a:tc>
                <a:tc>
                  <a:txBody>
                    <a:bodyPr wrap="square"/>
                    <a:lstStyle/>
                    <a:p>
                      <a:pPr algn="l"/>
                      <a:r>
                        <a:rPr sz="2100" b="0">
                          <a:solidFill>
                            <a:srgbClr val="1F2A44"/>
                          </a:solidFill>
                          <a:latin typeface="Calibri"/>
                        </a:rPr>
                        <a:t>Run send_daily_digest.py (the 7 am job)</a:t>
                      </a:r>
                    </a:p>
                  </a:txBody>
                  <a:tcPr marL="73152" marR="73152" marT="27432" marB="27432" anchor="ctr">
                    <a:solidFill>
                      <a:srgbClr val="F1F7FB"/>
                    </a:solidFill>
                  </a:tcPr>
                </a:tc>
                <a:tc>
                  <a:txBody>
                    <a:bodyPr wrap="square"/>
                    <a:lstStyle/>
                    <a:p>
                      <a:pPr algn="l"/>
                      <a:r>
                        <a:rPr sz="2100" b="0">
                          <a:solidFill>
                            <a:srgbClr val="1F2A44"/>
                          </a:solidFill>
                          <a:latin typeface="Calibri"/>
                        </a:rPr>
                        <a:t>Phone buzzes; log line shows sent</a:t>
                      </a:r>
                    </a:p>
                  </a:txBody>
                  <a:tcPr marL="73152" marR="73152" marT="27432" marB="27432" anchor="ctr">
                    <a:solidFill>
                      <a:srgbClr val="F1F7FB"/>
                    </a:solidFill>
                  </a:tcPr>
                </a:tc>
              </a:tr>
              <a:tr h="914400">
                <a:tc>
                  <a:txBody>
                    <a:bodyPr wrap="square"/>
                    <a:lstStyle/>
                    <a:p>
                      <a:pPr algn="l"/>
                      <a:r>
                        <a:rPr sz="2100" b="1">
                          <a:solidFill>
                            <a:srgbClr val="1F2A44"/>
                          </a:solidFill>
                          <a:latin typeface="Calibri"/>
                        </a:rPr>
                        <a:t>D1</a:t>
                      </a:r>
                    </a:p>
                  </a:txBody>
                  <a:tcPr marL="73152" marR="73152" marT="27432" marB="27432" anchor="ctr">
                    <a:solidFill>
                      <a:srgbClr val="FFFFFF"/>
                    </a:solidFill>
                  </a:tcPr>
                </a:tc>
                <a:tc>
                  <a:txBody>
                    <a:bodyPr wrap="square"/>
                    <a:lstStyle/>
                    <a:p>
                      <a:pPr algn="l"/>
                      <a:r>
                        <a:rPr sz="2100" b="0">
                          <a:solidFill>
                            <a:srgbClr val="1F2A44"/>
                          </a:solidFill>
                          <a:latin typeface="Calibri"/>
                        </a:rPr>
                        <a:t>Optional: API docs</a:t>
                      </a:r>
                    </a:p>
                  </a:txBody>
                  <a:tcPr marL="73152" marR="73152" marT="27432" marB="27432" anchor="ctr">
                    <a:solidFill>
                      <a:srgbClr val="FFFFFF"/>
                    </a:solidFill>
                  </a:tcPr>
                </a:tc>
                <a:tc>
                  <a:txBody>
                    <a:bodyPr wrap="square"/>
                    <a:lstStyle/>
                    <a:p>
                      <a:pPr algn="l"/>
                      <a:r>
                        <a:rPr sz="2100" b="0">
                          <a:solidFill>
                            <a:srgbClr val="1F2A44"/>
                          </a:solidFill>
                          <a:latin typeface="Calibri"/>
                        </a:rPr>
                        <a:t>Five insight endpoints + notify routes</a:t>
                      </a:r>
                    </a:p>
                  </a:txBody>
                  <a:tcPr marL="73152" marR="73152" marT="27432" marB="27432" anchor="ctr">
                    <a:solidFill>
                      <a:srgbClr val="FFFFFF"/>
                    </a:solidFill>
                  </a:tcPr>
                </a:tc>
              </a:tr>
            </a:tbl>
          </a:graphicData>
        </a:graphic>
      </p:graphicFrame>
      <p:sp>
        <p:nvSpPr>
          <p:cNvPr id="10252" name="TextBox 10251"/>
          <p:cNvSpPr txBox="1"/>
          <p:nvPr/>
        </p:nvSpPr>
        <p:spPr>
          <a:xfrm>
            <a:off x="1005840" y="9326880"/>
            <a:ext cx="18105120" cy="1005840"/>
          </a:xfrm>
          <a:prstGeom prst="rect">
            <a:avLst/>
          </a:prstGeom>
          <a:noFill/>
        </p:spPr>
        <p:txBody>
          <a:bodyPr wrap="square" anchor="t" lIns="73152" rIns="73152" tIns="36576" bIns="36576">
            <a:spAutoFit/>
          </a:bodyPr>
          <a:lstStyle/>
          <a:p>
            <a:pPr algn="l"/>
            <a:r>
              <a:rPr sz="2200" b="0" i="1">
                <a:solidFill>
                  <a:srgbClr val="5F6B7A"/>
                </a:solidFill>
                <a:latin typeface="Calibri"/>
              </a:rPr>
              <a:t>Fallback if the network is down: the digest builder runs offline (--dry-run); every screen also appears as a real screenshot on the results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Explaining the Advice: Why This Mandi, What If</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ins_farmer_why.png"/>
          <p:cNvPicPr>
            <a:picLocks noChangeAspect="1"/>
          </p:cNvPicPr>
          <p:nvPr/>
        </p:nvPicPr>
        <p:blipFill>
          <a:blip r:embed="rId3"/>
          <a:stretch>
            <a:fillRect/>
          </a:stretch>
        </p:blipFill>
        <p:spPr>
          <a:xfrm>
            <a:off x="1005840" y="1645920"/>
            <a:ext cx="6309360" cy="7384819"/>
          </a:xfrm>
          <a:prstGeom prst="rect">
            <a:avLst/>
          </a:prstGeom>
        </p:spPr>
      </p:pic>
      <p:pic>
        <p:nvPicPr>
          <p:cNvPr id="10252" name="Picture 10251" descr="ins_farmer_whatif.png"/>
          <p:cNvPicPr>
            <a:picLocks noChangeAspect="1"/>
          </p:cNvPicPr>
          <p:nvPr/>
        </p:nvPicPr>
        <p:blipFill>
          <a:blip r:embed="rId4"/>
          <a:stretch>
            <a:fillRect/>
          </a:stretch>
        </p:blipFill>
        <p:spPr>
          <a:xfrm>
            <a:off x="7589520" y="1645920"/>
            <a:ext cx="6309360" cy="7621420"/>
          </a:xfrm>
          <a:prstGeom prst="rect">
            <a:avLst/>
          </a:prstGeom>
        </p:spPr>
      </p:pic>
      <p:sp>
        <p:nvSpPr>
          <p:cNvPr id="10253" name="Rectangle 10252"/>
          <p:cNvSpPr/>
          <p:nvPr/>
        </p:nvSpPr>
        <p:spPr>
          <a:xfrm>
            <a:off x="14173200" y="1645920"/>
            <a:ext cx="4937760" cy="8138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100" b="1" i="0">
                <a:solidFill>
                  <a:srgbClr val="1F2A44"/>
                </a:solidFill>
                <a:latin typeface="Calibri"/>
              </a:rPr>
              <a:t>Parts add up. </a:t>
            </a:r>
            <a:r>
              <a:rPr sz="2100" b="0" i="0">
                <a:solidFill>
                  <a:srgbClr val="1F2A44"/>
                </a:solidFill>
                <a:latin typeface="Calibri"/>
              </a:rPr>
              <a:t>₹2,081 − 83 − 60 − 94 − 20 = ₹1,824; nearest mandi keeps ₹1,232.</a:t>
            </a:r>
          </a:p>
          <a:p>
            <a:pPr algn="l"/>
            <a:r>
              <a:rPr sz="2100" b="1" i="0">
                <a:solidFill>
                  <a:srgbClr val="1F2A44"/>
                </a:solidFill>
                <a:latin typeface="Calibri"/>
              </a:rPr>
              <a:t>Why it wins. </a:t>
            </a:r>
            <a:r>
              <a:rPr sz="2100" b="0" i="0">
                <a:solidFill>
                  <a:srgbClr val="1F2A44"/>
                </a:solidFill>
                <a:latin typeface="Calibri"/>
              </a:rPr>
              <a:t>Expected price is ₹776 higher; extra transport ₹94 and spoilage ₹60 do not cancel it.</a:t>
            </a:r>
          </a:p>
          <a:p>
            <a:pPr algn="l"/>
            <a:r>
              <a:rPr sz="2100" b="1" i="0">
                <a:solidFill>
                  <a:srgbClr val="1F2A44"/>
                </a:solidFill>
                <a:latin typeface="Calibri"/>
              </a:rPr>
              <a:t>Robust to the truck. </a:t>
            </a:r>
            <a:r>
              <a:rPr sz="2100" b="0" i="0">
                <a:solidFill>
                  <a:srgbClr val="1F2A44"/>
                </a:solidFill>
                <a:latin typeface="Calibri"/>
              </a:rPr>
              <a:t>Transport up to ₹3.00 per q-km: same advice (net ₹1,515).</a:t>
            </a:r>
          </a:p>
          <a:p>
            <a:pPr algn="l"/>
            <a:r>
              <a:rPr sz="2100" b="1" i="0">
                <a:solidFill>
                  <a:srgbClr val="1F2A44"/>
                </a:solidFill>
                <a:latin typeface="Calibri"/>
              </a:rPr>
              <a:t>Sensitive to shelf life. </a:t>
            </a:r>
            <a:r>
              <a:rPr sz="2100" b="0" i="0">
                <a:solidFill>
                  <a:srgbClr val="1F2A44"/>
                </a:solidFill>
                <a:latin typeface="Calibri"/>
              </a:rPr>
              <a:t>At 5.0% spoilage a day, or no waiting: Ramanagara today, ₹1,789.</a:t>
            </a:r>
          </a:p>
          <a:p>
            <a:pPr algn="l"/>
            <a:r>
              <a:rPr sz="2100" b="1" i="0">
                <a:solidFill>
                  <a:srgbClr val="1F2A44"/>
                </a:solidFill>
                <a:latin typeface="Calibri"/>
              </a:rPr>
              <a:t>Floor is indicative </a:t>
            </a:r>
            <a:r>
              <a:rPr sz="2100" b="0" i="0">
                <a:solidFill>
                  <a:srgbClr val="1F2A44"/>
                </a:solidFill>
                <a:latin typeface="Calibri"/>
              </a:rPr>
              <a:t>when costs are far from the defaults; the screen says so.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Public Track Record on Days the Advice Had Not Seen</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Table 10250"/>
          <p:cNvGraphicFramePr>
            <a:graphicFrameLocks noGrp="1"/>
          </p:cNvGraphicFramePr>
          <p:nvPr/>
        </p:nvGraphicFramePr>
        <p:xfrm>
          <a:off x="1005840" y="1737360"/>
          <a:ext cx="8961118" cy="3657600"/>
        </p:xfrm>
        <a:graphic>
          <a:graphicData uri="http://schemas.openxmlformats.org/drawingml/2006/table">
            <a:tbl>
              <a:tblPr firstRow="1" bandRow="1">
                <a:tableStyleId>{5C22544A-7EE6-4342-B048-85BDC9FD1C3A}</a:tableStyleId>
              </a:tblPr>
              <a:tblGrid>
                <a:gridCol w="1357745"/>
                <a:gridCol w="2896523"/>
                <a:gridCol w="3258589"/>
                <a:gridCol w="1448261"/>
              </a:tblGrid>
              <a:tr h="731520">
                <a:tc>
                  <a:txBody>
                    <a:bodyPr wrap="square"/>
                    <a:lstStyle/>
                    <a:p>
                      <a:pPr algn="ctr"/>
                      <a:r>
                        <a:rPr sz="1700" b="1">
                          <a:solidFill>
                            <a:srgbClr val="FFFFFF"/>
                          </a:solidFill>
                          <a:latin typeface="Calibri"/>
                        </a:rPr>
                        <a:t>Crop</a:t>
                      </a:r>
                    </a:p>
                  </a:txBody>
                  <a:tcPr marL="73152" marR="73152" marT="27432" marB="27432" anchor="ctr">
                    <a:solidFill>
                      <a:srgbClr val="1F4E79"/>
                    </a:solidFill>
                  </a:tcPr>
                </a:tc>
                <a:tc>
                  <a:txBody>
                    <a:bodyPr wrap="square"/>
                    <a:lstStyle/>
                    <a:p>
                      <a:pPr algn="ctr"/>
                      <a:r>
                        <a:rPr sz="1700" b="1">
                          <a:solidFill>
                            <a:srgbClr val="FFFFFF"/>
                          </a:solidFill>
                          <a:latin typeface="Calibri"/>
                        </a:rPr>
                        <a:t>vs nearest: win / tie / loss</a:t>
                      </a:r>
                    </a:p>
                  </a:txBody>
                  <a:tcPr marL="73152" marR="73152" marT="27432" marB="27432" anchor="ctr">
                    <a:solidFill>
                      <a:srgbClr val="1F4E79"/>
                    </a:solidFill>
                  </a:tcPr>
                </a:tc>
                <a:tc>
                  <a:txBody>
                    <a:bodyPr wrap="square"/>
                    <a:lstStyle/>
                    <a:p>
                      <a:pPr algn="ctr"/>
                      <a:r>
                        <a:rPr sz="1700" b="1">
                          <a:solidFill>
                            <a:srgbClr val="FFFFFF"/>
                          </a:solidFill>
                          <a:latin typeface="Calibri"/>
                        </a:rPr>
                        <a:t>vs yesterday's best: win / tie / loss</a:t>
                      </a:r>
                    </a:p>
                  </a:txBody>
                  <a:tcPr marL="73152" marR="73152" marT="27432" marB="27432" anchor="ctr">
                    <a:solidFill>
                      <a:srgbClr val="1F4E79"/>
                    </a:solidFill>
                  </a:tcPr>
                </a:tc>
                <a:tc>
                  <a:txBody>
                    <a:bodyPr wrap="square"/>
                    <a:lstStyle/>
                    <a:p>
                      <a:pPr algn="ctr"/>
                      <a:r>
                        <a:rPr sz="1700" b="1">
                          <a:solidFill>
                            <a:srgbClr val="FFFFFF"/>
                          </a:solidFill>
                          <a:latin typeface="Calibri"/>
                        </a:rPr>
                        <a:t>Floor held</a:t>
                      </a:r>
                    </a:p>
                  </a:txBody>
                  <a:tcPr marL="73152" marR="73152" marT="27432" marB="27432" anchor="ctr">
                    <a:solidFill>
                      <a:srgbClr val="1F4E79"/>
                    </a:solidFill>
                  </a:tcPr>
                </a:tc>
              </a:tr>
              <a:tr h="731520">
                <a:tc>
                  <a:txBody>
                    <a:bodyPr wrap="square"/>
                    <a:lstStyle/>
                    <a:p>
                      <a:pPr algn="l"/>
                      <a:r>
                        <a:rPr sz="1800" b="0">
                          <a:solidFill>
                            <a:srgbClr val="1F2A44"/>
                          </a:solidFill>
                          <a:latin typeface="Calibri"/>
                        </a:rPr>
                        <a:t>Tomato</a:t>
                      </a:r>
                    </a:p>
                  </a:txBody>
                  <a:tcPr marL="73152" marR="73152" marT="27432" marB="27432" anchor="ctr">
                    <a:solidFill>
                      <a:srgbClr val="FFFFFF"/>
                    </a:solidFill>
                  </a:tcPr>
                </a:tc>
                <a:tc>
                  <a:txBody>
                    <a:bodyPr wrap="square"/>
                    <a:lstStyle/>
                    <a:p>
                      <a:pPr algn="ctr"/>
                      <a:r>
                        <a:rPr sz="1800" b="0">
                          <a:solidFill>
                            <a:srgbClr val="1F2A44"/>
                          </a:solidFill>
                          <a:latin typeface="Calibri"/>
                        </a:rPr>
                        <a:t>93 / 0 / 7 %</a:t>
                      </a:r>
                    </a:p>
                  </a:txBody>
                  <a:tcPr marL="73152" marR="73152" marT="27432" marB="27432" anchor="ctr">
                    <a:solidFill>
                      <a:srgbClr val="FFFFFF"/>
                    </a:solidFill>
                  </a:tcPr>
                </a:tc>
                <a:tc>
                  <a:txBody>
                    <a:bodyPr wrap="square"/>
                    <a:lstStyle/>
                    <a:p>
                      <a:pPr algn="ctr"/>
                      <a:r>
                        <a:rPr sz="1800" b="0">
                          <a:solidFill>
                            <a:srgbClr val="1F2A44"/>
                          </a:solidFill>
                          <a:latin typeface="Calibri"/>
                        </a:rPr>
                        <a:t>24 / 68 / 8 %</a:t>
                      </a:r>
                    </a:p>
                  </a:txBody>
                  <a:tcPr marL="73152" marR="73152" marT="27432" marB="27432" anchor="ctr">
                    <a:solidFill>
                      <a:srgbClr val="FFFFFF"/>
                    </a:solidFill>
                  </a:tcPr>
                </a:tc>
                <a:tc>
                  <a:txBody>
                    <a:bodyPr wrap="square"/>
                    <a:lstStyle/>
                    <a:p>
                      <a:pPr algn="ctr"/>
                      <a:r>
                        <a:rPr sz="1800" b="0">
                          <a:solidFill>
                            <a:srgbClr val="D9822B"/>
                          </a:solidFill>
                          <a:latin typeface="Calibri"/>
                        </a:rPr>
                        <a:t>84%</a:t>
                      </a:r>
                    </a:p>
                  </a:txBody>
                  <a:tcPr marL="73152" marR="73152" marT="27432" marB="27432" anchor="ctr">
                    <a:solidFill>
                      <a:srgbClr val="FFFFFF"/>
                    </a:solidFill>
                  </a:tcPr>
                </a:tc>
              </a:tr>
              <a:tr h="731520">
                <a:tc>
                  <a:txBody>
                    <a:bodyPr wrap="square"/>
                    <a:lstStyle/>
                    <a:p>
                      <a:pPr algn="l"/>
                      <a:r>
                        <a:rPr sz="1800" b="0">
                          <a:solidFill>
                            <a:srgbClr val="1F2A44"/>
                          </a:solidFill>
                          <a:latin typeface="Calibri"/>
                        </a:rPr>
                        <a:t>Onion</a:t>
                      </a:r>
                    </a:p>
                  </a:txBody>
                  <a:tcPr marL="73152" marR="73152" marT="27432" marB="27432" anchor="ctr">
                    <a:solidFill>
                      <a:srgbClr val="F1F7FB"/>
                    </a:solidFill>
                  </a:tcPr>
                </a:tc>
                <a:tc>
                  <a:txBody>
                    <a:bodyPr wrap="square"/>
                    <a:lstStyle/>
                    <a:p>
                      <a:pPr algn="ctr"/>
                      <a:r>
                        <a:rPr sz="1800" b="0">
                          <a:solidFill>
                            <a:srgbClr val="1F2A44"/>
                          </a:solidFill>
                          <a:latin typeface="Calibri"/>
                        </a:rPr>
                        <a:t>82 / 0 / 18 %</a:t>
                      </a:r>
                    </a:p>
                  </a:txBody>
                  <a:tcPr marL="73152" marR="73152" marT="27432" marB="27432" anchor="ctr">
                    <a:solidFill>
                      <a:srgbClr val="F1F7FB"/>
                    </a:solidFill>
                  </a:tcPr>
                </a:tc>
                <a:tc>
                  <a:txBody>
                    <a:bodyPr wrap="square"/>
                    <a:lstStyle/>
                    <a:p>
                      <a:pPr algn="ctr"/>
                      <a:r>
                        <a:rPr sz="1800" b="0">
                          <a:solidFill>
                            <a:srgbClr val="1F2A44"/>
                          </a:solidFill>
                          <a:latin typeface="Calibri"/>
                        </a:rPr>
                        <a:t>34 / 39 / 27 %</a:t>
                      </a:r>
                    </a:p>
                  </a:txBody>
                  <a:tcPr marL="73152" marR="73152" marT="27432" marB="27432" anchor="ctr">
                    <a:solidFill>
                      <a:srgbClr val="F1F7FB"/>
                    </a:solidFill>
                  </a:tcPr>
                </a:tc>
                <a:tc>
                  <a:txBody>
                    <a:bodyPr wrap="square"/>
                    <a:lstStyle/>
                    <a:p>
                      <a:pPr algn="ctr"/>
                      <a:r>
                        <a:rPr sz="1800" b="0">
                          <a:solidFill>
                            <a:srgbClr val="D9822B"/>
                          </a:solidFill>
                          <a:latin typeface="Calibri"/>
                        </a:rPr>
                        <a:t>89%</a:t>
                      </a:r>
                    </a:p>
                  </a:txBody>
                  <a:tcPr marL="73152" marR="73152" marT="27432" marB="27432" anchor="ctr">
                    <a:solidFill>
                      <a:srgbClr val="F1F7FB"/>
                    </a:solidFill>
                  </a:tcPr>
                </a:tc>
              </a:tr>
              <a:tr h="731520">
                <a:tc>
                  <a:txBody>
                    <a:bodyPr wrap="square"/>
                    <a:lstStyle/>
                    <a:p>
                      <a:pPr algn="l"/>
                      <a:r>
                        <a:rPr sz="1800" b="0">
                          <a:solidFill>
                            <a:srgbClr val="1F2A44"/>
                          </a:solidFill>
                          <a:latin typeface="Calibri"/>
                        </a:rPr>
                        <a:t>Potato</a:t>
                      </a:r>
                    </a:p>
                  </a:txBody>
                  <a:tcPr marL="73152" marR="73152" marT="27432" marB="27432" anchor="ctr">
                    <a:solidFill>
                      <a:srgbClr val="FFFFFF"/>
                    </a:solidFill>
                  </a:tcPr>
                </a:tc>
                <a:tc>
                  <a:txBody>
                    <a:bodyPr wrap="square"/>
                    <a:lstStyle/>
                    <a:p>
                      <a:pPr algn="ctr"/>
                      <a:r>
                        <a:rPr sz="1800" b="0">
                          <a:solidFill>
                            <a:srgbClr val="1F2A44"/>
                          </a:solidFill>
                          <a:latin typeface="Calibri"/>
                        </a:rPr>
                        <a:t>63 / 2 / 35 %</a:t>
                      </a:r>
                    </a:p>
                  </a:txBody>
                  <a:tcPr marL="73152" marR="73152" marT="27432" marB="27432" anchor="ctr">
                    <a:solidFill>
                      <a:srgbClr val="FFFFFF"/>
                    </a:solidFill>
                  </a:tcPr>
                </a:tc>
                <a:tc>
                  <a:txBody>
                    <a:bodyPr wrap="square"/>
                    <a:lstStyle/>
                    <a:p>
                      <a:pPr algn="ctr"/>
                      <a:r>
                        <a:rPr sz="1800" b="0">
                          <a:solidFill>
                            <a:srgbClr val="1F2A44"/>
                          </a:solidFill>
                          <a:latin typeface="Calibri"/>
                        </a:rPr>
                        <a:t>52 / 12 / 36 %</a:t>
                      </a:r>
                    </a:p>
                  </a:txBody>
                  <a:tcPr marL="73152" marR="73152" marT="27432" marB="27432" anchor="ctr">
                    <a:solidFill>
                      <a:srgbClr val="FFFFFF"/>
                    </a:solidFill>
                  </a:tcPr>
                </a:tc>
                <a:tc>
                  <a:txBody>
                    <a:bodyPr wrap="square"/>
                    <a:lstStyle/>
                    <a:p>
                      <a:pPr algn="ctr"/>
                      <a:r>
                        <a:rPr sz="1800" b="0">
                          <a:solidFill>
                            <a:srgbClr val="2E8B57"/>
                          </a:solidFill>
                          <a:latin typeface="Calibri"/>
                        </a:rPr>
                        <a:t>92%</a:t>
                      </a:r>
                    </a:p>
                  </a:txBody>
                  <a:tcPr marL="73152" marR="73152" marT="27432" marB="27432" anchor="ctr">
                    <a:solidFill>
                      <a:srgbClr val="FFFFFF"/>
                    </a:solidFill>
                  </a:tcPr>
                </a:tc>
              </a:tr>
              <a:tr h="731520">
                <a:tc>
                  <a:txBody>
                    <a:bodyPr wrap="square"/>
                    <a:lstStyle/>
                    <a:p>
                      <a:pPr algn="l"/>
                      <a:r>
                        <a:rPr sz="1800" b="0">
                          <a:solidFill>
                            <a:srgbClr val="1F2A44"/>
                          </a:solidFill>
                          <a:latin typeface="Calibri"/>
                        </a:rPr>
                        <a:t>Ginger</a:t>
                      </a:r>
                    </a:p>
                  </a:txBody>
                  <a:tcPr marL="73152" marR="73152" marT="27432" marB="27432" anchor="ctr">
                    <a:solidFill>
                      <a:srgbClr val="F1F7FB"/>
                    </a:solidFill>
                  </a:tcPr>
                </a:tc>
                <a:tc>
                  <a:txBody>
                    <a:bodyPr wrap="square"/>
                    <a:lstStyle/>
                    <a:p>
                      <a:pPr algn="ctr"/>
                      <a:r>
                        <a:rPr sz="1800" b="0">
                          <a:solidFill>
                            <a:srgbClr val="1F2A44"/>
                          </a:solidFill>
                          <a:latin typeface="Calibri"/>
                        </a:rPr>
                        <a:t>90 / 0 / 10 %</a:t>
                      </a:r>
                    </a:p>
                  </a:txBody>
                  <a:tcPr marL="73152" marR="73152" marT="27432" marB="27432" anchor="ctr">
                    <a:solidFill>
                      <a:srgbClr val="F1F7FB"/>
                    </a:solidFill>
                  </a:tcPr>
                </a:tc>
                <a:tc>
                  <a:txBody>
                    <a:bodyPr wrap="square"/>
                    <a:lstStyle/>
                    <a:p>
                      <a:pPr algn="ctr"/>
                      <a:r>
                        <a:rPr sz="1800" b="0">
                          <a:solidFill>
                            <a:srgbClr val="1F2A44"/>
                          </a:solidFill>
                          <a:latin typeface="Calibri"/>
                        </a:rPr>
                        <a:t>23 / 54 / 23 %</a:t>
                      </a:r>
                    </a:p>
                  </a:txBody>
                  <a:tcPr marL="73152" marR="73152" marT="27432" marB="27432" anchor="ctr">
                    <a:solidFill>
                      <a:srgbClr val="F1F7FB"/>
                    </a:solidFill>
                  </a:tcPr>
                </a:tc>
                <a:tc>
                  <a:txBody>
                    <a:bodyPr wrap="square"/>
                    <a:lstStyle/>
                    <a:p>
                      <a:pPr algn="ctr"/>
                      <a:r>
                        <a:rPr sz="1800" b="0">
                          <a:solidFill>
                            <a:srgbClr val="D9822B"/>
                          </a:solidFill>
                          <a:latin typeface="Calibri"/>
                        </a:rPr>
                        <a:t>86%</a:t>
                      </a:r>
                    </a:p>
                  </a:txBody>
                  <a:tcPr marL="73152" marR="73152" marT="27432" marB="27432" anchor="ctr">
                    <a:solidFill>
                      <a:srgbClr val="F1F7FB"/>
                    </a:solidFill>
                  </a:tcPr>
                </a:tc>
              </a:tr>
            </a:tbl>
          </a:graphicData>
        </a:graphic>
      </p:graphicFrame>
      <p:graphicFrame>
        <p:nvGraphicFramePr>
          <p:cNvPr id="10252" name="Chart 10251"/>
          <p:cNvGraphicFramePr>
            <a:graphicFrameLocks noGrp="1"/>
          </p:cNvGraphicFramePr>
          <p:nvPr/>
        </p:nvGraphicFramePr>
        <p:xfrm>
          <a:off x="10332720" y="1645920"/>
          <a:ext cx="8778240" cy="5486400"/>
        </p:xfrm>
        <a:graphic>
          <a:graphicData uri="http://schemas.openxmlformats.org/drawingml/2006/chart">
            <c:chart xmlns:c="http://schemas.openxmlformats.org/drawingml/2006/chart" r:id="rId3"/>
          </a:graphicData>
        </a:graphic>
      </p:graphicFrame>
      <p:sp>
        <p:nvSpPr>
          <p:cNvPr id="10253" name="Rectangle 10252"/>
          <p:cNvSpPr/>
          <p:nvPr/>
        </p:nvSpPr>
        <p:spPr>
          <a:xfrm>
            <a:off x="1005840" y="5760720"/>
            <a:ext cx="8961120" cy="246888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100" b="1" i="0">
                <a:solidFill>
                  <a:srgbClr val="1F2A44"/>
                </a:solidFill>
                <a:latin typeface="Calibri"/>
              </a:rPr>
              <a:t>The honest part. </a:t>
            </a:r>
            <a:r>
              <a:rPr sz="2100" b="0" i="0">
                <a:solidFill>
                  <a:srgbClr val="1F2A44"/>
                </a:solidFill>
                <a:latin typeface="Calibri"/>
              </a:rPr>
              <a:t>The floor, set to hold 9 days in 10, held on 84 / 89 / 92 / 86% of replayed days.</a:t>
            </a:r>
          </a:p>
          <a:p>
            <a:pPr algn="l"/>
            <a:r>
              <a:rPr sz="2100" b="1" i="0">
                <a:solidFill>
                  <a:srgbClr val="1F2A44"/>
                </a:solidFill>
                <a:latin typeface="Calibri"/>
              </a:rPr>
              <a:t>Why lower than the back-test: </a:t>
            </a:r>
            <a:r>
              <a:rPr sz="2100" b="0" i="0">
                <a:solidFill>
                  <a:srgbClr val="1F2A44"/>
                </a:solidFill>
                <a:latin typeface="Calibri"/>
              </a:rPr>
              <a:t>one multiplier fitted on half the window is the strictest of three evaluations (served rule violated 9.6–12.3%).</a:t>
            </a:r>
          </a:p>
        </p:txBody>
      </p:sp>
      <p:sp>
        <p:nvSpPr>
          <p:cNvPr id="10254" name="TextBox 10253"/>
          <p:cNvSpPr txBox="1"/>
          <p:nvPr/>
        </p:nvSpPr>
        <p:spPr>
          <a:xfrm>
            <a:off x="1005840" y="8549640"/>
            <a:ext cx="18288000" cy="1463040"/>
          </a:xfrm>
          <a:prstGeom prst="rect">
            <a:avLst/>
          </a:prstGeom>
          <a:noFill/>
        </p:spPr>
        <p:txBody>
          <a:bodyPr wrap="square" anchor="t" lIns="73152" rIns="73152" tIns="36576" bIns="36576">
            <a:spAutoFit/>
          </a:bodyPr>
          <a:lstStyle/>
          <a:p>
            <a:pPr algn="l"/>
            <a:r>
              <a:rPr sz="2000" b="0" i="1">
                <a:solidFill>
                  <a:srgbClr val="5F6B7A"/>
                </a:solidFill>
                <a:latin typeface="Calibri"/>
              </a:rPr>
              <a:t>165 out-of-sample days, 12 May to 23 Oct 2026. A tie is a difference of at most ₹1: against yesterday's highest price the advice often picks the same action, so most days tie.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Silence Tax: What an Unreliable Mandi Costs a Trip</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fig_silence.png"/>
          <p:cNvPicPr>
            <a:picLocks noChangeAspect="1"/>
          </p:cNvPicPr>
          <p:nvPr/>
        </p:nvPicPr>
        <p:blipFill>
          <a:blip r:embed="rId3"/>
          <a:stretch>
            <a:fillRect/>
          </a:stretch>
        </p:blipFill>
        <p:spPr>
          <a:xfrm>
            <a:off x="1005840" y="1645920"/>
            <a:ext cx="9326880" cy="4804756"/>
          </a:xfrm>
          <a:prstGeom prst="rect">
            <a:avLst/>
          </a:prstGeom>
        </p:spPr>
      </p:pic>
      <p:graphicFrame>
        <p:nvGraphicFramePr>
          <p:cNvPr id="10252" name="Table 10251"/>
          <p:cNvGraphicFramePr>
            <a:graphicFrameLocks noGrp="1"/>
          </p:cNvGraphicFramePr>
          <p:nvPr/>
        </p:nvGraphicFramePr>
        <p:xfrm>
          <a:off x="10607040" y="1645920"/>
          <a:ext cx="8503919" cy="5486400"/>
        </p:xfrm>
        <a:graphic>
          <a:graphicData uri="http://schemas.openxmlformats.org/drawingml/2006/table">
            <a:tbl>
              <a:tblPr firstRow="1" bandRow="1">
                <a:tableStyleId>{5C22544A-7EE6-4342-B048-85BDC9FD1C3A}</a:tableStyleId>
              </a:tblPr>
              <a:tblGrid>
                <a:gridCol w="1948815"/>
                <a:gridCol w="1328737"/>
                <a:gridCol w="1594485"/>
                <a:gridCol w="1505902"/>
                <a:gridCol w="2125980"/>
              </a:tblGrid>
              <a:tr h="685800">
                <a:tc>
                  <a:txBody>
                    <a:bodyPr wrap="square"/>
                    <a:lstStyle/>
                    <a:p>
                      <a:pPr algn="ctr"/>
                      <a:r>
                        <a:rPr sz="1600" b="1">
                          <a:solidFill>
                            <a:srgbClr val="FFFFFF"/>
                          </a:solidFill>
                          <a:latin typeface="Calibri"/>
                        </a:rPr>
                        <a:t>Mandi</a:t>
                      </a:r>
                    </a:p>
                  </a:txBody>
                  <a:tcPr marL="73152" marR="73152" marT="27432" marB="27432" anchor="ctr">
                    <a:solidFill>
                      <a:srgbClr val="1F4E79"/>
                    </a:solidFill>
                  </a:tcPr>
                </a:tc>
                <a:tc>
                  <a:txBody>
                    <a:bodyPr wrap="square"/>
                    <a:lstStyle/>
                    <a:p>
                      <a:pPr algn="ctr"/>
                      <a:r>
                        <a:rPr sz="1600" b="1">
                          <a:solidFill>
                            <a:srgbClr val="FFFFFF"/>
                          </a:solidFill>
                          <a:latin typeface="Calibri"/>
                        </a:rPr>
                        <a:t>Reported</a:t>
                      </a:r>
                    </a:p>
                  </a:txBody>
                  <a:tcPr marL="73152" marR="73152" marT="27432" marB="27432" anchor="ctr">
                    <a:solidFill>
                      <a:srgbClr val="1F4E79"/>
                    </a:solidFill>
                  </a:tcPr>
                </a:tc>
                <a:tc>
                  <a:txBody>
                    <a:bodyPr wrap="square"/>
                    <a:lstStyle/>
                    <a:p>
                      <a:pPr algn="ctr"/>
                      <a:r>
                        <a:rPr sz="1600" b="1">
                          <a:solidFill>
                            <a:srgbClr val="FFFFFF"/>
                          </a:solidFill>
                          <a:latin typeface="Calibri"/>
                        </a:rPr>
                        <a:t>Surprise silence</a:t>
                      </a:r>
                    </a:p>
                  </a:txBody>
                  <a:tcPr marL="73152" marR="73152" marT="27432" marB="27432" anchor="ctr">
                    <a:solidFill>
                      <a:srgbClr val="1F4E79"/>
                    </a:solidFill>
                  </a:tcPr>
                </a:tc>
                <a:tc>
                  <a:txBody>
                    <a:bodyPr wrap="square"/>
                    <a:lstStyle/>
                    <a:p>
                      <a:pPr algn="ctr"/>
                      <a:r>
                        <a:rPr sz="1600" b="1">
                          <a:solidFill>
                            <a:srgbClr val="FFFFFF"/>
                          </a:solidFill>
                          <a:latin typeface="Calibri"/>
                        </a:rPr>
                        <a:t>Known closed</a:t>
                      </a:r>
                    </a:p>
                  </a:txBody>
                  <a:tcPr marL="73152" marR="73152" marT="27432" marB="27432" anchor="ctr">
                    <a:solidFill>
                      <a:srgbClr val="1F4E79"/>
                    </a:solidFill>
                  </a:tcPr>
                </a:tc>
                <a:tc>
                  <a:txBody>
                    <a:bodyPr wrap="square"/>
                    <a:lstStyle/>
                    <a:p>
                      <a:pPr algn="ctr"/>
                      <a:r>
                        <a:rPr sz="1600" b="1">
                          <a:solidFill>
                            <a:srgbClr val="FFFFFF"/>
                          </a:solidFill>
                          <a:latin typeface="Calibri"/>
                        </a:rPr>
                        <a:t>Tax per quintal</a:t>
                      </a:r>
                    </a:p>
                  </a:txBody>
                  <a:tcPr marL="73152" marR="73152" marT="27432" marB="27432" anchor="ctr">
                    <a:solidFill>
                      <a:srgbClr val="1F4E79"/>
                    </a:solidFill>
                  </a:tcPr>
                </a:tc>
              </a:tr>
              <a:tr h="685800">
                <a:tc>
                  <a:txBody>
                    <a:bodyPr wrap="square"/>
                    <a:lstStyle/>
                    <a:p>
                      <a:pPr algn="l"/>
                      <a:r>
                        <a:rPr sz="1700" b="0">
                          <a:solidFill>
                            <a:srgbClr val="1F2A44"/>
                          </a:solidFill>
                          <a:latin typeface="Calibri"/>
                        </a:rPr>
                        <a:t>Kanakapura</a:t>
                      </a:r>
                    </a:p>
                  </a:txBody>
                  <a:tcPr marL="73152" marR="73152" marT="27432" marB="27432" anchor="ctr">
                    <a:solidFill>
                      <a:srgbClr val="FFFFFF"/>
                    </a:solidFill>
                  </a:tcPr>
                </a:tc>
                <a:tc>
                  <a:txBody>
                    <a:bodyPr wrap="square"/>
                    <a:lstStyle/>
                    <a:p>
                      <a:pPr algn="ctr"/>
                      <a:r>
                        <a:rPr sz="1700" b="0">
                          <a:solidFill>
                            <a:srgbClr val="1F2A44"/>
                          </a:solidFill>
                          <a:latin typeface="Calibri"/>
                        </a:rPr>
                        <a:t>44%</a:t>
                      </a:r>
                    </a:p>
                  </a:txBody>
                  <a:tcPr marL="73152" marR="73152" marT="27432" marB="27432" anchor="ctr">
                    <a:solidFill>
                      <a:srgbClr val="FFFFFF"/>
                    </a:solidFill>
                  </a:tcPr>
                </a:tc>
                <a:tc>
                  <a:txBody>
                    <a:bodyPr wrap="square"/>
                    <a:lstStyle/>
                    <a:p>
                      <a:pPr algn="ctr"/>
                      <a:r>
                        <a:rPr sz="1700" b="0">
                          <a:solidFill>
                            <a:srgbClr val="1F2A44"/>
                          </a:solidFill>
                          <a:latin typeface="Calibri"/>
                        </a:rPr>
                        <a:t>49%</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₹313 (16.5%)</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Binny Mill</a:t>
                      </a:r>
                    </a:p>
                  </a:txBody>
                  <a:tcPr marL="73152" marR="73152" marT="27432" marB="27432" anchor="ctr">
                    <a:solidFill>
                      <a:srgbClr val="F1F7FB"/>
                    </a:solidFill>
                  </a:tcPr>
                </a:tc>
                <a:tc>
                  <a:txBody>
                    <a:bodyPr wrap="square"/>
                    <a:lstStyle/>
                    <a:p>
                      <a:pPr algn="ctr"/>
                      <a:r>
                        <a:rPr sz="1700" b="0">
                          <a:solidFill>
                            <a:srgbClr val="1F2A44"/>
                          </a:solidFill>
                          <a:latin typeface="Calibri"/>
                        </a:rPr>
                        <a:t>67%</a:t>
                      </a:r>
                    </a:p>
                  </a:txBody>
                  <a:tcPr marL="73152" marR="73152" marT="27432" marB="27432" anchor="ctr">
                    <a:solidFill>
                      <a:srgbClr val="F1F7FB"/>
                    </a:solidFill>
                  </a:tcPr>
                </a:tc>
                <a:tc>
                  <a:txBody>
                    <a:bodyPr wrap="square"/>
                    <a:lstStyle/>
                    <a:p>
                      <a:pPr algn="ctr"/>
                      <a:r>
                        <a:rPr sz="1700" b="0">
                          <a:solidFill>
                            <a:srgbClr val="1F2A44"/>
                          </a:solidFill>
                          <a:latin typeface="Calibri"/>
                        </a:rPr>
                        <a:t>22%</a:t>
                      </a:r>
                    </a:p>
                  </a:txBody>
                  <a:tcPr marL="73152" marR="73152" marT="27432" marB="27432" anchor="ctr">
                    <a:solidFill>
                      <a:srgbClr val="F1F7FB"/>
                    </a:solidFill>
                  </a:tcPr>
                </a:tc>
                <a:tc>
                  <a:txBody>
                    <a:bodyPr wrap="square"/>
                    <a:lstStyle/>
                    <a:p>
                      <a:pPr algn="ctr"/>
                      <a:r>
                        <a:rPr sz="1700" b="0">
                          <a:solidFill>
                            <a:srgbClr val="1F2A44"/>
                          </a:solidFill>
                          <a:latin typeface="Calibri"/>
                        </a:rPr>
                        <a:t>Sunday</a:t>
                      </a:r>
                    </a:p>
                  </a:txBody>
                  <a:tcPr marL="73152" marR="73152" marT="27432" marB="27432" anchor="ctr">
                    <a:solidFill>
                      <a:srgbClr val="F1F7FB"/>
                    </a:solidFill>
                  </a:tcPr>
                </a:tc>
                <a:tc>
                  <a:txBody>
                    <a:bodyPr wrap="square"/>
                    <a:lstStyle/>
                    <a:p>
                      <a:pPr algn="ctr"/>
                      <a:r>
                        <a:rPr sz="1700" b="0">
                          <a:solidFill>
                            <a:srgbClr val="1F2A44"/>
                          </a:solidFill>
                          <a:latin typeface="Calibri"/>
                        </a:rPr>
                        <a:t>₹206 (8.5%)</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Doddaballapur</a:t>
                      </a:r>
                    </a:p>
                  </a:txBody>
                  <a:tcPr marL="73152" marR="73152" marT="27432" marB="27432" anchor="ctr">
                    <a:solidFill>
                      <a:srgbClr val="FFFFFF"/>
                    </a:solidFill>
                  </a:tcPr>
                </a:tc>
                <a:tc>
                  <a:txBody>
                    <a:bodyPr wrap="square"/>
                    <a:lstStyle/>
                    <a:p>
                      <a:pPr algn="ctr"/>
                      <a:r>
                        <a:rPr sz="1700" b="0">
                          <a:solidFill>
                            <a:srgbClr val="1F2A44"/>
                          </a:solidFill>
                          <a:latin typeface="Calibri"/>
                        </a:rPr>
                        <a:t>56%</a:t>
                      </a:r>
                    </a:p>
                  </a:txBody>
                  <a:tcPr marL="73152" marR="73152" marT="27432" marB="27432" anchor="ctr">
                    <a:solidFill>
                      <a:srgbClr val="FFFFFF"/>
                    </a:solidFill>
                  </a:tcPr>
                </a:tc>
                <a:tc>
                  <a:txBody>
                    <a:bodyPr wrap="square"/>
                    <a:lstStyle/>
                    <a:p>
                      <a:pPr algn="ctr"/>
                      <a:r>
                        <a:rPr sz="1700" b="0">
                          <a:solidFill>
                            <a:srgbClr val="1F2A44"/>
                          </a:solidFill>
                          <a:latin typeface="Calibri"/>
                        </a:rPr>
                        <a:t>34%</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₹135 (7.2%)</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Gauribidanur</a:t>
                      </a:r>
                    </a:p>
                  </a:txBody>
                  <a:tcPr marL="73152" marR="73152" marT="27432" marB="27432" anchor="ctr">
                    <a:solidFill>
                      <a:srgbClr val="F1F7FB"/>
                    </a:solidFill>
                  </a:tcPr>
                </a:tc>
                <a:tc>
                  <a:txBody>
                    <a:bodyPr wrap="square"/>
                    <a:lstStyle/>
                    <a:p>
                      <a:pPr algn="ctr"/>
                      <a:r>
                        <a:rPr sz="1700" b="0">
                          <a:solidFill>
                            <a:srgbClr val="1F2A44"/>
                          </a:solidFill>
                          <a:latin typeface="Calibri"/>
                        </a:rPr>
                        <a:t>70%</a:t>
                      </a:r>
                    </a:p>
                  </a:txBody>
                  <a:tcPr marL="73152" marR="73152" marT="27432" marB="27432" anchor="ctr">
                    <a:solidFill>
                      <a:srgbClr val="F1F7FB"/>
                    </a:solidFill>
                  </a:tcPr>
                </a:tc>
                <a:tc>
                  <a:txBody>
                    <a:bodyPr wrap="square"/>
                    <a:lstStyle/>
                    <a:p>
                      <a:pPr algn="ctr"/>
                      <a:r>
                        <a:rPr sz="1700" b="0">
                          <a:solidFill>
                            <a:srgbClr val="1F2A44"/>
                          </a:solidFill>
                          <a:latin typeface="Calibri"/>
                        </a:rPr>
                        <a:t>19%</a:t>
                      </a:r>
                    </a:p>
                  </a:txBody>
                  <a:tcPr marL="73152" marR="73152" marT="27432" marB="27432" anchor="ctr">
                    <a:solidFill>
                      <a:srgbClr val="F1F7FB"/>
                    </a:solidFill>
                  </a:tcPr>
                </a:tc>
                <a:tc>
                  <a:txBody>
                    <a:bodyPr wrap="square"/>
                    <a:lstStyle/>
                    <a:p>
                      <a:pPr algn="ctr"/>
                      <a:r>
                        <a:rPr sz="1700" b="0">
                          <a:solidFill>
                            <a:srgbClr val="1F2A44"/>
                          </a:solidFill>
                          <a:latin typeface="Calibri"/>
                        </a:rPr>
                        <a:t>Tuesday</a:t>
                      </a:r>
                    </a:p>
                  </a:txBody>
                  <a:tcPr marL="73152" marR="73152" marT="27432" marB="27432" anchor="ctr">
                    <a:solidFill>
                      <a:srgbClr val="F1F7FB"/>
                    </a:solidFill>
                  </a:tcPr>
                </a:tc>
                <a:tc>
                  <a:txBody>
                    <a:bodyPr wrap="square"/>
                    <a:lstStyle/>
                    <a:p>
                      <a:pPr algn="ctr"/>
                      <a:r>
                        <a:rPr sz="1700" b="0">
                          <a:solidFill>
                            <a:srgbClr val="1F2A44"/>
                          </a:solidFill>
                          <a:latin typeface="Calibri"/>
                        </a:rPr>
                        <a:t>₹121 (6.0%)</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Channapatna</a:t>
                      </a:r>
                    </a:p>
                  </a:txBody>
                  <a:tcPr marL="73152" marR="73152" marT="27432" marB="27432" anchor="ctr">
                    <a:solidFill>
                      <a:srgbClr val="FFFFFF"/>
                    </a:solidFill>
                  </a:tcPr>
                </a:tc>
                <a:tc>
                  <a:txBody>
                    <a:bodyPr wrap="square"/>
                    <a:lstStyle/>
                    <a:p>
                      <a:pPr algn="ctr"/>
                      <a:r>
                        <a:rPr sz="1700" b="0">
                          <a:solidFill>
                            <a:srgbClr val="1F2A44"/>
                          </a:solidFill>
                          <a:latin typeface="Calibri"/>
                        </a:rPr>
                        <a:t>67%</a:t>
                      </a:r>
                    </a:p>
                  </a:txBody>
                  <a:tcPr marL="73152" marR="73152" marT="27432" marB="27432" anchor="ctr">
                    <a:solidFill>
                      <a:srgbClr val="FFFFFF"/>
                    </a:solidFill>
                  </a:tcPr>
                </a:tc>
                <a:tc>
                  <a:txBody>
                    <a:bodyPr wrap="square"/>
                    <a:lstStyle/>
                    <a:p>
                      <a:pPr algn="ctr"/>
                      <a:r>
                        <a:rPr sz="1700" b="0">
                          <a:solidFill>
                            <a:srgbClr val="1F2A44"/>
                          </a:solidFill>
                          <a:latin typeface="Calibri"/>
                        </a:rPr>
                        <a:t>22%</a:t>
                      </a:r>
                    </a:p>
                  </a:txBody>
                  <a:tcPr marL="73152" marR="73152" marT="27432" marB="27432" anchor="ctr">
                    <a:solidFill>
                      <a:srgbClr val="FFFFFF"/>
                    </a:solidFill>
                  </a:tcPr>
                </a:tc>
                <a:tc>
                  <a:txBody>
                    <a:bodyPr wrap="square"/>
                    <a:lstStyle/>
                    <a:p>
                      <a:pPr algn="ctr"/>
                      <a:r>
                        <a:rPr sz="1700" b="0">
                          <a:solidFill>
                            <a:srgbClr val="1F2A44"/>
                          </a:solidFill>
                          <a:latin typeface="Calibri"/>
                        </a:rPr>
                        <a:t>Sunday</a:t>
                      </a:r>
                    </a:p>
                  </a:txBody>
                  <a:tcPr marL="73152" marR="73152" marT="27432" marB="27432" anchor="ctr">
                    <a:solidFill>
                      <a:srgbClr val="FFFFFF"/>
                    </a:solidFill>
                  </a:tcPr>
                </a:tc>
                <a:tc>
                  <a:txBody>
                    <a:bodyPr wrap="square"/>
                    <a:lstStyle/>
                    <a:p>
                      <a:pPr algn="ctr"/>
                      <a:r>
                        <a:rPr sz="1700" b="0">
                          <a:solidFill>
                            <a:srgbClr val="1F2A44"/>
                          </a:solidFill>
                          <a:latin typeface="Calibri"/>
                        </a:rPr>
                        <a:t>₹120 (6.3%)</a:t>
                      </a:r>
                    </a:p>
                  </a:txBody>
                  <a:tcPr marL="73152" marR="73152" marT="27432" marB="27432" anchor="ctr">
                    <a:solidFill>
                      <a:srgbClr val="FFFFFF"/>
                    </a:solidFill>
                  </a:tcPr>
                </a:tc>
              </a:tr>
              <a:tr h="685800">
                <a:tc>
                  <a:txBody>
                    <a:bodyPr wrap="square"/>
                    <a:lstStyle/>
                    <a:p>
                      <a:pPr algn="l"/>
                      <a:r>
                        <a:rPr sz="1700" b="0">
                          <a:solidFill>
                            <a:srgbClr val="1F2A44"/>
                          </a:solidFill>
                          <a:latin typeface="Calibri"/>
                        </a:rPr>
                        <a:t>Bagepalli</a:t>
                      </a:r>
                    </a:p>
                  </a:txBody>
                  <a:tcPr marL="73152" marR="73152" marT="27432" marB="27432" anchor="ctr">
                    <a:solidFill>
                      <a:srgbClr val="F1F7FB"/>
                    </a:solidFill>
                  </a:tcPr>
                </a:tc>
                <a:tc>
                  <a:txBody>
                    <a:bodyPr wrap="square"/>
                    <a:lstStyle/>
                    <a:p>
                      <a:pPr algn="ctr"/>
                      <a:r>
                        <a:rPr sz="1700" b="0">
                          <a:solidFill>
                            <a:srgbClr val="1F2A44"/>
                          </a:solidFill>
                          <a:latin typeface="Calibri"/>
                        </a:rPr>
                        <a:t>79%</a:t>
                      </a:r>
                    </a:p>
                  </a:txBody>
                  <a:tcPr marL="73152" marR="73152" marT="27432" marB="27432" anchor="ctr">
                    <a:solidFill>
                      <a:srgbClr val="F1F7FB"/>
                    </a:solidFill>
                  </a:tcPr>
                </a:tc>
                <a:tc>
                  <a:txBody>
                    <a:bodyPr wrap="square"/>
                    <a:lstStyle/>
                    <a:p>
                      <a:pPr algn="ctr"/>
                      <a:r>
                        <a:rPr sz="1700" b="0">
                          <a:solidFill>
                            <a:srgbClr val="1F2A44"/>
                          </a:solidFill>
                          <a:latin typeface="Calibri"/>
                        </a:rPr>
                        <a:t>21%</a:t>
                      </a:r>
                    </a:p>
                  </a:txBody>
                  <a:tcPr marL="73152" marR="73152" marT="27432" marB="27432" anchor="ctr">
                    <a:solidFill>
                      <a:srgbClr val="F1F7FB"/>
                    </a:solidFill>
                  </a:tcPr>
                </a:tc>
                <a:tc>
                  <a:txBody>
                    <a:bodyPr wrap="square"/>
                    <a:lstStyle/>
                    <a:p>
                      <a:pPr algn="ctr"/>
                      <a:r>
                        <a:rPr sz="1700" b="0">
                          <a:solidFill>
                            <a:srgbClr val="1F2A44"/>
                          </a:solidFill>
                          <a:latin typeface="Calibri"/>
                        </a:rPr>
                        <a:t>—</a:t>
                      </a:r>
                    </a:p>
                  </a:txBody>
                  <a:tcPr marL="73152" marR="73152" marT="27432" marB="27432" anchor="ctr">
                    <a:solidFill>
                      <a:srgbClr val="F1F7FB"/>
                    </a:solidFill>
                  </a:tcPr>
                </a:tc>
                <a:tc>
                  <a:txBody>
                    <a:bodyPr wrap="square"/>
                    <a:lstStyle/>
                    <a:p>
                      <a:pPr algn="ctr"/>
                      <a:r>
                        <a:rPr sz="1700" b="0">
                          <a:solidFill>
                            <a:srgbClr val="1F2A44"/>
                          </a:solidFill>
                          <a:latin typeface="Calibri"/>
                        </a:rPr>
                        <a:t>₹69 (4.0%)</a:t>
                      </a:r>
                    </a:p>
                  </a:txBody>
                  <a:tcPr marL="73152" marR="73152" marT="27432" marB="27432" anchor="ctr">
                    <a:solidFill>
                      <a:srgbClr val="F1F7FB"/>
                    </a:solidFill>
                  </a:tcPr>
                </a:tc>
              </a:tr>
              <a:tr h="685800">
                <a:tc>
                  <a:txBody>
                    <a:bodyPr wrap="square"/>
                    <a:lstStyle/>
                    <a:p>
                      <a:pPr algn="l"/>
                      <a:r>
                        <a:rPr sz="1700" b="0">
                          <a:solidFill>
                            <a:srgbClr val="1F2A44"/>
                          </a:solidFill>
                          <a:latin typeface="Calibri"/>
                        </a:rPr>
                        <a:t>Ramanagara</a:t>
                      </a:r>
                    </a:p>
                  </a:txBody>
                  <a:tcPr marL="73152" marR="73152" marT="27432" marB="27432" anchor="ctr">
                    <a:solidFill>
                      <a:srgbClr val="FFFFFF"/>
                    </a:solidFill>
                  </a:tcPr>
                </a:tc>
                <a:tc>
                  <a:txBody>
                    <a:bodyPr wrap="square"/>
                    <a:lstStyle/>
                    <a:p>
                      <a:pPr algn="ctr"/>
                      <a:r>
                        <a:rPr sz="1700" b="0">
                          <a:solidFill>
                            <a:srgbClr val="1F2A44"/>
                          </a:solidFill>
                          <a:latin typeface="Calibri"/>
                        </a:rPr>
                        <a:t>95%</a:t>
                      </a:r>
                    </a:p>
                  </a:txBody>
                  <a:tcPr marL="73152" marR="73152" marT="27432" marB="27432" anchor="ctr">
                    <a:solidFill>
                      <a:srgbClr val="FFFFFF"/>
                    </a:solidFill>
                  </a:tcPr>
                </a:tc>
                <a:tc>
                  <a:txBody>
                    <a:bodyPr wrap="square"/>
                    <a:lstStyle/>
                    <a:p>
                      <a:pPr algn="ctr"/>
                      <a:r>
                        <a:rPr sz="1700" b="0">
                          <a:solidFill>
                            <a:srgbClr val="1F2A44"/>
                          </a:solidFill>
                          <a:latin typeface="Calibri"/>
                        </a:rPr>
                        <a:t>5%</a:t>
                      </a:r>
                    </a:p>
                  </a:txBody>
                  <a:tcPr marL="73152" marR="73152" marT="27432" marB="27432" anchor="ctr">
                    <a:solidFill>
                      <a:srgbClr val="FFFFFF"/>
                    </a:solidFill>
                  </a:tcPr>
                </a:tc>
                <a:tc>
                  <a:txBody>
                    <a:bodyPr wrap="square"/>
                    <a:lstStyle/>
                    <a:p>
                      <a:pPr algn="ctr"/>
                      <a:r>
                        <a:rPr sz="1700" b="0">
                          <a:solidFill>
                            <a:srgbClr val="1F2A44"/>
                          </a:solidFill>
                          <a:latin typeface="Calibri"/>
                        </a:rPr>
                        <a:t>—</a:t>
                      </a:r>
                    </a:p>
                  </a:txBody>
                  <a:tcPr marL="73152" marR="73152" marT="27432" marB="27432" anchor="ctr">
                    <a:solidFill>
                      <a:srgbClr val="FFFFFF"/>
                    </a:solidFill>
                  </a:tcPr>
                </a:tc>
                <a:tc>
                  <a:txBody>
                    <a:bodyPr wrap="square"/>
                    <a:lstStyle/>
                    <a:p>
                      <a:pPr algn="ctr"/>
                      <a:r>
                        <a:rPr sz="1700" b="0">
                          <a:solidFill>
                            <a:srgbClr val="1F2A44"/>
                          </a:solidFill>
                          <a:latin typeface="Calibri"/>
                        </a:rPr>
                        <a:t>₹40 (1.8%)</a:t>
                      </a:r>
                    </a:p>
                  </a:txBody>
                  <a:tcPr marL="73152" marR="73152" marT="27432" marB="27432" anchor="ctr">
                    <a:solidFill>
                      <a:srgbClr val="FFFFFF"/>
                    </a:solidFill>
                  </a:tcPr>
                </a:tc>
              </a:tr>
            </a:tbl>
          </a:graphicData>
        </a:graphic>
      </p:graphicFrame>
      <p:sp>
        <p:nvSpPr>
          <p:cNvPr id="10253" name="Rectangle 10252"/>
          <p:cNvSpPr/>
          <p:nvPr/>
        </p:nvSpPr>
        <p:spPr>
          <a:xfrm>
            <a:off x="1005840" y="7315200"/>
            <a:ext cx="18105120" cy="274320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200" b="1" i="0">
                <a:solidFill>
                  <a:srgbClr val="1F2A44"/>
                </a:solidFill>
                <a:latin typeface="Calibri"/>
              </a:rPr>
              <a:t>Mean ₹78 per quintal per trip over 13 tomato mandis. </a:t>
            </a:r>
            <a:r>
              <a:rPr sz="2200" b="0" i="0">
                <a:solidFill>
                  <a:srgbClr val="1F2A44"/>
                </a:solidFill>
                <a:latin typeface="Calibri"/>
              </a:rPr>
              <a:t>Kanakapura loses ₹313 (16.5% of its price); Chikkaballapur reported on none of last year's Thursdays, so it is treated as closed that day.</a:t>
            </a:r>
          </a:p>
          <a:p>
            <a:pPr algn="l"/>
            <a:r>
              <a:rPr sz="2200" b="1" i="0">
                <a:solidFill>
                  <a:srgbClr val="1F2A44"/>
                </a:solidFill>
                <a:latin typeface="Calibri"/>
              </a:rPr>
              <a:t>Two cautions: </a:t>
            </a:r>
            <a:r>
              <a:rPr sz="2200" b="0" i="0">
                <a:solidFill>
                  <a:srgbClr val="1F2A44"/>
                </a:solidFill>
                <a:latin typeface="Calibri"/>
              </a:rPr>
              <a:t>a silent day may be a closed mandi or a missed upload; and ₹0 for a cheap mandi such as Kolar does not mean it is reliable, which is why surprise silence is shown beside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Crowd Simulator: What If Everyone Follows the Advice?</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graphicFrame>
        <p:nvGraphicFramePr>
          <p:cNvPr id="10251" name="Chart 10250"/>
          <p:cNvGraphicFramePr>
            <a:graphicFrameLocks noGrp="1"/>
          </p:cNvGraphicFramePr>
          <p:nvPr/>
        </p:nvGraphicFramePr>
        <p:xfrm>
          <a:off x="1005840" y="1645920"/>
          <a:ext cx="11521440" cy="6583680"/>
        </p:xfrm>
        <a:graphic>
          <a:graphicData uri="http://schemas.openxmlformats.org/drawingml/2006/chart">
            <c:chart xmlns:c="http://schemas.openxmlformats.org/drawingml/2006/chart" r:id="rId3"/>
          </a:graphicData>
        </a:graphic>
      </p:graphicFrame>
      <p:sp>
        <p:nvSpPr>
          <p:cNvPr id="10252" name="Rectangle 10251"/>
          <p:cNvSpPr/>
          <p:nvPr/>
        </p:nvSpPr>
        <p:spPr>
          <a:xfrm>
            <a:off x="12984480" y="1645920"/>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C0392B"/>
                </a:solidFill>
                <a:latin typeface="Calibri"/>
              </a:rPr>
              <a:t>−32.5%</a:t>
            </a:r>
          </a:p>
        </p:txBody>
      </p:sp>
      <p:sp>
        <p:nvSpPr>
          <p:cNvPr id="10253" name="Rectangle 10252"/>
          <p:cNvSpPr/>
          <p:nvPr/>
        </p:nvSpPr>
        <p:spPr>
          <a:xfrm>
            <a:off x="12984480" y="2802636"/>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price drop at the best yard (200 farmers)</a:t>
            </a:r>
          </a:p>
        </p:txBody>
      </p:sp>
      <p:sp>
        <p:nvSpPr>
          <p:cNvPr id="10254" name="Rectangle 10253"/>
          <p:cNvSpPr/>
          <p:nvPr/>
        </p:nvSpPr>
        <p:spPr>
          <a:xfrm>
            <a:off x="12984480" y="3977639"/>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₹241/q</a:t>
            </a:r>
          </a:p>
        </p:txBody>
      </p:sp>
      <p:sp>
        <p:nvSpPr>
          <p:cNvPr id="10255" name="Rectangle 10254"/>
          <p:cNvSpPr/>
          <p:nvPr/>
        </p:nvSpPr>
        <p:spPr>
          <a:xfrm>
            <a:off x="12984480" y="5134355"/>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gain of the coordinated split</a:t>
            </a:r>
          </a:p>
        </p:txBody>
      </p:sp>
      <p:sp>
        <p:nvSpPr>
          <p:cNvPr id="10256" name="Rectangle 10255"/>
          <p:cNvSpPr/>
          <p:nvPr/>
        </p:nvSpPr>
        <p:spPr>
          <a:xfrm>
            <a:off x="12984480" y="6309360"/>
            <a:ext cx="6126480" cy="1156716"/>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73152" rIns="73152" tIns="36576" bIns="36576"/>
          <a:lstStyle/>
          <a:p>
            <a:pPr algn="ctr"/>
            <a:r>
              <a:rPr sz="4900" b="1" i="0">
                <a:solidFill>
                  <a:srgbClr val="2E8B57"/>
                </a:solidFill>
                <a:latin typeface="Calibri"/>
              </a:rPr>
              <a:t>₹482,705</a:t>
            </a:r>
          </a:p>
        </p:txBody>
      </p:sp>
      <p:sp>
        <p:nvSpPr>
          <p:cNvPr id="10257" name="Rectangle 10256"/>
          <p:cNvSpPr/>
          <p:nvPr/>
        </p:nvSpPr>
        <p:spPr>
          <a:xfrm>
            <a:off x="12984480" y="7466076"/>
            <a:ext cx="6126480" cy="946403"/>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r>
              <a:rPr sz="2000" b="0" i="0">
                <a:solidFill>
                  <a:srgbClr val="5F6B7A"/>
                </a:solidFill>
                <a:latin typeface="Calibri"/>
              </a:rPr>
              <a:t>gain for the group of 200</a:t>
            </a:r>
          </a:p>
        </p:txBody>
      </p:sp>
      <p:sp>
        <p:nvSpPr>
          <p:cNvPr id="10258" name="Rectangle 10257"/>
          <p:cNvSpPr/>
          <p:nvPr/>
        </p:nvSpPr>
        <p:spPr>
          <a:xfrm>
            <a:off x="1005840" y="8503920"/>
            <a:ext cx="18105120" cy="1737360"/>
          </a:xfrm>
          <a:prstGeom prst="rect">
            <a:avLst/>
          </a:prstGeom>
          <a:solidFill>
            <a:srgbClr val="DCEB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36576" bIns="36576"/>
          <a:lstStyle/>
          <a:p>
            <a:pPr algn="l"/>
            <a:r>
              <a:rPr sz="2200" b="1" i="0">
                <a:solidFill>
                  <a:srgbClr val="1F2A44"/>
                </a:solidFill>
                <a:latin typeface="Calibri"/>
              </a:rPr>
              <a:t>Scenario, not a measurement. </a:t>
            </a:r>
            <a:r>
              <a:rPr sz="2200" b="0" i="0">
                <a:solidFill>
                  <a:srgbClr val="1F2A44"/>
                </a:solidFill>
                <a:latin typeface="Calibri"/>
              </a:rPr>
              <a:t>The yard usually receives about 68 quintals a day. Price flexibility b = 0.115 is an association in past data; at b = 0 every policy is equal. A field pilot is needed to measure the real response.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p:cNvSpPr/>
          <p:nvPr/>
        </p:nvSpPr>
        <p:spPr>
          <a:xfrm>
            <a:off x="-6350" y="-18905"/>
            <a:ext cx="20110450" cy="1130935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dirty="0">
              <a:solidFill>
                <a:srgbClr val="FFFFFF"/>
              </a:solidFill>
            </a:endParaRPr>
          </a:p>
        </p:txBody>
      </p:sp>
      <p:sp>
        <p:nvSpPr>
          <p:cNvPr id="10247" name="object 8"/>
          <p:cNvSpPr txBox="1">
            <a:spLocks noChangeArrowheads="1"/>
          </p:cNvSpPr>
          <p:nvPr/>
        </p:nvSpPr>
        <p:spPr bwMode="auto">
          <a:xfrm>
            <a:off x="1008063" y="190500"/>
            <a:ext cx="185277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marL="12700">
              <a:spcBef>
                <a:spcPct val="20000"/>
              </a:spcBef>
              <a:defRPr>
                <a:solidFill>
                  <a:schemeClr val="tx1"/>
                </a:solidFill>
                <a:latin typeface="Calibri" panose="020F0502020204030204" charset="0"/>
                <a:ea typeface="MS PGothic" panose="020B0600070205080204" charset="-128"/>
              </a:defRPr>
            </a:lvl1pPr>
            <a:lvl2pPr marL="742950" indent="-285750">
              <a:spcBef>
                <a:spcPct val="20000"/>
              </a:spcBef>
              <a:defRPr>
                <a:solidFill>
                  <a:schemeClr val="tx1"/>
                </a:solidFill>
                <a:latin typeface="Calibri" panose="020F0502020204030204" charset="0"/>
                <a:ea typeface="MS PGothic" panose="020B0600070205080204" charset="-128"/>
              </a:defRPr>
            </a:lvl2pPr>
            <a:lvl3pPr marL="1143000" indent="-228600">
              <a:spcBef>
                <a:spcPct val="20000"/>
              </a:spcBef>
              <a:defRPr>
                <a:solidFill>
                  <a:schemeClr val="tx1"/>
                </a:solidFill>
                <a:latin typeface="Calibri" panose="020F0502020204030204" charset="0"/>
                <a:ea typeface="MS PGothic" panose="020B0600070205080204" charset="-128"/>
              </a:defRPr>
            </a:lvl3pPr>
            <a:lvl4pPr marL="1600200" indent="-228600">
              <a:spcBef>
                <a:spcPct val="20000"/>
              </a:spcBef>
              <a:defRPr>
                <a:solidFill>
                  <a:schemeClr val="tx1"/>
                </a:solidFill>
                <a:latin typeface="Calibri" panose="020F0502020204030204" charset="0"/>
                <a:ea typeface="MS PGothic" panose="020B0600070205080204" charset="-128"/>
              </a:defRPr>
            </a:lvl4pPr>
            <a:lvl5pPr marL="2057400" indent="-228600">
              <a:spcBef>
                <a:spcPct val="20000"/>
              </a:spcBef>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20000"/>
              </a:spcBef>
              <a:spcAft>
                <a:spcPct val="0"/>
              </a:spcAft>
              <a:defRPr>
                <a:solidFill>
                  <a:schemeClr val="tx1"/>
                </a:solidFill>
                <a:latin typeface="Calibri" panose="020F0502020204030204" charset="0"/>
                <a:ea typeface="MS PGothic" panose="020B0600070205080204" charset="-128"/>
              </a:defRPr>
            </a:lvl9pPr>
          </a:lstStyle>
          <a:p>
            <a:pPr algn="ctr">
              <a:spcBef>
                <a:spcPct val="0"/>
              </a:spcBef>
            </a:pPr>
            <a:r>
              <a:rPr lang="en-US" altLang="en-US" sz="4800" dirty="0">
                <a:solidFill>
                  <a:srgbClr val="002060"/>
                </a:solidFill>
                <a:latin typeface="Times New Roman" panose="02020603050405020304" pitchFamily="18" charset="0"/>
                <a:cs typeface="Times New Roman" panose="02020603050405020304" pitchFamily="18" charset="0"/>
              </a:rPr>
              <a:t>Daily Digest on Telegram</a:t>
            </a:r>
          </a:p>
        </p:txBody>
      </p:sp>
      <p:sp>
        <p:nvSpPr>
          <p:cNvPr id="10248" name="object 10"/>
          <p:cNvSpPr/>
          <p:nvPr/>
        </p:nvSpPr>
        <p:spPr bwMode="auto">
          <a:xfrm>
            <a:off x="1008063" y="1192213"/>
            <a:ext cx="18527712" cy="0"/>
          </a:xfrm>
          <a:custGeom>
            <a:avLst/>
            <a:gdLst>
              <a:gd name="T0" fmla="*/ 0 w 18527395"/>
              <a:gd name="T1" fmla="*/ 18532882 w 18527395"/>
              <a:gd name="T2" fmla="*/ 0 60000 65536"/>
              <a:gd name="T3" fmla="*/ 0 60000 65536"/>
            </a:gdLst>
            <a:ahLst/>
            <a:cxnLst>
              <a:cxn ang="T2">
                <a:pos x="T0" y="0"/>
              </a:cxn>
              <a:cxn ang="T3">
                <a:pos x="T1" y="0"/>
              </a:cxn>
            </a:cxnLst>
            <a:rect l="0" t="0" r="r" b="b"/>
            <a:pathLst>
              <a:path w="18527395">
                <a:moveTo>
                  <a:pt x="0" y="0"/>
                </a:moveTo>
                <a:lnTo>
                  <a:pt x="18526859" y="0"/>
                </a:lnTo>
              </a:path>
            </a:pathLst>
          </a:custGeom>
          <a:noFill/>
          <a:ln w="15706">
            <a:solidFill>
              <a:srgbClr val="5E6DB3"/>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sp>
        <p:nvSpPr>
          <p:cNvPr id="1025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fld id="{616DECD3-7CA2-4DB7-B09D-1ECCFD1ED095}" type="slidenum">
              <a:rPr lang="en-US" altLang="en-US" smtClean="0">
                <a:solidFill>
                  <a:srgbClr val="898989"/>
                </a:solidFill>
              </a:rPr>
              <a:t>9</a:t>
            </a:fld>
            <a:endParaRPr lang="en-US" altLang="en-US">
              <a:solidFill>
                <a:srgbClr val="898989"/>
              </a:solidFill>
            </a:endParaRPr>
          </a:p>
        </p:txBody>
      </p:sp>
      <p:pic>
        <p:nvPicPr>
          <p:cNvPr id="9" name="Picture 8">
            <a:extLst>
              <a:ext uri="{FF2B5EF4-FFF2-40B4-BE49-F238E27FC236}">
                <a16:creationId xmlns:a16="http://schemas.microsoft.com/office/drawing/2014/main" id="{E7E15AE4-A078-40CD-831A-4C0EE8E43DB2}"/>
              </a:ext>
            </a:extLst>
          </p:cNvPr>
          <p:cNvPicPr>
            <a:picLocks noChangeAspect="1"/>
          </p:cNvPicPr>
          <p:nvPr/>
        </p:nvPicPr>
        <p:blipFill>
          <a:blip r:embed="rId2"/>
          <a:stretch>
            <a:fillRect/>
          </a:stretch>
        </p:blipFill>
        <p:spPr>
          <a:xfrm>
            <a:off x="433389" y="152403"/>
            <a:ext cx="1187594" cy="1039088"/>
          </a:xfrm>
          <a:prstGeom prst="rect">
            <a:avLst/>
          </a:prstGeom>
        </p:spPr>
      </p:pic>
      <p:sp>
        <p:nvSpPr>
          <p:cNvPr id="8" name="TextBox 7">
            <a:extLst>
              <a:ext uri="{FF2B5EF4-FFF2-40B4-BE49-F238E27FC236}">
                <a16:creationId xmlns:a16="http://schemas.microsoft.com/office/drawing/2014/main" id="{22C0BB2C-C125-463B-AD71-8738887E31E0}"/>
              </a:ext>
            </a:extLst>
          </p:cNvPr>
          <p:cNvSpPr txBox="1"/>
          <p:nvPr/>
        </p:nvSpPr>
        <p:spPr>
          <a:xfrm>
            <a:off x="6074786" y="10517188"/>
            <a:ext cx="7395152" cy="400110"/>
          </a:xfrm>
          <a:prstGeom prst="rect">
            <a:avLst/>
          </a:prstGeom>
          <a:noFill/>
        </p:spPr>
        <p:txBody>
          <a:bodyPr wrap="square" rtlCol="0">
            <a:spAutoFit/>
          </a:bodyPr>
          <a:lstStyle/>
          <a:p>
            <a:r>
              <a:rPr lang="en-US" sz="2000" dirty="0"/>
              <a:t>Department of Computer Science &amp; Engineering(Data Science)</a:t>
            </a:r>
            <a:endParaRPr lang="en-IN" sz="2000" dirty="0"/>
          </a:p>
        </p:txBody>
      </p:sp>
      <p:pic>
        <p:nvPicPr>
          <p:cNvPr id="10251" name="Picture 10250" descr="ins_digest.png"/>
          <p:cNvPicPr>
            <a:picLocks noChangeAspect="1"/>
          </p:cNvPicPr>
          <p:nvPr/>
        </p:nvPicPr>
        <p:blipFill>
          <a:blip r:embed="rId3"/>
          <a:stretch>
            <a:fillRect/>
          </a:stretch>
        </p:blipFill>
        <p:spPr>
          <a:xfrm>
            <a:off x="1005840" y="1645920"/>
            <a:ext cx="9105941" cy="8138160"/>
          </a:xfrm>
          <a:prstGeom prst="rect">
            <a:avLst/>
          </a:prstGeom>
        </p:spPr>
      </p:pic>
      <p:sp>
        <p:nvSpPr>
          <p:cNvPr id="10252" name="Rectangle 10251"/>
          <p:cNvSpPr/>
          <p:nvPr/>
        </p:nvSpPr>
        <p:spPr>
          <a:xfrm>
            <a:off x="10607040" y="1645920"/>
            <a:ext cx="8503920" cy="813816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36576" bIns="36576"/>
          <a:lstStyle/>
          <a:p>
            <a:pPr algn="l"/>
            <a:r>
              <a:rPr sz="2600" b="1" i="0">
                <a:solidFill>
                  <a:srgbClr val="1F2A44"/>
                </a:solidFill>
                <a:latin typeface="Calibri"/>
              </a:rPr>
              <a:t>Dated, always. </a:t>
            </a:r>
            <a:r>
              <a:rPr sz="2600" b="0" i="0">
                <a:solidFill>
                  <a:srgbClr val="1F2A44"/>
                </a:solidFill>
                <a:latin typeface="Calibri"/>
              </a:rPr>
              <a:t>Every price shows its date; the second line says how old the data is (there is no live feed).</a:t>
            </a:r>
          </a:p>
          <a:p>
            <a:pPr algn="l"/>
            <a:r>
              <a:rPr sz="2600" b="1" i="0">
                <a:solidFill>
                  <a:srgbClr val="1F2A44"/>
                </a:solidFill>
                <a:latin typeface="Calibri"/>
              </a:rPr>
              <a:t>Advice only with evidence. </a:t>
            </a:r>
            <a:r>
              <a:rPr sz="2600" b="0" i="0">
                <a:solidFill>
                  <a:srgbClr val="1F2A44"/>
                </a:solidFill>
                <a:latin typeface="Calibri"/>
              </a:rPr>
              <a:t>Tomato, onion, ginger: best place and day with the floor. Potato, garlic: prices only.</a:t>
            </a:r>
          </a:p>
          <a:p>
            <a:pPr algn="l"/>
            <a:r>
              <a:rPr sz="2600" b="1" i="0">
                <a:solidFill>
                  <a:srgbClr val="1F2A44"/>
                </a:solidFill>
                <a:latin typeface="Calibri"/>
              </a:rPr>
              <a:t>Warns about silent days. </a:t>
            </a:r>
            <a:r>
              <a:rPr sz="2600" b="0" i="0">
                <a:solidFill>
                  <a:srgbClr val="1F2A44"/>
                </a:solidFill>
                <a:latin typeface="Calibri"/>
              </a:rPr>
              <a:t>If the recommended mandi is usually silent on the sale weekday, it says so.</a:t>
            </a:r>
          </a:p>
          <a:p>
            <a:pPr algn="l"/>
            <a:r>
              <a:rPr sz="2600" b="1" i="0">
                <a:solidFill>
                  <a:srgbClr val="1F2A44"/>
                </a:solidFill>
                <a:latin typeface="Calibri"/>
              </a:rPr>
              <a:t>Three languages, free. </a:t>
            </a:r>
            <a:r>
              <a:rPr sz="2600" b="0" i="0">
                <a:solidFill>
                  <a:srgbClr val="1F2A44"/>
                </a:solidFill>
                <a:latin typeface="Calibri"/>
              </a:rPr>
              <a:t>English, Kannada, Hindi; Telegram Bot API; /start, /today, /stop, or type “tomato kolar”.</a:t>
            </a:r>
          </a:p>
          <a:p>
            <a:pPr algn="l"/>
            <a:r>
              <a:rPr sz="2600" b="1" i="0">
                <a:solidFill>
                  <a:srgbClr val="1F2A44"/>
                </a:solidFill>
                <a:latin typeface="Calibri"/>
              </a:rPr>
              <a:t>Logged and tested. </a:t>
            </a:r>
            <a:r>
              <a:rPr sz="2600" b="0" i="0">
                <a:solidFill>
                  <a:srgbClr val="1F2A44"/>
                </a:solidFill>
                <a:latin typeface="Calibri"/>
              </a:rPr>
              <a:t>Every send is logged (2 logged sends to a real account); 8 unit tests with a fake client.</a:t>
            </a:r>
          </a:p>
          <a:p>
            <a:pPr algn="l"/>
            <a:r>
              <a:rPr sz="2600" b="1" i="0">
                <a:solidFill>
                  <a:srgbClr val="1F2A44"/>
                </a:solidFill>
                <a:latin typeface="Calibri"/>
              </a:rPr>
              <a:t>Not claimed: </a:t>
            </a:r>
            <a:r>
              <a:rPr sz="2600" b="0" i="0">
                <a:solidFill>
                  <a:srgbClr val="1F2A44"/>
                </a:solidFill>
                <a:latin typeface="Calibri"/>
              </a:rPr>
              <a:t>a farmer pilot, or a live price feed.</a:t>
            </a:r>
          </a:p>
        </p:txBody>
      </p:sp>
    </p:spTree>
  </p:cSld>
  <p:clrMapOvr>
    <a:masterClrMapping/>
  </p:clrMapOvr>
</p:sld>
</file>

<file path=ppt/theme/theme1.xml><?xml version="1.0" encoding="utf-8"?>
<a:theme xmlns:a="http://schemas.openxmlformats.org/drawingml/2006/main" name="1_RVCE_2020">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lt1">
            <a:alpha val="99000"/>
          </a:schemeClr>
        </a:solidFill>
        <a:ln w="76200">
          <a:solidFill>
            <a:srgbClr val="5E6DB3"/>
          </a:solidFill>
        </a:ln>
      </a:spPr>
      <a:bodyPr rtlCol="0" anchor="ctr"/>
      <a:lstStyle>
        <a:defPPr algn="ctr">
          <a:defRPr dirty="0">
            <a:solidFill>
              <a:srgbClr val="FFFFFF"/>
            </a:solidFill>
          </a:defRPr>
        </a:defPPr>
      </a:lstStyle>
      <a:style>
        <a:lnRef idx="2">
          <a:schemeClr val="accent4"/>
        </a:lnRef>
        <a:fillRef idx="1">
          <a:schemeClr val="lt1"/>
        </a:fillRef>
        <a:effectRef idx="0">
          <a:schemeClr val="accent4"/>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1241</Words>
  <Application>Microsoft Office PowerPoint</Application>
  <PresentationFormat>Custom</PresentationFormat>
  <Paragraphs>178</Paragraphs>
  <Slides>20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Playfair Display</vt:lpstr>
      <vt:lpstr>Times New Roman</vt:lpstr>
      <vt:lpstr>Forte</vt:lpstr>
      <vt:lpstr>Calibri</vt:lpstr>
      <vt:lpstr>Cambria</vt:lpstr>
      <vt:lpstr>1_RVCE_2020</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Akash Hegde</dc:creator>
  <cp:lastModifiedBy>Manoj Kumar S</cp:lastModifiedBy>
  <cp:revision>443</cp:revision>
  <dcterms:created xsi:type="dcterms:W3CDTF">2023-10-16T17:04:33Z</dcterms:created>
  <dcterms:modified xsi:type="dcterms:W3CDTF">2026-10-27T08:29:25Z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d3be33-4108-4738-9e07-d8656a181486_Enabled">
    <vt:lpwstr>true</vt:lpwstr>
  </property>
  <property fmtid="{D5CDD505-2E9C-101B-9397-08002B2CF9AE}" pid="3" name="MSIP_Label_dad3be33-4108-4738-9e07-d8656a181486_SetDate">
    <vt:lpwstr>2023-10-02T10:03:34Z</vt:lpwstr>
  </property>
  <property fmtid="{D5CDD505-2E9C-101B-9397-08002B2CF9AE}" pid="4" name="MSIP_Label_dad3be33-4108-4738-9e07-d8656a181486_Method">
    <vt:lpwstr>Privileged</vt:lpwstr>
  </property>
  <property fmtid="{D5CDD505-2E9C-101B-9397-08002B2CF9AE}" pid="5" name="MSIP_Label_dad3be33-4108-4738-9e07-d8656a181486_Name">
    <vt:lpwstr>Public No Visual Label</vt:lpwstr>
  </property>
  <property fmtid="{D5CDD505-2E9C-101B-9397-08002B2CF9AE}" pid="6" name="MSIP_Label_dad3be33-4108-4738-9e07-d8656a181486_SiteId">
    <vt:lpwstr>945c199a-83a2-4e80-9f8c-5a91be5752dd</vt:lpwstr>
  </property>
  <property fmtid="{D5CDD505-2E9C-101B-9397-08002B2CF9AE}" pid="7" name="MSIP_Label_dad3be33-4108-4738-9e07-d8656a181486_ActionId">
    <vt:lpwstr>cfe29de6-22df-43bf-9ae6-c19932169054</vt:lpwstr>
  </property>
  <property fmtid="{D5CDD505-2E9C-101B-9397-08002B2CF9AE}" pid="8" name="MSIP_Label_dad3be33-4108-4738-9e07-d8656a181486_ContentBits">
    <vt:lpwstr>0</vt:lpwstr>
  </property>
  <property fmtid="{D5CDD505-2E9C-101B-9397-08002B2CF9AE}" pid="9" name="ICV">
    <vt:lpwstr>7FFB7808C7AF4D32B49068EEB1300E55</vt:lpwstr>
  </property>
  <property fmtid="{D5CDD505-2E9C-101B-9397-08002B2CF9AE}" pid="10" name="KSOProductBuildVer">
    <vt:lpwstr>1033-11.2.0.11537</vt:lpwstr>
  </property>
</Properties>
</file>