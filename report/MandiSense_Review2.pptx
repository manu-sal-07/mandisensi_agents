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2" r:id="rId1"/>
    <p:sldMasterId id="2147483712" r:id="rId2"/>
  </p:sldMasterIdLst>
  <p:notesMasterIdLst>
    <p:notesMasterId r:id="rId23"/>
  </p:notesMasterIdLst>
  <p:sldIdLst>
    <p:sldId id="284" r:id="rId3"/>
    <p:sldId id="403" r:id="rId4"/>
    <p:sldId id="1000546" r:id="rId5"/>
    <p:sldId id="1000553" r:id="rId6"/>
    <p:sldId id="1000554" r:id="rId7"/>
    <p:sldId id="1000569" r:id="rId41"/>
    <p:sldId id="1000570" r:id="rId42"/>
    <p:sldId id="1000555" r:id="rId8"/>
    <p:sldId id="1000571" r:id="rId43"/>
    <p:sldId id="1000556" r:id="rId9"/>
    <p:sldId id="1000557" r:id="rId10"/>
    <p:sldId id="1000558" r:id="rId11"/>
    <p:sldId id="1000572" r:id="rId44"/>
    <p:sldId id="1000573" r:id="rId45"/>
    <p:sldId id="1000574" r:id="rId46"/>
    <p:sldId id="1000575" r:id="rId47"/>
    <p:sldId id="1000559" r:id="rId12"/>
    <p:sldId id="1000560" r:id="rId13"/>
    <p:sldId id="1000561" r:id="rId14"/>
    <p:sldId id="1000562" r:id="rId15"/>
    <p:sldId id="1000563" r:id="rId16"/>
    <p:sldId id="1000564" r:id="rId17"/>
    <p:sldId id="1000565" r:id="rId18"/>
    <p:sldId id="1000566" r:id="rId19"/>
    <p:sldId id="1000567" r:id="rId20"/>
    <p:sldId id="1000568" r:id="rId21"/>
    <p:sldId id="1000552" r:id="rId22"/>
  </p:sldIdLst>
  <p:sldSz cx="20104100" cy="11309350"/>
  <p:notesSz cx="20104100" cy="1130935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mbria" panose="02040503050406030204" pitchFamily="18" charset="0"/>
      <p:regular r:id="rId28"/>
      <p:bold r:id="rId29"/>
      <p:italic r:id="rId30"/>
      <p:boldItalic r:id="rId31"/>
    </p:embeddedFont>
    <p:embeddedFont>
      <p:font typeface="Forte" panose="03060902040502070203" pitchFamily="66" charset="0"/>
      <p:regular r:id="rId32"/>
    </p:embeddedFont>
    <p:embeddedFont>
      <p:font typeface="Playfair Display" panose="00000500000000000000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75" autoAdjust="0"/>
    <p:restoredTop sz="99288" autoAdjust="0"/>
  </p:normalViewPr>
  <p:slideViewPr>
    <p:cSldViewPr snapToGrid="0">
      <p:cViewPr varScale="1">
        <p:scale>
          <a:sx n="69" d="100"/>
          <a:sy n="69" d="100"/>
        </p:scale>
        <p:origin x="570" y="84"/>
      </p:cViewPr>
      <p:guideLst>
        <p:guide orient="horz" pos="2880"/>
        <p:guide pos="2160"/>
        <p:guide orient="horz" pos="28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notesMaster" Target="notesMasters/notesMaster1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Relationship Id="rId27" Type="http://schemas.openxmlformats.org/officeDocument/2006/relationships/font" Target="fonts/font4.fntdata"/><Relationship Id="rId28" Type="http://schemas.openxmlformats.org/officeDocument/2006/relationships/font" Target="fonts/font5.fntdata"/><Relationship Id="rId29" Type="http://schemas.openxmlformats.org/officeDocument/2006/relationships/font" Target="fonts/font6.fntdata"/><Relationship Id="rId30" Type="http://schemas.openxmlformats.org/officeDocument/2006/relationships/font" Target="fonts/font7.fntdata"/><Relationship Id="rId31" Type="http://schemas.openxmlformats.org/officeDocument/2006/relationships/font" Target="fonts/font8.fntdata"/><Relationship Id="rId32" Type="http://schemas.openxmlformats.org/officeDocument/2006/relationships/font" Target="fonts/font9.fntdata"/><Relationship Id="rId33" Type="http://schemas.openxmlformats.org/officeDocument/2006/relationships/font" Target="fonts/font10.fntdata"/><Relationship Id="rId34" Type="http://schemas.openxmlformats.org/officeDocument/2006/relationships/font" Target="fonts/font11.fntdata"/><Relationship Id="rId35" Type="http://schemas.openxmlformats.org/officeDocument/2006/relationships/font" Target="fonts/font12.fntdata"/><Relationship Id="rId36" Type="http://schemas.openxmlformats.org/officeDocument/2006/relationships/font" Target="fonts/font13.fntdata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200"/>
              <a:t>Mean realised net revenue, Rs per quintal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Nearest mandi</c:v>
                </c:pt>
              </c:strCache>
            </c:strRef>
          </c:tx>
          <c:spPr>
            <a:solidFill>
              <a:srgbClr val="A9B4C2"/>
            </a:solidFill>
          </c:spPr>
          <c:cat>
            <c:strRef>
              <c:f>Sheet1!$A$2:$A$5</c:f>
              <c:strCache>
                <c:ptCount val="4"/>
                <c:pt idx="0">
                  <c:v>Tomato</c:v>
                </c:pt>
                <c:pt idx="1">
                  <c:v>Onion</c:v>
                </c:pt>
                <c:pt idx="2">
                  <c:v>Potato</c:v>
                </c:pt>
                <c:pt idx="3">
                  <c:v>Ginger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1600</c:v>
                </c:pt>
                <c:pt idx="1">
                  <c:v>2231</c:v>
                </c:pt>
                <c:pt idx="2">
                  <c:v>1699</c:v>
                </c:pt>
                <c:pt idx="3">
                  <c:v>5476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Highest price yesterday</c:v>
                </c:pt>
              </c:strCache>
            </c:strRef>
          </c:tx>
          <c:spPr>
            <a:solidFill>
              <a:srgbClr val="7F8FA6"/>
            </a:solidFill>
          </c:spPr>
          <c:cat>
            <c:strRef>
              <c:f>Sheet1!$A$2:$A$5</c:f>
              <c:strCache>
                <c:ptCount val="4"/>
                <c:pt idx="0">
                  <c:v>Tomato</c:v>
                </c:pt>
                <c:pt idx="1">
                  <c:v>Onion</c:v>
                </c:pt>
                <c:pt idx="2">
                  <c:v>Potato</c:v>
                </c:pt>
                <c:pt idx="3">
                  <c:v>Ginger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2021</c:v>
                </c:pt>
                <c:pt idx="1">
                  <c:v>2407</c:v>
                </c:pt>
                <c:pt idx="2">
                  <c:v>1780</c:v>
                </c:pt>
                <c:pt idx="3">
                  <c:v>7050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LightGBM, observed prices</c:v>
                </c:pt>
              </c:strCache>
            </c:strRef>
          </c:tx>
          <c:spPr>
            <a:solidFill>
              <a:srgbClr val="C9A24A"/>
            </a:solidFill>
          </c:spPr>
          <c:cat>
            <c:strRef>
              <c:f>Sheet1!$A$2:$A$5</c:f>
              <c:strCache>
                <c:ptCount val="4"/>
                <c:pt idx="0">
                  <c:v>Tomato</c:v>
                </c:pt>
                <c:pt idx="1">
                  <c:v>Onion</c:v>
                </c:pt>
                <c:pt idx="2">
                  <c:v>Potato</c:v>
                </c:pt>
                <c:pt idx="3">
                  <c:v>Ginger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2016</c:v>
                </c:pt>
                <c:pt idx="1">
                  <c:v>2395</c:v>
                </c:pt>
                <c:pt idx="2">
                  <c:v>1758</c:v>
                </c:pt>
                <c:pt idx="3">
                  <c:v>7047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LightGBM, realised outcomes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Sheet1!$A$2:$A$5</c:f>
              <c:strCache>
                <c:ptCount val="4"/>
                <c:pt idx="0">
                  <c:v>Tomato</c:v>
                </c:pt>
                <c:pt idx="1">
                  <c:v>Onion</c:v>
                </c:pt>
                <c:pt idx="2">
                  <c:v>Potato</c:v>
                </c:pt>
                <c:pt idx="3">
                  <c:v>Ginger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2156</c:v>
                </c:pt>
                <c:pt idx="1">
                  <c:v>2552</c:v>
                </c:pt>
                <c:pt idx="2">
                  <c:v>1845</c:v>
                </c:pt>
                <c:pt idx="3">
                  <c:v>7196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Neural SPO+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Sheet1!$A$2:$A$5</c:f>
              <c:strCache>
                <c:ptCount val="4"/>
                <c:pt idx="0">
                  <c:v>Tomato</c:v>
                </c:pt>
                <c:pt idx="1">
                  <c:v>Onion</c:v>
                </c:pt>
                <c:pt idx="2">
                  <c:v>Potato</c:v>
                </c:pt>
                <c:pt idx="3">
                  <c:v>Ginger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2164</c:v>
                </c:pt>
                <c:pt idx="1">
                  <c:v>2564</c:v>
                </c:pt>
                <c:pt idx="2">
                  <c:v>1830</c:v>
                </c:pt>
                <c:pt idx="3">
                  <c:v>7188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Hindsight oracle</c:v>
                </c:pt>
              </c:strCache>
            </c:strRef>
          </c:tx>
          <c:spPr>
            <a:solidFill>
              <a:srgbClr val="9AA0A6"/>
            </a:solidFill>
          </c:spPr>
          <c:cat>
            <c:strRef>
              <c:f>Sheet1!$A$2:$A$5</c:f>
              <c:strCache>
                <c:ptCount val="4"/>
                <c:pt idx="0">
                  <c:v>Tomato</c:v>
                </c:pt>
                <c:pt idx="1">
                  <c:v>Onion</c:v>
                </c:pt>
                <c:pt idx="2">
                  <c:v>Potato</c:v>
                </c:pt>
                <c:pt idx="3">
                  <c:v>Ginger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2570</c:v>
                </c:pt>
                <c:pt idx="1">
                  <c:v>2902</c:v>
                </c:pt>
                <c:pt idx="2">
                  <c:v>2173</c:v>
                </c:pt>
                <c:pt idx="3">
                  <c:v>7741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2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2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/>
              <a:t>Back-test gain of the advice, Rs per quintal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vs highest price yesterday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Sheet1!$A$2:$A$5</c:f>
              <c:strCache>
                <c:ptCount val="4"/>
                <c:pt idx="0">
                  <c:v>Tomato</c:v>
                </c:pt>
                <c:pt idx="1">
                  <c:v>Onion</c:v>
                </c:pt>
                <c:pt idx="2">
                  <c:v>Potato</c:v>
                </c:pt>
                <c:pt idx="3">
                  <c:v>Ginger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170</c:v>
                </c:pt>
                <c:pt idx="1">
                  <c:v>60</c:v>
                </c:pt>
                <c:pt idx="2">
                  <c:v>15</c:v>
                </c:pt>
                <c:pt idx="3">
                  <c:v>202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vs nearest mandi</c:v>
                </c:pt>
              </c:strCache>
            </c:strRef>
          </c:tx>
          <c:spPr>
            <a:solidFill>
              <a:srgbClr val="D9822B"/>
            </a:solidFill>
          </c:spPr>
          <c:cat>
            <c:strRef>
              <c:f>Sheet1!$A$2:$A$5</c:f>
              <c:strCache>
                <c:ptCount val="4"/>
                <c:pt idx="0">
                  <c:v>Tomato</c:v>
                </c:pt>
                <c:pt idx="1">
                  <c:v>Onion</c:v>
                </c:pt>
                <c:pt idx="2">
                  <c:v>Potato</c:v>
                </c:pt>
                <c:pt idx="3">
                  <c:v>Ginger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571</c:v>
                </c:pt>
                <c:pt idx="1">
                  <c:v>300</c:v>
                </c:pt>
                <c:pt idx="2">
                  <c:v>69</c:v>
                </c:pt>
                <c:pt idx="3">
                  <c:v>1595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200"/>
              <a:t>Skill vs random walk, tomato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Published protocol (decomposed once)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Sheet1!$A$2:$A$9</c:f>
              <c:strCache>
                <c:ptCount val="8"/>
                <c:pt idx="0">
                  <c:v>STL + LGBM, 1 d</c:v>
                </c:pt>
                <c:pt idx="1">
                  <c:v>STL + LGBM, 7 d</c:v>
                </c:pt>
                <c:pt idx="2">
                  <c:v>STL + Ridge, 1 d</c:v>
                </c:pt>
                <c:pt idx="3">
                  <c:v>STL + Ridge, 7 d</c:v>
                </c:pt>
                <c:pt idx="4">
                  <c:v>VMD + LGBM, 1 d</c:v>
                </c:pt>
                <c:pt idx="5">
                  <c:v>VMD + LGBM, 7 d</c:v>
                </c:pt>
                <c:pt idx="6">
                  <c:v>VMD + Ridge, 1 d</c:v>
                </c:pt>
                <c:pt idx="7">
                  <c:v>VMD + Ridge, 7 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27.3</c:v>
                </c:pt>
                <c:pt idx="1">
                  <c:v>40.8</c:v>
                </c:pt>
                <c:pt idx="2">
                  <c:v>28.5</c:v>
                </c:pt>
                <c:pt idx="3">
                  <c:v>41.1</c:v>
                </c:pt>
                <c:pt idx="4">
                  <c:v>44.4</c:v>
                </c:pt>
                <c:pt idx="5">
                  <c:v>57.9</c:v>
                </c:pt>
                <c:pt idx="6">
                  <c:v>50.5</c:v>
                </c:pt>
                <c:pt idx="7">
                  <c:v>62.4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Causal protocol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Sheet1!$A$2:$A$9</c:f>
              <c:strCache>
                <c:ptCount val="8"/>
                <c:pt idx="0">
                  <c:v>STL + LGBM, 1 d</c:v>
                </c:pt>
                <c:pt idx="1">
                  <c:v>STL + LGBM, 7 d</c:v>
                </c:pt>
                <c:pt idx="2">
                  <c:v>STL + Ridge, 1 d</c:v>
                </c:pt>
                <c:pt idx="3">
                  <c:v>STL + Ridge, 7 d</c:v>
                </c:pt>
                <c:pt idx="4">
                  <c:v>VMD + LGBM, 1 d</c:v>
                </c:pt>
                <c:pt idx="5">
                  <c:v>VMD + LGBM, 7 d</c:v>
                </c:pt>
                <c:pt idx="6">
                  <c:v>VMD + Ridge, 1 d</c:v>
                </c:pt>
                <c:pt idx="7">
                  <c:v>VMD + Ridge, 7 d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-14.7</c:v>
                </c:pt>
                <c:pt idx="1">
                  <c:v>-11.7</c:v>
                </c:pt>
                <c:pt idx="2">
                  <c:v>-7.6</c:v>
                </c:pt>
                <c:pt idx="3">
                  <c:v>-2.7</c:v>
                </c:pt>
                <c:pt idx="4">
                  <c:v>-12.6</c:v>
                </c:pt>
                <c:pt idx="5">
                  <c:v>-5.8</c:v>
                </c:pt>
                <c:pt idx="6">
                  <c:v>-10.8</c:v>
                </c:pt>
                <c:pt idx="7">
                  <c:v>-0.6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2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2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 2 of Project Work Phase 2. MandiSense AI recommends where and when a Kolar-belt farmer should sell, and states a revenue floor it has been tested to respect.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of Review 1, kept short. The key idea: the question is a decision under uncertainty with missing data, not a forecasting question.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objective is mapped to the result that demonstrates it. Objective 4 is only partly met because onion and potato floors were more cautious than needed. Objective 8 is met as engineering; it publishes no transmission result.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layers. The distinctive choices: label = realised revenue, and the language model is a writer whose output is verified and may be discarded.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Revenue is affine in the price vector, so SPO+ is exact for this problem. The floor is the best guaranteed revenue; outcomes feed the calibrator only after the sale date has passed.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Both services share one principle: publish a claim only when the evidence supports it, otherwise say so.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End-to-end flow. The live demonstration follows on the next slide; the screenshots here only show what the screens contain.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 the six steps live. Step 6 is deliberate: it shows the system refusing a crop with no market choice.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Choices and rejected alternatives are recorded in docs/TOOL_CHOICES.md. Research tests need a separate PyTorch environment by design.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Dataset: two Agmarknet exports that agree on 3,307 overlapping tomato market-days (r = 0.99996). Eligible = markets with at least 700 reported days.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Test set: 963/511/569/776 held-out decision days. Intervals are in the report (Table 6.1). The ordering is the same in every crop.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Paired daily regret differences, moving-block bootstrap, Newey-West Diebold-Mariano, Holm correction across all pre-specified comparisons.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Floors are calibrated online with delayed feedback. Back-test gains are significant for tomato, onion and ginger; potato's gain over the best heuristic (Rs 15, CI −38 to +60) is not distinguishable from zero, so the app labels it limited evidence. Garlic is refused.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Identical forecasters, lags and origins under two protocols. The claim is about the protocol the hybrid papers describe; we did not audit those specific papers.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reported as null results on purpose: a result that did not clear its evidence floor is not served.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Gap closed is the share of the gap between the nearest-mandi rule and the hindsight oracle. Published decompose-then-forecast results are compared under their own protocol and the causal one on the previous slide.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Claims limited to what held on held-out data. Negative results are part of the contribution.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row changes one thing. Failures are documented, not hidden.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Planned 24 weeks from 27 April 2026. The baseline was reconstructed from the Phase-1 roadmap. Owners follow the team's split; the commit history does not corroborate work of the second and third members and the report says so.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Baseline reconstructed; actual spans from commit dates (first commit 28 April, last 29 October). There is no repository activity between 10 June and 28 September.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explicit: the Drillbit percentage and date will be entered in Appendix F once the official report exists.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Numbered targets, not only goal numbers. The offline gains are not real income.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claim submission. The next step is to submit the IEEE Access manuscript and attach the acknowledgement mail.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under future work follows from a stated limitation.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IEEE style, numbered. Full vetted list of 40 entries is in the thesis.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ftr" idx="11"/>
          </p:nvPr>
        </p:nvSpPr>
        <p:spPr>
          <a:xfrm>
            <a:off x="6835777" y="10517188"/>
            <a:ext cx="6432549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M.Tech in Computer Network Engineering- June 2022</a:t>
            </a:r>
            <a:endParaRPr lang="en-IN"/>
          </a:p>
        </p:txBody>
      </p:sp>
      <p:sp>
        <p:nvSpPr>
          <p:cNvPr id="13" name="Google Shape;13;p2"/>
          <p:cNvSpPr txBox="1">
            <a:spLocks noGrp="1"/>
          </p:cNvSpPr>
          <p:nvPr>
            <p:ph type="dt" idx="10"/>
          </p:nvPr>
        </p:nvSpPr>
        <p:spPr>
          <a:xfrm>
            <a:off x="1004887" y="10517188"/>
            <a:ext cx="4624387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04CD0D4-4275-4D7D-AA13-C985D78AF328}" type="datetime1">
              <a:rPr lang="en-US" smtClean="0"/>
              <a:t>10/27/2026</a:t>
            </a:fld>
            <a:endParaRPr lang="en-IN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4474826" y="10517188"/>
            <a:ext cx="4624387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A9E8A-0B58-44E7-8B4B-C18EEB8D5E6B}" type="datetime1">
              <a:rPr lang="en-US" smtClean="0"/>
              <a:t>10/27/2026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M.Tech in Computer Network Engineering- June 2022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MTech in Computer Network Engineering –  Major Project Phase-I  Feb 2022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E4E739-A987-4E8A-B168-21AAA262878F}" type="datetime1">
              <a:rPr lang="en-US" altLang="en-US"/>
              <a:t>10/27/2026</a:t>
            </a:fld>
            <a:endParaRPr lang="en-US" alt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D9323D-A949-499D-B0E8-309C9540880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000" b="0" i="1">
                <a:solidFill>
                  <a:srgbClr val="422C75"/>
                </a:solidFill>
                <a:latin typeface="Playfair Display" panose="00000500000000000000"/>
                <a:cs typeface="Playfair Display" panose="0000050000000000000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MTech in Computer Network Engineering –  Major Project Phase-I  Feb 2022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77E9D2-16F2-417E-A5F0-B3E57AB994F6}" type="datetime1">
              <a:rPr lang="en-US" altLang="en-US"/>
              <a:t>10/27/2026</a:t>
            </a:fld>
            <a:endParaRPr lang="en-US" alt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AD5552-F823-4200-88B5-2EBA191DD39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000" b="0" i="1">
                <a:solidFill>
                  <a:srgbClr val="422C75"/>
                </a:solidFill>
                <a:latin typeface="Playfair Display" panose="00000500000000000000"/>
                <a:cs typeface="Playfair Display" panose="0000050000000000000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MTech in Computer Network Engineering –  Major Project Phase-I  Feb 2022</a:t>
            </a:r>
          </a:p>
        </p:txBody>
      </p:sp>
      <p:sp>
        <p:nvSpPr>
          <p:cNvPr id="6" name="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8EF551-0267-439D-9A9D-6C9E698304E9}" type="datetime1">
              <a:rPr lang="en-US" altLang="en-US"/>
              <a:t>10/27/2026</a:t>
            </a:fld>
            <a:endParaRPr lang="en-US" altLang="en-US"/>
          </a:p>
        </p:txBody>
      </p:sp>
      <p:sp>
        <p:nvSpPr>
          <p:cNvPr id="7" name="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D20FE6-005D-4110-AD4F-32432AB646E7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000" b="0" i="1">
                <a:solidFill>
                  <a:srgbClr val="422C75"/>
                </a:solidFill>
                <a:latin typeface="Playfair Display" panose="00000500000000000000"/>
                <a:cs typeface="Playfair Display" panose="00000500000000000000"/>
              </a:defRPr>
            </a:lvl1pPr>
          </a:lstStyle>
          <a:p>
            <a:endParaRPr/>
          </a:p>
        </p:txBody>
      </p:sp>
      <p:sp>
        <p:nvSpPr>
          <p:cNvPr id="3" name="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MTech in Computer Network Engineering –  Major Project Phase-I  Feb 2022</a:t>
            </a:r>
          </a:p>
        </p:txBody>
      </p:sp>
      <p:sp>
        <p:nvSpPr>
          <p:cNvPr id="4" name="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45BEF0-0F14-4127-BDA9-581E69FA42F4}" type="datetime1">
              <a:rPr lang="en-US" altLang="en-US"/>
              <a:t>10/27/2026</a:t>
            </a:fld>
            <a:endParaRPr lang="en-US" altLang="en-US"/>
          </a:p>
        </p:txBody>
      </p:sp>
      <p:sp>
        <p:nvSpPr>
          <p:cNvPr id="5" name="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58FD37-B21C-4E3A-8210-39175BC1A8F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MTech in Computer Network Engineering –  Major Project Phase-I  Feb 2022</a:t>
            </a:r>
          </a:p>
        </p:txBody>
      </p:sp>
      <p:sp>
        <p:nvSpPr>
          <p:cNvPr id="3" name="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A4BE81-A416-4134-B507-67950D617D9F}" type="datetime1">
              <a:rPr lang="en-US" altLang="en-US"/>
              <a:t>10/27/2026</a:t>
            </a:fld>
            <a:endParaRPr lang="en-US" altLang="en-US"/>
          </a:p>
        </p:txBody>
      </p:sp>
      <p:sp>
        <p:nvSpPr>
          <p:cNvPr id="4" name="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9011E-713A-4C0B-ABC2-7C3A290D551D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1027" y="407987"/>
            <a:ext cx="18942050" cy="48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746377" y="2613025"/>
            <a:ext cx="14611350" cy="2271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6835777" y="10517188"/>
            <a:ext cx="6432549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US"/>
              <a:t>M.Tech in Computer Network Engineering- June 2022</a:t>
            </a:r>
            <a:endParaRPr lang="en-IN"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1004887" y="10517188"/>
            <a:ext cx="4624387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fld id="{DDCBA8C0-BF7B-4CC5-B13A-7BC327826D49}" type="datetime1">
              <a:rPr lang="en-US" smtClean="0"/>
              <a:t>10/27/2026</a:t>
            </a:fld>
            <a:endParaRPr lang="en-IN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4474826" y="10517188"/>
            <a:ext cx="4624387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fld id="{00000000-1234-1234-1234-123412341234}" type="slidenum">
              <a:rPr lang="en-US" smtClean="0"/>
              <a:t>‹#›</a:t>
            </a:fld>
            <a:endParaRPr lang="en-US" sz="1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bk object 16"/>
          <p:cNvSpPr/>
          <p:nvPr/>
        </p:nvSpPr>
        <p:spPr bwMode="auto">
          <a:xfrm>
            <a:off x="0" y="11296650"/>
            <a:ext cx="20104100" cy="0"/>
          </a:xfrm>
          <a:custGeom>
            <a:avLst/>
            <a:gdLst>
              <a:gd name="T0" fmla="*/ 0 w 20104100"/>
              <a:gd name="T1" fmla="*/ 20104099 w 20104100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20104100">
                <a:moveTo>
                  <a:pt x="0" y="0"/>
                </a:moveTo>
                <a:lnTo>
                  <a:pt x="20104099" y="0"/>
                </a:lnTo>
              </a:path>
            </a:pathLst>
          </a:custGeom>
          <a:noFill/>
          <a:ln w="22859">
            <a:solidFill>
              <a:srgbClr val="E76A8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2051" name="bk object 17"/>
          <p:cNvSpPr/>
          <p:nvPr/>
        </p:nvSpPr>
        <p:spPr bwMode="auto">
          <a:xfrm>
            <a:off x="0" y="11274425"/>
            <a:ext cx="20075525" cy="0"/>
          </a:xfrm>
          <a:custGeom>
            <a:avLst/>
            <a:gdLst>
              <a:gd name="T0" fmla="*/ 0 w 20076160"/>
              <a:gd name="T1" fmla="*/ 20042410 w 20076160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20076160">
                <a:moveTo>
                  <a:pt x="0" y="0"/>
                </a:moveTo>
                <a:lnTo>
                  <a:pt x="20076037" y="0"/>
                </a:lnTo>
              </a:path>
            </a:pathLst>
          </a:custGeom>
          <a:noFill/>
          <a:ln w="22859">
            <a:solidFill>
              <a:srgbClr val="E76A8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2052" name="bk object 18"/>
          <p:cNvSpPr/>
          <p:nvPr/>
        </p:nvSpPr>
        <p:spPr bwMode="auto">
          <a:xfrm>
            <a:off x="28575" y="47625"/>
            <a:ext cx="0" cy="11214100"/>
          </a:xfrm>
          <a:custGeom>
            <a:avLst/>
            <a:gdLst>
              <a:gd name="T0" fmla="*/ 0 h 11215370"/>
              <a:gd name="T1" fmla="*/ 11148256 h 11215370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11215370">
                <a:moveTo>
                  <a:pt x="0" y="0"/>
                </a:moveTo>
                <a:lnTo>
                  <a:pt x="0" y="11215370"/>
                </a:lnTo>
              </a:path>
            </a:pathLst>
          </a:custGeom>
          <a:noFill/>
          <a:ln w="56218">
            <a:solidFill>
              <a:srgbClr val="E76A8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2053" name="bk object 19"/>
          <p:cNvSpPr/>
          <p:nvPr/>
        </p:nvSpPr>
        <p:spPr bwMode="auto">
          <a:xfrm>
            <a:off x="0" y="23813"/>
            <a:ext cx="20104100" cy="0"/>
          </a:xfrm>
          <a:custGeom>
            <a:avLst/>
            <a:gdLst>
              <a:gd name="T0" fmla="*/ 0 w 20104100"/>
              <a:gd name="T1" fmla="*/ 20104099 w 20104100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20104100">
                <a:moveTo>
                  <a:pt x="0" y="0"/>
                </a:moveTo>
                <a:lnTo>
                  <a:pt x="20104099" y="0"/>
                </a:lnTo>
              </a:path>
            </a:pathLst>
          </a:custGeom>
          <a:noFill/>
          <a:ln w="46990">
            <a:solidFill>
              <a:srgbClr val="E76A8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2054" name="bk object 20"/>
          <p:cNvSpPr/>
          <p:nvPr/>
        </p:nvSpPr>
        <p:spPr bwMode="auto">
          <a:xfrm>
            <a:off x="20075525" y="11261725"/>
            <a:ext cx="28575" cy="23813"/>
          </a:xfrm>
          <a:custGeom>
            <a:avLst/>
            <a:gdLst>
              <a:gd name="T0" fmla="*/ 0 w 28575"/>
              <a:gd name="T1" fmla="*/ 199575 h 22859"/>
              <a:gd name="T2" fmla="*/ 28061 w 28575"/>
              <a:gd name="T3" fmla="*/ 199575 h 22859"/>
              <a:gd name="T4" fmla="*/ 28061 w 28575"/>
              <a:gd name="T5" fmla="*/ 0 h 22859"/>
              <a:gd name="T6" fmla="*/ 0 w 28575"/>
              <a:gd name="T7" fmla="*/ 0 h 22859"/>
              <a:gd name="T8" fmla="*/ 0 w 28575"/>
              <a:gd name="T9" fmla="*/ 199575 h 228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8575" h="22859">
                <a:moveTo>
                  <a:pt x="0" y="22856"/>
                </a:moveTo>
                <a:lnTo>
                  <a:pt x="28061" y="22856"/>
                </a:lnTo>
                <a:lnTo>
                  <a:pt x="28061" y="0"/>
                </a:lnTo>
                <a:lnTo>
                  <a:pt x="0" y="0"/>
                </a:lnTo>
                <a:lnTo>
                  <a:pt x="0" y="22856"/>
                </a:lnTo>
                <a:close/>
              </a:path>
            </a:pathLst>
          </a:custGeom>
          <a:solidFill>
            <a:srgbClr val="E76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2055" name="bk object 21"/>
          <p:cNvSpPr/>
          <p:nvPr/>
        </p:nvSpPr>
        <p:spPr bwMode="auto">
          <a:xfrm>
            <a:off x="20075525" y="47625"/>
            <a:ext cx="0" cy="11214100"/>
          </a:xfrm>
          <a:custGeom>
            <a:avLst/>
            <a:gdLst>
              <a:gd name="T0" fmla="*/ 0 h 11215370"/>
              <a:gd name="T1" fmla="*/ 11148256 h 11215370"/>
              <a:gd name="T2" fmla="*/ 0 60000 65536"/>
              <a:gd name="T3" fmla="*/ 0 60000 65536"/>
            </a:gdLst>
            <a:ahLst/>
            <a:cxnLst>
              <a:cxn ang="T2">
                <a:pos x="0" y="T0"/>
              </a:cxn>
              <a:cxn ang="T3">
                <a:pos x="0" y="T1"/>
              </a:cxn>
            </a:cxnLst>
            <a:rect l="0" t="0" r="r" b="b"/>
            <a:pathLst>
              <a:path h="11215370">
                <a:moveTo>
                  <a:pt x="0" y="0"/>
                </a:moveTo>
                <a:lnTo>
                  <a:pt x="0" y="11215370"/>
                </a:lnTo>
              </a:path>
            </a:pathLst>
          </a:custGeom>
          <a:noFill/>
          <a:ln w="56176">
            <a:solidFill>
              <a:srgbClr val="E76A8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2056" name="Holder 2"/>
          <p:cNvSpPr>
            <a:spLocks noGrp="1"/>
          </p:cNvSpPr>
          <p:nvPr>
            <p:ph type="title"/>
          </p:nvPr>
        </p:nvSpPr>
        <p:spPr bwMode="auto">
          <a:xfrm>
            <a:off x="581025" y="407988"/>
            <a:ext cx="18942050" cy="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2057" name="Holder 3"/>
          <p:cNvSpPr>
            <a:spLocks noGrp="1"/>
          </p:cNvSpPr>
          <p:nvPr>
            <p:ph type="body" idx="1"/>
          </p:nvPr>
        </p:nvSpPr>
        <p:spPr bwMode="auto">
          <a:xfrm>
            <a:off x="2746375" y="2613025"/>
            <a:ext cx="14611350" cy="227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775" y="10517188"/>
            <a:ext cx="6432550" cy="5667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MTech in Computer Network Engineering –  Major Project Phase-I  Feb 2022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4888" y="10517188"/>
            <a:ext cx="4624387" cy="566737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spAutoFit/>
          </a:bodyPr>
          <a:lstStyle>
            <a:lvl1pPr eaLnBrk="1" hangingPunct="1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5ED016A-ACB0-4727-B350-0E0147E433F2}" type="datetime1">
              <a:rPr lang="en-US" altLang="en-US"/>
              <a:t>10/27/2026</a:t>
            </a:fld>
            <a:endParaRPr lang="en-US" alt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825" y="10517188"/>
            <a:ext cx="4624388" cy="566737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spAutoFit/>
          </a:bodyPr>
          <a:lstStyle>
            <a:lvl1pPr algn="r" eaLnBrk="1" hangingPunct="1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5FB71A7-BD20-480F-B99C-894E6ADC2977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+mj-lt"/>
          <a:ea typeface="MS PGothic" panose="020B0600070205080204" charset="-128"/>
          <a:cs typeface="MS PGothic" panose="020B060007020508020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4572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9144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371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18288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65088" y="15875"/>
            <a:ext cx="20234275" cy="11309350"/>
          </a:xfrm>
          <a:prstGeom prst="rect">
            <a:avLst/>
          </a:prstGeom>
          <a:solidFill>
            <a:schemeClr val="accent5">
              <a:lumMod val="20000"/>
              <a:lumOff val="80000"/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8195" name="object 2"/>
          <p:cNvSpPr txBox="1">
            <a:spLocks noChangeArrowheads="1"/>
          </p:cNvSpPr>
          <p:nvPr/>
        </p:nvSpPr>
        <p:spPr bwMode="auto">
          <a:xfrm>
            <a:off x="2508250" y="5072937"/>
            <a:ext cx="18249900" cy="6918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430" rIns="0" bIns="0">
            <a:spAutoFit/>
          </a:bodyPr>
          <a:lstStyle>
            <a:lvl1pPr marL="127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/>
            <a:r>
              <a:rPr lang="en-US" alt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Srijan C Vachadmath (1BM23CD060)</a:t>
            </a:r>
          </a:p>
          <a:p>
            <a:pPr algn="ctr"/>
            <a:r>
              <a:rPr lang="en-US" alt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Manohara Salmani (1BM23CD035)</a:t>
            </a:r>
          </a:p>
          <a:p>
            <a:pPr algn="ctr"/>
            <a:r>
              <a:rPr lang="en-US" alt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Shreejith Shah (1BM23CD057)</a:t>
            </a:r>
          </a:p>
          <a:p>
            <a:endParaRPr lang="en-US" altLang="en-US" sz="4000" dirty="0"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US" altLang="en-US" sz="4000" dirty="0"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3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Dr. Kalyan N</a:t>
            </a:r>
          </a:p>
          <a:p>
            <a:pPr algn="ctr"/>
            <a:r>
              <a:rPr lang="en-US" altLang="en-US" sz="3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Assistant Professor </a:t>
            </a:r>
          </a:p>
          <a:p>
            <a:pPr algn="ctr"/>
            <a:r>
              <a:rPr lang="en-US" altLang="en-US" sz="3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CSE(Data Science)</a:t>
            </a:r>
          </a:p>
          <a:p>
            <a:pPr algn="ctr"/>
            <a:r>
              <a:rPr lang="en-US" altLang="en-US" sz="3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BMSCE, Bengaluru</a:t>
            </a:r>
          </a:p>
          <a:p>
            <a:endParaRPr lang="en-US" altLang="en-US" sz="4800" dirty="0"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6" name="object 3"/>
          <p:cNvSpPr/>
          <p:nvPr/>
        </p:nvSpPr>
        <p:spPr bwMode="auto">
          <a:xfrm>
            <a:off x="0" y="56776"/>
            <a:ext cx="8645236" cy="6110979"/>
          </a:xfrm>
          <a:custGeom>
            <a:avLst/>
            <a:gdLst>
              <a:gd name="T0" fmla="*/ 303909309 w 7436484"/>
              <a:gd name="T1" fmla="*/ 0 h 5134610"/>
              <a:gd name="T2" fmla="*/ 0 w 7436484"/>
              <a:gd name="T3" fmla="*/ 0 h 5134610"/>
              <a:gd name="T4" fmla="*/ 0 w 7436484"/>
              <a:gd name="T5" fmla="*/ 211077907 h 5134610"/>
              <a:gd name="T6" fmla="*/ 303909309 w 7436484"/>
              <a:gd name="T7" fmla="*/ 0 h 513461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436484" h="5134610">
                <a:moveTo>
                  <a:pt x="7435941" y="0"/>
                </a:moveTo>
                <a:lnTo>
                  <a:pt x="0" y="0"/>
                </a:lnTo>
                <a:lnTo>
                  <a:pt x="0" y="5134513"/>
                </a:lnTo>
                <a:lnTo>
                  <a:pt x="743594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0" tIns="0" rIns="0" bIns="0"/>
          <a:lstStyle/>
          <a:p>
            <a:endParaRPr lang="en-IN">
              <a:solidFill>
                <a:srgbClr val="FFFF00"/>
              </a:solidFill>
            </a:endParaRPr>
          </a:p>
        </p:txBody>
      </p:sp>
      <p:sp>
        <p:nvSpPr>
          <p:cNvPr id="8198" name="object 5"/>
          <p:cNvSpPr>
            <a:spLocks noChangeArrowheads="1"/>
          </p:cNvSpPr>
          <p:nvPr/>
        </p:nvSpPr>
        <p:spPr bwMode="auto">
          <a:xfrm>
            <a:off x="5603875" y="1336675"/>
            <a:ext cx="146050" cy="14763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9" name="object 6"/>
          <p:cNvSpPr txBox="1">
            <a:spLocks noChangeArrowheads="1"/>
          </p:cNvSpPr>
          <p:nvPr/>
        </p:nvSpPr>
        <p:spPr bwMode="auto">
          <a:xfrm>
            <a:off x="2508250" y="720725"/>
            <a:ext cx="3810000" cy="1231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ts val="4700"/>
              </a:lnSpc>
              <a:spcBef>
                <a:spcPts val="100"/>
              </a:spcBef>
            </a:pPr>
            <a:r>
              <a:rPr lang="en-IN" altLang="en-US" sz="4100" b="1" dirty="0">
                <a:solidFill>
                  <a:schemeClr val="bg2"/>
                </a:solidFill>
                <a:cs typeface="Calibri" panose="020F0502020204030204" charset="0"/>
              </a:rPr>
              <a:t>B.M.S. College of </a:t>
            </a:r>
          </a:p>
          <a:p>
            <a:pPr eaLnBrk="1" hangingPunct="1">
              <a:lnSpc>
                <a:spcPts val="4700"/>
              </a:lnSpc>
              <a:spcBef>
                <a:spcPts val="100"/>
              </a:spcBef>
            </a:pPr>
            <a:r>
              <a:rPr lang="en-IN" altLang="en-US" sz="4100" b="1" dirty="0">
                <a:solidFill>
                  <a:schemeClr val="bg2"/>
                </a:solidFill>
                <a:cs typeface="Calibri" panose="020F0502020204030204" charset="0"/>
              </a:rPr>
              <a:t>Engineering</a:t>
            </a:r>
            <a:endParaRPr lang="en-US" altLang="en-US" sz="4100" dirty="0">
              <a:solidFill>
                <a:schemeClr val="bg2"/>
              </a:solidFill>
              <a:cs typeface="Calibri" panose="020F0502020204030204" charset="0"/>
            </a:endParaRPr>
          </a:p>
        </p:txBody>
      </p:sp>
      <p:sp>
        <p:nvSpPr>
          <p:cNvPr id="8201" name="Text Box 4"/>
          <p:cNvSpPr txBox="1">
            <a:spLocks noChangeArrowheads="1"/>
          </p:cNvSpPr>
          <p:nvPr/>
        </p:nvSpPr>
        <p:spPr bwMode="auto">
          <a:xfrm>
            <a:off x="4119563" y="1188663"/>
            <a:ext cx="1497965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000" b="1" dirty="0">
                <a:solidFill>
                  <a:schemeClr val="bg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Project work – Phase II</a:t>
            </a:r>
          </a:p>
          <a:p>
            <a:pPr algn="ctr">
              <a:spcBef>
                <a:spcPct val="0"/>
              </a:spcBef>
            </a:pPr>
            <a:r>
              <a:rPr lang="en-IN" sz="4800" dirty="0"/>
              <a:t>23DS7PWPP2  |  Review 2</a:t>
            </a:r>
            <a:endParaRPr lang="en-US" altLang="en-US" sz="32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</a:pPr>
            <a:endParaRPr lang="en-US" altLang="en-US" sz="4000" b="1" dirty="0">
              <a:solidFill>
                <a:srgbClr val="002060"/>
              </a:solidFill>
              <a:latin typeface="Times New Roman" panose="02020603050405020304" pitchFamily="18" charset="0"/>
              <a:cs typeface="Calibri" panose="020F0502020204030204" charset="0"/>
            </a:endParaRPr>
          </a:p>
          <a:p>
            <a:pPr algn="ctr">
              <a:spcBef>
                <a:spcPct val="0"/>
              </a:spcBef>
            </a:pPr>
            <a:r>
              <a:rPr lang="en-US" alt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MandiSense AI: Where and When to Sell, with Verified Revenue Floors</a:t>
            </a:r>
            <a:endParaRPr lang="en-US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</a:pPr>
            <a:endParaRPr lang="en-US" altLang="en-US" sz="4000" dirty="0">
              <a:latin typeface="Cambria" panose="02040503050406030204" pitchFamily="18" charset="0"/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en-US" sz="4000" dirty="0">
                <a:latin typeface="Cambria" panose="02040503050406030204" pitchFamily="18" charset="0"/>
                <a:cs typeface="Arial" panose="020B0604020202020204" pitchFamily="34" charset="0"/>
              </a:rPr>
              <a:t>    </a:t>
            </a:r>
          </a:p>
        </p:txBody>
      </p:sp>
      <p:sp>
        <p:nvSpPr>
          <p:cNvPr id="8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A113630E-BEDD-460F-A1F6-2143BFA3998E}" type="slidenum">
              <a:rPr lang="en-US" altLang="en-US" smtClean="0">
                <a:solidFill>
                  <a:srgbClr val="898989"/>
                </a:solidFill>
              </a:rPr>
              <a:t>1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9399D0-30B5-4229-A2EA-13CC7C272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25" y="348456"/>
            <a:ext cx="2152650" cy="2124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6867525" y="358198"/>
            <a:ext cx="10134600" cy="750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2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36650" y="1844675"/>
            <a:ext cx="17962563" cy="69003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914400" indent="-914400" algn="just">
              <a:lnSpc>
                <a:spcPct val="135000"/>
              </a:lnSpc>
              <a:spcAft>
                <a:spcPts val="1000"/>
              </a:spcAft>
              <a:buFont typeface="+mj-lt"/>
              <a:buAutoNum type="arabicPeriod"/>
              <a:defRPr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INTRODUCTION AND OBJECTIVES</a:t>
            </a:r>
          </a:p>
          <a:p>
            <a:pPr marL="914400" indent="-914400" algn="just">
              <a:lnSpc>
                <a:spcPct val="135000"/>
              </a:lnSpc>
              <a:spcAft>
                <a:spcPts val="1000"/>
              </a:spcAft>
              <a:buFont typeface="+mj-lt"/>
              <a:buAutoNum type="arabicPeriod"/>
              <a:defRPr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METHODOLOGY AND SYSTEM ARCHITECTURE</a:t>
            </a:r>
          </a:p>
          <a:p>
            <a:pPr marL="914400" indent="-914400" algn="just">
              <a:lnSpc>
                <a:spcPct val="135000"/>
              </a:lnSpc>
              <a:spcAft>
                <a:spcPts val="1000"/>
              </a:spcAft>
              <a:buFont typeface="+mj-lt"/>
              <a:buAutoNum type="arabicPeriod"/>
              <a:defRPr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IMPLEMENTATION AND CODE QUALITY</a:t>
            </a:r>
          </a:p>
          <a:p>
            <a:pPr marL="914400" indent="-914400" algn="just">
              <a:lnSpc>
                <a:spcPct val="135000"/>
              </a:lnSpc>
              <a:spcAft>
                <a:spcPts val="1000"/>
              </a:spcAft>
              <a:buFont typeface="+mj-lt"/>
              <a:buAutoNum type="arabicPeriod"/>
              <a:defRPr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RESULTS, VALIDATION AND BENCHMARKING</a:t>
            </a:r>
          </a:p>
          <a:p>
            <a:pPr marL="914400" indent="-914400" algn="just">
              <a:lnSpc>
                <a:spcPct val="135000"/>
              </a:lnSpc>
              <a:spcAft>
                <a:spcPts val="1000"/>
              </a:spcAft>
              <a:buFont typeface="+mj-lt"/>
              <a:buAutoNum type="arabicPeriod"/>
              <a:defRPr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NOVELTY AND OPTIMIZATION</a:t>
            </a:r>
          </a:p>
          <a:p>
            <a:pPr marL="914400" indent="-914400" algn="just">
              <a:lnSpc>
                <a:spcPct val="135000"/>
              </a:lnSpc>
              <a:spcAft>
                <a:spcPts val="1000"/>
              </a:spcAft>
              <a:buFont typeface="+mj-lt"/>
              <a:buAutoNum type="arabicPeriod"/>
              <a:defRPr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PROJECT PLANNING AND RISK MANAGEMENT</a:t>
            </a:r>
          </a:p>
          <a:p>
            <a:pPr marL="914400" indent="-914400" algn="just">
              <a:lnSpc>
                <a:spcPct val="135000"/>
              </a:lnSpc>
              <a:spcAft>
                <a:spcPts val="1000"/>
              </a:spcAft>
              <a:buFont typeface="+mj-lt"/>
              <a:buAutoNum type="arabicPeriod"/>
              <a:defRPr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REPORT, DOCUMENTATION AND SDG MAPPING</a:t>
            </a:r>
          </a:p>
          <a:p>
            <a:pPr marL="914400" indent="-914400" algn="just">
              <a:lnSpc>
                <a:spcPct val="135000"/>
              </a:lnSpc>
              <a:spcAft>
                <a:spcPts val="1000"/>
              </a:spcAft>
              <a:buFont typeface="+mj-lt"/>
              <a:buAutoNum type="arabicPeriod"/>
              <a:defRPr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RESEARCH PAPER STATUS</a:t>
            </a:r>
          </a:p>
          <a:p>
            <a:pPr marL="914400" indent="-914400" algn="just">
              <a:lnSpc>
                <a:spcPct val="135000"/>
              </a:lnSpc>
              <a:spcAft>
                <a:spcPts val="1000"/>
              </a:spcAft>
              <a:buFont typeface="+mj-lt"/>
              <a:buAutoNum type="arabicPeriod"/>
              <a:defRPr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CONCLUSION AND FUTURE WORK</a:t>
            </a:r>
          </a:p>
          <a:p>
            <a:pPr marL="914400" indent="-914400" algn="just">
              <a:lnSpc>
                <a:spcPct val="135000"/>
              </a:lnSpc>
              <a:spcAft>
                <a:spcPts val="1000"/>
              </a:spcAft>
              <a:buFont typeface="+mj-lt"/>
              <a:buAutoNum type="arabicPeriod"/>
              <a:defRPr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REFERENCES</a:t>
            </a:r>
          </a:p>
          <a:p>
            <a:pPr>
              <a:defRPr/>
            </a:pPr>
            <a:endParaRPr lang="en-US" sz="3600" dirty="0">
              <a:latin typeface="+mn-lt"/>
              <a:ea typeface="Calibri" panose="020F050202020403020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A66955-D8E8-4C4E-8773-8C77725AED8F}"/>
              </a:ext>
            </a:extLst>
          </p:cNvPr>
          <p:cNvSpPr txBox="1"/>
          <p:nvPr/>
        </p:nvSpPr>
        <p:spPr>
          <a:xfrm>
            <a:off x="6420355" y="10471307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65ACCF-0D1C-4629-BED7-3A5F6D94C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Problem Statement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3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sp>
        <p:nvSpPr>
          <p:cNvPr id="900" name="Content Guidance"/>
          <p:cNvSpPr txBox="1"/>
          <p:nvPr/>
        </p:nvSpPr>
        <p:spPr>
          <a:xfrm>
            <a:off x="1005840" y="1737360"/>
            <a:ext cx="9692640" cy="69494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Context: </a:t>
            </a:r>
            <a:r>
              <a:rPr lang="en-US" sz="24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farmers in the Bengaluru–Kolar belt choose a mandi and a day with only yesterday's price. Kolar tomato ranged Rs 100–9,330 per quintal and was silent on 189 of 2,125 days.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Problem: </a:t>
            </a:r>
            <a:r>
              <a:rPr lang="en-US" sz="24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choose (mandi, hold 0–3 days) or the farm gate to maximise net revenue, and state a floor that holds.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Gap: </a:t>
            </a:r>
            <a:r>
              <a:rPr lang="en-US" sz="24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models are judged on forecast error, not decisions; reporting gaps are ignored; decompose-then-forecast gains are unaudited [1]–[6].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Scope: </a:t>
            </a:r>
            <a:r>
              <a:rPr lang="en-US" sz="24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tomato, onion, potato, ginger; Agmarknet only; offline evaluation. Garlic refused (one eligible mandi).</a:t>
            </a:r>
          </a:p>
        </p:txBody>
      </p:sp>
      <p:pic>
        <p:nvPicPr>
          <p:cNvPr id="10251" name="Picture 10250" descr="fig_intro_kolar_toma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828800"/>
            <a:ext cx="8229600" cy="3429000"/>
          </a:xfrm>
          <a:prstGeom prst="rect">
            <a:avLst/>
          </a:prstGeom>
        </p:spPr>
      </p:pic>
      <p:sp>
        <p:nvSpPr>
          <p:cNvPr id="10252" name="Rectangle 10251"/>
          <p:cNvSpPr/>
          <p:nvPr/>
        </p:nvSpPr>
        <p:spPr>
          <a:xfrm>
            <a:off x="10972800" y="5212080"/>
            <a:ext cx="2606040" cy="100584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3152" rIns="73152" tIns="36576" bIns="36576"/>
          <a:lstStyle/>
          <a:p>
            <a:pPr algn="ctr"/>
            <a:r>
              <a:rPr sz="4900" b="1" i="0">
                <a:solidFill>
                  <a:srgbClr val="1F4E79"/>
                </a:solidFill>
                <a:latin typeface="Calibri"/>
              </a:rPr>
              <a:t>63,524</a:t>
            </a:r>
          </a:p>
        </p:txBody>
      </p:sp>
      <p:sp>
        <p:nvSpPr>
          <p:cNvPr id="10253" name="Rectangle 10252"/>
          <p:cNvSpPr/>
          <p:nvPr/>
        </p:nvSpPr>
        <p:spPr>
          <a:xfrm>
            <a:off x="10972800" y="6217920"/>
            <a:ext cx="2606040" cy="82296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2000" b="0" i="0">
                <a:solidFill>
                  <a:srgbClr val="5F6B7A"/>
                </a:solidFill>
                <a:latin typeface="Calibri"/>
              </a:rPr>
              <a:t>real Agmarknet records</a:t>
            </a:r>
          </a:p>
        </p:txBody>
      </p:sp>
      <p:sp>
        <p:nvSpPr>
          <p:cNvPr id="10254" name="Rectangle 10253"/>
          <p:cNvSpPr/>
          <p:nvPr/>
        </p:nvSpPr>
        <p:spPr>
          <a:xfrm>
            <a:off x="13761720" y="5212080"/>
            <a:ext cx="2606040" cy="100584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3152" rIns="73152" tIns="36576" bIns="36576"/>
          <a:lstStyle/>
          <a:p>
            <a:pPr algn="ctr"/>
            <a:r>
              <a:rPr sz="4900" b="1" i="0">
                <a:solidFill>
                  <a:srgbClr val="1F4E79"/>
                </a:solidFill>
                <a:latin typeface="Calibri"/>
              </a:rPr>
              <a:t>36,821</a:t>
            </a:r>
          </a:p>
        </p:txBody>
      </p:sp>
      <p:sp>
        <p:nvSpPr>
          <p:cNvPr id="10255" name="Rectangle 10254"/>
          <p:cNvSpPr/>
          <p:nvPr/>
        </p:nvSpPr>
        <p:spPr>
          <a:xfrm>
            <a:off x="13761720" y="6217920"/>
            <a:ext cx="2606040" cy="82296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2000" b="0" i="0">
                <a:solidFill>
                  <a:srgbClr val="5F6B7A"/>
                </a:solidFill>
                <a:latin typeface="Calibri"/>
              </a:rPr>
              <a:t>mandi-days in the panel</a:t>
            </a:r>
          </a:p>
        </p:txBody>
      </p:sp>
      <p:sp>
        <p:nvSpPr>
          <p:cNvPr id="10256" name="Rectangle 10255"/>
          <p:cNvSpPr/>
          <p:nvPr/>
        </p:nvSpPr>
        <p:spPr>
          <a:xfrm>
            <a:off x="16550640" y="5212080"/>
            <a:ext cx="2651760" cy="100584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3152" rIns="73152" tIns="36576" bIns="36576"/>
          <a:lstStyle/>
          <a:p>
            <a:pPr algn="ctr"/>
            <a:r>
              <a:rPr sz="4900" b="1" i="0">
                <a:solidFill>
                  <a:srgbClr val="D9822B"/>
                </a:solidFill>
                <a:latin typeface="Calibri"/>
              </a:rPr>
              <a:t>4 crops</a:t>
            </a:r>
          </a:p>
        </p:txBody>
      </p:sp>
      <p:sp>
        <p:nvSpPr>
          <p:cNvPr id="10257" name="Rectangle 10256"/>
          <p:cNvSpPr/>
          <p:nvPr/>
        </p:nvSpPr>
        <p:spPr>
          <a:xfrm>
            <a:off x="16550640" y="6217920"/>
            <a:ext cx="2651760" cy="82296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2000" b="0" i="0">
                <a:solidFill>
                  <a:srgbClr val="5F6B7A"/>
                </a:solidFill>
                <a:latin typeface="Calibri"/>
              </a:rPr>
              <a:t>plus garlic refused</a:t>
            </a:r>
          </a:p>
        </p:txBody>
      </p:sp>
      <p:sp>
        <p:nvSpPr>
          <p:cNvPr id="10258" name="Rectangle 10257"/>
          <p:cNvSpPr/>
          <p:nvPr/>
        </p:nvSpPr>
        <p:spPr>
          <a:xfrm>
            <a:off x="10972800" y="7406640"/>
            <a:ext cx="8229600" cy="246888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/>
            <a:r>
              <a:rPr sz="2400" b="1" i="0">
                <a:solidFill>
                  <a:srgbClr val="1F2A44"/>
                </a:solidFill>
                <a:latin typeface="Calibri"/>
              </a:rPr>
              <a:t>Why it matters: </a:t>
            </a:r>
            <a:r>
              <a:rPr sz="2400" b="0" i="0">
                <a:solidFill>
                  <a:srgbClr val="1F2A44"/>
                </a:solidFill>
                <a:latin typeface="Calibri"/>
              </a:rPr>
              <a:t>a farmer who gambles a harvest needs a minimum expected revenue, not just a forecast. Information frictions of exactly this kind measurably hurt small sellers [7], [8].</a:t>
            </a:r>
          </a:p>
        </p:txBody>
      </p:sp>
    </p:spTree>
    <p:extLst>
      <p:ext uri="{BB962C8B-B14F-4D97-AF65-F5344CB8AC3E}">
        <p14:creationId xmlns:p14="http://schemas.microsoft.com/office/powerpoint/2010/main" val="1769017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4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sp>
        <p:nvSpPr>
          <p:cNvPr id="901" name="Content Guidance"/>
          <p:cNvSpPr txBox="1"/>
          <p:nvPr/>
        </p:nvSpPr>
        <p:spPr>
          <a:xfrm>
            <a:off x="1005840" y="1737360"/>
            <a:ext cx="18105120" cy="8229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Status: </a:t>
            </a:r>
            <a:r>
              <a:rPr lang="en-US" sz="24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6 of 8 objectives met, 1 partly met (floors, 2 of 4 crops), 1 built with a null result (spillover).</a:t>
            </a:r>
          </a:p>
        </p:txBody>
      </p:sp>
      <p:graphicFrame>
        <p:nvGraphicFramePr>
          <p:cNvPr id="10251" name="Table 10250"/>
          <p:cNvGraphicFramePr>
            <a:graphicFrameLocks noGrp="1"/>
          </p:cNvGraphicFramePr>
          <p:nvPr/>
        </p:nvGraphicFramePr>
        <p:xfrm>
          <a:off x="1005840" y="2651760"/>
          <a:ext cx="18105117" cy="724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520"/>
                <a:gridCol w="8271374"/>
                <a:gridCol w="2021891"/>
                <a:gridCol w="7352332"/>
              </a:tblGrid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Calibri"/>
                        </a:rPr>
                        <a:t>Objective (approved scope)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Real-data panel, ≥30,000 mandi-days, exclusions recorded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2E8B57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36,821 mandi-days; 63,524 records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Revenue formulation + market-choice model; ≥500 held-out days per crop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2E8B57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511–963 scored days per crop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Test label and loss effects with paired tests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2E8B57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Realised labels: −87 to −157 Rs/q; SPO+ no gain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Floor violation within 2 points of nominal 10%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D9822B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Tomato 9.0%, ginger 10.5%; onion 6.3%, potato 6.9%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FastAPI + trilingual app, tests, reproducible pipeline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2E8B57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650 passing tests; one-command pipeline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Audit decompose-then-forecast leakage; foundation-model baseline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2E8B57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+27…62% skill → −15…−1% when causal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LLM decision intelligence, grounded and verified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2E8B57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Judge caught 9/9 corrupted; 30 unit tests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Cross-commodity spillover with FDR control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C0392B"/>
                          </a:solidFill>
                          <a:latin typeface="Calibri"/>
                        </a:rPr>
                        <a:t>Null result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0 of 40 edges published: no shock episodes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9017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and System Architecture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5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sp>
        <p:nvSpPr>
          <p:cNvPr id="902" name="Content Guidance"/>
          <p:cNvSpPr txBox="1"/>
          <p:nvPr/>
        </p:nvSpPr>
        <p:spPr>
          <a:xfrm>
            <a:off x="1005840" y="1737360"/>
            <a:ext cx="18105120" cy="33832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Idea: </a:t>
            </a:r>
            <a:r>
              <a:rPr lang="en-US" sz="24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train on what the farmer would actually receive (price net of transport, shrinkage and silent markets), not on the posted price.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Action: </a:t>
            </a:r>
            <a:r>
              <a:rPr lang="en-US" sz="24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(mandi, hold 0–3 days) or farm gate; recommendation = best guaranteed revenue, with an adaptive conformal floor.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Rejected: </a:t>
            </a:r>
            <a:r>
              <a:rPr lang="en-US" sz="24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predict-then-optimise on posted prices and decompose-then-forecast hybrids (they never see a silent market, and leak the future).</a:t>
            </a:r>
          </a:p>
        </p:txBody>
      </p:sp>
      <p:sp>
        <p:nvSpPr>
          <p:cNvPr id="10251" name="Rounded Rectangle 10250"/>
          <p:cNvSpPr/>
          <p:nvPr/>
        </p:nvSpPr>
        <p:spPr>
          <a:xfrm>
            <a:off x="1005840" y="5486400"/>
            <a:ext cx="2286000" cy="1097280"/>
          </a:xfrm>
          <a:prstGeom prst="roundRect">
            <a:avLst/>
          </a:prstGeom>
          <a:solidFill>
            <a:srgbClr val="DCEBF5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1F2A44"/>
                </a:solidFill>
                <a:latin typeface="Calibri"/>
              </a:rPr>
              <a:t>Agmarknet</a:t>
            </a:r>
          </a:p>
          <a:p>
            <a:pPr algn="ctr"/>
            <a:r>
              <a:rPr sz="2200" b="1" i="0">
                <a:solidFill>
                  <a:srgbClr val="1F2A44"/>
                </a:solidFill>
                <a:latin typeface="Calibri"/>
              </a:rPr>
              <a:t>exports</a:t>
            </a:r>
          </a:p>
        </p:txBody>
      </p:sp>
      <p:sp>
        <p:nvSpPr>
          <p:cNvPr id="10252" name="Rounded Rectangle 10251"/>
          <p:cNvSpPr/>
          <p:nvPr/>
        </p:nvSpPr>
        <p:spPr>
          <a:xfrm>
            <a:off x="3657600" y="5486400"/>
            <a:ext cx="2286000" cy="1097280"/>
          </a:xfrm>
          <a:prstGeom prst="roundRect">
            <a:avLst/>
          </a:prstGeom>
          <a:solidFill>
            <a:srgbClr val="DCEBF5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1F2A44"/>
                </a:solidFill>
                <a:latin typeface="Calibri"/>
              </a:rPr>
              <a:t>Clean + audit</a:t>
            </a:r>
          </a:p>
          <a:p>
            <a:pPr algn="ctr"/>
            <a:r>
              <a:rPr sz="2200" b="1" i="0">
                <a:solidFill>
                  <a:srgbClr val="1F2A44"/>
                </a:solidFill>
                <a:latin typeface="Calibri"/>
              </a:rPr>
              <a:t>loader, checks</a:t>
            </a:r>
          </a:p>
        </p:txBody>
      </p:sp>
      <p:sp>
        <p:nvSpPr>
          <p:cNvPr id="10253" name="Rounded Rectangle 10252"/>
          <p:cNvSpPr/>
          <p:nvPr/>
        </p:nvSpPr>
        <p:spPr>
          <a:xfrm>
            <a:off x="6309360" y="5486400"/>
            <a:ext cx="2286000" cy="1097280"/>
          </a:xfrm>
          <a:prstGeom prst="roundRect">
            <a:avLst/>
          </a:prstGeom>
          <a:solidFill>
            <a:srgbClr val="DCEBF5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1F2A44"/>
                </a:solidFill>
                <a:latin typeface="Calibri"/>
              </a:rPr>
              <a:t>Market panel,</a:t>
            </a:r>
          </a:p>
          <a:p>
            <a:pPr algn="ctr"/>
            <a:r>
              <a:rPr sz="2200" b="1" i="0">
                <a:solidFill>
                  <a:srgbClr val="1F2A44"/>
                </a:solidFill>
                <a:latin typeface="Calibri"/>
              </a:rPr>
              <a:t>observation store</a:t>
            </a:r>
          </a:p>
        </p:txBody>
      </p:sp>
      <p:cxnSp>
        <p:nvCxnSpPr>
          <p:cNvPr id="10254" name="Connector 10253"/>
          <p:cNvCxnSpPr/>
          <p:nvPr/>
        </p:nvCxnSpPr>
        <p:spPr>
          <a:xfrm>
            <a:off x="3291840" y="6035040"/>
            <a:ext cx="365760" cy="0"/>
          </a:xfrm>
          <a:prstGeom prst="line">
            <a:avLst/>
          </a:prstGeom>
          <a:ln w="28575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5" name="Connector 10254"/>
          <p:cNvCxnSpPr/>
          <p:nvPr/>
        </p:nvCxnSpPr>
        <p:spPr>
          <a:xfrm>
            <a:off x="5943600" y="6035040"/>
            <a:ext cx="365760" cy="0"/>
          </a:xfrm>
          <a:prstGeom prst="line">
            <a:avLst/>
          </a:prstGeom>
          <a:ln w="28575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6" name="Rounded Rectangle 10255"/>
          <p:cNvSpPr/>
          <p:nvPr/>
        </p:nvSpPr>
        <p:spPr>
          <a:xfrm>
            <a:off x="9509760" y="4572000"/>
            <a:ext cx="3017520" cy="1097280"/>
          </a:xfrm>
          <a:prstGeom prst="roundRect">
            <a:avLst/>
          </a:prstGeom>
          <a:solidFill>
            <a:srgbClr val="DCEBF5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1F2A44"/>
                </a:solidFill>
                <a:latin typeface="Calibri"/>
              </a:rPr>
              <a:t>Market-choice engines</a:t>
            </a:r>
          </a:p>
          <a:p>
            <a:pPr algn="ctr"/>
            <a:r>
              <a:rPr sz="2200" b="1" i="0">
                <a:solidFill>
                  <a:srgbClr val="1F2A44"/>
                </a:solidFill>
                <a:latin typeface="Calibri"/>
              </a:rPr>
              <a:t>+ conformal floors</a:t>
            </a:r>
          </a:p>
        </p:txBody>
      </p:sp>
      <p:cxnSp>
        <p:nvCxnSpPr>
          <p:cNvPr id="10257" name="Connector 10256"/>
          <p:cNvCxnSpPr/>
          <p:nvPr/>
        </p:nvCxnSpPr>
        <p:spPr>
          <a:xfrm flipV="1">
            <a:off x="8595360" y="5120640"/>
            <a:ext cx="914400" cy="914400"/>
          </a:xfrm>
          <a:prstGeom prst="line">
            <a:avLst/>
          </a:prstGeom>
          <a:ln w="28575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8" name="Connector 10257"/>
          <p:cNvCxnSpPr/>
          <p:nvPr/>
        </p:nvCxnSpPr>
        <p:spPr>
          <a:xfrm>
            <a:off x="12527280" y="5120640"/>
            <a:ext cx="822960" cy="1188719"/>
          </a:xfrm>
          <a:prstGeom prst="line">
            <a:avLst/>
          </a:prstGeom>
          <a:ln w="28575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9" name="Rounded Rectangle 10258"/>
          <p:cNvSpPr/>
          <p:nvPr/>
        </p:nvSpPr>
        <p:spPr>
          <a:xfrm>
            <a:off x="9509760" y="5943600"/>
            <a:ext cx="3017520" cy="1097280"/>
          </a:xfrm>
          <a:prstGeom prst="roundRect">
            <a:avLst/>
          </a:prstGeom>
          <a:solidFill>
            <a:srgbClr val="DCEBF5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1F2A44"/>
                </a:solidFill>
                <a:latin typeface="Calibri"/>
              </a:rPr>
              <a:t>Forecasters</a:t>
            </a:r>
          </a:p>
          <a:p>
            <a:pPr algn="ctr"/>
            <a:r>
              <a:rPr sz="2200" b="1" i="0">
                <a:solidFill>
                  <a:srgbClr val="1F2A44"/>
                </a:solidFill>
                <a:latin typeface="Calibri"/>
              </a:rPr>
              <a:t>+ specialist council</a:t>
            </a:r>
          </a:p>
        </p:txBody>
      </p:sp>
      <p:cxnSp>
        <p:nvCxnSpPr>
          <p:cNvPr id="10260" name="Connector 10259"/>
          <p:cNvCxnSpPr/>
          <p:nvPr/>
        </p:nvCxnSpPr>
        <p:spPr>
          <a:xfrm>
            <a:off x="8595360" y="6035040"/>
            <a:ext cx="914400" cy="457200"/>
          </a:xfrm>
          <a:prstGeom prst="line">
            <a:avLst/>
          </a:prstGeom>
          <a:ln w="28575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1" name="Connector 10260"/>
          <p:cNvCxnSpPr/>
          <p:nvPr/>
        </p:nvCxnSpPr>
        <p:spPr>
          <a:xfrm flipV="1">
            <a:off x="12527280" y="6309359"/>
            <a:ext cx="822960" cy="182881"/>
          </a:xfrm>
          <a:prstGeom prst="line">
            <a:avLst/>
          </a:prstGeom>
          <a:ln w="28575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2" name="Rounded Rectangle 10261"/>
          <p:cNvSpPr/>
          <p:nvPr/>
        </p:nvSpPr>
        <p:spPr>
          <a:xfrm>
            <a:off x="9509760" y="7315200"/>
            <a:ext cx="3017520" cy="1097280"/>
          </a:xfrm>
          <a:prstGeom prst="roundRect">
            <a:avLst/>
          </a:prstGeom>
          <a:solidFill>
            <a:srgbClr val="DCEBF5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1F2A44"/>
                </a:solidFill>
                <a:latin typeface="Calibri"/>
              </a:rPr>
              <a:t>Shock study</a:t>
            </a:r>
          </a:p>
          <a:p>
            <a:pPr algn="ctr"/>
            <a:r>
              <a:rPr sz="2200" b="1" i="0">
                <a:solidFill>
                  <a:srgbClr val="1F2A44"/>
                </a:solidFill>
                <a:latin typeface="Calibri"/>
              </a:rPr>
              <a:t>+ spillover</a:t>
            </a:r>
          </a:p>
        </p:txBody>
      </p:sp>
      <p:cxnSp>
        <p:nvCxnSpPr>
          <p:cNvPr id="10263" name="Connector 10262"/>
          <p:cNvCxnSpPr/>
          <p:nvPr/>
        </p:nvCxnSpPr>
        <p:spPr>
          <a:xfrm>
            <a:off x="8595360" y="6035040"/>
            <a:ext cx="914400" cy="1828800"/>
          </a:xfrm>
          <a:prstGeom prst="line">
            <a:avLst/>
          </a:prstGeom>
          <a:ln w="28575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4" name="Connector 10263"/>
          <p:cNvCxnSpPr/>
          <p:nvPr/>
        </p:nvCxnSpPr>
        <p:spPr>
          <a:xfrm flipV="1">
            <a:off x="12527280" y="6309359"/>
            <a:ext cx="822960" cy="1554481"/>
          </a:xfrm>
          <a:prstGeom prst="line">
            <a:avLst/>
          </a:prstGeom>
          <a:ln w="28575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5" name="Rounded Rectangle 10264"/>
          <p:cNvSpPr/>
          <p:nvPr/>
        </p:nvSpPr>
        <p:spPr>
          <a:xfrm>
            <a:off x="13350240" y="5349240"/>
            <a:ext cx="2651760" cy="13716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FastAPI service</a:t>
            </a:r>
          </a:p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farmer · trader · chat</a:t>
            </a:r>
          </a:p>
        </p:txBody>
      </p:sp>
      <p:sp>
        <p:nvSpPr>
          <p:cNvPr id="10266" name="Rounded Rectangle 10265"/>
          <p:cNvSpPr/>
          <p:nvPr/>
        </p:nvSpPr>
        <p:spPr>
          <a:xfrm>
            <a:off x="16550640" y="5349240"/>
            <a:ext cx="2560320" cy="137160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Next.js app</a:t>
            </a:r>
          </a:p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EN · KN · HI</a:t>
            </a:r>
          </a:p>
        </p:txBody>
      </p:sp>
      <p:cxnSp>
        <p:nvCxnSpPr>
          <p:cNvPr id="10267" name="Connector 10266"/>
          <p:cNvCxnSpPr/>
          <p:nvPr/>
        </p:nvCxnSpPr>
        <p:spPr>
          <a:xfrm>
            <a:off x="16002000" y="6035040"/>
            <a:ext cx="548640" cy="0"/>
          </a:xfrm>
          <a:prstGeom prst="line">
            <a:avLst/>
          </a:prstGeom>
          <a:ln w="28575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8" name="Rounded Rectangle 10267"/>
          <p:cNvSpPr/>
          <p:nvPr/>
        </p:nvSpPr>
        <p:spPr>
          <a:xfrm>
            <a:off x="13350240" y="7589520"/>
            <a:ext cx="5760720" cy="1280160"/>
          </a:xfrm>
          <a:prstGeom prst="round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100" b="1" i="0">
                <a:solidFill>
                  <a:srgbClr val="FFFFFF"/>
                </a:solidFill>
                <a:latin typeface="Calibri"/>
              </a:rPr>
              <a:t>Language layer: decision-intelligence briefs,</a:t>
            </a:r>
          </a:p>
          <a:p>
            <a:pPr algn="ctr"/>
            <a:r>
              <a:rPr sz="2100" b="1" i="0">
                <a:solidFill>
                  <a:srgbClr val="FFFFFF"/>
                </a:solidFill>
                <a:latin typeface="Calibri"/>
              </a:rPr>
              <a:t>explanation writer + independent judge</a:t>
            </a:r>
          </a:p>
        </p:txBody>
      </p:sp>
      <p:cxnSp>
        <p:nvCxnSpPr>
          <p:cNvPr id="10269" name="Connector 10268"/>
          <p:cNvCxnSpPr/>
          <p:nvPr/>
        </p:nvCxnSpPr>
        <p:spPr>
          <a:xfrm flipH="1" flipV="1">
            <a:off x="15453359" y="6903720"/>
            <a:ext cx="731521" cy="685800"/>
          </a:xfrm>
          <a:prstGeom prst="line">
            <a:avLst/>
          </a:prstGeom>
          <a:ln w="28575">
            <a:solidFill>
              <a:srgbClr val="D982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0" name="TextBox 10269"/>
          <p:cNvSpPr txBox="1"/>
          <p:nvPr/>
        </p:nvSpPr>
        <p:spPr>
          <a:xfrm>
            <a:off x="1005840" y="9052560"/>
            <a:ext cx="1810512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300" b="0" i="1">
                <a:solidFill>
                  <a:srgbClr val="5F6B7A"/>
                </a:solidFill>
                <a:latin typeface="Calibri"/>
              </a:rPr>
              <a:t>Data layer → model layer → service layer → language layer → presentation layer. All results use real portal records; no synthetic data enter any result.</a:t>
            </a:r>
          </a:p>
        </p:txBody>
      </p:sp>
    </p:spTree>
    <p:extLst>
      <p:ext uri="{BB962C8B-B14F-4D97-AF65-F5344CB8AC3E}">
        <p14:creationId xmlns:p14="http://schemas.microsoft.com/office/powerpoint/2010/main" val="1769017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System Integration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6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sp>
        <p:nvSpPr>
          <p:cNvPr id="903" name="Content Guidance"/>
          <p:cNvSpPr txBox="1"/>
          <p:nvPr/>
        </p:nvSpPr>
        <p:spPr>
          <a:xfrm>
            <a:off x="1005840" y="1737360"/>
            <a:ext cx="18105120" cy="33832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Integrated: </a:t>
            </a:r>
            <a:r>
              <a:rPr lang="en-US" sz="25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one pipeline command runs 12 stages from raw exports to tests; API, web app, engines and language layer share one data store.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Manual: </a:t>
            </a:r>
            <a:r>
              <a:rPr lang="en-US" sz="25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refreshing Agmarknet exports (download by hand); public deployment config exists but is not verified live.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Defects fixed: </a:t>
            </a:r>
            <a:r>
              <a:rPr lang="en-US" sz="25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NumPy 2 broke pandas; fresh clone missed the observation store; hard deletion emptied trader pages; council weights summed above 1.</a:t>
            </a:r>
          </a:p>
        </p:txBody>
      </p:sp>
      <p:sp>
        <p:nvSpPr>
          <p:cNvPr id="10251" name="Rounded Rectangle 10250"/>
          <p:cNvSpPr/>
          <p:nvPr/>
        </p:nvSpPr>
        <p:spPr>
          <a:xfrm>
            <a:off x="1005840" y="5394960"/>
            <a:ext cx="1627632" cy="1051560"/>
          </a:xfrm>
          <a:prstGeom prst="roundRect">
            <a:avLst/>
          </a:prstGeom>
          <a:solidFill>
            <a:srgbClr val="DCEBF5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/>
            <a:r>
              <a:rPr sz="2100" b="1" i="0">
                <a:solidFill>
                  <a:srgbClr val="1F2A44"/>
                </a:solidFill>
                <a:latin typeface="Calibri"/>
              </a:rPr>
              <a:t>world</a:t>
            </a:r>
          </a:p>
        </p:txBody>
      </p:sp>
      <p:cxnSp>
        <p:nvCxnSpPr>
          <p:cNvPr id="10252" name="Connector 10251"/>
          <p:cNvCxnSpPr/>
          <p:nvPr/>
        </p:nvCxnSpPr>
        <p:spPr>
          <a:xfrm>
            <a:off x="2633472" y="5920740"/>
            <a:ext cx="173736" cy="0"/>
          </a:xfrm>
          <a:prstGeom prst="line">
            <a:avLst/>
          </a:prstGeom>
          <a:ln w="25400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3" name="Rounded Rectangle 10252"/>
          <p:cNvSpPr/>
          <p:nvPr/>
        </p:nvSpPr>
        <p:spPr>
          <a:xfrm>
            <a:off x="2807208" y="5394960"/>
            <a:ext cx="1627632" cy="1051560"/>
          </a:xfrm>
          <a:prstGeom prst="roundRect">
            <a:avLst/>
          </a:prstGeom>
          <a:solidFill>
            <a:srgbClr val="DCEBF5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/>
            <a:r>
              <a:rPr sz="2100" b="1" i="0">
                <a:solidFill>
                  <a:srgbClr val="1F2A44"/>
                </a:solidFill>
                <a:latin typeface="Calibri"/>
              </a:rPr>
              <a:t>forecasts</a:t>
            </a:r>
          </a:p>
        </p:txBody>
      </p:sp>
      <p:cxnSp>
        <p:nvCxnSpPr>
          <p:cNvPr id="10254" name="Connector 10253"/>
          <p:cNvCxnSpPr/>
          <p:nvPr/>
        </p:nvCxnSpPr>
        <p:spPr>
          <a:xfrm>
            <a:off x="4434840" y="5920740"/>
            <a:ext cx="173736" cy="0"/>
          </a:xfrm>
          <a:prstGeom prst="line">
            <a:avLst/>
          </a:prstGeom>
          <a:ln w="25400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5" name="Rounded Rectangle 10254"/>
          <p:cNvSpPr/>
          <p:nvPr/>
        </p:nvSpPr>
        <p:spPr>
          <a:xfrm>
            <a:off x="4608576" y="5394960"/>
            <a:ext cx="1627632" cy="1051560"/>
          </a:xfrm>
          <a:prstGeom prst="roundRect">
            <a:avLst/>
          </a:prstGeom>
          <a:solidFill>
            <a:srgbClr val="DCEBF5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/>
            <a:r>
              <a:rPr sz="2100" b="1" i="0">
                <a:solidFill>
                  <a:srgbClr val="1F2A44"/>
                </a:solidFill>
                <a:latin typeface="Calibri"/>
              </a:rPr>
              <a:t>market</a:t>
            </a:r>
          </a:p>
          <a:p>
            <a:pPr algn="ctr"/>
            <a:r>
              <a:rPr sz="2100" b="1" i="0">
                <a:solidFill>
                  <a:srgbClr val="1F2A44"/>
                </a:solidFill>
                <a:latin typeface="Calibri"/>
              </a:rPr>
              <a:t>choice</a:t>
            </a:r>
          </a:p>
        </p:txBody>
      </p:sp>
      <p:cxnSp>
        <p:nvCxnSpPr>
          <p:cNvPr id="10256" name="Connector 10255"/>
          <p:cNvCxnSpPr/>
          <p:nvPr/>
        </p:nvCxnSpPr>
        <p:spPr>
          <a:xfrm>
            <a:off x="6236208" y="5920740"/>
            <a:ext cx="173736" cy="0"/>
          </a:xfrm>
          <a:prstGeom prst="line">
            <a:avLst/>
          </a:prstGeom>
          <a:ln w="25400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7" name="Rounded Rectangle 10256"/>
          <p:cNvSpPr/>
          <p:nvPr/>
        </p:nvSpPr>
        <p:spPr>
          <a:xfrm>
            <a:off x="6409944" y="5394960"/>
            <a:ext cx="1627632" cy="1051560"/>
          </a:xfrm>
          <a:prstGeom prst="roundRect">
            <a:avLst/>
          </a:prstGeom>
          <a:solidFill>
            <a:srgbClr val="DCEBF5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/>
            <a:r>
              <a:rPr sz="2100" b="1" i="0">
                <a:solidFill>
                  <a:srgbClr val="1F2A44"/>
                </a:solidFill>
                <a:latin typeface="Calibri"/>
              </a:rPr>
              <a:t>transmission</a:t>
            </a:r>
          </a:p>
        </p:txBody>
      </p:sp>
      <p:cxnSp>
        <p:nvCxnSpPr>
          <p:cNvPr id="10258" name="Connector 10257"/>
          <p:cNvCxnSpPr/>
          <p:nvPr/>
        </p:nvCxnSpPr>
        <p:spPr>
          <a:xfrm>
            <a:off x="8037575" y="5920740"/>
            <a:ext cx="173736" cy="0"/>
          </a:xfrm>
          <a:prstGeom prst="line">
            <a:avLst/>
          </a:prstGeom>
          <a:ln w="25400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9" name="Rounded Rectangle 10258"/>
          <p:cNvSpPr/>
          <p:nvPr/>
        </p:nvSpPr>
        <p:spPr>
          <a:xfrm>
            <a:off x="8211312" y="5394960"/>
            <a:ext cx="1627632" cy="1051560"/>
          </a:xfrm>
          <a:prstGeom prst="roundRect">
            <a:avLst/>
          </a:prstGeom>
          <a:solidFill>
            <a:srgbClr val="DCEBF5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/>
            <a:r>
              <a:rPr sz="2100" b="1" i="0">
                <a:solidFill>
                  <a:srgbClr val="1F2A44"/>
                </a:solidFill>
                <a:latin typeface="Calibri"/>
              </a:rPr>
              <a:t>shock</a:t>
            </a:r>
          </a:p>
        </p:txBody>
      </p:sp>
      <p:cxnSp>
        <p:nvCxnSpPr>
          <p:cNvPr id="10260" name="Connector 10259"/>
          <p:cNvCxnSpPr/>
          <p:nvPr/>
        </p:nvCxnSpPr>
        <p:spPr>
          <a:xfrm>
            <a:off x="9838944" y="5920740"/>
            <a:ext cx="173736" cy="0"/>
          </a:xfrm>
          <a:prstGeom prst="line">
            <a:avLst/>
          </a:prstGeom>
          <a:ln w="25400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1" name="Rounded Rectangle 10260"/>
          <p:cNvSpPr/>
          <p:nvPr/>
        </p:nvSpPr>
        <p:spPr>
          <a:xfrm>
            <a:off x="10012680" y="5394960"/>
            <a:ext cx="1627632" cy="1051560"/>
          </a:xfrm>
          <a:prstGeom prst="roundRect">
            <a:avLst/>
          </a:prstGeom>
          <a:solidFill>
            <a:srgbClr val="DCEBF5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/>
            <a:r>
              <a:rPr sz="2100" b="1" i="0">
                <a:solidFill>
                  <a:srgbClr val="1F2A44"/>
                </a:solidFill>
                <a:latin typeface="Calibri"/>
              </a:rPr>
              <a:t>spillover</a:t>
            </a:r>
          </a:p>
        </p:txBody>
      </p:sp>
      <p:cxnSp>
        <p:nvCxnSpPr>
          <p:cNvPr id="10262" name="Connector 10261"/>
          <p:cNvCxnSpPr/>
          <p:nvPr/>
        </p:nvCxnSpPr>
        <p:spPr>
          <a:xfrm>
            <a:off x="11640311" y="5920740"/>
            <a:ext cx="173736" cy="0"/>
          </a:xfrm>
          <a:prstGeom prst="line">
            <a:avLst/>
          </a:prstGeom>
          <a:ln w="25400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3" name="Rounded Rectangle 10262"/>
          <p:cNvSpPr/>
          <p:nvPr/>
        </p:nvSpPr>
        <p:spPr>
          <a:xfrm>
            <a:off x="11814048" y="5394960"/>
            <a:ext cx="1627632" cy="1051560"/>
          </a:xfrm>
          <a:prstGeom prst="roundRect">
            <a:avLst/>
          </a:prstGeom>
          <a:solidFill>
            <a:srgbClr val="DCEBF5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/>
            <a:r>
              <a:rPr sz="2100" b="1" i="0">
                <a:solidFill>
                  <a:srgbClr val="1F2A44"/>
                </a:solidFill>
                <a:latin typeface="Calibri"/>
              </a:rPr>
              <a:t>council</a:t>
            </a:r>
          </a:p>
        </p:txBody>
      </p:sp>
      <p:cxnSp>
        <p:nvCxnSpPr>
          <p:cNvPr id="10264" name="Connector 10263"/>
          <p:cNvCxnSpPr/>
          <p:nvPr/>
        </p:nvCxnSpPr>
        <p:spPr>
          <a:xfrm>
            <a:off x="13441680" y="5920740"/>
            <a:ext cx="173735" cy="0"/>
          </a:xfrm>
          <a:prstGeom prst="line">
            <a:avLst/>
          </a:prstGeom>
          <a:ln w="25400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5" name="Rounded Rectangle 10264"/>
          <p:cNvSpPr/>
          <p:nvPr/>
        </p:nvSpPr>
        <p:spPr>
          <a:xfrm>
            <a:off x="13615415" y="5394960"/>
            <a:ext cx="1627632" cy="1051560"/>
          </a:xfrm>
          <a:prstGeom prst="roundRect">
            <a:avLst/>
          </a:prstGeom>
          <a:solidFill>
            <a:srgbClr val="DCEBF5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/>
            <a:r>
              <a:rPr sz="2100" b="1" i="0">
                <a:solidFill>
                  <a:srgbClr val="1F2A44"/>
                </a:solidFill>
                <a:latin typeface="Calibri"/>
              </a:rPr>
              <a:t>research</a:t>
            </a:r>
          </a:p>
          <a:p>
            <a:pPr algn="ctr"/>
            <a:r>
              <a:rPr sz="2100" b="1" i="0">
                <a:solidFill>
                  <a:srgbClr val="1F2A44"/>
                </a:solidFill>
                <a:latin typeface="Calibri"/>
              </a:rPr>
              <a:t>evidence</a:t>
            </a:r>
          </a:p>
        </p:txBody>
      </p:sp>
      <p:cxnSp>
        <p:nvCxnSpPr>
          <p:cNvPr id="10266" name="Connector 10265"/>
          <p:cNvCxnSpPr/>
          <p:nvPr/>
        </p:nvCxnSpPr>
        <p:spPr>
          <a:xfrm>
            <a:off x="15243047" y="5920740"/>
            <a:ext cx="173737" cy="0"/>
          </a:xfrm>
          <a:prstGeom prst="line">
            <a:avLst/>
          </a:prstGeom>
          <a:ln w="25400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7" name="Rounded Rectangle 10266"/>
          <p:cNvSpPr/>
          <p:nvPr/>
        </p:nvSpPr>
        <p:spPr>
          <a:xfrm>
            <a:off x="15416784" y="5394960"/>
            <a:ext cx="1627632" cy="1051560"/>
          </a:xfrm>
          <a:prstGeom prst="roundRect">
            <a:avLst/>
          </a:prstGeom>
          <a:solidFill>
            <a:srgbClr val="DCEBF5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/>
            <a:r>
              <a:rPr sz="2100" b="1" i="0">
                <a:solidFill>
                  <a:srgbClr val="1F2A44"/>
                </a:solidFill>
                <a:latin typeface="Calibri"/>
              </a:rPr>
              <a:t>results</a:t>
            </a:r>
          </a:p>
          <a:p>
            <a:pPr algn="ctr"/>
            <a:r>
              <a:rPr sz="2100" b="1" i="0">
                <a:solidFill>
                  <a:srgbClr val="1F2A44"/>
                </a:solidFill>
                <a:latin typeface="Calibri"/>
              </a:rPr>
              <a:t>doc</a:t>
            </a:r>
          </a:p>
        </p:txBody>
      </p:sp>
      <p:cxnSp>
        <p:nvCxnSpPr>
          <p:cNvPr id="10268" name="Connector 10267"/>
          <p:cNvCxnSpPr/>
          <p:nvPr/>
        </p:nvCxnSpPr>
        <p:spPr>
          <a:xfrm>
            <a:off x="17044416" y="5920740"/>
            <a:ext cx="173736" cy="0"/>
          </a:xfrm>
          <a:prstGeom prst="line">
            <a:avLst/>
          </a:prstGeom>
          <a:ln w="25400">
            <a:solidFill>
              <a:srgbClr val="5F6B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9" name="Rounded Rectangle 10268"/>
          <p:cNvSpPr/>
          <p:nvPr/>
        </p:nvSpPr>
        <p:spPr>
          <a:xfrm>
            <a:off x="17218152" y="5394960"/>
            <a:ext cx="1627632" cy="1051560"/>
          </a:xfrm>
          <a:prstGeom prst="roundRect">
            <a:avLst/>
          </a:prstGeom>
          <a:solidFill>
            <a:srgbClr val="2E8B5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/>
            <a:r>
              <a:rPr sz="2100" b="1" i="0">
                <a:solidFill>
                  <a:srgbClr val="FFFFFF"/>
                </a:solidFill>
                <a:latin typeface="Calibri"/>
              </a:rPr>
              <a:t>tests</a:t>
            </a:r>
          </a:p>
        </p:txBody>
      </p:sp>
      <p:sp>
        <p:nvSpPr>
          <p:cNvPr id="10270" name="TextBox 10269"/>
          <p:cNvSpPr txBox="1"/>
          <p:nvPr/>
        </p:nvSpPr>
        <p:spPr>
          <a:xfrm>
            <a:off x="1005840" y="6720840"/>
            <a:ext cx="1810512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100" b="0" i="1">
                <a:solidFill>
                  <a:srgbClr val="5F6B7A"/>
                </a:solidFill>
                <a:latin typeface="Calibri"/>
              </a:rPr>
              <a:t>scripts/pipeline.py: each stage has declared outputs; run alone, skipped, or dry-run (--list, --only, --skip, --dry-run)</a:t>
            </a:r>
          </a:p>
        </p:txBody>
      </p:sp>
      <p:pic>
        <p:nvPicPr>
          <p:cNvPr id="10271" name="Picture 10270" descr="ui_farmer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7315200"/>
            <a:ext cx="2735885" cy="3017520"/>
          </a:xfrm>
          <a:prstGeom prst="rect">
            <a:avLst/>
          </a:prstGeom>
        </p:spPr>
      </p:pic>
      <p:pic>
        <p:nvPicPr>
          <p:cNvPr id="10272" name="Picture 10271" descr="ui_market_cho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1765" y="7315200"/>
            <a:ext cx="2414016" cy="3017520"/>
          </a:xfrm>
          <a:prstGeom prst="rect">
            <a:avLst/>
          </a:prstGeom>
        </p:spPr>
      </p:pic>
      <p:pic>
        <p:nvPicPr>
          <p:cNvPr id="10273" name="Picture 10272" descr="ui_trader_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5821" y="7315200"/>
            <a:ext cx="2735885" cy="3017520"/>
          </a:xfrm>
          <a:prstGeom prst="rect">
            <a:avLst/>
          </a:prstGeom>
        </p:spPr>
      </p:pic>
      <p:sp>
        <p:nvSpPr>
          <p:cNvPr id="10274" name="Rectangle 10273"/>
          <p:cNvSpPr/>
          <p:nvPr/>
        </p:nvSpPr>
        <p:spPr>
          <a:xfrm>
            <a:off x="14996159" y="7315200"/>
            <a:ext cx="4114800" cy="301752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2000" b="1" i="0">
                <a:solidFill>
                  <a:srgbClr val="1F2A44"/>
                </a:solidFill>
                <a:latin typeface="Calibri"/>
              </a:rPr>
              <a:t>Endpoints: </a:t>
            </a:r>
            <a:r>
              <a:rPr sz="2000" b="0" i="0">
                <a:solidFill>
                  <a:srgbClr val="1F2A44"/>
                </a:solidFill>
                <a:latin typeface="Calibri"/>
              </a:rPr>
              <a:t>/v1/market-choice, /v1/farmer, /v1/trader, /v1/shock, /v1/council, /v1/spillover, /v1/intelligence, /v1/chat</a:t>
            </a:r>
          </a:p>
        </p:txBody>
      </p:sp>
    </p:spTree>
    <p:extLst>
      <p:ext uri="{BB962C8B-B14F-4D97-AF65-F5344CB8AC3E}">
        <p14:creationId xmlns:p14="http://schemas.microsoft.com/office/powerpoint/2010/main" val="1769017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Tools, Technology Stack and Code Quality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7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sp>
        <p:nvSpPr>
          <p:cNvPr id="904" name="Content Guidance"/>
          <p:cNvSpPr txBox="1"/>
          <p:nvPr/>
        </p:nvSpPr>
        <p:spPr>
          <a:xfrm>
            <a:off x="1005840" y="1737360"/>
            <a:ext cx="18105120" cy="27432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Repository: </a:t>
            </a:r>
            <a:r>
              <a:rPr lang="en-US" sz="24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Git, 69 commits; README, requirements.lock, docs for architecture, tool choices, shock study, council and LLM evaluation; CI workflow.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Reproducible: </a:t>
            </a:r>
            <a:r>
              <a:rPr lang="en-US" sz="24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pipeline.py regenerates all artefacts; the thesis tables are generated from them, not typed.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Tested: </a:t>
            </a:r>
            <a:r>
              <a:rPr lang="en-US" sz="24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650 tests passing (engines, API, trader/farmer, council, shock, spillover, chat); vitest for the web app; headless UI smoke test; fresh-clone check.</a:t>
            </a:r>
          </a:p>
        </p:txBody>
      </p:sp>
      <p:graphicFrame>
        <p:nvGraphicFramePr>
          <p:cNvPr id="10251" name="Table 10250"/>
          <p:cNvGraphicFramePr>
            <a:graphicFrameLocks noGrp="1"/>
          </p:cNvGraphicFramePr>
          <p:nvPr/>
        </p:nvGraphicFramePr>
        <p:xfrm>
          <a:off x="1005840" y="4297680"/>
          <a:ext cx="18105118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9473"/>
                <a:gridCol w="9597894"/>
                <a:gridCol w="6107751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Tool (version)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Why chosen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2100" b="1">
                          <a:solidFill>
                            <a:srgbClr val="1F2A44"/>
                          </a:solidFill>
                          <a:latin typeface="Calibri"/>
                        </a:rPr>
                        <a:t>Data / stats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NumPy 1.26.4, pandas 2.1.4, SciPy 1.11.4, statsmodels 0.14.1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tested, pinned stack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2100" b="1">
                          <a:solidFill>
                            <a:srgbClr val="1F2A44"/>
                          </a:solidFill>
                          <a:latin typeface="Calibri"/>
                        </a:rPr>
                        <a:t>Learning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LightGBM 4.6.0, XGBoost 2.0.3, scikit-learn 1.3.2, Optuna, PyTorch (research env)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trees win on tabular [19]; Optuna TPE [20]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2100" b="1">
                          <a:solidFill>
                            <a:srgbClr val="1F2A44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FastAPI 0.136.1, Uvicorn 0.46.0, Pydantic 2.13.3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typed requests, auto API docs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2100" b="1">
                          <a:solidFill>
                            <a:srgbClr val="1F2A44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Next.js 16.2.4, React 19.2.4, TypeScript 5, Tailwind 4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fast pages on weak connections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2100" b="1">
                          <a:solidFill>
                            <a:srgbClr val="1F2A44"/>
                          </a:solidFill>
                          <a:latin typeface="Calibri"/>
                        </a:rPr>
                        <a:t>Language layer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gpt-oss-120b writer, Qwen judge (Groq); Claude provider optional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two model families; deterministic fallback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2100" b="1">
                          <a:solidFill>
                            <a:srgbClr val="1F2A44"/>
                          </a:solidFill>
                          <a:latin typeface="Calibri"/>
                        </a:rPr>
                        <a:t>Quality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pytest 9.0.3, vitest 3.2, GitHub Actions, Docker, Render file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automated checks on every push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9017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and Evaluation Metrics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8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sp>
        <p:nvSpPr>
          <p:cNvPr id="905" name="Content Guidance"/>
          <p:cNvSpPr txBox="1"/>
          <p:nvPr/>
        </p:nvSpPr>
        <p:spPr>
          <a:xfrm>
            <a:off x="1005840" y="1737360"/>
            <a:ext cx="18105120" cy="4572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Split: </a:t>
            </a:r>
            <a:r>
              <a:rPr lang="en-US" sz="25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nested walk-forward, 5 outer blocks (2024-H1 → 2026-10); inner validation by Optuna (20 neural / 25 boosting trials); K+2-day gap before every block.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Setup: </a:t>
            </a:r>
            <a:r>
              <a:rPr lang="en-US" sz="25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Core i9-13900HX, 31.7 GB, RTX 4060; fixed seeds recorded in configuration; same tuning budget for every method.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Metrics: </a:t>
            </a:r>
            <a:r>
              <a:rPr lang="en-US" sz="25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realised revenue, regret to hindsight oracle, share of oracle gap closed, silent-market trips, floor violation, forecast skill.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Baselines (all retrained): </a:t>
            </a:r>
            <a:r>
              <a:rPr lang="en-US" sz="25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random walk, LightGBM/XGBoost on observed prices, nearest mandi, highest price yesterday, best 7-day mean, farm gate.</a:t>
            </a:r>
          </a:p>
        </p:txBody>
      </p:sp>
      <p:graphicFrame>
        <p:nvGraphicFramePr>
          <p:cNvPr id="10251" name="Table 10250"/>
          <p:cNvGraphicFramePr>
            <a:graphicFrameLocks noGrp="1"/>
          </p:cNvGraphicFramePr>
          <p:nvPr/>
        </p:nvGraphicFramePr>
        <p:xfrm>
          <a:off x="1005840" y="6400800"/>
          <a:ext cx="11338557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592"/>
                <a:gridCol w="2242792"/>
                <a:gridCol w="1619794"/>
                <a:gridCol w="1619794"/>
                <a:gridCol w="1744393"/>
                <a:gridCol w="2118192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Crop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Mandi-days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Mandis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Eligible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Test days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Studied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Tomato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17,582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963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Onion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5,343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511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Potato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569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Ginger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6,423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776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Garlic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2,473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C0392B"/>
                          </a:solidFill>
                          <a:latin typeface="Calibri"/>
                        </a:rPr>
                        <a:t>refused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2200" b="1">
                          <a:solidFill>
                            <a:srgbClr val="1F2A44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1F2A44"/>
                          </a:solidFill>
                          <a:latin typeface="Calibri"/>
                        </a:rPr>
                        <a:t>36,821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</a:tr>
            </a:tbl>
          </a:graphicData>
        </a:graphic>
      </p:graphicFrame>
      <p:sp>
        <p:nvSpPr>
          <p:cNvPr id="10252" name="Rectangle 10251"/>
          <p:cNvSpPr/>
          <p:nvPr/>
        </p:nvSpPr>
        <p:spPr>
          <a:xfrm>
            <a:off x="12801600" y="6400800"/>
            <a:ext cx="6309360" cy="393192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/>
            <a:r>
              <a:rPr sz="2200" b="1" i="0">
                <a:solidFill>
                  <a:srgbClr val="1F2A44"/>
                </a:solidFill>
                <a:latin typeface="Calibri"/>
              </a:rPr>
              <a:t>Inference: </a:t>
            </a:r>
            <a:r>
              <a:rPr sz="2200" b="0" i="0">
                <a:solidFill>
                  <a:srgbClr val="1F2A44"/>
                </a:solidFill>
                <a:latin typeface="Calibri"/>
              </a:rPr>
              <a:t>moving-block bootstrap (block 14); Newey–West Diebold–Mariano; Holm across all pre-specified comparisons; model confidence set [24]–[27].</a:t>
            </a:r>
          </a:p>
          <a:p>
            <a:pPr algn="l"/>
            <a:r>
              <a:rPr sz="2200" b="1" i="0">
                <a:solidFill>
                  <a:srgbClr val="1F2A44"/>
                </a:solidFill>
                <a:latin typeface="Calibri"/>
              </a:rPr>
              <a:t>Pre-specified: </a:t>
            </a:r>
            <a:r>
              <a:rPr sz="2200" b="0" i="0">
                <a:solidFill>
                  <a:srgbClr val="1F2A44"/>
                </a:solidFill>
                <a:latin typeface="Calibri"/>
              </a:rPr>
              <a:t>model ladder, 12 paired comparisons, silence tests and leakage protocol were fixed before tuned results were seen.</a:t>
            </a:r>
          </a:p>
        </p:txBody>
      </p:sp>
    </p:spTree>
    <p:extLst>
      <p:ext uri="{BB962C8B-B14F-4D97-AF65-F5344CB8AC3E}">
        <p14:creationId xmlns:p14="http://schemas.microsoft.com/office/powerpoint/2010/main" val="1769017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Validation: Decision Quality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9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sp>
        <p:nvSpPr>
          <p:cNvPr id="906" name="Content Guidance"/>
          <p:cNvSpPr txBox="1"/>
          <p:nvPr/>
        </p:nvSpPr>
        <p:spPr>
          <a:xfrm>
            <a:off x="1005840" y="1737360"/>
            <a:ext cx="18105120" cy="1828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Result: </a:t>
            </a:r>
            <a:r>
              <a:rPr lang="en-US" sz="25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models trained on realised revenue earn the most in every crop; the oracle bounds what is possible.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Why: </a:t>
            </a:r>
            <a:r>
              <a:rPr lang="en-US" sz="25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observed-price models send 12–43% of trips to a silent market; realised-label models cut that to 5–21%.</a:t>
            </a:r>
          </a:p>
        </p:txBody>
      </p:sp>
      <p:graphicFrame>
        <p:nvGraphicFramePr>
          <p:cNvPr id="10251" name="Chart 10250"/>
          <p:cNvGraphicFramePr>
            <a:graphicFrameLocks noGrp="1"/>
          </p:cNvGraphicFramePr>
          <p:nvPr/>
        </p:nvGraphicFramePr>
        <p:xfrm>
          <a:off x="1005840" y="3200400"/>
          <a:ext cx="12984480" cy="6949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252" name="Rectangle 10251"/>
          <p:cNvSpPr/>
          <p:nvPr/>
        </p:nvSpPr>
        <p:spPr>
          <a:xfrm>
            <a:off x="14447520" y="3200400"/>
            <a:ext cx="4663440" cy="1106424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3152" rIns="73152" tIns="36576" bIns="36576"/>
          <a:lstStyle/>
          <a:p>
            <a:pPr algn="ctr"/>
            <a:r>
              <a:rPr sz="4900" b="1" i="0">
                <a:solidFill>
                  <a:srgbClr val="1F4E79"/>
                </a:solidFill>
                <a:latin typeface="Calibri"/>
              </a:rPr>
              <a:t>Rs 2,156</a:t>
            </a:r>
          </a:p>
        </p:txBody>
      </p:sp>
      <p:sp>
        <p:nvSpPr>
          <p:cNvPr id="10253" name="Rectangle 10252"/>
          <p:cNvSpPr/>
          <p:nvPr/>
        </p:nvSpPr>
        <p:spPr>
          <a:xfrm>
            <a:off x="14447520" y="4306824"/>
            <a:ext cx="4663440" cy="905256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2000" b="0" i="0">
                <a:solidFill>
                  <a:srgbClr val="5F6B7A"/>
                </a:solidFill>
                <a:latin typeface="Calibri"/>
              </a:rPr>
              <a:t>tomato, realised-label model (oracle 2,570)</a:t>
            </a:r>
          </a:p>
        </p:txBody>
      </p:sp>
      <p:sp>
        <p:nvSpPr>
          <p:cNvPr id="10254" name="Rectangle 10253"/>
          <p:cNvSpPr/>
          <p:nvPr/>
        </p:nvSpPr>
        <p:spPr>
          <a:xfrm>
            <a:off x="14447520" y="5486400"/>
            <a:ext cx="4663440" cy="1106424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3152" rIns="73152" tIns="36576" bIns="36576"/>
          <a:lstStyle/>
          <a:p>
            <a:pPr algn="ctr"/>
            <a:r>
              <a:rPr sz="4900" b="1" i="0">
                <a:solidFill>
                  <a:srgbClr val="2E8B57"/>
                </a:solidFill>
                <a:latin typeface="Calibri"/>
              </a:rPr>
              <a:t>+Rs 556</a:t>
            </a:r>
          </a:p>
        </p:txBody>
      </p:sp>
      <p:sp>
        <p:nvSpPr>
          <p:cNvPr id="10255" name="Rectangle 10254"/>
          <p:cNvSpPr/>
          <p:nvPr/>
        </p:nvSpPr>
        <p:spPr>
          <a:xfrm>
            <a:off x="14447520" y="6592824"/>
            <a:ext cx="4663440" cy="905256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2000" b="0" i="0">
                <a:solidFill>
                  <a:srgbClr val="5F6B7A"/>
                </a:solidFill>
                <a:latin typeface="Calibri"/>
              </a:rPr>
              <a:t>over nearest mandi, tomato (1,600 → 2,156)</a:t>
            </a:r>
          </a:p>
        </p:txBody>
      </p:sp>
      <p:sp>
        <p:nvSpPr>
          <p:cNvPr id="10256" name="Rectangle 10255"/>
          <p:cNvSpPr/>
          <p:nvPr/>
        </p:nvSpPr>
        <p:spPr>
          <a:xfrm>
            <a:off x="14447520" y="7772400"/>
            <a:ext cx="4663440" cy="1307592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3152" rIns="73152" tIns="36576" bIns="36576"/>
          <a:lstStyle/>
          <a:p>
            <a:pPr algn="ctr"/>
            <a:r>
              <a:rPr sz="4900" b="1" i="0">
                <a:solidFill>
                  <a:srgbClr val="D9822B"/>
                </a:solidFill>
                <a:latin typeface="Calibri"/>
              </a:rPr>
              <a:t>Holm p &lt; 0.002</a:t>
            </a:r>
          </a:p>
        </p:txBody>
      </p:sp>
      <p:sp>
        <p:nvSpPr>
          <p:cNvPr id="10257" name="Rectangle 10256"/>
          <p:cNvSpPr/>
          <p:nvPr/>
        </p:nvSpPr>
        <p:spPr>
          <a:xfrm>
            <a:off x="14447520" y="9079992"/>
            <a:ext cx="4663440" cy="1069848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2000" b="0" i="0">
                <a:solidFill>
                  <a:srgbClr val="5F6B7A"/>
                </a:solidFill>
                <a:latin typeface="Calibri"/>
              </a:rPr>
              <a:t>labels effect in all four crops</a:t>
            </a:r>
          </a:p>
        </p:txBody>
      </p:sp>
    </p:spTree>
    <p:extLst>
      <p:ext uri="{BB962C8B-B14F-4D97-AF65-F5344CB8AC3E}">
        <p14:creationId xmlns:p14="http://schemas.microsoft.com/office/powerpoint/2010/main" val="1769017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Comparative Benchmarking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10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sp>
        <p:nvSpPr>
          <p:cNvPr id="907" name="Content Guidance"/>
          <p:cNvSpPr txBox="1"/>
          <p:nvPr/>
        </p:nvSpPr>
        <p:spPr>
          <a:xfrm>
            <a:off x="1005840" y="1737360"/>
            <a:ext cx="18105120" cy="34747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Same split, same metric, all retrained: </a:t>
            </a:r>
            <a:r>
              <a:rPr lang="en-US" sz="25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no published study scores mandi choice by regret on real reporting-gap data, so baselines are the heuristics farmers use and the standard predict-then-optimise models.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Where we win: </a:t>
            </a:r>
            <a:r>
              <a:rPr lang="en-US" sz="25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all four crops vs every heuristic and every observed-price model. Where we do not: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potato back-test gain is not distinguishable from the best heuristic, and SPO+ ties the squared-error loss.</a:t>
            </a:r>
          </a:p>
        </p:txBody>
      </p:sp>
      <p:graphicFrame>
        <p:nvGraphicFramePr>
          <p:cNvPr id="10251" name="Table 10250"/>
          <p:cNvGraphicFramePr>
            <a:graphicFrameLocks noGrp="1"/>
          </p:cNvGraphicFramePr>
          <p:nvPr/>
        </p:nvGraphicFramePr>
        <p:xfrm>
          <a:off x="1005840" y="5394960"/>
          <a:ext cx="18105118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67678"/>
                <a:gridCol w="2984360"/>
                <a:gridCol w="2984360"/>
                <a:gridCol w="2984360"/>
                <a:gridCol w="2984360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Gap closed (nearest → oracle) / silent-market trips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Tomato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Onion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Potato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Ginger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Nearest mandi, sell today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0.00 / 34%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0.00 / 34%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0.00 / 34%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0.00 / 24%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Highest price yesterday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0.43 / 28%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0.26 / 43%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0.17 / 35%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0.69 / 11%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LightGBM, observed prices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0.43 / 29%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0.24 / 43%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0.12 / 34%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0.69 / 12%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2300" b="1">
                          <a:solidFill>
                            <a:srgbClr val="1F2A44"/>
                          </a:solidFill>
                          <a:latin typeface="Calibri"/>
                        </a:rPr>
                        <a:t>LightGBM, realised outcomes (ours)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>
                          <a:solidFill>
                            <a:srgbClr val="1F2A44"/>
                          </a:solidFill>
                          <a:latin typeface="Calibri"/>
                        </a:rPr>
                        <a:t>0.57 / 12%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>
                          <a:solidFill>
                            <a:srgbClr val="1F2A44"/>
                          </a:solidFill>
                          <a:latin typeface="Calibri"/>
                        </a:rPr>
                        <a:t>0.48 / 18%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>
                          <a:solidFill>
                            <a:srgbClr val="1F2A44"/>
                          </a:solidFill>
                          <a:latin typeface="Calibri"/>
                        </a:rPr>
                        <a:t>0.31 / 21%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>
                          <a:solidFill>
                            <a:srgbClr val="1F2A44"/>
                          </a:solidFill>
                          <a:latin typeface="Calibri"/>
                        </a:rPr>
                        <a:t>0.76 / 5%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2300" b="1">
                          <a:solidFill>
                            <a:srgbClr val="1F2A44"/>
                          </a:solidFill>
                          <a:latin typeface="Calibri"/>
                        </a:rPr>
                        <a:t>Neural SPO+, realised outcomes (ours)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>
                          <a:solidFill>
                            <a:srgbClr val="1F2A44"/>
                          </a:solidFill>
                          <a:latin typeface="Calibri"/>
                        </a:rPr>
                        <a:t>0.58 / 12%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>
                          <a:solidFill>
                            <a:srgbClr val="1F2A44"/>
                          </a:solidFill>
                          <a:latin typeface="Calibri"/>
                        </a:rPr>
                        <a:t>0.50 / 20%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>
                          <a:solidFill>
                            <a:srgbClr val="1F2A44"/>
                          </a:solidFill>
                          <a:latin typeface="Calibri"/>
                        </a:rPr>
                        <a:t>0.28 / 17%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>
                          <a:solidFill>
                            <a:srgbClr val="1F2A44"/>
                          </a:solidFill>
                          <a:latin typeface="Calibri"/>
                        </a:rPr>
                        <a:t>0.76 / 5%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9017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and Research Contribution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11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sp>
        <p:nvSpPr>
          <p:cNvPr id="908" name="Content Guidance"/>
          <p:cNvSpPr txBox="1"/>
          <p:nvPr/>
        </p:nvSpPr>
        <p:spPr>
          <a:xfrm>
            <a:off x="1005840" y="1737360"/>
            <a:ext cx="18105120" cy="14630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In one sentence: </a:t>
            </a:r>
            <a:r>
              <a:rPr lang="en-US" sz="24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supervise market choice on realised, silence-aware revenue, certify it with delayed-feedback conformal floors, and audit the leakage in published hybrids.</a:t>
            </a:r>
          </a:p>
        </p:txBody>
      </p:sp>
      <p:sp>
        <p:nvSpPr>
          <p:cNvPr id="10251" name="Rectangle 10250"/>
          <p:cNvSpPr/>
          <p:nvPr/>
        </p:nvSpPr>
        <p:spPr>
          <a:xfrm>
            <a:off x="1005840" y="3291840"/>
            <a:ext cx="5760720" cy="566928"/>
          </a:xfrm>
          <a:prstGeom prst="rect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Already exists</a:t>
            </a:r>
          </a:p>
        </p:txBody>
      </p:sp>
      <p:sp>
        <p:nvSpPr>
          <p:cNvPr id="10252" name="Rectangle 10251"/>
          <p:cNvSpPr/>
          <p:nvPr/>
        </p:nvSpPr>
        <p:spPr>
          <a:xfrm>
            <a:off x="1005840" y="3858768"/>
            <a:ext cx="5760720" cy="4553712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/>
            <a:r>
              <a:rPr sz="2700" b="0" i="0">
                <a:solidFill>
                  <a:srgbClr val="1F2A44"/>
                </a:solidFill>
                <a:latin typeface="Calibri"/>
              </a:rPr>
              <a:t>Forecasters of agricultural prices [9]–[14]</a:t>
            </a:r>
          </a:p>
          <a:p>
            <a:pPr algn="l"/>
            <a:r>
              <a:rPr sz="2700" b="0" i="0">
                <a:solidFill>
                  <a:srgbClr val="1F2A44"/>
                </a:solidFill>
                <a:latin typeface="Calibri"/>
              </a:rPr>
              <a:t>SPO+ and decision-focused learning [21], [22]</a:t>
            </a:r>
          </a:p>
          <a:p>
            <a:pPr algn="l"/>
            <a:r>
              <a:rPr sz="2700" b="0" i="0">
                <a:solidFill>
                  <a:srgbClr val="1F2A44"/>
                </a:solidFill>
                <a:latin typeface="Calibri"/>
              </a:rPr>
              <a:t>Adaptive conformal inference [25]–[28]</a:t>
            </a:r>
          </a:p>
        </p:txBody>
      </p:sp>
      <p:sp>
        <p:nvSpPr>
          <p:cNvPr id="10253" name="Rectangle 10252"/>
          <p:cNvSpPr/>
          <p:nvPr/>
        </p:nvSpPr>
        <p:spPr>
          <a:xfrm>
            <a:off x="7178040" y="3291840"/>
            <a:ext cx="5760720" cy="5669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New here</a:t>
            </a:r>
          </a:p>
        </p:txBody>
      </p:sp>
      <p:sp>
        <p:nvSpPr>
          <p:cNvPr id="10254" name="Rectangle 10253"/>
          <p:cNvSpPr/>
          <p:nvPr/>
        </p:nvSpPr>
        <p:spPr>
          <a:xfrm>
            <a:off x="7178040" y="3858768"/>
            <a:ext cx="5760720" cy="4553712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/>
            <a:r>
              <a:rPr sz="2700" b="0" i="0">
                <a:solidFill>
                  <a:srgbClr val="1F2A44"/>
                </a:solidFill>
                <a:latin typeface="Calibri"/>
              </a:rPr>
              <a:t>Revenue labels that include silent markets, on real mandi data</a:t>
            </a:r>
          </a:p>
          <a:p>
            <a:pPr algn="l"/>
            <a:r>
              <a:rPr sz="2700" b="0" i="0">
                <a:solidFill>
                  <a:srgbClr val="1F2A44"/>
                </a:solidFill>
                <a:latin typeface="Calibri"/>
              </a:rPr>
              <a:t>Floors for selected actions whose outcome resolves k days later</a:t>
            </a:r>
          </a:p>
          <a:p>
            <a:pPr algn="l"/>
            <a:r>
              <a:rPr sz="2700" b="0" i="0">
                <a:solidFill>
                  <a:srgbClr val="1F2A44"/>
                </a:solidFill>
                <a:latin typeface="Calibri"/>
              </a:rPr>
              <a:t>Measured size of look-ahead leakage in STL/VMD hybrids</a:t>
            </a:r>
          </a:p>
          <a:p>
            <a:pPr algn="l"/>
            <a:r>
              <a:rPr sz="2700" b="0" i="0">
                <a:solidFill>
                  <a:srgbClr val="1F2A44"/>
                </a:solidFill>
                <a:latin typeface="Calibri"/>
              </a:rPr>
              <a:t>Verified language briefs and a withheld-by-default spillover engine</a:t>
            </a:r>
          </a:p>
        </p:txBody>
      </p:sp>
      <p:sp>
        <p:nvSpPr>
          <p:cNvPr id="10255" name="Rectangle 10254"/>
          <p:cNvSpPr/>
          <p:nvPr/>
        </p:nvSpPr>
        <p:spPr>
          <a:xfrm>
            <a:off x="13350240" y="3291840"/>
            <a:ext cx="5760720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Ours vs adapted</a:t>
            </a:r>
          </a:p>
        </p:txBody>
      </p:sp>
      <p:sp>
        <p:nvSpPr>
          <p:cNvPr id="10256" name="Rectangle 10255"/>
          <p:cNvSpPr/>
          <p:nvPr/>
        </p:nvSpPr>
        <p:spPr>
          <a:xfrm>
            <a:off x="13350240" y="3858768"/>
            <a:ext cx="5760720" cy="4553712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/>
            <a:r>
              <a:rPr sz="2700" b="0" i="0">
                <a:solidFill>
                  <a:srgbClr val="1F2A44"/>
                </a:solidFill>
                <a:latin typeface="Calibri"/>
              </a:rPr>
              <a:t>Ours: formulation, pipeline, leakage protocol, grounding verifier, engines, app</a:t>
            </a:r>
          </a:p>
          <a:p>
            <a:pPr algn="l"/>
            <a:r>
              <a:rPr sz="2700" b="0" i="0">
                <a:solidFill>
                  <a:srgbClr val="1F2A44"/>
                </a:solidFill>
                <a:latin typeface="Calibri"/>
              </a:rPr>
              <a:t>Adapted: SPO+ [21], ACI [26], DeepSets [29], Optuna [20], Chronos [17]</a:t>
            </a:r>
          </a:p>
        </p:txBody>
      </p:sp>
      <p:sp>
        <p:nvSpPr>
          <p:cNvPr id="10257" name="Rectangle 10256"/>
          <p:cNvSpPr/>
          <p:nvPr/>
        </p:nvSpPr>
        <p:spPr>
          <a:xfrm>
            <a:off x="1005840" y="8778240"/>
            <a:ext cx="18105120" cy="128016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>Honest scope: the positive contribution that survived testing is the label effect, the floor validity and the audit; the loss, reporting head, silence features, council and spillover are bounded negative results.</a:t>
            </a:r>
          </a:p>
        </p:txBody>
      </p:sp>
    </p:spTree>
    <p:extLst>
      <p:ext uri="{BB962C8B-B14F-4D97-AF65-F5344CB8AC3E}">
        <p14:creationId xmlns:p14="http://schemas.microsoft.com/office/powerpoint/2010/main" val="1769017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and Ablation Study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12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sp>
        <p:nvSpPr>
          <p:cNvPr id="909" name="Content Guidance"/>
          <p:cNvSpPr txBox="1"/>
          <p:nvPr/>
        </p:nvSpPr>
        <p:spPr>
          <a:xfrm>
            <a:off x="1005840" y="1737360"/>
            <a:ext cx="18105120" cy="21031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Tuning: </a:t>
            </a:r>
            <a:r>
              <a:rPr lang="en-US" sz="25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Optuna TPE per fold on each method's native criterion; same budget for all. Tuning on forecast loss instead of regret: no reliable change.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Cost: </a:t>
            </a:r>
            <a:r>
              <a:rPr lang="en-US" sz="25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served boosting model chosen over the neural one: equal decisions, far cheaper to train, run and explain.</a:t>
            </a:r>
          </a:p>
        </p:txBody>
      </p:sp>
      <p:graphicFrame>
        <p:nvGraphicFramePr>
          <p:cNvPr id="10251" name="Table 10250"/>
          <p:cNvGraphicFramePr>
            <a:graphicFrameLocks noGrp="1"/>
          </p:cNvGraphicFramePr>
          <p:nvPr/>
        </p:nvGraphicFramePr>
        <p:xfrm>
          <a:off x="1005840" y="4206240"/>
          <a:ext cx="18105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9712"/>
                <a:gridCol w="5230368"/>
                <a:gridCol w="1810512"/>
                <a:gridCol w="422452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Calibri"/>
                        </a:rPr>
                        <a:t>One change at a time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Calibri"/>
                        </a:rPr>
                        <a:t>Δ regret, Rs/q (95% CI)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Calibri"/>
                        </a:rPr>
                        <a:t>Holm p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SPO+ loss instead of squared error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−25  [−53, +3]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0.505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5F6B7A"/>
                          </a:solidFill>
                          <a:latin typeface="Calibri"/>
                        </a:rPr>
                        <a:t>no reliable difference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Add reporting head (SPO+)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+23  [+8, +36]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0.012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C0392B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Add network-silence features (GBM)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−12  [−31, +3]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0.695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5F6B7A"/>
                          </a:solidFill>
                          <a:latin typeface="Calibri"/>
                        </a:rPr>
                        <a:t>no reliable difference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52" name="Rectangle 10251"/>
          <p:cNvSpPr/>
          <p:nvPr/>
        </p:nvSpPr>
        <p:spPr>
          <a:xfrm>
            <a:off x="1005840" y="8229600"/>
            <a:ext cx="18105120" cy="182880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/>
          <a:lstStyle/>
          <a:p>
            <a:pPr algn="l"/>
            <a:r>
              <a:rPr sz="2300" b="1" i="0">
                <a:solidFill>
                  <a:srgbClr val="1F2A44"/>
                </a:solidFill>
                <a:latin typeface="Calibri"/>
              </a:rPr>
              <a:t>Tried and did not work: </a:t>
            </a:r>
            <a:r>
              <a:rPr sz="2300" b="0" i="0">
                <a:solidFill>
                  <a:srgbClr val="1F2A44"/>
                </a:solidFill>
                <a:latin typeface="Calibri"/>
              </a:rPr>
              <a:t>reporting head (worse, p = 0.012), silence features, decision-regret tuning, unconstrained council weights (summed 2.4–3.1, significantly worse), SPO+ over squared error. Ablations shown for tomato; the other crops agree.</a:t>
            </a:r>
          </a:p>
        </p:txBody>
      </p:sp>
    </p:spTree>
    <p:extLst>
      <p:ext uri="{BB962C8B-B14F-4D97-AF65-F5344CB8AC3E}">
        <p14:creationId xmlns:p14="http://schemas.microsoft.com/office/powerpoint/2010/main" val="1769017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Planning: WBS and Critical Path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13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graphicFrame>
        <p:nvGraphicFramePr>
          <p:cNvPr id="10251" name="Table 10250"/>
          <p:cNvGraphicFramePr>
            <a:graphicFrameLocks noGrp="1"/>
          </p:cNvGraphicFramePr>
          <p:nvPr/>
        </p:nvGraphicFramePr>
        <p:xfrm>
          <a:off x="1005840" y="1737360"/>
          <a:ext cx="804672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280160"/>
                <a:gridCol w="2560320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WBS package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Hours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Primary owner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1 Management &amp; documentation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130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Shreejith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2 Data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100 h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Manohara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3 Models &amp; research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290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Manohara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4 Application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300 h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Srijan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5 Verification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90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Shreejith / Manohara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2100" b="1">
                          <a:solidFill>
                            <a:srgbClr val="1F2A44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1F2A44"/>
                          </a:solidFill>
                          <a:latin typeface="Calibri"/>
                        </a:rPr>
                        <a:t>910 h</a:t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1">
                          <a:solidFill>
                            <a:srgbClr val="1F2A4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DCEBF5"/>
                    </a:solidFill>
                  </a:tcPr>
                </a:tc>
              </a:tr>
            </a:tbl>
          </a:graphicData>
        </a:graphic>
      </p:graphicFrame>
      <p:sp>
        <p:nvSpPr>
          <p:cNvPr id="10252" name="TextBox 10251"/>
          <p:cNvSpPr txBox="1"/>
          <p:nvPr/>
        </p:nvSpPr>
        <p:spPr>
          <a:xfrm>
            <a:off x="1005840" y="6355080"/>
            <a:ext cx="80467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700" b="0" i="1">
                <a:solidFill>
                  <a:srgbClr val="5F6B7A"/>
                </a:solidFill>
                <a:latin typeface="Calibri"/>
              </a:rPr>
              <a:t>Hours are team estimates, not logged time. Each leaf task has one owner; children sum to parents.</a:t>
            </a:r>
          </a:p>
        </p:txBody>
      </p:sp>
      <p:sp>
        <p:nvSpPr>
          <p:cNvPr id="10253" name="Rounded Rectangle 10252"/>
          <p:cNvSpPr/>
          <p:nvPr/>
        </p:nvSpPr>
        <p:spPr>
          <a:xfrm>
            <a:off x="9418320" y="1737360"/>
            <a:ext cx="1737360" cy="1371600"/>
          </a:xfrm>
          <a:prstGeom prst="roundRect">
            <a:avLst/>
          </a:prstGeom>
          <a:solidFill>
            <a:srgbClr val="F8D9D5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/>
            <a:r>
              <a:rPr sz="1700" b="1" i="0">
                <a:solidFill>
                  <a:srgbClr val="1F2A44"/>
                </a:solidFill>
                <a:latin typeface="Calibri"/>
              </a:rPr>
              <a:t>A</a:t>
            </a:r>
          </a:p>
          <a:p>
            <a:pPr algn="ctr"/>
            <a:r>
              <a:rPr sz="1700" b="0" i="0">
                <a:solidFill>
                  <a:srgbClr val="1F2A44"/>
                </a:solidFill>
                <a:latin typeface="Calibri"/>
              </a:rPr>
              <a:t>Requirements</a:t>
            </a:r>
          </a:p>
          <a:p>
            <a:pPr algn="ctr"/>
            <a:r>
              <a:rPr sz="1700" b="0" i="0">
                <a:solidFill>
                  <a:srgbClr val="1F2A44"/>
                </a:solidFill>
                <a:latin typeface="Calibri"/>
              </a:rPr>
              <a:t>2 wk</a:t>
            </a:r>
          </a:p>
        </p:txBody>
      </p:sp>
      <p:sp>
        <p:nvSpPr>
          <p:cNvPr id="10254" name="Rounded Rectangle 10253"/>
          <p:cNvSpPr/>
          <p:nvPr/>
        </p:nvSpPr>
        <p:spPr>
          <a:xfrm>
            <a:off x="11356848" y="1737360"/>
            <a:ext cx="1737360" cy="1371600"/>
          </a:xfrm>
          <a:prstGeom prst="roundRect">
            <a:avLst/>
          </a:prstGeom>
          <a:solidFill>
            <a:srgbClr val="F8D9D5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/>
            <a:r>
              <a:rPr sz="1700" b="1" i="0">
                <a:solidFill>
                  <a:srgbClr val="1F2A44"/>
                </a:solidFill>
                <a:latin typeface="Calibri"/>
              </a:rPr>
              <a:t>B</a:t>
            </a:r>
          </a:p>
          <a:p>
            <a:pPr algn="ctr"/>
            <a:r>
              <a:rPr sz="1700" b="0" i="0">
                <a:solidFill>
                  <a:srgbClr val="1F2A44"/>
                </a:solidFill>
                <a:latin typeface="Calibri"/>
              </a:rPr>
              <a:t>Data</a:t>
            </a:r>
          </a:p>
          <a:p>
            <a:pPr algn="ctr"/>
            <a:r>
              <a:rPr sz="1700" b="0" i="0">
                <a:solidFill>
                  <a:srgbClr val="1F2A44"/>
                </a:solidFill>
                <a:latin typeface="Calibri"/>
              </a:rPr>
              <a:t>3 wk</a:t>
            </a:r>
          </a:p>
        </p:txBody>
      </p:sp>
      <p:sp>
        <p:nvSpPr>
          <p:cNvPr id="10255" name="Rounded Rectangle 10254"/>
          <p:cNvSpPr/>
          <p:nvPr/>
        </p:nvSpPr>
        <p:spPr>
          <a:xfrm>
            <a:off x="13295376" y="1737360"/>
            <a:ext cx="1737360" cy="1371600"/>
          </a:xfrm>
          <a:prstGeom prst="roundRect">
            <a:avLst/>
          </a:prstGeom>
          <a:solidFill>
            <a:srgbClr val="F8D9D5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/>
            <a:r>
              <a:rPr sz="1700" b="1" i="0">
                <a:solidFill>
                  <a:srgbClr val="1F2A44"/>
                </a:solidFill>
                <a:latin typeface="Calibri"/>
              </a:rPr>
              <a:t>C</a:t>
            </a:r>
          </a:p>
          <a:p>
            <a:pPr algn="ctr"/>
            <a:r>
              <a:rPr sz="1700" b="0" i="0">
                <a:solidFill>
                  <a:srgbClr val="1F2A44"/>
                </a:solidFill>
                <a:latin typeface="Calibri"/>
              </a:rPr>
              <a:t>Market choice</a:t>
            </a:r>
          </a:p>
          <a:p>
            <a:pPr algn="ctr"/>
            <a:r>
              <a:rPr sz="1700" b="0" i="0">
                <a:solidFill>
                  <a:srgbClr val="1F2A44"/>
                </a:solidFill>
                <a:latin typeface="Calibri"/>
              </a:rPr>
              <a:t>4 wk</a:t>
            </a:r>
          </a:p>
        </p:txBody>
      </p:sp>
      <p:sp>
        <p:nvSpPr>
          <p:cNvPr id="10256" name="Rounded Rectangle 10255"/>
          <p:cNvSpPr/>
          <p:nvPr/>
        </p:nvSpPr>
        <p:spPr>
          <a:xfrm>
            <a:off x="15233904" y="1737360"/>
            <a:ext cx="1737360" cy="1371600"/>
          </a:xfrm>
          <a:prstGeom prst="roundRect">
            <a:avLst/>
          </a:prstGeom>
          <a:solidFill>
            <a:srgbClr val="F8D9D5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/>
            <a:r>
              <a:rPr sz="1700" b="1" i="0">
                <a:solidFill>
                  <a:srgbClr val="1F2A44"/>
                </a:solidFill>
                <a:latin typeface="Calibri"/>
              </a:rPr>
              <a:t>F</a:t>
            </a:r>
          </a:p>
          <a:p>
            <a:pPr algn="ctr"/>
            <a:r>
              <a:rPr sz="1700" b="0" i="0">
                <a:solidFill>
                  <a:srgbClr val="1F2A44"/>
                </a:solidFill>
                <a:latin typeface="Calibri"/>
              </a:rPr>
              <a:t>Forecasters</a:t>
            </a:r>
          </a:p>
          <a:p>
            <a:pPr algn="ctr"/>
            <a:r>
              <a:rPr sz="1700" b="0" i="0">
                <a:solidFill>
                  <a:srgbClr val="1F2A44"/>
                </a:solidFill>
                <a:latin typeface="Calibri"/>
              </a:rPr>
              <a:t>3 wk</a:t>
            </a:r>
          </a:p>
        </p:txBody>
      </p:sp>
      <p:sp>
        <p:nvSpPr>
          <p:cNvPr id="10257" name="Rounded Rectangle 10256"/>
          <p:cNvSpPr/>
          <p:nvPr/>
        </p:nvSpPr>
        <p:spPr>
          <a:xfrm>
            <a:off x="17172432" y="1737360"/>
            <a:ext cx="1737360" cy="1371600"/>
          </a:xfrm>
          <a:prstGeom prst="roundRect">
            <a:avLst/>
          </a:prstGeom>
          <a:solidFill>
            <a:srgbClr val="F8D9D5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/>
            <a:r>
              <a:rPr sz="1700" b="1" i="0">
                <a:solidFill>
                  <a:srgbClr val="1F2A44"/>
                </a:solidFill>
                <a:latin typeface="Calibri"/>
              </a:rPr>
              <a:t>G</a:t>
            </a:r>
          </a:p>
          <a:p>
            <a:pPr algn="ctr"/>
            <a:r>
              <a:rPr sz="1700" b="0" i="0">
                <a:solidFill>
                  <a:srgbClr val="1F2A44"/>
                </a:solidFill>
                <a:latin typeface="Calibri"/>
              </a:rPr>
              <a:t>Experiments</a:t>
            </a:r>
          </a:p>
          <a:p>
            <a:pPr algn="ctr"/>
            <a:r>
              <a:rPr sz="1700" b="0" i="0">
                <a:solidFill>
                  <a:srgbClr val="1F2A44"/>
                </a:solidFill>
                <a:latin typeface="Calibri"/>
              </a:rPr>
              <a:t>4 wk</a:t>
            </a:r>
          </a:p>
        </p:txBody>
      </p:sp>
      <p:sp>
        <p:nvSpPr>
          <p:cNvPr id="10258" name="Rounded Rectangle 10257"/>
          <p:cNvSpPr/>
          <p:nvPr/>
        </p:nvSpPr>
        <p:spPr>
          <a:xfrm>
            <a:off x="17172432" y="3657600"/>
            <a:ext cx="1737360" cy="1371600"/>
          </a:xfrm>
          <a:prstGeom prst="roundRect">
            <a:avLst/>
          </a:prstGeom>
          <a:solidFill>
            <a:srgbClr val="F8D9D5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/>
            <a:r>
              <a:rPr sz="1700" b="1" i="0">
                <a:solidFill>
                  <a:srgbClr val="1F2A44"/>
                </a:solidFill>
                <a:latin typeface="Calibri"/>
              </a:rPr>
              <a:t>I</a:t>
            </a:r>
          </a:p>
          <a:p>
            <a:pPr algn="ctr"/>
            <a:r>
              <a:rPr sz="1700" b="0" i="0">
                <a:solidFill>
                  <a:srgbClr val="1F2A44"/>
                </a:solidFill>
                <a:latin typeface="Calibri"/>
              </a:rPr>
              <a:t>Testing</a:t>
            </a:r>
          </a:p>
          <a:p>
            <a:pPr algn="ctr"/>
            <a:r>
              <a:rPr sz="1700" b="0" i="0">
                <a:solidFill>
                  <a:srgbClr val="1F2A44"/>
                </a:solidFill>
                <a:latin typeface="Calibri"/>
              </a:rPr>
              <a:t>3 wk</a:t>
            </a:r>
          </a:p>
        </p:txBody>
      </p:sp>
      <p:sp>
        <p:nvSpPr>
          <p:cNvPr id="10259" name="Rounded Rectangle 10258"/>
          <p:cNvSpPr/>
          <p:nvPr/>
        </p:nvSpPr>
        <p:spPr>
          <a:xfrm>
            <a:off x="15233904" y="3657600"/>
            <a:ext cx="1737360" cy="1371600"/>
          </a:xfrm>
          <a:prstGeom prst="roundRect">
            <a:avLst/>
          </a:prstGeom>
          <a:solidFill>
            <a:srgbClr val="F8D9D5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/>
            <a:r>
              <a:rPr sz="1700" b="1" i="0">
                <a:solidFill>
                  <a:srgbClr val="1F2A44"/>
                </a:solidFill>
                <a:latin typeface="Calibri"/>
              </a:rPr>
              <a:t>J</a:t>
            </a:r>
          </a:p>
          <a:p>
            <a:pPr algn="ctr"/>
            <a:r>
              <a:rPr sz="1700" b="0" i="0">
                <a:solidFill>
                  <a:srgbClr val="1F2A44"/>
                </a:solidFill>
                <a:latin typeface="Calibri"/>
              </a:rPr>
              <a:t>Integration</a:t>
            </a:r>
          </a:p>
          <a:p>
            <a:pPr algn="ctr"/>
            <a:r>
              <a:rPr sz="1700" b="0" i="0">
                <a:solidFill>
                  <a:srgbClr val="1F2A44"/>
                </a:solidFill>
                <a:latin typeface="Calibri"/>
              </a:rPr>
              <a:t>2 wk</a:t>
            </a:r>
          </a:p>
        </p:txBody>
      </p:sp>
      <p:sp>
        <p:nvSpPr>
          <p:cNvPr id="10260" name="Rounded Rectangle 10259"/>
          <p:cNvSpPr/>
          <p:nvPr/>
        </p:nvSpPr>
        <p:spPr>
          <a:xfrm>
            <a:off x="13295376" y="3657600"/>
            <a:ext cx="1737360" cy="1371600"/>
          </a:xfrm>
          <a:prstGeom prst="roundRect">
            <a:avLst/>
          </a:prstGeom>
          <a:solidFill>
            <a:srgbClr val="F8D9D5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/>
            <a:r>
              <a:rPr sz="1700" b="1" i="0">
                <a:solidFill>
                  <a:srgbClr val="1F2A44"/>
                </a:solidFill>
                <a:latin typeface="Calibri"/>
              </a:rPr>
              <a:t>K</a:t>
            </a:r>
          </a:p>
          <a:p>
            <a:pPr algn="ctr"/>
            <a:r>
              <a:rPr sz="1700" b="0" i="0">
                <a:solidFill>
                  <a:srgbClr val="1F2A44"/>
                </a:solidFill>
                <a:latin typeface="Calibri"/>
              </a:rPr>
              <a:t>Report</a:t>
            </a:r>
          </a:p>
          <a:p>
            <a:pPr algn="ctr"/>
            <a:r>
              <a:rPr sz="1700" b="0" i="0">
                <a:solidFill>
                  <a:srgbClr val="1F2A44"/>
                </a:solidFill>
                <a:latin typeface="Calibri"/>
              </a:rPr>
              <a:t>3 wk</a:t>
            </a:r>
          </a:p>
        </p:txBody>
      </p:sp>
      <p:sp>
        <p:nvSpPr>
          <p:cNvPr id="10261" name="Rounded Rectangle 10260"/>
          <p:cNvSpPr/>
          <p:nvPr/>
        </p:nvSpPr>
        <p:spPr>
          <a:xfrm>
            <a:off x="9418320" y="5486400"/>
            <a:ext cx="1737360" cy="1371600"/>
          </a:xfrm>
          <a:prstGeom prst="roundRect">
            <a:avLst/>
          </a:prstGeom>
          <a:solidFill>
            <a:srgbClr val="DCEBF5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/>
            <a:r>
              <a:rPr sz="1700" b="1" i="0">
                <a:solidFill>
                  <a:srgbClr val="1F2A44"/>
                </a:solidFill>
                <a:latin typeface="Calibri"/>
              </a:rPr>
              <a:t>D</a:t>
            </a:r>
          </a:p>
          <a:p>
            <a:pPr algn="ctr"/>
            <a:r>
              <a:rPr sz="1700" b="0" i="0">
                <a:solidFill>
                  <a:srgbClr val="1F2A44"/>
                </a:solidFill>
                <a:latin typeface="Calibri"/>
              </a:rPr>
              <a:t>Backend</a:t>
            </a:r>
          </a:p>
          <a:p>
            <a:pPr algn="ctr"/>
            <a:r>
              <a:rPr sz="1700" b="0" i="0">
                <a:solidFill>
                  <a:srgbClr val="1F2A44"/>
                </a:solidFill>
                <a:latin typeface="Calibri"/>
              </a:rPr>
              <a:t>4 wk</a:t>
            </a:r>
          </a:p>
        </p:txBody>
      </p:sp>
      <p:sp>
        <p:nvSpPr>
          <p:cNvPr id="10262" name="Rounded Rectangle 10261"/>
          <p:cNvSpPr/>
          <p:nvPr/>
        </p:nvSpPr>
        <p:spPr>
          <a:xfrm>
            <a:off x="11356848" y="5486400"/>
            <a:ext cx="1737360" cy="1371600"/>
          </a:xfrm>
          <a:prstGeom prst="roundRect">
            <a:avLst/>
          </a:prstGeom>
          <a:solidFill>
            <a:srgbClr val="DCEBF5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/>
            <a:r>
              <a:rPr sz="1700" b="1" i="0">
                <a:solidFill>
                  <a:srgbClr val="1F2A44"/>
                </a:solidFill>
                <a:latin typeface="Calibri"/>
              </a:rPr>
              <a:t>E</a:t>
            </a:r>
          </a:p>
          <a:p>
            <a:pPr algn="ctr"/>
            <a:r>
              <a:rPr sz="1700" b="0" i="0">
                <a:solidFill>
                  <a:srgbClr val="1F2A44"/>
                </a:solidFill>
                <a:latin typeface="Calibri"/>
              </a:rPr>
              <a:t>Web app</a:t>
            </a:r>
          </a:p>
          <a:p>
            <a:pPr algn="ctr"/>
            <a:r>
              <a:rPr sz="1700" b="0" i="0">
                <a:solidFill>
                  <a:srgbClr val="1F2A44"/>
                </a:solidFill>
                <a:latin typeface="Calibri"/>
              </a:rPr>
              <a:t>5 wk</a:t>
            </a:r>
          </a:p>
        </p:txBody>
      </p:sp>
      <p:sp>
        <p:nvSpPr>
          <p:cNvPr id="10263" name="Rounded Rectangle 10262"/>
          <p:cNvSpPr/>
          <p:nvPr/>
        </p:nvSpPr>
        <p:spPr>
          <a:xfrm>
            <a:off x="13295376" y="5486400"/>
            <a:ext cx="1737360" cy="1371600"/>
          </a:xfrm>
          <a:prstGeom prst="roundRect">
            <a:avLst/>
          </a:prstGeom>
          <a:solidFill>
            <a:srgbClr val="DCEBF5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36576" bIns="36576"/>
          <a:lstStyle/>
          <a:p>
            <a:pPr algn="ctr"/>
            <a:r>
              <a:rPr sz="1700" b="1" i="0">
                <a:solidFill>
                  <a:srgbClr val="1F2A44"/>
                </a:solidFill>
                <a:latin typeface="Calibri"/>
              </a:rPr>
              <a:t>H</a:t>
            </a:r>
          </a:p>
          <a:p>
            <a:pPr algn="ctr"/>
            <a:r>
              <a:rPr sz="1700" b="0" i="0">
                <a:solidFill>
                  <a:srgbClr val="1F2A44"/>
                </a:solidFill>
                <a:latin typeface="Calibri"/>
              </a:rPr>
              <a:t>LLM layer</a:t>
            </a:r>
          </a:p>
          <a:p>
            <a:pPr algn="ctr"/>
            <a:r>
              <a:rPr sz="1700" b="0" i="0">
                <a:solidFill>
                  <a:srgbClr val="1F2A44"/>
                </a:solidFill>
                <a:latin typeface="Calibri"/>
              </a:rPr>
              <a:t>3 wk</a:t>
            </a:r>
          </a:p>
        </p:txBody>
      </p:sp>
      <p:cxnSp>
        <p:nvCxnSpPr>
          <p:cNvPr id="10264" name="Connector 10263"/>
          <p:cNvCxnSpPr/>
          <p:nvPr/>
        </p:nvCxnSpPr>
        <p:spPr>
          <a:xfrm>
            <a:off x="11155680" y="2423160"/>
            <a:ext cx="201168" cy="0"/>
          </a:xfrm>
          <a:prstGeom prst="line">
            <a:avLst/>
          </a:prstGeom>
          <a:ln w="31750">
            <a:solidFill>
              <a:srgbClr val="C039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5" name="Connector 10264"/>
          <p:cNvCxnSpPr/>
          <p:nvPr/>
        </p:nvCxnSpPr>
        <p:spPr>
          <a:xfrm>
            <a:off x="13094208" y="2423160"/>
            <a:ext cx="201168" cy="0"/>
          </a:xfrm>
          <a:prstGeom prst="line">
            <a:avLst/>
          </a:prstGeom>
          <a:ln w="31750">
            <a:solidFill>
              <a:srgbClr val="C039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6" name="Connector 10265"/>
          <p:cNvCxnSpPr/>
          <p:nvPr/>
        </p:nvCxnSpPr>
        <p:spPr>
          <a:xfrm>
            <a:off x="15032736" y="2423160"/>
            <a:ext cx="201168" cy="0"/>
          </a:xfrm>
          <a:prstGeom prst="line">
            <a:avLst/>
          </a:prstGeom>
          <a:ln w="31750">
            <a:solidFill>
              <a:srgbClr val="C039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7" name="Connector 10266"/>
          <p:cNvCxnSpPr/>
          <p:nvPr/>
        </p:nvCxnSpPr>
        <p:spPr>
          <a:xfrm>
            <a:off x="16971264" y="2423160"/>
            <a:ext cx="201168" cy="0"/>
          </a:xfrm>
          <a:prstGeom prst="line">
            <a:avLst/>
          </a:prstGeom>
          <a:ln w="31750">
            <a:solidFill>
              <a:srgbClr val="C039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8" name="Connector 10267"/>
          <p:cNvCxnSpPr/>
          <p:nvPr/>
        </p:nvCxnSpPr>
        <p:spPr>
          <a:xfrm>
            <a:off x="18041112" y="3108960"/>
            <a:ext cx="0" cy="548640"/>
          </a:xfrm>
          <a:prstGeom prst="line">
            <a:avLst/>
          </a:prstGeom>
          <a:ln w="31750">
            <a:solidFill>
              <a:srgbClr val="C039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69" name="Connector 10268"/>
          <p:cNvCxnSpPr/>
          <p:nvPr/>
        </p:nvCxnSpPr>
        <p:spPr>
          <a:xfrm flipH="1">
            <a:off x="16971264" y="4343400"/>
            <a:ext cx="201168" cy="0"/>
          </a:xfrm>
          <a:prstGeom prst="line">
            <a:avLst/>
          </a:prstGeom>
          <a:ln w="31750">
            <a:solidFill>
              <a:srgbClr val="C039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0" name="Connector 10269"/>
          <p:cNvCxnSpPr/>
          <p:nvPr/>
        </p:nvCxnSpPr>
        <p:spPr>
          <a:xfrm flipH="1">
            <a:off x="15032736" y="4343400"/>
            <a:ext cx="201168" cy="0"/>
          </a:xfrm>
          <a:prstGeom prst="line">
            <a:avLst/>
          </a:prstGeom>
          <a:ln w="31750">
            <a:solidFill>
              <a:srgbClr val="C039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1" name="Connector 10270"/>
          <p:cNvCxnSpPr/>
          <p:nvPr/>
        </p:nvCxnSpPr>
        <p:spPr>
          <a:xfrm>
            <a:off x="10287000" y="3108960"/>
            <a:ext cx="0" cy="2377440"/>
          </a:xfrm>
          <a:prstGeom prst="line">
            <a:avLst/>
          </a:prstGeom>
          <a:ln w="25400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2" name="Connector 10271"/>
          <p:cNvCxnSpPr/>
          <p:nvPr/>
        </p:nvCxnSpPr>
        <p:spPr>
          <a:xfrm>
            <a:off x="11155680" y="6172200"/>
            <a:ext cx="201168" cy="0"/>
          </a:xfrm>
          <a:prstGeom prst="line">
            <a:avLst/>
          </a:prstGeom>
          <a:ln w="25400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3" name="TextBox 10272"/>
          <p:cNvSpPr txBox="1"/>
          <p:nvPr/>
        </p:nvSpPr>
        <p:spPr>
          <a:xfrm>
            <a:off x="15142463" y="5394960"/>
            <a:ext cx="4206240" cy="1554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  <a:latin typeface="Calibri"/>
              </a:rPr>
              <a:t>Critical path (red):</a:t>
            </a:r>
          </a:p>
          <a:p>
            <a:pPr algn="l"/>
            <a:r>
              <a:rPr sz="1800" b="1" i="0">
                <a:solidFill>
                  <a:srgbClr val="C0392B"/>
                </a:solidFill>
                <a:latin typeface="Calibri"/>
              </a:rPr>
              <a:t>A→B→C→F→G→I→J→K</a:t>
            </a:r>
          </a:p>
          <a:p>
            <a:pPr algn="l"/>
            <a:r>
              <a:rPr sz="1800" b="1" i="0">
                <a:solidFill>
                  <a:srgbClr val="C0392B"/>
                </a:solidFill>
                <a:latin typeface="Calibri"/>
              </a:rPr>
              <a:t>2+3+4+3+4+3+2+3 = 24 weeks</a:t>
            </a:r>
          </a:p>
          <a:p>
            <a:pPr algn="l"/>
            <a:r>
              <a:rPr sz="1800" b="1" i="0">
                <a:solidFill>
                  <a:srgbClr val="C0392B"/>
                </a:solidFill>
                <a:latin typeface="Calibri"/>
              </a:rPr>
              <a:t>D, E, H have slack</a:t>
            </a:r>
          </a:p>
        </p:txBody>
      </p:sp>
      <p:sp>
        <p:nvSpPr>
          <p:cNvPr id="10274" name="Rectangle 10273"/>
          <p:cNvSpPr/>
          <p:nvPr/>
        </p:nvSpPr>
        <p:spPr>
          <a:xfrm>
            <a:off x="1005840" y="7223760"/>
            <a:ext cx="18105120" cy="301752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/>
          <a:lstStyle/>
          <a:p>
            <a:pPr algn="l"/>
            <a:r>
              <a:rPr sz="2300" b="1" i="0">
                <a:solidFill>
                  <a:srgbClr val="1F2A44"/>
                </a:solidFill>
                <a:latin typeface="Calibri"/>
              </a:rPr>
              <a:t>Worked slack, activity E: </a:t>
            </a:r>
            <a:r>
              <a:rPr sz="2300" b="0" i="0">
                <a:solidFill>
                  <a:srgbClr val="1F2A44"/>
                </a:solidFill>
                <a:latin typeface="Calibri"/>
              </a:rPr>
              <a:t>LF(E) = LS(I) = 16 weeks, so LS(E) = 16 − 5 = 11; ES(E) = 6; slack = 11 − 6 = 5 weeks. </a:t>
            </a:r>
            <a:r>
              <a:rPr sz="2300" b="1" i="0">
                <a:solidFill>
                  <a:srgbClr val="1F2A44"/>
                </a:solidFill>
                <a:latin typeface="Calibri"/>
              </a:rPr>
              <a:t>For H: </a:t>
            </a:r>
            <a:r>
              <a:rPr sz="2300" b="0" i="0">
                <a:solidFill>
                  <a:srgbClr val="1F2A44"/>
                </a:solidFill>
                <a:latin typeface="Calibri"/>
              </a:rPr>
              <a:t>LS = 16 − 3 = 13, ES = 6, slack = 7. </a:t>
            </a:r>
            <a:r>
              <a:rPr sz="2300" b="1" i="0">
                <a:solidFill>
                  <a:srgbClr val="1F2A44"/>
                </a:solidFill>
                <a:latin typeface="Calibri"/>
              </a:rPr>
              <a:t>For D: </a:t>
            </a:r>
            <a:r>
              <a:rPr sz="2300" b="0" i="0">
                <a:solidFill>
                  <a:srgbClr val="1F2A44"/>
                </a:solidFill>
                <a:latin typeface="Calibri"/>
              </a:rPr>
              <a:t>LF = min(LS(E), LS(H)) = 11, LS = 7, ES = 2, slack = 5.</a:t>
            </a:r>
          </a:p>
          <a:p>
            <a:pPr algn="l"/>
            <a:r>
              <a:rPr sz="2300" b="1" i="0">
                <a:solidFill>
                  <a:srgbClr val="1F2A44"/>
                </a:solidFill>
                <a:latin typeface="Calibri"/>
              </a:rPr>
              <a:t>RAM: </a:t>
            </a:r>
            <a:r>
              <a:rPr sz="2300" b="0" i="0">
                <a:solidFill>
                  <a:srgbClr val="1F2A44"/>
                </a:solidFill>
                <a:latin typeface="Calibri"/>
              </a:rPr>
              <a:t>every work package has one primary owner (R) and the guide is accountable (A); Manohara 430 h, Srijan 300 h, Shreejith 180 h.</a:t>
            </a:r>
          </a:p>
        </p:txBody>
      </p:sp>
    </p:spTree>
    <p:extLst>
      <p:ext uri="{BB962C8B-B14F-4D97-AF65-F5344CB8AC3E}">
        <p14:creationId xmlns:p14="http://schemas.microsoft.com/office/powerpoint/2010/main" val="1769017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 Tracking and Risk Management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14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sp>
        <p:nvSpPr>
          <p:cNvPr id="10251" name="TextBox 10250"/>
          <p:cNvSpPr txBox="1"/>
          <p:nvPr/>
        </p:nvSpPr>
        <p:spPr>
          <a:xfrm>
            <a:off x="3657600" y="16276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36576" bIns="36576">
            <a:spAutoFit/>
          </a:bodyPr>
          <a:lstStyle/>
          <a:p>
            <a:pPr algn="ctr"/>
            <a:r>
              <a:rPr sz="1600" b="0" i="0">
                <a:solidFill>
                  <a:srgbClr val="5F6B7A"/>
                </a:solidFill>
                <a:latin typeface="Calibri"/>
              </a:rPr>
              <a:t>0</a:t>
            </a:r>
          </a:p>
        </p:txBody>
      </p:sp>
      <p:cxnSp>
        <p:nvCxnSpPr>
          <p:cNvPr id="10252" name="Connector 10251"/>
          <p:cNvCxnSpPr/>
          <p:nvPr/>
        </p:nvCxnSpPr>
        <p:spPr>
          <a:xfrm>
            <a:off x="3931920" y="2148840"/>
            <a:ext cx="0" cy="4517135"/>
          </a:xfrm>
          <a:prstGeom prst="line">
            <a:avLst/>
          </a:prstGeom>
          <a:ln w="9525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3" name="TextBox 10252"/>
          <p:cNvSpPr txBox="1"/>
          <p:nvPr/>
        </p:nvSpPr>
        <p:spPr>
          <a:xfrm>
            <a:off x="4702628" y="16276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36576" bIns="36576">
            <a:spAutoFit/>
          </a:bodyPr>
          <a:lstStyle/>
          <a:p>
            <a:pPr algn="ctr"/>
            <a:r>
              <a:rPr sz="1600" b="0" i="0">
                <a:solidFill>
                  <a:srgbClr val="5F6B7A"/>
                </a:solidFill>
                <a:latin typeface="Calibri"/>
              </a:rPr>
              <a:t>4</a:t>
            </a:r>
          </a:p>
        </p:txBody>
      </p:sp>
      <p:cxnSp>
        <p:nvCxnSpPr>
          <p:cNvPr id="10254" name="Connector 10253"/>
          <p:cNvCxnSpPr/>
          <p:nvPr/>
        </p:nvCxnSpPr>
        <p:spPr>
          <a:xfrm>
            <a:off x="4976948" y="2148840"/>
            <a:ext cx="0" cy="4517135"/>
          </a:xfrm>
          <a:prstGeom prst="line">
            <a:avLst/>
          </a:prstGeom>
          <a:ln w="9525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5" name="TextBox 10254"/>
          <p:cNvSpPr txBox="1"/>
          <p:nvPr/>
        </p:nvSpPr>
        <p:spPr>
          <a:xfrm>
            <a:off x="5747657" y="16276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36576" bIns="36576">
            <a:spAutoFit/>
          </a:bodyPr>
          <a:lstStyle/>
          <a:p>
            <a:pPr algn="ctr"/>
            <a:r>
              <a:rPr sz="1600" b="0" i="0">
                <a:solidFill>
                  <a:srgbClr val="5F6B7A"/>
                </a:solidFill>
                <a:latin typeface="Calibri"/>
              </a:rPr>
              <a:t>8</a:t>
            </a:r>
          </a:p>
        </p:txBody>
      </p:sp>
      <p:cxnSp>
        <p:nvCxnSpPr>
          <p:cNvPr id="10256" name="Connector 10255"/>
          <p:cNvCxnSpPr/>
          <p:nvPr/>
        </p:nvCxnSpPr>
        <p:spPr>
          <a:xfrm>
            <a:off x="6021977" y="2148840"/>
            <a:ext cx="0" cy="4517135"/>
          </a:xfrm>
          <a:prstGeom prst="line">
            <a:avLst/>
          </a:prstGeom>
          <a:ln w="9525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7" name="TextBox 10256"/>
          <p:cNvSpPr txBox="1"/>
          <p:nvPr/>
        </p:nvSpPr>
        <p:spPr>
          <a:xfrm>
            <a:off x="6792685" y="16276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36576" bIns="36576">
            <a:spAutoFit/>
          </a:bodyPr>
          <a:lstStyle/>
          <a:p>
            <a:pPr algn="ctr"/>
            <a:r>
              <a:rPr sz="1600" b="0" i="0">
                <a:solidFill>
                  <a:srgbClr val="5F6B7A"/>
                </a:solidFill>
                <a:latin typeface="Calibri"/>
              </a:rPr>
              <a:t>12</a:t>
            </a:r>
          </a:p>
        </p:txBody>
      </p:sp>
      <p:cxnSp>
        <p:nvCxnSpPr>
          <p:cNvPr id="10258" name="Connector 10257"/>
          <p:cNvCxnSpPr/>
          <p:nvPr/>
        </p:nvCxnSpPr>
        <p:spPr>
          <a:xfrm>
            <a:off x="7067005" y="2148840"/>
            <a:ext cx="0" cy="4517135"/>
          </a:xfrm>
          <a:prstGeom prst="line">
            <a:avLst/>
          </a:prstGeom>
          <a:ln w="9525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9" name="TextBox 10258"/>
          <p:cNvSpPr txBox="1"/>
          <p:nvPr/>
        </p:nvSpPr>
        <p:spPr>
          <a:xfrm>
            <a:off x="7837714" y="16276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36576" bIns="36576">
            <a:spAutoFit/>
          </a:bodyPr>
          <a:lstStyle/>
          <a:p>
            <a:pPr algn="ctr"/>
            <a:r>
              <a:rPr sz="1600" b="0" i="0">
                <a:solidFill>
                  <a:srgbClr val="5F6B7A"/>
                </a:solidFill>
                <a:latin typeface="Calibri"/>
              </a:rPr>
              <a:t>16</a:t>
            </a:r>
          </a:p>
        </p:txBody>
      </p:sp>
      <p:cxnSp>
        <p:nvCxnSpPr>
          <p:cNvPr id="10260" name="Connector 10259"/>
          <p:cNvCxnSpPr/>
          <p:nvPr/>
        </p:nvCxnSpPr>
        <p:spPr>
          <a:xfrm>
            <a:off x="8112034" y="2148840"/>
            <a:ext cx="0" cy="4517135"/>
          </a:xfrm>
          <a:prstGeom prst="line">
            <a:avLst/>
          </a:prstGeom>
          <a:ln w="9525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1" name="TextBox 10260"/>
          <p:cNvSpPr txBox="1"/>
          <p:nvPr/>
        </p:nvSpPr>
        <p:spPr>
          <a:xfrm>
            <a:off x="8882742" y="16276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36576" bIns="36576">
            <a:spAutoFit/>
          </a:bodyPr>
          <a:lstStyle/>
          <a:p>
            <a:pPr algn="ctr"/>
            <a:r>
              <a:rPr sz="1600" b="0" i="0">
                <a:solidFill>
                  <a:srgbClr val="5F6B7A"/>
                </a:solidFill>
                <a:latin typeface="Calibri"/>
              </a:rPr>
              <a:t>20</a:t>
            </a:r>
          </a:p>
        </p:txBody>
      </p:sp>
      <p:cxnSp>
        <p:nvCxnSpPr>
          <p:cNvPr id="10262" name="Connector 10261"/>
          <p:cNvCxnSpPr/>
          <p:nvPr/>
        </p:nvCxnSpPr>
        <p:spPr>
          <a:xfrm>
            <a:off x="9157062" y="2148840"/>
            <a:ext cx="0" cy="4517135"/>
          </a:xfrm>
          <a:prstGeom prst="line">
            <a:avLst/>
          </a:prstGeom>
          <a:ln w="9525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3" name="TextBox 10262"/>
          <p:cNvSpPr txBox="1"/>
          <p:nvPr/>
        </p:nvSpPr>
        <p:spPr>
          <a:xfrm>
            <a:off x="9927771" y="16276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36576" bIns="36576">
            <a:spAutoFit/>
          </a:bodyPr>
          <a:lstStyle/>
          <a:p>
            <a:pPr algn="ctr"/>
            <a:r>
              <a:rPr sz="1600" b="0" i="0">
                <a:solidFill>
                  <a:srgbClr val="5F6B7A"/>
                </a:solidFill>
                <a:latin typeface="Calibri"/>
              </a:rPr>
              <a:t>24</a:t>
            </a:r>
          </a:p>
        </p:txBody>
      </p:sp>
      <p:cxnSp>
        <p:nvCxnSpPr>
          <p:cNvPr id="10264" name="Connector 10263"/>
          <p:cNvCxnSpPr/>
          <p:nvPr/>
        </p:nvCxnSpPr>
        <p:spPr>
          <a:xfrm>
            <a:off x="10202091" y="2148840"/>
            <a:ext cx="0" cy="4517135"/>
          </a:xfrm>
          <a:prstGeom prst="line">
            <a:avLst/>
          </a:prstGeom>
          <a:ln w="9525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5" name="TextBox 10264"/>
          <p:cNvSpPr txBox="1"/>
          <p:nvPr/>
        </p:nvSpPr>
        <p:spPr>
          <a:xfrm>
            <a:off x="10972800" y="16276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36576" bIns="36576">
            <a:spAutoFit/>
          </a:bodyPr>
          <a:lstStyle/>
          <a:p>
            <a:pPr algn="ctr"/>
            <a:r>
              <a:rPr sz="1600" b="0" i="0">
                <a:solidFill>
                  <a:srgbClr val="5F6B7A"/>
                </a:solidFill>
                <a:latin typeface="Calibri"/>
              </a:rPr>
              <a:t>28</a:t>
            </a:r>
          </a:p>
        </p:txBody>
      </p:sp>
      <p:cxnSp>
        <p:nvCxnSpPr>
          <p:cNvPr id="10266" name="Connector 10265"/>
          <p:cNvCxnSpPr/>
          <p:nvPr/>
        </p:nvCxnSpPr>
        <p:spPr>
          <a:xfrm>
            <a:off x="11247120" y="2148840"/>
            <a:ext cx="0" cy="4517135"/>
          </a:xfrm>
          <a:prstGeom prst="line">
            <a:avLst/>
          </a:prstGeom>
          <a:ln w="9525">
            <a:solidFill>
              <a:srgbClr val="D5DB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7" name="TextBox 10266"/>
          <p:cNvSpPr txBox="1"/>
          <p:nvPr/>
        </p:nvSpPr>
        <p:spPr>
          <a:xfrm>
            <a:off x="1005840" y="2148840"/>
            <a:ext cx="2834640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700" b="0" i="0">
                <a:solidFill>
                  <a:srgbClr val="1F2A44"/>
                </a:solidFill>
                <a:latin typeface="Calibri"/>
              </a:rPr>
              <a:t>A Requirements</a:t>
            </a:r>
          </a:p>
        </p:txBody>
      </p:sp>
      <p:sp>
        <p:nvSpPr>
          <p:cNvPr id="10268" name="Rectangle 10267"/>
          <p:cNvSpPr/>
          <p:nvPr/>
        </p:nvSpPr>
        <p:spPr>
          <a:xfrm>
            <a:off x="3931920" y="2167128"/>
            <a:ext cx="522514" cy="155448"/>
          </a:xfrm>
          <a:prstGeom prst="rect">
            <a:avLst/>
          </a:prstGeom>
          <a:solidFill>
            <a:srgbClr val="9DB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10269" name="Rectangle 10268"/>
          <p:cNvSpPr/>
          <p:nvPr/>
        </p:nvSpPr>
        <p:spPr>
          <a:xfrm>
            <a:off x="3931920" y="2340864"/>
            <a:ext cx="783771" cy="1554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10270" name="TextBox 10269"/>
          <p:cNvSpPr txBox="1"/>
          <p:nvPr/>
        </p:nvSpPr>
        <p:spPr>
          <a:xfrm>
            <a:off x="1005840" y="2551176"/>
            <a:ext cx="2834640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700" b="0" i="0">
                <a:solidFill>
                  <a:srgbClr val="1F2A44"/>
                </a:solidFill>
                <a:latin typeface="Calibri"/>
              </a:rPr>
              <a:t>B Data</a:t>
            </a:r>
          </a:p>
        </p:txBody>
      </p:sp>
      <p:sp>
        <p:nvSpPr>
          <p:cNvPr id="10271" name="Rectangle 10270"/>
          <p:cNvSpPr/>
          <p:nvPr/>
        </p:nvSpPr>
        <p:spPr>
          <a:xfrm>
            <a:off x="4454434" y="2569464"/>
            <a:ext cx="783771" cy="155448"/>
          </a:xfrm>
          <a:prstGeom prst="rect">
            <a:avLst/>
          </a:prstGeom>
          <a:solidFill>
            <a:srgbClr val="9DB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10272" name="Rectangle 10271"/>
          <p:cNvSpPr/>
          <p:nvPr/>
        </p:nvSpPr>
        <p:spPr>
          <a:xfrm>
            <a:off x="4715691" y="2743200"/>
            <a:ext cx="5486400" cy="1554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10273" name="TextBox 10272"/>
          <p:cNvSpPr txBox="1"/>
          <p:nvPr/>
        </p:nvSpPr>
        <p:spPr>
          <a:xfrm>
            <a:off x="1005840" y="2953512"/>
            <a:ext cx="2834640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700" b="0" i="0">
                <a:solidFill>
                  <a:srgbClr val="1F2A44"/>
                </a:solidFill>
                <a:latin typeface="Calibri"/>
              </a:rPr>
              <a:t>C Market choice</a:t>
            </a:r>
          </a:p>
        </p:txBody>
      </p:sp>
      <p:sp>
        <p:nvSpPr>
          <p:cNvPr id="10274" name="Rectangle 10273"/>
          <p:cNvSpPr/>
          <p:nvPr/>
        </p:nvSpPr>
        <p:spPr>
          <a:xfrm>
            <a:off x="5238205" y="2971800"/>
            <a:ext cx="1045028" cy="155448"/>
          </a:xfrm>
          <a:prstGeom prst="rect">
            <a:avLst/>
          </a:prstGeom>
          <a:solidFill>
            <a:srgbClr val="9DB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10275" name="Rectangle 10274"/>
          <p:cNvSpPr/>
          <p:nvPr/>
        </p:nvSpPr>
        <p:spPr>
          <a:xfrm>
            <a:off x="5499462" y="3145536"/>
            <a:ext cx="5225142" cy="1554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10276" name="TextBox 10275"/>
          <p:cNvSpPr txBox="1"/>
          <p:nvPr/>
        </p:nvSpPr>
        <p:spPr>
          <a:xfrm>
            <a:off x="1005840" y="3355848"/>
            <a:ext cx="2834640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700" b="0" i="0">
                <a:solidFill>
                  <a:srgbClr val="1F2A44"/>
                </a:solidFill>
                <a:latin typeface="Calibri"/>
              </a:rPr>
              <a:t>D Backend API</a:t>
            </a:r>
          </a:p>
        </p:txBody>
      </p:sp>
      <p:sp>
        <p:nvSpPr>
          <p:cNvPr id="10277" name="Rectangle 10276"/>
          <p:cNvSpPr/>
          <p:nvPr/>
        </p:nvSpPr>
        <p:spPr>
          <a:xfrm>
            <a:off x="4454434" y="3374136"/>
            <a:ext cx="1045028" cy="155448"/>
          </a:xfrm>
          <a:prstGeom prst="rect">
            <a:avLst/>
          </a:prstGeom>
          <a:solidFill>
            <a:srgbClr val="9DB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10278" name="Rectangle 10277"/>
          <p:cNvSpPr/>
          <p:nvPr/>
        </p:nvSpPr>
        <p:spPr>
          <a:xfrm>
            <a:off x="4193177" y="3547872"/>
            <a:ext cx="5747657" cy="1554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10279" name="TextBox 10278"/>
          <p:cNvSpPr txBox="1"/>
          <p:nvPr/>
        </p:nvSpPr>
        <p:spPr>
          <a:xfrm>
            <a:off x="1005840" y="3758184"/>
            <a:ext cx="2834640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700" b="0" i="0">
                <a:solidFill>
                  <a:srgbClr val="1F2A44"/>
                </a:solidFill>
                <a:latin typeface="Calibri"/>
              </a:rPr>
              <a:t>E Web application</a:t>
            </a:r>
          </a:p>
        </p:txBody>
      </p:sp>
      <p:sp>
        <p:nvSpPr>
          <p:cNvPr id="10280" name="Rectangle 10279"/>
          <p:cNvSpPr/>
          <p:nvPr/>
        </p:nvSpPr>
        <p:spPr>
          <a:xfrm>
            <a:off x="5499462" y="3776472"/>
            <a:ext cx="1306285" cy="155448"/>
          </a:xfrm>
          <a:prstGeom prst="rect">
            <a:avLst/>
          </a:prstGeom>
          <a:solidFill>
            <a:srgbClr val="9DB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10281" name="Rectangle 10280"/>
          <p:cNvSpPr/>
          <p:nvPr/>
        </p:nvSpPr>
        <p:spPr>
          <a:xfrm>
            <a:off x="5499462" y="3950208"/>
            <a:ext cx="4702628" cy="1554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10282" name="TextBox 10281"/>
          <p:cNvSpPr txBox="1"/>
          <p:nvPr/>
        </p:nvSpPr>
        <p:spPr>
          <a:xfrm>
            <a:off x="1005840" y="4160520"/>
            <a:ext cx="2834640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700" b="0" i="0">
                <a:solidFill>
                  <a:srgbClr val="1F2A44"/>
                </a:solidFill>
                <a:latin typeface="Calibri"/>
              </a:rPr>
              <a:t>F Forecasters</a:t>
            </a:r>
          </a:p>
        </p:txBody>
      </p:sp>
      <p:sp>
        <p:nvSpPr>
          <p:cNvPr id="10283" name="Rectangle 10282"/>
          <p:cNvSpPr/>
          <p:nvPr/>
        </p:nvSpPr>
        <p:spPr>
          <a:xfrm>
            <a:off x="6283234" y="4178808"/>
            <a:ext cx="783771" cy="155448"/>
          </a:xfrm>
          <a:prstGeom prst="rect">
            <a:avLst/>
          </a:prstGeom>
          <a:solidFill>
            <a:srgbClr val="9DB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10284" name="Rectangle 10283"/>
          <p:cNvSpPr/>
          <p:nvPr/>
        </p:nvSpPr>
        <p:spPr>
          <a:xfrm>
            <a:off x="9679577" y="4352544"/>
            <a:ext cx="1045028" cy="1554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10285" name="TextBox 10284"/>
          <p:cNvSpPr txBox="1"/>
          <p:nvPr/>
        </p:nvSpPr>
        <p:spPr>
          <a:xfrm>
            <a:off x="1005840" y="4562856"/>
            <a:ext cx="2834640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700" b="0" i="0">
                <a:solidFill>
                  <a:srgbClr val="1F2A44"/>
                </a:solidFill>
                <a:latin typeface="Calibri"/>
              </a:rPr>
              <a:t>G Experiments</a:t>
            </a:r>
          </a:p>
        </p:txBody>
      </p:sp>
      <p:sp>
        <p:nvSpPr>
          <p:cNvPr id="10286" name="Rectangle 10285"/>
          <p:cNvSpPr/>
          <p:nvPr/>
        </p:nvSpPr>
        <p:spPr>
          <a:xfrm>
            <a:off x="7067005" y="4581144"/>
            <a:ext cx="1045028" cy="155448"/>
          </a:xfrm>
          <a:prstGeom prst="rect">
            <a:avLst/>
          </a:prstGeom>
          <a:solidFill>
            <a:srgbClr val="9DB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10287" name="Rectangle 10286"/>
          <p:cNvSpPr/>
          <p:nvPr/>
        </p:nvSpPr>
        <p:spPr>
          <a:xfrm>
            <a:off x="10202091" y="4754880"/>
            <a:ext cx="783771" cy="1554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10288" name="TextBox 10287"/>
          <p:cNvSpPr txBox="1"/>
          <p:nvPr/>
        </p:nvSpPr>
        <p:spPr>
          <a:xfrm>
            <a:off x="1005840" y="4965192"/>
            <a:ext cx="2834640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700" b="0" i="0">
                <a:solidFill>
                  <a:srgbClr val="1F2A44"/>
                </a:solidFill>
                <a:latin typeface="Calibri"/>
              </a:rPr>
              <a:t>H LLM layer</a:t>
            </a:r>
          </a:p>
        </p:txBody>
      </p:sp>
      <p:sp>
        <p:nvSpPr>
          <p:cNvPr id="10289" name="Rectangle 10288"/>
          <p:cNvSpPr/>
          <p:nvPr/>
        </p:nvSpPr>
        <p:spPr>
          <a:xfrm>
            <a:off x="5499462" y="4983479"/>
            <a:ext cx="783771" cy="155448"/>
          </a:xfrm>
          <a:prstGeom prst="rect">
            <a:avLst/>
          </a:prstGeom>
          <a:solidFill>
            <a:srgbClr val="9DB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10290" name="Rectangle 10289"/>
          <p:cNvSpPr/>
          <p:nvPr/>
        </p:nvSpPr>
        <p:spPr>
          <a:xfrm>
            <a:off x="9679577" y="5157216"/>
            <a:ext cx="522514" cy="1554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10291" name="TextBox 10290"/>
          <p:cNvSpPr txBox="1"/>
          <p:nvPr/>
        </p:nvSpPr>
        <p:spPr>
          <a:xfrm>
            <a:off x="1005840" y="5367528"/>
            <a:ext cx="2834640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700" b="0" i="0">
                <a:solidFill>
                  <a:srgbClr val="1F2A44"/>
                </a:solidFill>
                <a:latin typeface="Calibri"/>
              </a:rPr>
              <a:t>I Testing</a:t>
            </a:r>
          </a:p>
        </p:txBody>
      </p:sp>
      <p:sp>
        <p:nvSpPr>
          <p:cNvPr id="10292" name="Rectangle 10291"/>
          <p:cNvSpPr/>
          <p:nvPr/>
        </p:nvSpPr>
        <p:spPr>
          <a:xfrm>
            <a:off x="8112034" y="5385816"/>
            <a:ext cx="783771" cy="155448"/>
          </a:xfrm>
          <a:prstGeom prst="rect">
            <a:avLst/>
          </a:prstGeom>
          <a:solidFill>
            <a:srgbClr val="9DB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10293" name="Rectangle 10292"/>
          <p:cNvSpPr/>
          <p:nvPr/>
        </p:nvSpPr>
        <p:spPr>
          <a:xfrm>
            <a:off x="9679577" y="5559552"/>
            <a:ext cx="1306285" cy="1554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10294" name="TextBox 10293"/>
          <p:cNvSpPr txBox="1"/>
          <p:nvPr/>
        </p:nvSpPr>
        <p:spPr>
          <a:xfrm>
            <a:off x="1005840" y="5769864"/>
            <a:ext cx="2834640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700" b="0" i="0">
                <a:solidFill>
                  <a:srgbClr val="1F2A44"/>
                </a:solidFill>
                <a:latin typeface="Calibri"/>
              </a:rPr>
              <a:t>J Integration</a:t>
            </a:r>
          </a:p>
        </p:txBody>
      </p:sp>
      <p:sp>
        <p:nvSpPr>
          <p:cNvPr id="10295" name="Rectangle 10294"/>
          <p:cNvSpPr/>
          <p:nvPr/>
        </p:nvSpPr>
        <p:spPr>
          <a:xfrm>
            <a:off x="8895805" y="5788152"/>
            <a:ext cx="522514" cy="155448"/>
          </a:xfrm>
          <a:prstGeom prst="rect">
            <a:avLst/>
          </a:prstGeom>
          <a:solidFill>
            <a:srgbClr val="9DB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10296" name="Rectangle 10295"/>
          <p:cNvSpPr/>
          <p:nvPr/>
        </p:nvSpPr>
        <p:spPr>
          <a:xfrm>
            <a:off x="10463348" y="5961888"/>
            <a:ext cx="522514" cy="1554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10297" name="TextBox 10296"/>
          <p:cNvSpPr txBox="1"/>
          <p:nvPr/>
        </p:nvSpPr>
        <p:spPr>
          <a:xfrm>
            <a:off x="1005840" y="6172200"/>
            <a:ext cx="2834640" cy="4023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r"/>
            <a:r>
              <a:rPr sz="1700" b="0" i="0">
                <a:solidFill>
                  <a:srgbClr val="1F2A44"/>
                </a:solidFill>
                <a:latin typeface="Calibri"/>
              </a:rPr>
              <a:t>K Report</a:t>
            </a:r>
          </a:p>
        </p:txBody>
      </p:sp>
      <p:sp>
        <p:nvSpPr>
          <p:cNvPr id="10298" name="Rectangle 10297"/>
          <p:cNvSpPr/>
          <p:nvPr/>
        </p:nvSpPr>
        <p:spPr>
          <a:xfrm>
            <a:off x="9418320" y="6190488"/>
            <a:ext cx="783771" cy="155448"/>
          </a:xfrm>
          <a:prstGeom prst="rect">
            <a:avLst/>
          </a:prstGeom>
          <a:solidFill>
            <a:srgbClr val="9DB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10299" name="Rectangle 10298"/>
          <p:cNvSpPr/>
          <p:nvPr/>
        </p:nvSpPr>
        <p:spPr>
          <a:xfrm>
            <a:off x="10463348" y="6364224"/>
            <a:ext cx="600891" cy="15544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/>
            </a:r>
          </a:p>
        </p:txBody>
      </p:sp>
      <p:sp>
        <p:nvSpPr>
          <p:cNvPr id="10300" name="TextBox 10299"/>
          <p:cNvSpPr txBox="1"/>
          <p:nvPr/>
        </p:nvSpPr>
        <p:spPr>
          <a:xfrm>
            <a:off x="3931920" y="671169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36576" bIns="36576">
            <a:spAutoFit/>
          </a:bodyPr>
          <a:lstStyle/>
          <a:p>
            <a:pPr algn="l"/>
            <a:r>
              <a:rPr sz="1600" b="0" i="0">
                <a:solidFill>
                  <a:srgbClr val="6A8FB8"/>
                </a:solidFill>
                <a:latin typeface="Calibri"/>
              </a:rPr>
              <a:t>baseline</a:t>
            </a:r>
          </a:p>
        </p:txBody>
      </p:sp>
      <p:sp>
        <p:nvSpPr>
          <p:cNvPr id="10301" name="TextBox 10300"/>
          <p:cNvSpPr txBox="1"/>
          <p:nvPr/>
        </p:nvSpPr>
        <p:spPr>
          <a:xfrm>
            <a:off x="5577840" y="671169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36576" bIns="36576">
            <a:spAutoFit/>
          </a:bodyPr>
          <a:lstStyle/>
          <a:p>
            <a:pPr algn="l"/>
            <a:r>
              <a:rPr sz="1600" b="0" i="0">
                <a:solidFill>
                  <a:srgbClr val="D9822B"/>
                </a:solidFill>
                <a:latin typeface="Calibri"/>
              </a:rPr>
              <a:t>actual</a:t>
            </a:r>
          </a:p>
        </p:txBody>
      </p:sp>
      <p:sp>
        <p:nvSpPr>
          <p:cNvPr id="10302" name="Rectangle 10301"/>
          <p:cNvSpPr/>
          <p:nvPr/>
        </p:nvSpPr>
        <p:spPr>
          <a:xfrm>
            <a:off x="1005840" y="6949440"/>
            <a:ext cx="10058400" cy="310896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/>
            <a:r>
              <a:rPr sz="2100" b="1" i="0">
                <a:solidFill>
                  <a:srgbClr val="1F2A44"/>
                </a:solidFill>
                <a:latin typeface="Calibri"/>
              </a:rPr>
              <a:t>Slip: </a:t>
            </a:r>
            <a:r>
              <a:rPr sz="2100" b="0" i="0">
                <a:solidFill>
                  <a:srgbClr val="1F2A44"/>
                </a:solidFill>
                <a:latin typeface="Calibri"/>
              </a:rPr>
              <a:t>24 weeks planned, about 27 actual (+3.3 weeks, 14%). Data (B) was reopened after the first dataset proved synthetic, which pushed C and G on the critical path; D, E and H sat on slack and absorbed their delay.</a:t>
            </a:r>
          </a:p>
          <a:p>
            <a:pPr algn="l"/>
            <a:r>
              <a:rPr sz="2100" b="1" i="0">
                <a:solidFill>
                  <a:srgbClr val="1F2A44"/>
                </a:solidFill>
                <a:latin typeface="Calibri"/>
              </a:rPr>
              <a:t>Milestones: </a:t>
            </a:r>
            <a:r>
              <a:rPr sz="2100" b="0" i="0">
                <a:solidFill>
                  <a:srgbClr val="1F2A44"/>
                </a:solidFill>
                <a:latin typeface="Calibri"/>
              </a:rPr>
              <a:t>M1 requirements (wk 3), M2 first deployed prototype 9 Jun, M3 farmer suite 30 Sep, M4 research results 29 Oct, M5 report (wk 27).</a:t>
            </a:r>
          </a:p>
        </p:txBody>
      </p:sp>
      <p:graphicFrame>
        <p:nvGraphicFramePr>
          <p:cNvPr id="10303" name="Table 10302"/>
          <p:cNvGraphicFramePr>
            <a:graphicFrameLocks noGrp="1"/>
          </p:cNvGraphicFramePr>
          <p:nvPr/>
        </p:nvGraphicFramePr>
        <p:xfrm>
          <a:off x="11430000" y="1645920"/>
          <a:ext cx="7680958" cy="6419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4607"/>
                <a:gridCol w="596579"/>
                <a:gridCol w="3281186"/>
                <a:gridCol w="1118586"/>
              </a:tblGrid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P×I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Response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R1 Source data synthetic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Re-acquired Agmarknet exports, integrity check, removed synthetic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C0392B"/>
                          </a:solidFill>
                          <a:latin typeface="Calibri"/>
                        </a:rPr>
                        <a:t>Occurred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R2 Look-ahead leakage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Leakage unit tests; caught 2 whole-series-centred features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C0392B"/>
                          </a:solidFill>
                          <a:latin typeface="Calibri"/>
                        </a:rPr>
                        <a:t>Occurred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R3 Hard deletion broke trader pages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Soft delete, re-seeding, id aliasing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C0392B"/>
                          </a:solidFill>
                          <a:latin typeface="Calibri"/>
                        </a:rPr>
                        <a:t>Occurred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R4 NumPy 2 broke pandas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Pinned 1.26.4; lock file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C0392B"/>
                          </a:solidFill>
                          <a:latin typeface="Calibri"/>
                        </a:rPr>
                        <a:t>Occurred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R5 LLM rate limit 8k tokens/min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Throttling, small evaluation set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C0392B"/>
                          </a:solidFill>
                          <a:latin typeface="Calibri"/>
                        </a:rPr>
                        <a:t>Occurred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R6 Uneven team contribution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Contribution record; owner split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D9822B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R7 Deployment unverified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Docker + Render files; to verify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D9822B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R8 No field trial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1F2A44"/>
                          </a:solidFill>
                          <a:latin typeface="Calibri"/>
                        </a:rPr>
                        <a:t>Stated limitation; survey ready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D9822B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</a:tbl>
          </a:graphicData>
        </a:graphic>
      </p:graphicFrame>
      <p:sp>
        <p:nvSpPr>
          <p:cNvPr id="10304" name="Rectangle 10303"/>
          <p:cNvSpPr/>
          <p:nvPr/>
        </p:nvSpPr>
        <p:spPr>
          <a:xfrm>
            <a:off x="11430000" y="8412480"/>
            <a:ext cx="7680960" cy="1737360"/>
          </a:xfrm>
          <a:prstGeom prst="rect">
            <a:avLst/>
          </a:prstGeom>
          <a:solidFill>
            <a:srgbClr val="DC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/>
            <a:r>
              <a:rPr sz="2000" b="1" i="0">
                <a:solidFill>
                  <a:srgbClr val="1F2A44"/>
                </a:solidFill>
                <a:latin typeface="Calibri"/>
              </a:rPr>
              <a:t>Materialised: R1. </a:t>
            </a:r>
            <a:r>
              <a:rPr sz="2000" b="0" i="0">
                <a:solidFill>
                  <a:srgbClr val="1F2A44"/>
                </a:solidFill>
                <a:latin typeface="Calibri"/>
              </a:rPr>
              <a:t>Trigger: results that looked too clean. Action: discard, rebuild from portal exports, re-run every experiment (see report Ch. 4).</a:t>
            </a:r>
          </a:p>
        </p:txBody>
      </p:sp>
    </p:spTree>
    <p:extLst>
      <p:ext uri="{BB962C8B-B14F-4D97-AF65-F5344CB8AC3E}">
        <p14:creationId xmlns:p14="http://schemas.microsoft.com/office/powerpoint/2010/main" val="1769017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Report and Documentation Status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15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sp>
        <p:nvSpPr>
          <p:cNvPr id="912" name="Content Guidance"/>
          <p:cNvSpPr txBox="1"/>
          <p:nvPr/>
        </p:nvSpPr>
        <p:spPr>
          <a:xfrm>
            <a:off x="1005840" y="1737360"/>
            <a:ext cx="18105120" cy="32918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Report: </a:t>
            </a:r>
            <a:r>
              <a:rPr lang="en-US" sz="25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BMSCE thesis template, 68 pages, compiled in LaTeX; Chapters 1–7 written; every table generated from experiment artefacts.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Appendices: </a:t>
            </a:r>
            <a:r>
              <a:rPr lang="en-US" sz="25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A code (read from source), B survey instrument, C per-fold evaluation, D dataset, E PO and SDG mapping, F similarity record.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Remaining: </a:t>
            </a:r>
            <a:r>
              <a:rPr lang="en-US" sz="25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official Drillbit report, CO–PO matrix from the course file, declaration date, supervisor corrections.</a:t>
            </a:r>
          </a:p>
        </p:txBody>
      </p:sp>
      <p:graphicFrame>
        <p:nvGraphicFramePr>
          <p:cNvPr id="10251" name="Table 10250"/>
          <p:cNvGraphicFramePr>
            <a:graphicFrameLocks noGrp="1"/>
          </p:cNvGraphicFramePr>
          <p:nvPr/>
        </p:nvGraphicFramePr>
        <p:xfrm>
          <a:off x="1005840" y="4572000"/>
          <a:ext cx="1097279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6949439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Chapters 1–7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2E8B57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Appendices A–E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D9822B"/>
                          </a:solidFill>
                          <a:latin typeface="Calibri"/>
                        </a:rPr>
                        <a:t>complete (E: CO–PO table to be inserted)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Appendix F similarity record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C0392B"/>
                          </a:solidFill>
                          <a:latin typeface="Calibri"/>
                        </a:rPr>
                        <a:t>pending: Drillbit not yet run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Figures and tables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2E8B57"/>
                          </a:solidFill>
                          <a:latin typeface="Calibri"/>
                        </a:rPr>
                        <a:t>numbered, captioned, referenced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Citations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2E8B57"/>
                          </a:solidFill>
                          <a:latin typeface="Calibri"/>
                        </a:rPr>
                        <a:t>40 IEEE-style entries, all cited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52" name="Rectangle 10251"/>
          <p:cNvSpPr/>
          <p:nvPr/>
        </p:nvSpPr>
        <p:spPr>
          <a:xfrm>
            <a:off x="12527280" y="4572000"/>
            <a:ext cx="6583680" cy="438912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/>
          <a:lstStyle/>
          <a:p>
            <a:pPr algn="l"/>
            <a:r>
              <a:rPr sz="2300" b="1" i="0">
                <a:solidFill>
                  <a:srgbClr val="1F2A44"/>
                </a:solidFill>
                <a:latin typeface="Calibri"/>
              </a:rPr>
              <a:t>Similarity: </a:t>
            </a:r>
            <a:r>
              <a:rPr sz="2300" b="0" i="0">
                <a:solidFill>
                  <a:srgbClr val="1F2A44"/>
                </a:solidFill>
                <a:latin typeface="Calibri"/>
              </a:rPr>
              <a:t>target ≤ 20% with Drillbit, references excluded. The official check has not been run yet; no percentage is claimed. A self-check of the conference draft found no verbatim web matches, which is not a substitute.</a:t>
            </a:r>
          </a:p>
        </p:txBody>
      </p:sp>
    </p:spTree>
    <p:extLst>
      <p:ext uri="{BB962C8B-B14F-4D97-AF65-F5344CB8AC3E}">
        <p14:creationId xmlns:p14="http://schemas.microsoft.com/office/powerpoint/2010/main" val="1769017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Mapping and Societal Impact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16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sp>
        <p:nvSpPr>
          <p:cNvPr id="913" name="Content Guidance"/>
          <p:cNvSpPr txBox="1"/>
          <p:nvPr/>
        </p:nvSpPr>
        <p:spPr>
          <a:xfrm>
            <a:off x="1005840" y="1737360"/>
            <a:ext cx="18105120" cy="16459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Stakeholders: </a:t>
            </a:r>
            <a:r>
              <a:rPr lang="en-US" sz="25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smallholder farmers (need a plain answer and a floor), traders (need evidence tiers and arrivals), mandi officials and policy makers (need transparent data use).</a:t>
            </a:r>
          </a:p>
        </p:txBody>
      </p:sp>
      <p:graphicFrame>
        <p:nvGraphicFramePr>
          <p:cNvPr id="10251" name="Table 10250"/>
          <p:cNvGraphicFramePr>
            <a:graphicFrameLocks noGrp="1"/>
          </p:cNvGraphicFramePr>
          <p:nvPr/>
        </p:nvGraphicFramePr>
        <p:xfrm>
          <a:off x="1005840" y="3566160"/>
          <a:ext cx="1810511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7012"/>
                <a:gridCol w="5538036"/>
                <a:gridCol w="7881052"/>
                <a:gridCol w="2769018"/>
              </a:tblGrid>
              <a:tr h="1005840">
                <a:tc>
                  <a:txBody>
                    <a:bodyPr wrap="square"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Calibri"/>
                        </a:rPr>
                        <a:t>SDG / target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Calibri"/>
                        </a:rPr>
                        <a:t>Link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Calibri"/>
                        </a:rPr>
                        <a:t>Support in our results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2300" b="1">
                          <a:solidFill>
                            <a:srgbClr val="1F2A44"/>
                          </a:solidFill>
                          <a:latin typeface="Calibri"/>
                        </a:rPr>
                        <a:t>2 / 2.3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income of small-scale producers through market information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back-test gains Rs 60–202 per quintal over the best simple rule in 3 of 4 crops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2E8B57"/>
                          </a:solidFill>
                          <a:latin typeface="Calibri"/>
                        </a:rPr>
                        <a:t>Measured offline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2300" b="1">
                          <a:solidFill>
                            <a:srgbClr val="1F2A44"/>
                          </a:solidFill>
                          <a:latin typeface="Calibri"/>
                        </a:rPr>
                        <a:t>1 / 1.4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access to economic services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free trilingual tool for small sellers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D9822B"/>
                          </a:solidFill>
                          <a:latin typeface="Calibri"/>
                        </a:rPr>
                        <a:t>Not measured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2300" b="1">
                          <a:solidFill>
                            <a:srgbClr val="1F2A44"/>
                          </a:solidFill>
                          <a:latin typeface="Calibri"/>
                        </a:rPr>
                        <a:t>12 / 12.3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reduce food loss along supply chains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spoilage built into advice; kg avoided not measured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D9822B"/>
                          </a:solidFill>
                          <a:latin typeface="Calibri"/>
                        </a:rPr>
                        <a:t>Potential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2300" b="1">
                          <a:solidFill>
                            <a:srgbClr val="1F2A44"/>
                          </a:solidFill>
                          <a:latin typeface="Calibri"/>
                        </a:rPr>
                        <a:t>9 / 9.c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access to information technology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open pipeline on a public data feed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5F6B7A"/>
                          </a:solidFill>
                          <a:latin typeface="Calibri"/>
                        </a:rPr>
                        <a:t>Engineering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</a:tbl>
          </a:graphicData>
        </a:graphic>
      </p:graphicFrame>
      <p:sp>
        <p:nvSpPr>
          <p:cNvPr id="10252" name="TextBox 10251"/>
          <p:cNvSpPr txBox="1"/>
          <p:nvPr/>
        </p:nvSpPr>
        <p:spPr>
          <a:xfrm>
            <a:off x="1005840" y="9509760"/>
            <a:ext cx="1810512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300" b="0" i="1">
                <a:solidFill>
                  <a:srgbClr val="5F6B7A"/>
                </a:solidFill>
                <a:latin typeface="Calibri"/>
              </a:rPr>
              <a:t>Impact is claimed only where held-out numbers support it; the benefit to farmers' real income needs a field trial.</a:t>
            </a:r>
          </a:p>
        </p:txBody>
      </p:sp>
    </p:spTree>
    <p:extLst>
      <p:ext uri="{BB962C8B-B14F-4D97-AF65-F5344CB8AC3E}">
        <p14:creationId xmlns:p14="http://schemas.microsoft.com/office/powerpoint/2010/main" val="1769017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 Status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17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sp>
        <p:nvSpPr>
          <p:cNvPr id="914" name="Content Guidance"/>
          <p:cNvSpPr txBox="1"/>
          <p:nvPr/>
        </p:nvSpPr>
        <p:spPr>
          <a:xfrm>
            <a:off x="1005840" y="1737360"/>
            <a:ext cx="18105120" cy="237744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Primary target: </a:t>
            </a:r>
            <a:r>
              <a:rPr lang="en-US" sz="25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IEEE Access, a broad applied-engineering journal that accepts long empirical papers with negative results.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Status: </a:t>
            </a:r>
            <a:r>
              <a:rPr lang="en-US" sz="25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manuscripts drafted; none submitted yet, so there is no acknowledgement, review or acceptance to show.</a:t>
            </a:r>
          </a:p>
        </p:txBody>
      </p:sp>
      <p:graphicFrame>
        <p:nvGraphicFramePr>
          <p:cNvPr id="10251" name="Table 10250"/>
          <p:cNvGraphicFramePr>
            <a:graphicFrameLocks noGrp="1"/>
          </p:cNvGraphicFramePr>
          <p:nvPr/>
        </p:nvGraphicFramePr>
        <p:xfrm>
          <a:off x="1005840" y="4114800"/>
          <a:ext cx="1810511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0996"/>
                <a:gridCol w="4178104"/>
                <a:gridCol w="1193744"/>
                <a:gridCol w="3382275"/>
              </a:tblGrid>
              <a:tr h="1234440"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Manuscript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Venue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Pages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Where and When to Sell: Outcome-Supervised Market Choice with Conformal Revenue Floors, and a Look-Ahead Audit of Decomposition Forecasters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IEEE Access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D9822B"/>
                          </a:solidFill>
                          <a:latin typeface="Calibri"/>
                        </a:rPr>
                        <a:t>Drafted, not submitted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Fusing Specialist Agents and Market Signals into Calibrated Price Ranges: A Pre-Registered Evaluation on Indian Agricultural Mandis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CICPS 2027 (Springer LNNS)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D9822B"/>
                          </a:solidFill>
                          <a:latin typeface="Calibri"/>
                        </a:rPr>
                        <a:t>Drafted, not submitted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MandiSense project proposal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KSCST SPP 50th series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D9822B"/>
                          </a:solidFill>
                          <a:latin typeface="Calibri"/>
                        </a:rPr>
                        <a:t>Proposal drafted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52" name="TextBox 10251"/>
          <p:cNvSpPr txBox="1"/>
          <p:nvPr/>
        </p:nvSpPr>
        <p:spPr>
          <a:xfrm>
            <a:off x="1005840" y="9144000"/>
            <a:ext cx="1810512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200" b="0" i="1">
                <a:solidFill>
                  <a:srgbClr val="5F6B7A"/>
                </a:solidFill>
                <a:latin typeface="Calibri"/>
              </a:rPr>
              <a:t>Similarity: only a self-conducted check exists for the conference draft (no verbatim web matches). Official Drillbit percentages will be added at submission.</a:t>
            </a:r>
          </a:p>
        </p:txBody>
      </p:sp>
    </p:spTree>
    <p:extLst>
      <p:ext uri="{BB962C8B-B14F-4D97-AF65-F5344CB8AC3E}">
        <p14:creationId xmlns:p14="http://schemas.microsoft.com/office/powerpoint/2010/main" val="1769017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18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sp>
        <p:nvSpPr>
          <p:cNvPr id="915" name="Content Guidance"/>
          <p:cNvSpPr txBox="1"/>
          <p:nvPr/>
        </p:nvSpPr>
        <p:spPr>
          <a:xfrm>
            <a:off x="1005840" y="1737360"/>
            <a:ext cx="18105120" cy="27432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Key outcome: </a:t>
            </a:r>
            <a:r>
              <a:rPr lang="en-US" sz="25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advice trained on realised revenue beats the best simple rule by Rs 170 per quintal for tomato and Rs 202 for ginger, with floors that hold their level.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 b="1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Against objectives: </a:t>
            </a:r>
            <a:r>
              <a:rPr lang="en-US" sz="25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6 met, 1 partly met, 1 null result; negative results reported.</a:t>
            </a:r>
          </a:p>
        </p:txBody>
      </p:sp>
      <p:sp>
        <p:nvSpPr>
          <p:cNvPr id="10251" name="Rectangle 10250"/>
          <p:cNvSpPr/>
          <p:nvPr/>
        </p:nvSpPr>
        <p:spPr>
          <a:xfrm>
            <a:off x="1005840" y="4114800"/>
            <a:ext cx="8869680" cy="5669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10252" name="Rectangle 10251"/>
          <p:cNvSpPr/>
          <p:nvPr/>
        </p:nvSpPr>
        <p:spPr>
          <a:xfrm>
            <a:off x="1005840" y="4681728"/>
            <a:ext cx="8869680" cy="5285232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/>
            <a:r>
              <a:rPr sz="3000" b="0" i="0">
                <a:solidFill>
                  <a:srgbClr val="1F2A44"/>
                </a:solidFill>
                <a:latin typeface="Calibri"/>
              </a:rPr>
              <a:t>One region, one source, 5.8 years</a:t>
            </a:r>
          </a:p>
          <a:p>
            <a:pPr algn="l"/>
            <a:r>
              <a:rPr sz="3000" b="0" i="0">
                <a:solidFill>
                  <a:srgbClr val="1F2A44"/>
                </a:solidFill>
                <a:latin typeface="Calibri"/>
              </a:rPr>
              <a:t>Offline only; no farmer acted on the advice</a:t>
            </a:r>
          </a:p>
          <a:p>
            <a:pPr algn="l"/>
            <a:r>
              <a:rPr sz="3000" b="0" i="0">
                <a:solidFill>
                  <a:srgbClr val="1F2A44"/>
                </a:solidFill>
                <a:latin typeface="Calibri"/>
              </a:rPr>
              <a:t>Revenue parameters are scenarios</a:t>
            </a:r>
          </a:p>
          <a:p>
            <a:pPr algn="l"/>
            <a:r>
              <a:rPr sz="3000" b="0" i="0">
                <a:solidFill>
                  <a:srgbClr val="1F2A44"/>
                </a:solidFill>
                <a:latin typeface="Calibri"/>
              </a:rPr>
              <a:t>Briefs checked for traceability, not user-tested</a:t>
            </a:r>
          </a:p>
          <a:p>
            <a:pPr algn="l"/>
            <a:r>
              <a:rPr sz="3000" b="0" i="0">
                <a:solidFill>
                  <a:srgbClr val="1F2A44"/>
                </a:solidFill>
                <a:latin typeface="Calibri"/>
              </a:rPr>
              <a:t>Spillover found no episodes; deployment unverified</a:t>
            </a:r>
          </a:p>
        </p:txBody>
      </p:sp>
      <p:sp>
        <p:nvSpPr>
          <p:cNvPr id="10253" name="Rectangle 10252"/>
          <p:cNvSpPr/>
          <p:nvPr/>
        </p:nvSpPr>
        <p:spPr>
          <a:xfrm>
            <a:off x="10241280" y="4114800"/>
            <a:ext cx="8869680" cy="5669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Future work (from those limits)</a:t>
            </a:r>
          </a:p>
        </p:txBody>
      </p:sp>
      <p:sp>
        <p:nvSpPr>
          <p:cNvPr id="10254" name="Rectangle 10253"/>
          <p:cNvSpPr/>
          <p:nvPr/>
        </p:nvSpPr>
        <p:spPr>
          <a:xfrm>
            <a:off x="10241280" y="4681728"/>
            <a:ext cx="8869680" cy="5285232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/>
            <a:r>
              <a:rPr sz="3000" b="0" i="0">
                <a:solidFill>
                  <a:srgbClr val="1F2A44"/>
                </a:solidFill>
                <a:latin typeface="Calibri"/>
              </a:rPr>
              <a:t>Field pilot with farmers and the survey</a:t>
            </a:r>
          </a:p>
          <a:p>
            <a:pPr algn="l"/>
            <a:r>
              <a:rPr sz="3000" b="0" i="0">
                <a:solidFill>
                  <a:srgbClr val="1F2A44"/>
                </a:solidFill>
                <a:latin typeface="Calibri"/>
              </a:rPr>
              <a:t>Estimate transport, spoilage and silence from data</a:t>
            </a:r>
          </a:p>
          <a:p>
            <a:pPr algn="l"/>
            <a:r>
              <a:rPr sz="3000" b="0" i="0">
                <a:solidFill>
                  <a:srgbClr val="1F2A44"/>
                </a:solidFill>
                <a:latin typeface="Calibri"/>
              </a:rPr>
              <a:t>Diagnose the spillover labelling; define episodes from arrivals</a:t>
            </a:r>
          </a:p>
          <a:p>
            <a:pPr algn="l"/>
            <a:r>
              <a:rPr sz="3000" b="0" i="0">
                <a:solidFill>
                  <a:srgbClr val="1F2A44"/>
                </a:solidFill>
                <a:latin typeface="Calibri"/>
              </a:rPr>
              <a:t>User test of briefs; native-speaker review of KN/HI</a:t>
            </a:r>
          </a:p>
          <a:p>
            <a:pPr algn="l"/>
            <a:r>
              <a:rPr sz="3000" b="0" i="0">
                <a:solidFill>
                  <a:srgbClr val="1F2A44"/>
                </a:solidFill>
                <a:latin typeface="Calibri"/>
              </a:rPr>
              <a:t>Verify deployment and monitor live floor violations</a:t>
            </a:r>
          </a:p>
        </p:txBody>
      </p:sp>
    </p:spTree>
    <p:extLst>
      <p:ext uri="{BB962C8B-B14F-4D97-AF65-F5344CB8AC3E}">
        <p14:creationId xmlns:p14="http://schemas.microsoft.com/office/powerpoint/2010/main" val="1769017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19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sp>
        <p:nvSpPr>
          <p:cNvPr id="916" name="Content Guidance"/>
          <p:cNvSpPr txBox="1"/>
          <p:nvPr/>
        </p:nvSpPr>
        <p:spPr>
          <a:xfrm>
            <a:off x="1005840" y="1737360"/>
            <a:ext cx="8961120" cy="84124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[1] P. Birthal et al., J. Agribusiness Develop. Emerg. Econ., 2019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[2] AGMARKNET, Directorate of Marketing and Inspection, Govt. of India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[3] R. Jensen, Quart. J. Econ., 122(3), 2007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[4] J. Aker, AEJ: Appl. Econ., 2(3), 2010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[5] S. Ray et al., Appl. Soft Comput., 149, 2023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[6] K. Meena, B. Chaitra, IEEE Access, 12, 2024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[7] G. Jha, K. Sinha, Neural Comput. Appl., 24, 2014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[8] Wu et al., Expert Syst., 2026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[9] R. Cleveland et al., J. Official Statist., 6(1), 1990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[10] Hyndman, Athanasopoulos, Forecasting: Principles and Practice, 3e, 2021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[11] A. Sathe et al., Results Eng., 27, 2025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[12] B. Celik, S. Celik, Borsa Istanbul Rev., 2025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[13] K. Dragomiretskiy, D. Zosso, IEEE TSP, 62(3), 2014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[14] Bergmeir, Benítez, Inf. Sci., 191, 2012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[15] Cerqueira et al., Mach. Learn., 109, 2020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[16] Bundak et al., IEEE Access, 13, 2025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[17] Ansari et al., Chronos, TMLR, 2024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[18] Wang, Zhang, arXiv:2601.06371, 2026</a:t>
            </a:r>
          </a:p>
        </p:txBody>
      </p:sp>
      <p:sp>
        <p:nvSpPr>
          <p:cNvPr id="916" name="Content Guidance"/>
          <p:cNvSpPr txBox="1"/>
          <p:nvPr/>
        </p:nvSpPr>
        <p:spPr>
          <a:xfrm>
            <a:off x="10241280" y="1737360"/>
            <a:ext cx="8961120" cy="84124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[19] Grinsztajn et al., NeurIPS D&amp;B, 2022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[20] Akiba et al., Optuna, KDD, 2019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[21] Elmachtoub, Grigas, Manage. Sci., 68(1), 2022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[22] Mandi et al., J. Artif. Intell. Res., 80, 2024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[23] Chen, Guestrin, XGBoost, KDD, 2016; Ke et al., LightGBM, NeurIPS, 2017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[24] Diebold, Mariano, JBES, 13(3), 1995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[25] Newey, West, Econometrica, 55(3), 1987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[26] Gibbs, Candès, NeurIPS, 2021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[27] Hansen, Lunde, Nason, Econometrica, 79(2), 2011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[28] Vovk et al., Algorithmic Learning in a Random World, 2005; Angelopoulos, Bates, 2023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[29] Zaheer et al., Deep Sets, NeurIPS, 2017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[30] Holm, Scand. J. Statist., 6(2), 1979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[31] Künsch, Ann. Statist., 17(3), 1989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[32] Romano et al., CQR, NeurIPS, 2019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[33] Rubin, Biometrika, 63(3), 1976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[34] Che et al., Sci. Rep., 8, 2018</a:t>
            </a:r>
          </a:p>
          <a:p>
            <a:pPr marL="514350" indent="-514350">
              <a:lnSpc>
                <a:spcPct val="11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2A44"/>
                </a:solidFill>
                <a:latin typeface="Calibri" panose="020F0502020204030204" charset="0"/>
                <a:cs typeface="Calibri" panose="020F0502020204030204" charset="0"/>
              </a:rPr>
              <a:t>Full 40-entry list with all details is in the thesis bibliography.</a:t>
            </a:r>
          </a:p>
        </p:txBody>
      </p:sp>
    </p:spTree>
    <p:extLst>
      <p:ext uri="{BB962C8B-B14F-4D97-AF65-F5344CB8AC3E}">
        <p14:creationId xmlns:p14="http://schemas.microsoft.com/office/powerpoint/2010/main" val="1769017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6894008" y="4686301"/>
            <a:ext cx="12963380" cy="1120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r>
              <a:rPr lang="en-US" altLang="en-US" sz="7200" dirty="0">
                <a:solidFill>
                  <a:srgbClr val="002060"/>
                </a:solidFill>
                <a:latin typeface="Forte" panose="03060902040502070203" pitchFamily="66" charset="0"/>
                <a:cs typeface="Times New Roman" panose="02020603050405020304" pitchFamily="18" charset="0"/>
              </a:rPr>
              <a:t>T</a:t>
            </a:r>
            <a:r>
              <a:rPr lang="en-IN" altLang="en-US" sz="7200" dirty="0">
                <a:solidFill>
                  <a:srgbClr val="002060"/>
                </a:solidFill>
                <a:latin typeface="Forte" panose="03060902040502070203" pitchFamily="66" charset="0"/>
                <a:cs typeface="Times New Roman" panose="02020603050405020304" pitchFamily="18" charset="0"/>
              </a:rPr>
              <a:t>HANK YOU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20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1981A2-D64C-4E9C-92C3-CCB759219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96DF61-0004-4796-BA3B-2487D712B085}"/>
              </a:ext>
            </a:extLst>
          </p:cNvPr>
          <p:cNvSpPr txBox="1"/>
          <p:nvPr/>
        </p:nvSpPr>
        <p:spPr>
          <a:xfrm>
            <a:off x="6068436" y="10546485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17000412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Formulation: Revenue, Loss and Verified Floor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5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sp>
        <p:nvSpPr>
          <p:cNvPr id="10251" name="TextBox 10250"/>
          <p:cNvSpPr txBox="1"/>
          <p:nvPr/>
        </p:nvSpPr>
        <p:spPr>
          <a:xfrm>
            <a:off x="1005840" y="1645920"/>
            <a:ext cx="11338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300" b="1" i="0">
                <a:solidFill>
                  <a:srgbClr val="1F4E79"/>
                </a:solidFill>
                <a:latin typeface="Calibri"/>
              </a:rPr>
              <a:t>Net revenue of action (m, k) from origin ℓ</a:t>
            </a:r>
          </a:p>
        </p:txBody>
      </p:sp>
      <p:sp>
        <p:nvSpPr>
          <p:cNvPr id="10252" name="Rectangle 10251"/>
          <p:cNvSpPr/>
          <p:nvPr/>
        </p:nvSpPr>
        <p:spPr>
          <a:xfrm>
            <a:off x="1005840" y="2103120"/>
            <a:ext cx="11338560" cy="77724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/>
            <a:r>
              <a:rPr sz="2900" b="1" i="0">
                <a:solidFill>
                  <a:srgbClr val="1F2A44"/>
                </a:solidFill>
                <a:latin typeface="Cambria Math"/>
              </a:rPr>
              <a:t>R(m,k | ℓ) = (1 − f)(1 − δ)ᵏ · P̃(m, t+k) − τ·ρ·d(ℓ,m) − c₀</a:t>
            </a:r>
          </a:p>
        </p:txBody>
      </p:sp>
      <p:sp>
        <p:nvSpPr>
          <p:cNvPr id="10253" name="TextBox 10252"/>
          <p:cNvSpPr txBox="1"/>
          <p:nvPr/>
        </p:nvSpPr>
        <p:spPr>
          <a:xfrm>
            <a:off x="1005840" y="2926080"/>
            <a:ext cx="113385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100" b="0" i="0">
                <a:solidFill>
                  <a:srgbClr val="5F6B7A"/>
                </a:solidFill>
                <a:latin typeface="Calibri"/>
              </a:rPr>
              <a:t>P̃ = P if market m reported on day t+k, else φ · P̄(t+k) (wasted trip); farm gate pays φ_g · P̄(t)</a:t>
            </a:r>
          </a:p>
        </p:txBody>
      </p:sp>
      <p:sp>
        <p:nvSpPr>
          <p:cNvPr id="10254" name="TextBox 10253"/>
          <p:cNvSpPr txBox="1"/>
          <p:nvPr/>
        </p:nvSpPr>
        <p:spPr>
          <a:xfrm>
            <a:off x="1005840" y="4297680"/>
            <a:ext cx="11338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300" b="1" i="0">
                <a:solidFill>
                  <a:srgbClr val="1F4E79"/>
                </a:solidFill>
                <a:latin typeface="Calibri"/>
              </a:rPr>
              <a:t>Decision-focused loss (SPO+)</a:t>
            </a:r>
          </a:p>
        </p:txBody>
      </p:sp>
      <p:sp>
        <p:nvSpPr>
          <p:cNvPr id="10255" name="Rectangle 10254"/>
          <p:cNvSpPr/>
          <p:nvPr/>
        </p:nvSpPr>
        <p:spPr>
          <a:xfrm>
            <a:off x="1005840" y="4754880"/>
            <a:ext cx="11338560" cy="77724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/>
            <a:r>
              <a:rPr sz="2900" b="1" i="0">
                <a:solidFill>
                  <a:srgbClr val="1F2A44"/>
                </a:solidFill>
                <a:latin typeface="Cambria Math"/>
              </a:rPr>
              <a:t>L(r̂, r) = max_a (2r̂ₐ − rₐ) − 2r̂ₐ* + rₐ*</a:t>
            </a:r>
          </a:p>
        </p:txBody>
      </p:sp>
      <p:sp>
        <p:nvSpPr>
          <p:cNvPr id="10256" name="TextBox 10255"/>
          <p:cNvSpPr txBox="1"/>
          <p:nvPr/>
        </p:nvSpPr>
        <p:spPr>
          <a:xfrm>
            <a:off x="1005840" y="5577840"/>
            <a:ext cx="113385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100" b="0" i="0">
                <a:solidFill>
                  <a:srgbClr val="5F6B7A"/>
                </a:solidFill>
                <a:latin typeface="Calibri"/>
              </a:rPr>
              <a:t>non-negative, zero at the truth, upper-bounds regret; tested against squared error</a:t>
            </a:r>
          </a:p>
        </p:txBody>
      </p:sp>
      <p:sp>
        <p:nvSpPr>
          <p:cNvPr id="10257" name="TextBox 10256"/>
          <p:cNvSpPr txBox="1"/>
          <p:nvPr/>
        </p:nvSpPr>
        <p:spPr>
          <a:xfrm>
            <a:off x="1005840" y="6949440"/>
            <a:ext cx="113385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300" b="1" i="0">
                <a:solidFill>
                  <a:srgbClr val="1F4E79"/>
                </a:solidFill>
                <a:latin typeface="Calibri"/>
              </a:rPr>
              <a:t>Guaranteed floor and adaptive level</a:t>
            </a:r>
          </a:p>
        </p:txBody>
      </p:sp>
      <p:sp>
        <p:nvSpPr>
          <p:cNvPr id="10258" name="Rectangle 10257"/>
          <p:cNvSpPr/>
          <p:nvPr/>
        </p:nvSpPr>
        <p:spPr>
          <a:xfrm>
            <a:off x="1005840" y="7406640"/>
            <a:ext cx="11338560" cy="77724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/>
            <a:r>
              <a:rPr sz="2900" b="1" i="0">
                <a:solidFill>
                  <a:srgbClr val="1F2A44"/>
                </a:solidFill>
                <a:latin typeface="Cambria Math"/>
              </a:rPr>
              <a:t>L = r̂ − q·σ̂ ;   αₜ₊₁ = αₜ + γ (α − 1[R &lt; L])</a:t>
            </a:r>
          </a:p>
        </p:txBody>
      </p:sp>
      <p:sp>
        <p:nvSpPr>
          <p:cNvPr id="10259" name="TextBox 10258"/>
          <p:cNvSpPr txBox="1"/>
          <p:nvPr/>
        </p:nvSpPr>
        <p:spPr>
          <a:xfrm>
            <a:off x="1005840" y="8229600"/>
            <a:ext cx="113385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100" b="0" i="0">
                <a:solidFill>
                  <a:srgbClr val="5F6B7A"/>
                </a:solidFill>
                <a:latin typeface="Calibri"/>
              </a:rPr>
              <a:t>q = (1 − αₜ) quantile of past normalised scores; outcomes of a k-day hold are released only after the sale date</a:t>
            </a:r>
          </a:p>
        </p:txBody>
      </p:sp>
      <p:graphicFrame>
        <p:nvGraphicFramePr>
          <p:cNvPr id="10260" name="Table 10259"/>
          <p:cNvGraphicFramePr>
            <a:graphicFrameLocks noGrp="1"/>
          </p:cNvGraphicFramePr>
          <p:nvPr/>
        </p:nvGraphicFramePr>
        <p:xfrm>
          <a:off x="12801600" y="1737360"/>
          <a:ext cx="6309358" cy="5102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695"/>
                <a:gridCol w="3578442"/>
                <a:gridCol w="1789221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Sym.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market fee + commission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4 %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c₀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handling per trip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Rs 20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transport, Rs per quintal-km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0.35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ρ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road / great-circle distance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1.3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daily spoilage (tomato / onion / potato)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3 / 0.8 / 0.4 %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φ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price discount if mandi silent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φ_g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farm-gate discount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α, γ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floor level, ACI step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0.10, 0.01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</a:tbl>
          </a:graphicData>
        </a:graphic>
      </p:graphicFrame>
      <p:sp>
        <p:nvSpPr>
          <p:cNvPr id="10261" name="Rectangle 10260"/>
          <p:cNvSpPr/>
          <p:nvPr/>
        </p:nvSpPr>
        <p:spPr>
          <a:xfrm>
            <a:off x="12801600" y="7040880"/>
            <a:ext cx="6309360" cy="265176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/>
            <a:r>
              <a:rPr sz="2300" b="1" i="0">
                <a:solidFill>
                  <a:srgbClr val="1F2A44"/>
                </a:solidFill>
                <a:latin typeface="Calibri"/>
              </a:rPr>
              <a:t>Parameters are scenario assumptions, not estimates. </a:t>
            </a:r>
            <a:r>
              <a:rPr sz="2300" b="0" i="0">
                <a:solidFill>
                  <a:srgbClr val="1F2A44"/>
                </a:solidFill>
                <a:latin typeface="Calibri"/>
              </a:rPr>
              <a:t>τ, δ and φ are swept at evaluation time; conclusions hold across all 10 settings per crop.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Intelligence and Cross-Commodity Spillover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5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sp>
        <p:nvSpPr>
          <p:cNvPr id="10251" name="Rectangle 10250"/>
          <p:cNvSpPr/>
          <p:nvPr/>
        </p:nvSpPr>
        <p:spPr>
          <a:xfrm>
            <a:off x="1005840" y="1737360"/>
            <a:ext cx="8869680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Objective 7: grounded decision briefs</a:t>
            </a:r>
          </a:p>
        </p:txBody>
      </p:sp>
      <p:sp>
        <p:nvSpPr>
          <p:cNvPr id="10252" name="Rectangle 10251"/>
          <p:cNvSpPr/>
          <p:nvPr/>
        </p:nvSpPr>
        <p:spPr>
          <a:xfrm>
            <a:off x="1005840" y="2304288"/>
            <a:ext cx="8869680" cy="7114032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/>
            <a:r>
              <a:rPr sz="2800" b="1" i="0">
                <a:solidFill>
                  <a:srgbClr val="1F2A44"/>
                </a:solidFill>
                <a:latin typeface="Calibri"/>
              </a:rPr>
              <a:t>1. Evidence bundle: </a:t>
            </a:r>
            <a:r>
              <a:rPr sz="2800" b="0" i="0">
                <a:solidFill>
                  <a:srgbClr val="1F2A44"/>
                </a:solidFill>
                <a:latin typeface="Calibri"/>
              </a:rPr>
              <a:t>flat map of dotted keys (forecast.h5.point, market-choice, arrivals, spillover) + what was unavailable</a:t>
            </a:r>
          </a:p>
          <a:p>
            <a:pPr algn="l"/>
            <a:r>
              <a:rPr sz="2800" b="1" i="0">
                <a:solidFill>
                  <a:srgbClr val="1F2A44"/>
                </a:solidFill>
                <a:latin typeface="Calibri"/>
              </a:rPr>
              <a:t>2. Provider fills a fixed schema: </a:t>
            </a:r>
            <a:r>
              <a:rPr sz="2800" b="0" i="0">
                <a:solidFill>
                  <a:srgbClr val="1F2A44"/>
                </a:solidFill>
                <a:latin typeface="Calibri"/>
              </a:rPr>
              <a:t>action BUY/SELL/HOLD/WAIT, confidence (may be INSUFFICIENT_EVIDENCE), factors that each cite an evidence key</a:t>
            </a:r>
          </a:p>
          <a:p>
            <a:pPr algn="l"/>
            <a:r>
              <a:rPr sz="2800" b="1" i="0">
                <a:solidFill>
                  <a:srgbClr val="1F2A44"/>
                </a:solidFill>
                <a:latin typeface="Calibri"/>
              </a:rPr>
              <a:t>3. Grounding check: </a:t>
            </a:r>
            <a:r>
              <a:rPr sz="2800" b="0" i="0">
                <a:solidFill>
                  <a:srgbClr val="1F2A44"/>
                </a:solidFill>
                <a:latin typeface="Calibri"/>
              </a:rPr>
              <a:t>every figure within 1% of an evidence value, every key exists, no market named outside the evidence</a:t>
            </a:r>
          </a:p>
          <a:p>
            <a:pPr algn="l"/>
            <a:r>
              <a:rPr sz="2800" b="1" i="0">
                <a:solidFill>
                  <a:srgbClr val="1F2A44"/>
                </a:solidFill>
                <a:latin typeface="Calibri"/>
              </a:rPr>
              <a:t>4. Never fails silently: </a:t>
            </a:r>
            <a:r>
              <a:rPr sz="2800" b="0" i="0">
                <a:solidFill>
                  <a:srgbClr val="1F2A44"/>
                </a:solidFill>
                <a:latin typeface="Calibri"/>
              </a:rPr>
              <a:t>failing provider → deterministic fallback; ungrounded brief served as grounded:false with issues listed</a:t>
            </a:r>
          </a:p>
          <a:p>
            <a:pPr algn="l"/>
            <a:r>
              <a:rPr sz="2800" b="1" i="0">
                <a:solidFill>
                  <a:srgbClr val="1F2A44"/>
                </a:solidFill>
                <a:latin typeface="Calibri"/>
              </a:rPr>
              <a:t>Policy: </a:t>
            </a:r>
            <a:r>
              <a:rPr sz="2800" b="0" i="0">
                <a:solidFill>
                  <a:srgbClr val="1F2A44"/>
                </a:solidFill>
                <a:latin typeface="Calibri"/>
              </a:rPr>
              <a:t>a HOLD is overridden when spoilage outruns the expected gain</a:t>
            </a:r>
          </a:p>
        </p:txBody>
      </p:sp>
      <p:sp>
        <p:nvSpPr>
          <p:cNvPr id="10253" name="Rectangle 10252"/>
          <p:cNvSpPr/>
          <p:nvPr/>
        </p:nvSpPr>
        <p:spPr>
          <a:xfrm>
            <a:off x="10241280" y="1737360"/>
            <a:ext cx="8869680" cy="566928"/>
          </a:xfrm>
          <a:prstGeom prst="rect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Objective 8: spillover between crops</a:t>
            </a:r>
          </a:p>
        </p:txBody>
      </p:sp>
      <p:sp>
        <p:nvSpPr>
          <p:cNvPr id="10254" name="Rectangle 10253"/>
          <p:cNvSpPr/>
          <p:nvPr/>
        </p:nvSpPr>
        <p:spPr>
          <a:xfrm>
            <a:off x="10241280" y="2304288"/>
            <a:ext cx="8869680" cy="7114032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/>
            <a:r>
              <a:rPr sz="2800" b="1" i="0">
                <a:solidFill>
                  <a:srgbClr val="1F2A44"/>
                </a:solidFill>
                <a:latin typeface="Calibri"/>
              </a:rPr>
              <a:t>Panel: </a:t>
            </a:r>
            <a:r>
              <a:rPr sz="2800" b="0" i="0">
                <a:solidFill>
                  <a:srgbClr val="1F2A44"/>
                </a:solidFill>
                <a:latin typeface="Calibri"/>
              </a:rPr>
              <a:t>weekly returns of 5 crops, 232 weeks, one reference market each</a:t>
            </a:r>
          </a:p>
          <a:p>
            <a:pPr algn="l"/>
            <a:r>
              <a:rPr sz="2800" b="1" i="0">
                <a:solidFill>
                  <a:srgbClr val="1F2A44"/>
                </a:solidFill>
                <a:latin typeface="Calibri"/>
              </a:rPr>
              <a:t>Clean: </a:t>
            </a:r>
            <a:r>
              <a:rPr sz="2800" b="0" i="0">
                <a:solidFill>
                  <a:srgbClr val="1F2A44"/>
                </a:solidFill>
                <a:latin typeface="Calibri"/>
              </a:rPr>
              <a:t>remove first common factor (24.5% of variance) and calendar-month means so shared shocks are not read as transmission</a:t>
            </a:r>
          </a:p>
          <a:p>
            <a:pPr algn="l"/>
            <a:r>
              <a:rPr sz="2800" b="1" i="0">
                <a:solidFill>
                  <a:srgbClr val="1F2A44"/>
                </a:solidFill>
                <a:latin typeface="Calibri"/>
              </a:rPr>
              <a:t>Episodes: </a:t>
            </a:r>
            <a:r>
              <a:rPr sz="2800" b="0" i="0">
                <a:solidFill>
                  <a:srgbClr val="1F2A44"/>
                </a:solidFill>
                <a:latin typeface="Calibri"/>
              </a:rPr>
              <a:t>source crop in squeeze or glut; onsets &lt;4 weeks apart merged</a:t>
            </a:r>
          </a:p>
          <a:p>
            <a:pPr algn="l"/>
            <a:r>
              <a:rPr sz="2800" b="1" i="0">
                <a:solidFill>
                  <a:srgbClr val="1F2A44"/>
                </a:solidFill>
                <a:latin typeface="Calibri"/>
              </a:rPr>
              <a:t>Effect: </a:t>
            </a:r>
            <a:r>
              <a:rPr sz="2800" b="0" i="0">
                <a:solidFill>
                  <a:srgbClr val="1F2A44"/>
                </a:solidFill>
                <a:latin typeface="Calibri"/>
              </a:rPr>
              <a:t>mean response of target over h = 1–4 weeks minus its unconditional baseline</a:t>
            </a:r>
          </a:p>
          <a:p>
            <a:pPr algn="l"/>
            <a:r>
              <a:rPr sz="2800" b="1" i="0">
                <a:solidFill>
                  <a:srgbClr val="1F2A44"/>
                </a:solidFill>
                <a:latin typeface="Calibri"/>
              </a:rPr>
              <a:t>Inference: </a:t>
            </a:r>
            <a:r>
              <a:rPr sz="2800" b="0" i="0">
                <a:solidFill>
                  <a:srgbClr val="1F2A44"/>
                </a:solidFill>
                <a:latin typeface="Calibri"/>
              </a:rPr>
              <a:t>bootstrap over whole episodes (2,000 draws, 90%); Benjamini–Hochberg FDR 10% across 40 edges</a:t>
            </a:r>
          </a:p>
          <a:p>
            <a:pPr algn="l"/>
            <a:r>
              <a:rPr sz="2800" b="1" i="0">
                <a:solidFill>
                  <a:srgbClr val="1F2A44"/>
                </a:solidFill>
                <a:latin typeface="Calibri"/>
              </a:rPr>
              <a:t>Gates: </a:t>
            </a:r>
            <a:r>
              <a:rPr sz="2800" b="0" i="0">
                <a:solidFill>
                  <a:srgbClr val="1F2A44"/>
                </a:solidFill>
                <a:latin typeface="Calibri"/>
              </a:rPr>
              <a:t>≥8 episodes, CI excludes 0, |effect| ≥ 1%; otherwise INSUFFICIENT_EVIDENCE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Demonstration Plan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6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sp>
        <p:nvSpPr>
          <p:cNvPr id="10251" name="Rectangle 10250"/>
          <p:cNvSpPr/>
          <p:nvPr/>
        </p:nvSpPr>
        <p:spPr>
          <a:xfrm>
            <a:off x="1005840" y="1737360"/>
            <a:ext cx="822960" cy="17373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252" name="Rectangle 10251"/>
          <p:cNvSpPr/>
          <p:nvPr/>
        </p:nvSpPr>
        <p:spPr>
          <a:xfrm>
            <a:off x="1828800" y="1737360"/>
            <a:ext cx="8046720" cy="173736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/>
            <a:r>
              <a:rPr sz="2400" b="1" i="0">
                <a:solidFill>
                  <a:srgbClr val="1F2A44"/>
                </a:solidFill>
                <a:latin typeface="Calibri"/>
              </a:rPr>
              <a:t>Start the stack</a:t>
            </a:r>
          </a:p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>uvicorn api.main:app and npm run dev; open the farmer home in Kannada</a:t>
            </a:r>
          </a:p>
        </p:txBody>
      </p:sp>
      <p:sp>
        <p:nvSpPr>
          <p:cNvPr id="10253" name="Rectangle 10252"/>
          <p:cNvSpPr/>
          <p:nvPr/>
        </p:nvSpPr>
        <p:spPr>
          <a:xfrm>
            <a:off x="10149840" y="1737360"/>
            <a:ext cx="822960" cy="17373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254" name="Rectangle 10253"/>
          <p:cNvSpPr/>
          <p:nvPr/>
        </p:nvSpPr>
        <p:spPr>
          <a:xfrm>
            <a:off x="10972800" y="1737360"/>
            <a:ext cx="8046720" cy="173736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/>
            <a:r>
              <a:rPr sz="2400" b="1" i="0">
                <a:solidFill>
                  <a:srgbClr val="1F2A44"/>
                </a:solidFill>
                <a:latin typeface="Calibri"/>
              </a:rPr>
              <a:t>Farmer: best place to sell</a:t>
            </a:r>
          </a:p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>recommendation with reasons, verified floor and evidence level</a:t>
            </a:r>
          </a:p>
        </p:txBody>
      </p:sp>
      <p:sp>
        <p:nvSpPr>
          <p:cNvPr id="10255" name="Rectangle 10254"/>
          <p:cNvSpPr/>
          <p:nvPr/>
        </p:nvSpPr>
        <p:spPr>
          <a:xfrm>
            <a:off x="1005840" y="3749039"/>
            <a:ext cx="822960" cy="17373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256" name="Rectangle 10255"/>
          <p:cNvSpPr/>
          <p:nvPr/>
        </p:nvSpPr>
        <p:spPr>
          <a:xfrm>
            <a:off x="1828800" y="3749039"/>
            <a:ext cx="8046720" cy="173736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/>
            <a:r>
              <a:rPr sz="2400" b="1" i="0">
                <a:solidFill>
                  <a:srgbClr val="1F2A44"/>
                </a:solidFill>
                <a:latin typeface="Calibri"/>
              </a:rPr>
              <a:t>Trader: Market-Choice Desk</a:t>
            </a:r>
          </a:p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>per-crop engines, floor monitor, back-test gain over the heuristics</a:t>
            </a:r>
          </a:p>
        </p:txBody>
      </p:sp>
      <p:sp>
        <p:nvSpPr>
          <p:cNvPr id="10257" name="Rectangle 10256"/>
          <p:cNvSpPr/>
          <p:nvPr/>
        </p:nvSpPr>
        <p:spPr>
          <a:xfrm>
            <a:off x="10149840" y="3749039"/>
            <a:ext cx="822960" cy="17373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258" name="Rectangle 10257"/>
          <p:cNvSpPr/>
          <p:nvPr/>
        </p:nvSpPr>
        <p:spPr>
          <a:xfrm>
            <a:off x="10972800" y="3749039"/>
            <a:ext cx="8046720" cy="173736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/>
            <a:r>
              <a:rPr sz="2400" b="1" i="0">
                <a:solidFill>
                  <a:srgbClr val="1F2A44"/>
                </a:solidFill>
                <a:latin typeface="Calibri"/>
              </a:rPr>
              <a:t>AI brief and chat</a:t>
            </a:r>
          </a:p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>grounded brief with cited factors; ask a question in Hindi</a:t>
            </a:r>
          </a:p>
        </p:txBody>
      </p:sp>
      <p:sp>
        <p:nvSpPr>
          <p:cNvPr id="10259" name="Rectangle 10258"/>
          <p:cNvSpPr/>
          <p:nvPr/>
        </p:nvSpPr>
        <p:spPr>
          <a:xfrm>
            <a:off x="1005840" y="5760720"/>
            <a:ext cx="822960" cy="17373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0260" name="Rectangle 10259"/>
          <p:cNvSpPr/>
          <p:nvPr/>
        </p:nvSpPr>
        <p:spPr>
          <a:xfrm>
            <a:off x="1828800" y="5760720"/>
            <a:ext cx="8046720" cy="173736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/>
            <a:r>
              <a:rPr sz="2400" b="1" i="0">
                <a:solidFill>
                  <a:srgbClr val="1F2A44"/>
                </a:solidFill>
                <a:latin typeface="Calibri"/>
              </a:rPr>
              <a:t>Shock desk and council</a:t>
            </a:r>
          </a:p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>evidence tiers shown honestly (suggestive, not robust)</a:t>
            </a:r>
          </a:p>
        </p:txBody>
      </p:sp>
      <p:sp>
        <p:nvSpPr>
          <p:cNvPr id="10261" name="Rectangle 10260"/>
          <p:cNvSpPr/>
          <p:nvPr/>
        </p:nvSpPr>
        <p:spPr>
          <a:xfrm>
            <a:off x="10149840" y="5760720"/>
            <a:ext cx="822960" cy="17373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0262" name="Rectangle 10261"/>
          <p:cNvSpPr/>
          <p:nvPr/>
        </p:nvSpPr>
        <p:spPr>
          <a:xfrm>
            <a:off x="10972800" y="5760720"/>
            <a:ext cx="8046720" cy="173736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/>
            <a:r>
              <a:rPr sz="2400" b="1" i="0">
                <a:solidFill>
                  <a:srgbClr val="1F2A44"/>
                </a:solidFill>
                <a:latin typeface="Calibri"/>
              </a:rPr>
              <a:t>Show the refusal</a:t>
            </a:r>
          </a:p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>garlic: the engine declines instead of guessing</a:t>
            </a:r>
          </a:p>
        </p:txBody>
      </p:sp>
      <p:sp>
        <p:nvSpPr>
          <p:cNvPr id="10263" name="Rectangle 10262"/>
          <p:cNvSpPr/>
          <p:nvPr/>
        </p:nvSpPr>
        <p:spPr>
          <a:xfrm>
            <a:off x="1005840" y="7863840"/>
            <a:ext cx="18105120" cy="2194560"/>
          </a:xfrm>
          <a:prstGeom prst="rect">
            <a:avLst/>
          </a:prstGeom>
          <a:solidFill>
            <a:srgbClr val="DC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6576" bIns="36576"/>
          <a:lstStyle/>
          <a:p>
            <a:pPr algn="l"/>
            <a:r>
              <a:rPr sz="2600" b="1" i="0">
                <a:solidFill>
                  <a:srgbClr val="1F2A44"/>
                </a:solidFill>
                <a:latin typeface="Calibri"/>
              </a:rPr>
              <a:t>This is a live demonstration. </a:t>
            </a:r>
            <a:r>
              <a:rPr sz="2600" b="0" i="0">
                <a:solidFill>
                  <a:srgbClr val="1F2A44"/>
                </a:solidFill>
                <a:latin typeface="Calibri"/>
              </a:rPr>
              <a:t>Everything shown runs from the repository; no recording is used. If the network is down, the language layer falls back to rule-based text and the demonstration continues unchanged.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Validation: What Actually Improved Decisions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9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graphicFrame>
        <p:nvGraphicFramePr>
          <p:cNvPr id="10251" name="Table 10250"/>
          <p:cNvGraphicFramePr>
            <a:graphicFrameLocks noGrp="1"/>
          </p:cNvGraphicFramePr>
          <p:nvPr/>
        </p:nvGraphicFramePr>
        <p:xfrm>
          <a:off x="1005840" y="1737360"/>
          <a:ext cx="18105116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9266"/>
                <a:gridCol w="4048349"/>
                <a:gridCol w="3373624"/>
                <a:gridCol w="2024174"/>
                <a:gridCol w="5172891"/>
                <a:gridCol w="1686812"/>
              </a:tblGrid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Crop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Labels: realised vs observed
(Δ regret, Rs/q)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95% CI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Holm p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SPO+ vs squared error
(Δ regret, Rs/q)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Holm p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Tomato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2E8B57"/>
                          </a:solidFill>
                          <a:latin typeface="Calibri"/>
                        </a:rPr>
                        <a:t>−140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[−181, −102]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&lt; 0.0001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5F6B7A"/>
                          </a:solidFill>
                          <a:latin typeface="Calibri"/>
                        </a:rPr>
                        <a:t>−25  [−53, +3]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Onion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2E8B57"/>
                          </a:solidFill>
                          <a:latin typeface="Calibri"/>
                        </a:rPr>
                        <a:t>−157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[−224, −89]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&lt; 0.0001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5F6B7A"/>
                          </a:solidFill>
                          <a:latin typeface="Calibri"/>
                        </a:rPr>
                        <a:t>−23  [−62, +11]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0.21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Potato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2E8B57"/>
                          </a:solidFill>
                          <a:latin typeface="Calibri"/>
                        </a:rPr>
                        <a:t>−87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[−142, −39]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5F6B7A"/>
                          </a:solidFill>
                          <a:latin typeface="Calibri"/>
                        </a:rPr>
                        <a:t>+1  [−27, +32]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Ginger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2E8B57"/>
                          </a:solidFill>
                          <a:latin typeface="Calibri"/>
                        </a:rPr>
                        <a:t>−149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[−232, −80]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&lt; 0.0001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5F6B7A"/>
                          </a:solidFill>
                          <a:latin typeface="Calibri"/>
                        </a:rPr>
                        <a:t>−66  [−180, +30]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>
                          <a:solidFill>
                            <a:srgbClr val="1F2A44"/>
                          </a:solidFill>
                          <a:latin typeface="Calibri"/>
                        </a:rPr>
                        <a:t>0.17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</a:tbl>
          </a:graphicData>
        </a:graphic>
      </p:graphicFrame>
      <p:sp>
        <p:nvSpPr>
          <p:cNvPr id="10252" name="Rectangle 10251"/>
          <p:cNvSpPr/>
          <p:nvPr/>
        </p:nvSpPr>
        <p:spPr>
          <a:xfrm>
            <a:off x="1005840" y="6400800"/>
            <a:ext cx="5760720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Finding</a:t>
            </a:r>
          </a:p>
        </p:txBody>
      </p:sp>
      <p:sp>
        <p:nvSpPr>
          <p:cNvPr id="10253" name="Rectangle 10252"/>
          <p:cNvSpPr/>
          <p:nvPr/>
        </p:nvSpPr>
        <p:spPr>
          <a:xfrm>
            <a:off x="1005840" y="6967728"/>
            <a:ext cx="5760720" cy="2999232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/>
            <a:r>
              <a:rPr sz="2800" b="0" i="0">
                <a:solidFill>
                  <a:srgbClr val="1F2A44"/>
                </a:solidFill>
                <a:latin typeface="Calibri"/>
              </a:rPr>
              <a:t>Better labels, not a fancier loss: realised-outcome supervision cuts regret in all four crops; SPO+ adds nothing reliable.</a:t>
            </a:r>
          </a:p>
        </p:txBody>
      </p:sp>
      <p:sp>
        <p:nvSpPr>
          <p:cNvPr id="10254" name="Rectangle 10253"/>
          <p:cNvSpPr/>
          <p:nvPr/>
        </p:nvSpPr>
        <p:spPr>
          <a:xfrm>
            <a:off x="7178040" y="6400800"/>
            <a:ext cx="5760720" cy="5669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Model confidence set</a:t>
            </a:r>
          </a:p>
        </p:txBody>
      </p:sp>
      <p:sp>
        <p:nvSpPr>
          <p:cNvPr id="10255" name="Rectangle 10254"/>
          <p:cNvSpPr/>
          <p:nvPr/>
        </p:nvSpPr>
        <p:spPr>
          <a:xfrm>
            <a:off x="7178040" y="6967728"/>
            <a:ext cx="5760720" cy="2999232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/>
            <a:r>
              <a:rPr sz="2800" b="0" i="0">
                <a:solidFill>
                  <a:srgbClr val="1F2A44"/>
                </a:solidFill>
                <a:latin typeface="Calibri"/>
              </a:rPr>
              <a:t>Only realised-label models survive in every crop; no observed-price model does. Tomato keeps 7 specifications; the others 3.</a:t>
            </a:r>
          </a:p>
        </p:txBody>
      </p:sp>
      <p:sp>
        <p:nvSpPr>
          <p:cNvPr id="10256" name="Rectangle 10255"/>
          <p:cNvSpPr/>
          <p:nvPr/>
        </p:nvSpPr>
        <p:spPr>
          <a:xfrm>
            <a:off x="13350240" y="6400800"/>
            <a:ext cx="5760720" cy="5669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Limits</a:t>
            </a:r>
          </a:p>
        </p:txBody>
      </p:sp>
      <p:sp>
        <p:nvSpPr>
          <p:cNvPr id="10257" name="Rectangle 10256"/>
          <p:cNvSpPr/>
          <p:nvPr/>
        </p:nvSpPr>
        <p:spPr>
          <a:xfrm>
            <a:off x="13350240" y="6967728"/>
            <a:ext cx="5760720" cy="2999232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36576" bIns="36576"/>
          <a:lstStyle/>
          <a:p>
            <a:pPr algn="l"/>
            <a:r>
              <a:rPr sz="2800" b="0" i="0">
                <a:solidFill>
                  <a:srgbClr val="1F2A44"/>
                </a:solidFill>
                <a:latin typeface="Calibri"/>
              </a:rPr>
              <a:t>One region, one source, 5.8 years; revenue parameters are scenarios; silent day treated as no sale; offline only.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Verified Floors and Served-Engine Back-test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9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graphicFrame>
        <p:nvGraphicFramePr>
          <p:cNvPr id="10251" name="Table 10250"/>
          <p:cNvGraphicFramePr>
            <a:graphicFrameLocks noGrp="1"/>
          </p:cNvGraphicFramePr>
          <p:nvPr/>
        </p:nvGraphicFramePr>
        <p:xfrm>
          <a:off x="1005840" y="1737360"/>
          <a:ext cx="877823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454"/>
                <a:gridCol w="1337636"/>
                <a:gridCol w="1337636"/>
                <a:gridCol w="1337636"/>
                <a:gridCol w="1254034"/>
                <a:gridCol w="1504841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Floor violation (%)
target 10%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Adaptive 5%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Adaptive 10%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Adaptive 20%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Static 10%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Naive Gaussian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Tomato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2E8B57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2E8B57"/>
                          </a:solidFill>
                          <a:latin typeface="Calibri"/>
                        </a:rPr>
                        <a:t>9.0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2E8B57"/>
                          </a:solidFill>
                          <a:latin typeface="Calibri"/>
                        </a:rPr>
                        <a:t>21.3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C0392B"/>
                          </a:solidFill>
                          <a:latin typeface="Calibri"/>
                        </a:rPr>
                        <a:t>27.4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Onion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D9822B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D9822B"/>
                          </a:solidFill>
                          <a:latin typeface="Calibri"/>
                        </a:rPr>
                        <a:t>6.3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D9822B"/>
                          </a:solidFill>
                          <a:latin typeface="Calibri"/>
                        </a:rPr>
                        <a:t>15.5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C0392B"/>
                          </a:solidFill>
                          <a:latin typeface="Calibri"/>
                        </a:rPr>
                        <a:t>34.5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Potato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D9822B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D9822B"/>
                          </a:solidFill>
                          <a:latin typeface="Calibri"/>
                        </a:rPr>
                        <a:t>6.9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2E8B57"/>
                          </a:solidFill>
                          <a:latin typeface="Calibri"/>
                        </a:rPr>
                        <a:t>17.7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6.2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C0392B"/>
                          </a:solidFill>
                          <a:latin typeface="Calibri"/>
                        </a:rPr>
                        <a:t>25.8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Ginger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2E8B57"/>
                          </a:solidFill>
                          <a:latin typeface="Calibri"/>
                        </a:rPr>
                        <a:t>4.3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2E8B57"/>
                          </a:solidFill>
                          <a:latin typeface="Calibri"/>
                        </a:rPr>
                        <a:t>10.5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2E8B57"/>
                          </a:solidFill>
                          <a:latin typeface="Calibri"/>
                        </a:rPr>
                        <a:t>20.4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8.9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11.9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</a:tbl>
          </a:graphicData>
        </a:graphic>
      </p:graphicFrame>
      <p:sp>
        <p:nvSpPr>
          <p:cNvPr id="10252" name="Rectangle 10251"/>
          <p:cNvSpPr/>
          <p:nvPr/>
        </p:nvSpPr>
        <p:spPr>
          <a:xfrm>
            <a:off x="1005840" y="5669280"/>
            <a:ext cx="8778240" cy="274320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/>
            <a:r>
              <a:rPr sz="2400" b="0" i="0">
                <a:solidFill>
                  <a:srgbClr val="1F2A44"/>
                </a:solidFill>
                <a:latin typeface="Calibri"/>
              </a:rPr>
              <a:t>Adaptive floors track the nominal level; the static quantile is cautious; a naive Gaussian floor is breached on 26–35% of days in three crops.</a:t>
            </a:r>
          </a:p>
        </p:txBody>
      </p:sp>
      <p:graphicFrame>
        <p:nvGraphicFramePr>
          <p:cNvPr id="10253" name="Table 10252"/>
          <p:cNvGraphicFramePr>
            <a:graphicFrameLocks noGrp="1"/>
          </p:cNvGraphicFramePr>
          <p:nvPr/>
        </p:nvGraphicFramePr>
        <p:xfrm>
          <a:off x="10241280" y="1737360"/>
          <a:ext cx="886967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993"/>
                <a:gridCol w="3070273"/>
                <a:gridCol w="1364566"/>
                <a:gridCol w="1279280"/>
                <a:gridCol w="1364566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Back-test, last 330 days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Gain vs highest yesterday (Rs/q)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vs nearest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Gap closed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Tomato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+170 [+104, +255]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+571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2E8B57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Onion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+60 [+16, +119]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+300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46%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2E8B57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Potato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+15 [−38, +60]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+69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D9822B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Ginger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+202 [+25, +429]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+1,595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1F2A44"/>
                          </a:solidFill>
                          <a:latin typeface="Calibri"/>
                        </a:rPr>
                        <a:t>67%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>
                          <a:solidFill>
                            <a:srgbClr val="2E8B57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54" name="Chart 10253"/>
          <p:cNvGraphicFramePr>
            <a:graphicFrameLocks noGrp="1"/>
          </p:cNvGraphicFramePr>
          <p:nvPr/>
        </p:nvGraphicFramePr>
        <p:xfrm>
          <a:off x="10241280" y="5486400"/>
          <a:ext cx="886968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Look-Ahead Audit of Decompose-then-Forecast Models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9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graphicFrame>
        <p:nvGraphicFramePr>
          <p:cNvPr id="10251" name="Chart 10250"/>
          <p:cNvGraphicFramePr>
            <a:graphicFrameLocks noGrp="1"/>
          </p:cNvGraphicFramePr>
          <p:nvPr/>
        </p:nvGraphicFramePr>
        <p:xfrm>
          <a:off x="1005840" y="1645920"/>
          <a:ext cx="12070080" cy="8138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252" name="Rectangle 10251"/>
          <p:cNvSpPr/>
          <p:nvPr/>
        </p:nvSpPr>
        <p:spPr>
          <a:xfrm>
            <a:off x="13533120" y="1737360"/>
            <a:ext cx="5577840" cy="1207008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3152" rIns="73152" tIns="36576" bIns="36576"/>
          <a:lstStyle/>
          <a:p>
            <a:pPr algn="ctr"/>
            <a:r>
              <a:rPr sz="4900" b="1" i="0">
                <a:solidFill>
                  <a:srgbClr val="C0392B"/>
                </a:solidFill>
                <a:latin typeface="Calibri"/>
              </a:rPr>
              <a:t>+27 … +62%</a:t>
            </a:r>
          </a:p>
        </p:txBody>
      </p:sp>
      <p:sp>
        <p:nvSpPr>
          <p:cNvPr id="10253" name="Rectangle 10252"/>
          <p:cNvSpPr/>
          <p:nvPr/>
        </p:nvSpPr>
        <p:spPr>
          <a:xfrm>
            <a:off x="13533120" y="2944368"/>
            <a:ext cx="5577840" cy="987552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2000" b="0" i="0">
                <a:solidFill>
                  <a:srgbClr val="5F6B7A"/>
                </a:solidFill>
                <a:latin typeface="Calibri"/>
              </a:rPr>
              <a:t>skill under the published protocol</a:t>
            </a:r>
          </a:p>
        </p:txBody>
      </p:sp>
      <p:sp>
        <p:nvSpPr>
          <p:cNvPr id="10254" name="Rectangle 10253"/>
          <p:cNvSpPr/>
          <p:nvPr/>
        </p:nvSpPr>
        <p:spPr>
          <a:xfrm>
            <a:off x="13533120" y="4206240"/>
            <a:ext cx="5577840" cy="1207008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3152" rIns="73152" tIns="36576" bIns="36576"/>
          <a:lstStyle/>
          <a:p>
            <a:pPr algn="ctr"/>
            <a:r>
              <a:rPr sz="4900" b="1" i="0">
                <a:solidFill>
                  <a:srgbClr val="1F4E79"/>
                </a:solidFill>
                <a:latin typeface="Calibri"/>
              </a:rPr>
              <a:t>−15 … −1%</a:t>
            </a:r>
          </a:p>
        </p:txBody>
      </p:sp>
      <p:sp>
        <p:nvSpPr>
          <p:cNvPr id="10255" name="Rectangle 10254"/>
          <p:cNvSpPr/>
          <p:nvPr/>
        </p:nvSpPr>
        <p:spPr>
          <a:xfrm>
            <a:off x="13533120" y="5413248"/>
            <a:ext cx="5577840" cy="987552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2000" b="0" i="0">
                <a:solidFill>
                  <a:srgbClr val="5F6B7A"/>
                </a:solidFill>
                <a:latin typeface="Calibri"/>
              </a:rPr>
              <a:t>the same models, causal decomposition</a:t>
            </a:r>
          </a:p>
        </p:txBody>
      </p:sp>
      <p:sp>
        <p:nvSpPr>
          <p:cNvPr id="10256" name="Rectangle 10255"/>
          <p:cNvSpPr/>
          <p:nvPr/>
        </p:nvSpPr>
        <p:spPr>
          <a:xfrm>
            <a:off x="13533120" y="6675120"/>
            <a:ext cx="5577840" cy="3108960"/>
          </a:xfrm>
          <a:prstGeom prst="rect">
            <a:avLst/>
          </a:prstGeom>
          <a:solidFill>
            <a:srgbClr val="F1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l"/>
            <a:r>
              <a:rPr sz="2200" b="1" i="0">
                <a:solidFill>
                  <a:srgbClr val="1F2A44"/>
                </a:solidFill>
                <a:latin typeface="Calibri"/>
              </a:rPr>
              <a:t>Why: </a:t>
            </a:r>
            <a:r>
              <a:rPr sz="2200" b="0" i="0">
                <a:solidFill>
                  <a:srgbClr val="1F2A44"/>
                </a:solidFill>
                <a:latin typeface="Calibri"/>
              </a:rPr>
              <a:t>STL and VMD are two-sided smoothers, so the component at day t already contains later prices. Zero-shot Chronos-Bolt [17] scores −9.4% at 1 day: no model here beats the random walk on the daily tomato series.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-6350" y="-18905"/>
            <a:ext cx="20110450" cy="1130935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10247" name="object 8"/>
          <p:cNvSpPr txBox="1">
            <a:spLocks noChangeArrowheads="1"/>
          </p:cNvSpPr>
          <p:nvPr/>
        </p:nvSpPr>
        <p:spPr bwMode="auto">
          <a:xfrm>
            <a:off x="1008063" y="190500"/>
            <a:ext cx="185277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rm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4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Council, Shocks, Spillover and Language Layer</a:t>
            </a:r>
          </a:p>
        </p:txBody>
      </p:sp>
      <p:sp>
        <p:nvSpPr>
          <p:cNvPr id="10248" name="object 10"/>
          <p:cNvSpPr/>
          <p:nvPr/>
        </p:nvSpPr>
        <p:spPr bwMode="auto">
          <a:xfrm>
            <a:off x="1008063" y="1192213"/>
            <a:ext cx="18527712" cy="0"/>
          </a:xfrm>
          <a:custGeom>
            <a:avLst/>
            <a:gdLst>
              <a:gd name="T0" fmla="*/ 0 w 18527395"/>
              <a:gd name="T1" fmla="*/ 18532882 w 18527395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8527395">
                <a:moveTo>
                  <a:pt x="0" y="0"/>
                </a:moveTo>
                <a:lnTo>
                  <a:pt x="18526859" y="0"/>
                </a:lnTo>
              </a:path>
            </a:pathLst>
          </a:custGeom>
          <a:noFill/>
          <a:ln w="15706">
            <a:solidFill>
              <a:srgbClr val="5E6DB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N"/>
          </a:p>
        </p:txBody>
      </p:sp>
      <p:sp>
        <p:nvSpPr>
          <p:cNvPr id="10250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616DECD3-7CA2-4DB7-B09D-1ECCFD1ED095}" type="slidenum">
              <a:rPr lang="en-US" altLang="en-US" smtClean="0">
                <a:solidFill>
                  <a:srgbClr val="898989"/>
                </a:solidFill>
              </a:rPr>
              <a:t>9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15AE4-A078-40CD-831A-4C0EE8E43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9" y="152403"/>
            <a:ext cx="1187594" cy="10390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C0BB2C-C125-463B-AD71-8738887E31E0}"/>
              </a:ext>
            </a:extLst>
          </p:cNvPr>
          <p:cNvSpPr txBox="1"/>
          <p:nvPr/>
        </p:nvSpPr>
        <p:spPr>
          <a:xfrm>
            <a:off x="6074786" y="10517188"/>
            <a:ext cx="7395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Department of Computer Science &amp; Engineering(Data Science)</a:t>
            </a:r>
            <a:endParaRPr lang="en-IN" sz="2000" dirty="0"/>
          </a:p>
        </p:txBody>
      </p:sp>
      <p:graphicFrame>
        <p:nvGraphicFramePr>
          <p:cNvPr id="10251" name="Table 10250"/>
          <p:cNvGraphicFramePr>
            <a:graphicFrameLocks noGrp="1"/>
          </p:cNvGraphicFramePr>
          <p:nvPr/>
        </p:nvGraphicFramePr>
        <p:xfrm>
          <a:off x="1005840" y="1737360"/>
          <a:ext cx="18105118" cy="740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114"/>
                <a:gridCol w="4815191"/>
                <a:gridCol w="7896914"/>
                <a:gridCol w="2503899"/>
              </a:tblGrid>
              <a:tr h="1234440"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Study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What was tested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F4E79"/>
                    </a:solidFill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pPr algn="l"/>
                      <a:r>
                        <a:rPr sz="2200" b="1">
                          <a:solidFill>
                            <a:srgbClr val="1F2A44"/>
                          </a:solidFill>
                          <a:latin typeface="Calibri"/>
                        </a:rPr>
                        <a:t>Specialist council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4 feature-family agents, weights ≤ 1, 4 folds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council +0.2…+0.4% vs single +0.6…+0.8% skill; wins 0–1 of 4 folds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D9822B"/>
                          </a:solidFill>
                          <a:latin typeface="Calibri"/>
                        </a:rPr>
                        <a:t>Not promoted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pPr algn="l"/>
                      <a:r>
                        <a:rPr sz="2200" b="1">
                          <a:solidFill>
                            <a:srgbClr val="1F2A44"/>
                          </a:solidFill>
                          <a:latin typeface="Calibri"/>
                        </a:rPr>
                        <a:t>Supply-shock event study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30 crop–horizon tests, placebo shifts, Holm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0 robust, 5 suggestive; effects as large as the detectable minimum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D9822B"/>
                          </a:solidFill>
                          <a:latin typeface="Calibri"/>
                        </a:rPr>
                        <a:t>Not served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pPr algn="l"/>
                      <a:r>
                        <a:rPr sz="2200" b="1">
                          <a:solidFill>
                            <a:srgbClr val="1F2A44"/>
                          </a:solidFill>
                          <a:latin typeface="Calibri"/>
                        </a:rPr>
                        <a:t>Cross-commodity spillover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5 crops, 40 edges, FDR 10%, ≥8 episodes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0 shock episodes in all 10 source cells; 40/40 insufficient evidence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C0392B"/>
                          </a:solidFill>
                          <a:latin typeface="Calibri"/>
                        </a:rPr>
                        <a:t>Withheld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pPr algn="l"/>
                      <a:r>
                        <a:rPr sz="2200" b="1">
                          <a:solidFill>
                            <a:srgbClr val="1F2A44"/>
                          </a:solidFill>
                          <a:latin typeface="Calibri"/>
                        </a:rPr>
                        <a:t>District forecasts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3-, 5-, 7-day vs no change, 90% band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skill +3.0…+4.0%, coverage 89.8%; 1-day not distinguishable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2E8B57"/>
                          </a:solidFill>
                          <a:latin typeface="Calibri"/>
                        </a:rPr>
                        <a:t>Served 3/5/7 d</a:t>
                      </a:r>
                    </a:p>
                  </a:txBody>
                  <a:tcPr marL="73152" marR="73152" marT="27432" marB="27432" anchor="ctr">
                    <a:solidFill>
                      <a:srgbClr val="F1F7FB"/>
                    </a:solidFill>
                  </a:tcPr>
                </a:tc>
              </a:tr>
              <a:tr h="1234440">
                <a:tc>
                  <a:txBody>
                    <a:bodyPr wrap="square"/>
                    <a:lstStyle/>
                    <a:p>
                      <a:pPr algn="l"/>
                      <a:r>
                        <a:rPr sz="2200" b="1">
                          <a:solidFill>
                            <a:srgbClr val="1F2A44"/>
                          </a:solidFill>
                          <a:latin typeface="Calibri"/>
                        </a:rPr>
                        <a:t>Explanation layer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24 texts, 120 sentences, EN/KN/HI, independent judge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1F2A44"/>
                          </a:solidFill>
                          <a:latin typeface="Calibri"/>
                        </a:rPr>
                        <a:t>kept: EN 0.83–0.99, KN 0.62–0.88, HI 0.68–0.91; judge caught 9/9 corrupted, 0/3 false alarms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200" b="0">
                          <a:solidFill>
                            <a:srgbClr val="2E8B57"/>
                          </a:solidFill>
                          <a:latin typeface="Calibri"/>
                        </a:rPr>
                        <a:t>Verified, small 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52" name="TextBox 10251"/>
          <p:cNvSpPr txBox="1"/>
          <p:nvPr/>
        </p:nvSpPr>
        <p:spPr>
          <a:xfrm>
            <a:off x="1005840" y="9144000"/>
            <a:ext cx="1810512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200" b="0" i="1">
                <a:solidFill>
                  <a:srgbClr val="5F6B7A"/>
                </a:solidFill>
                <a:latin typeface="Calibri"/>
              </a:rPr>
              <a:t>Zero spillover episodes is also a finding about the pipeline: the detector depends on supply-regime labels that the real panel does not yet supply. Listed under future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RVCE_2020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lt1">
            <a:alpha val="99000"/>
          </a:schemeClr>
        </a:solidFill>
        <a:ln w="76200">
          <a:solidFill>
            <a:srgbClr val="5E6DB3"/>
          </a:solidFill>
        </a:ln>
      </a:spPr>
      <a:bodyPr rtlCol="0" anchor="ctr"/>
      <a:lstStyle>
        <a:defPPr algn="ctr">
          <a:defRPr dirty="0">
            <a:solidFill>
              <a:srgbClr val="FFFFFF"/>
            </a:solidFill>
          </a:defRPr>
        </a:defPPr>
      </a:lstStyle>
      <a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1241</Words>
  <Application>Microsoft Office PowerPoint</Application>
  <PresentationFormat>Custom</PresentationFormat>
  <Paragraphs>178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Playfair Display</vt:lpstr>
      <vt:lpstr>Times New Roman</vt:lpstr>
      <vt:lpstr>Forte</vt:lpstr>
      <vt:lpstr>Calibri</vt:lpstr>
      <vt:lpstr>Cambria</vt:lpstr>
      <vt:lpstr>1_RVCE_2020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Akash Hegde</dc:creator>
  <cp:lastModifiedBy>Manoj Kumar S</cp:lastModifiedBy>
  <cp:revision>443</cp:revision>
  <dcterms:created xsi:type="dcterms:W3CDTF">2023-10-16T17:04:33Z</dcterms:created>
  <dcterms:modified xsi:type="dcterms:W3CDTF">2026-10-27T08:29:25Z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ad3be33-4108-4738-9e07-d8656a181486_Enabled">
    <vt:lpwstr>true</vt:lpwstr>
  </property>
  <property fmtid="{D5CDD505-2E9C-101B-9397-08002B2CF9AE}" pid="3" name="MSIP_Label_dad3be33-4108-4738-9e07-d8656a181486_SetDate">
    <vt:lpwstr>2023-10-02T10:03:34Z</vt:lpwstr>
  </property>
  <property fmtid="{D5CDD505-2E9C-101B-9397-08002B2CF9AE}" pid="4" name="MSIP_Label_dad3be33-4108-4738-9e07-d8656a181486_Method">
    <vt:lpwstr>Privileged</vt:lpwstr>
  </property>
  <property fmtid="{D5CDD505-2E9C-101B-9397-08002B2CF9AE}" pid="5" name="MSIP_Label_dad3be33-4108-4738-9e07-d8656a181486_Name">
    <vt:lpwstr>Public No Visual Label</vt:lpwstr>
  </property>
  <property fmtid="{D5CDD505-2E9C-101B-9397-08002B2CF9AE}" pid="6" name="MSIP_Label_dad3be33-4108-4738-9e07-d8656a181486_SiteId">
    <vt:lpwstr>945c199a-83a2-4e80-9f8c-5a91be5752dd</vt:lpwstr>
  </property>
  <property fmtid="{D5CDD505-2E9C-101B-9397-08002B2CF9AE}" pid="7" name="MSIP_Label_dad3be33-4108-4738-9e07-d8656a181486_ActionId">
    <vt:lpwstr>cfe29de6-22df-43bf-9ae6-c19932169054</vt:lpwstr>
  </property>
  <property fmtid="{D5CDD505-2E9C-101B-9397-08002B2CF9AE}" pid="8" name="MSIP_Label_dad3be33-4108-4738-9e07-d8656a181486_ContentBits">
    <vt:lpwstr>0</vt:lpwstr>
  </property>
  <property fmtid="{D5CDD505-2E9C-101B-9397-08002B2CF9AE}" pid="9" name="ICV">
    <vt:lpwstr>7FFB7808C7AF4D32B49068EEB1300E55</vt:lpwstr>
  </property>
  <property fmtid="{D5CDD505-2E9C-101B-9397-08002B2CF9AE}" pid="10" name="KSOProductBuildVer">
    <vt:lpwstr>1033-11.2.0.11537</vt:lpwstr>
  </property>
</Properties>
</file>