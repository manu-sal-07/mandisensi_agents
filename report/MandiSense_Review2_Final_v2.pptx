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72" r:id="rId1"/>
    <p:sldMasterId id="2147483712" r:id="rId2"/>
  </p:sldMasterIdLst>
  <p:notesMasterIdLst>
    <p:notesMasterId r:id="rId23"/>
  </p:notesMasterIdLst>
  <p:sldIdLst>
    <p:sldId id="284" r:id="rId3"/>
    <p:sldId id="403" r:id="rId4"/>
    <p:sldId id="1000546" r:id="rId5"/>
    <p:sldId id="1000553" r:id="rId6"/>
    <p:sldId id="1000554" r:id="rId7"/>
    <p:sldId id="1000569" r:id="rId41"/>
    <p:sldId id="1000570" r:id="rId42"/>
    <p:sldId id="1000576" r:id="rId48"/>
    <p:sldId id="1000555" r:id="rId8"/>
    <p:sldId id="1000577" r:id="rId49"/>
    <p:sldId id="1000571" r:id="rId43"/>
    <p:sldId id="1000578" r:id="rId50"/>
    <p:sldId id="1000556" r:id="rId9"/>
    <p:sldId id="1000557" r:id="rId10"/>
    <p:sldId id="1000558" r:id="rId11"/>
    <p:sldId id="1000572" r:id="rId44"/>
    <p:sldId id="1000573" r:id="rId45"/>
    <p:sldId id="1000579" r:id="rId51"/>
    <p:sldId id="1000580" r:id="rId52"/>
    <p:sldId id="1000581" r:id="rId53"/>
    <p:sldId id="1000582" r:id="rId54"/>
    <p:sldId id="1000583" r:id="rId55"/>
    <p:sldId id="1000574" r:id="rId46"/>
    <p:sldId id="1000575" r:id="rId47"/>
    <p:sldId id="1000559" r:id="rId12"/>
    <p:sldId id="1000560" r:id="rId13"/>
    <p:sldId id="1000561" r:id="rId14"/>
    <p:sldId id="1000562" r:id="rId15"/>
    <p:sldId id="1000563" r:id="rId16"/>
    <p:sldId id="1000564" r:id="rId17"/>
    <p:sldId id="1000565" r:id="rId18"/>
    <p:sldId id="1000566" r:id="rId19"/>
    <p:sldId id="1000567" r:id="rId20"/>
    <p:sldId id="1000568" r:id="rId21"/>
    <p:sldId id="1000552" r:id="rId22"/>
  </p:sldIdLst>
  <p:sldSz cx="20104100" cy="11309350"/>
  <p:notesSz cx="20104100" cy="11309350"/>
  <p:embeddedFontLst>
    <p:embeddedFont>
      <p:font typeface="Calibri" panose="020F0502020204030204" pitchFamily="34" charset="0"/>
      <p:regular r:id="rId24"/>
      <p:bold r:id="rId25"/>
      <p:italic r:id="rId26"/>
      <p:boldItalic r:id="rId27"/>
    </p:embeddedFont>
    <p:embeddedFont>
      <p:font typeface="Cambria" panose="02040503050406030204" pitchFamily="18" charset="0"/>
      <p:regular r:id="rId28"/>
      <p:bold r:id="rId29"/>
      <p:italic r:id="rId30"/>
      <p:boldItalic r:id="rId31"/>
    </p:embeddedFont>
    <p:embeddedFont>
      <p:font typeface="Forte" panose="03060902040502070203" pitchFamily="66" charset="0"/>
      <p:regular r:id="rId32"/>
    </p:embeddedFont>
    <p:embeddedFont>
      <p:font typeface="Playfair Display" panose="00000500000000000000" pitchFamily="2"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guide id="3" orient="horz" pos="287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DA37D80-6434-44D0-A028-1B22A696006F}" styleName="浅色样式 3 - 强调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375" autoAdjust="0"/>
    <p:restoredTop sz="99288" autoAdjust="0"/>
  </p:normalViewPr>
  <p:slideViewPr>
    <p:cSldViewPr snapToGrid="0">
      <p:cViewPr varScale="1">
        <p:scale>
          <a:sx n="69" d="100"/>
          <a:sy n="69" d="100"/>
        </p:scale>
        <p:origin x="570" y="84"/>
      </p:cViewPr>
      <p:guideLst>
        <p:guide orient="horz" pos="2880"/>
        <p:guide pos="2160"/>
        <p:guide orient="horz" pos="2879"/>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notesMaster" Target="notesMasters/notesMaster1.xml"/><Relationship Id="rId24" Type="http://schemas.openxmlformats.org/officeDocument/2006/relationships/font" Target="fonts/font1.fntdata"/><Relationship Id="rId25" Type="http://schemas.openxmlformats.org/officeDocument/2006/relationships/font" Target="fonts/font2.fntdata"/><Relationship Id="rId26" Type="http://schemas.openxmlformats.org/officeDocument/2006/relationships/font" Target="fonts/font3.fntdata"/><Relationship Id="rId27" Type="http://schemas.openxmlformats.org/officeDocument/2006/relationships/font" Target="fonts/font4.fntdata"/><Relationship Id="rId28" Type="http://schemas.openxmlformats.org/officeDocument/2006/relationships/font" Target="fonts/font5.fntdata"/><Relationship Id="rId29" Type="http://schemas.openxmlformats.org/officeDocument/2006/relationships/font" Target="fonts/font6.fntdata"/><Relationship Id="rId30" Type="http://schemas.openxmlformats.org/officeDocument/2006/relationships/font" Target="fonts/font7.fntdata"/><Relationship Id="rId31" Type="http://schemas.openxmlformats.org/officeDocument/2006/relationships/font" Target="fonts/font8.fntdata"/><Relationship Id="rId32" Type="http://schemas.openxmlformats.org/officeDocument/2006/relationships/font" Target="fonts/font9.fntdata"/><Relationship Id="rId33" Type="http://schemas.openxmlformats.org/officeDocument/2006/relationships/font" Target="fonts/font10.fntdata"/><Relationship Id="rId34" Type="http://schemas.openxmlformats.org/officeDocument/2006/relationships/font" Target="fonts/font11.fntdata"/><Relationship Id="rId35" Type="http://schemas.openxmlformats.org/officeDocument/2006/relationships/font" Target="fonts/font12.fntdata"/><Relationship Id="rId36" Type="http://schemas.openxmlformats.org/officeDocument/2006/relationships/font" Target="fonts/font13.fntdata"/><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41" Type="http://schemas.openxmlformats.org/officeDocument/2006/relationships/slide" Target="slides/slide21.xml"/><Relationship Id="rId42" Type="http://schemas.openxmlformats.org/officeDocument/2006/relationships/slide" Target="slides/slide22.xml"/><Relationship Id="rId43" Type="http://schemas.openxmlformats.org/officeDocument/2006/relationships/slide" Target="slides/slide23.xml"/><Relationship Id="rId44" Type="http://schemas.openxmlformats.org/officeDocument/2006/relationships/slide" Target="slides/slide24.xml"/><Relationship Id="rId45" Type="http://schemas.openxmlformats.org/officeDocument/2006/relationships/slide" Target="slides/slide25.xml"/><Relationship Id="rId46" Type="http://schemas.openxmlformats.org/officeDocument/2006/relationships/slide" Target="slides/slide26.xml"/><Relationship Id="rId47" Type="http://schemas.openxmlformats.org/officeDocument/2006/relationships/slide" Target="slides/slide27.xml"/><Relationship Id="rId48" Type="http://schemas.openxmlformats.org/officeDocument/2006/relationships/slide" Target="slides/slide28.xml"/><Relationship Id="rId49" Type="http://schemas.openxmlformats.org/officeDocument/2006/relationships/slide" Target="slides/slide29.xml"/><Relationship Id="rId50" Type="http://schemas.openxmlformats.org/officeDocument/2006/relationships/slide" Target="slides/slide30.xml"/><Relationship Id="rId51" Type="http://schemas.openxmlformats.org/officeDocument/2006/relationships/slide" Target="slides/slide31.xml"/><Relationship Id="rId52" Type="http://schemas.openxmlformats.org/officeDocument/2006/relationships/slide" Target="slides/slide32.xml"/><Relationship Id="rId53" Type="http://schemas.openxmlformats.org/officeDocument/2006/relationships/slide" Target="slides/slide33.xml"/><Relationship Id="rId54" Type="http://schemas.openxmlformats.org/officeDocument/2006/relationships/slide" Target="slides/slide34.xml"/><Relationship Id="rId55" Type="http://schemas.openxmlformats.org/officeDocument/2006/relationships/slide" Target="slides/slide3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2200"/>
              <a:t>Mean realised net revenue, Rs per quintal</a:t>
            </a:r>
          </a:p>
        </c:rich>
      </c:tx>
      <c:layout/>
      <c:overlay val="0"/>
    </c:title>
    <c:autoTitleDeleted val="0"/>
    <c:plotArea>
      <c:barChart>
        <c:barDir val="col"/>
        <c:grouping val="clustered"/>
        <c:ser>
          <c:idx val="0"/>
          <c:order val="0"/>
          <c:tx>
            <c:strRef>
              <c:f>Sheet1!$B$1</c:f>
              <c:strCache>
                <c:ptCount val="1"/>
                <c:pt idx="0">
                  <c:v>Nearest mandi</c:v>
                </c:pt>
              </c:strCache>
            </c:strRef>
          </c:tx>
          <c:spPr>
            <a:solidFill>
              <a:srgbClr val="A9B4C2"/>
            </a:solidFill>
          </c:spPr>
          <c:cat>
            <c:strRef>
              <c:f>Sheet1!$A$2:$A$5</c:f>
              <c:strCache>
                <c:ptCount val="4"/>
                <c:pt idx="0">
                  <c:v>Tomato</c:v>
                </c:pt>
                <c:pt idx="1">
                  <c:v>Onion</c:v>
                </c:pt>
                <c:pt idx="2">
                  <c:v>Potato</c:v>
                </c:pt>
                <c:pt idx="3">
                  <c:v>Ginger</c:v>
                </c:pt>
              </c:strCache>
            </c:strRef>
          </c:cat>
          <c:val>
            <c:numRef>
              <c:f>Sheet1!$B$2:$B$5</c:f>
              <c:numCache>
                <c:formatCode>General</c:formatCode>
                <c:ptCount val="4"/>
                <c:pt idx="0">
                  <c:v>1600</c:v>
                </c:pt>
                <c:pt idx="1">
                  <c:v>2231</c:v>
                </c:pt>
                <c:pt idx="2">
                  <c:v>1699</c:v>
                </c:pt>
                <c:pt idx="3">
                  <c:v>5476</c:v>
                </c:pt>
              </c:numCache>
            </c:numRef>
          </c:val>
        </c:ser>
        <c:ser>
          <c:idx val="1"/>
          <c:order val="1"/>
          <c:tx>
            <c:strRef>
              <c:f>Sheet1!$C$1</c:f>
              <c:strCache>
                <c:ptCount val="1"/>
                <c:pt idx="0">
                  <c:v>Highest price yesterday</c:v>
                </c:pt>
              </c:strCache>
            </c:strRef>
          </c:tx>
          <c:spPr>
            <a:solidFill>
              <a:srgbClr val="7F8FA6"/>
            </a:solidFill>
          </c:spPr>
          <c:cat>
            <c:strRef>
              <c:f>Sheet1!$A$2:$A$5</c:f>
              <c:strCache>
                <c:ptCount val="4"/>
                <c:pt idx="0">
                  <c:v>Tomato</c:v>
                </c:pt>
                <c:pt idx="1">
                  <c:v>Onion</c:v>
                </c:pt>
                <c:pt idx="2">
                  <c:v>Potato</c:v>
                </c:pt>
                <c:pt idx="3">
                  <c:v>Ginger</c:v>
                </c:pt>
              </c:strCache>
            </c:strRef>
          </c:cat>
          <c:val>
            <c:numRef>
              <c:f>Sheet1!$C$2:$C$5</c:f>
              <c:numCache>
                <c:formatCode>General</c:formatCode>
                <c:ptCount val="4"/>
                <c:pt idx="0">
                  <c:v>2021</c:v>
                </c:pt>
                <c:pt idx="1">
                  <c:v>2407</c:v>
                </c:pt>
                <c:pt idx="2">
                  <c:v>1780</c:v>
                </c:pt>
                <c:pt idx="3">
                  <c:v>7050</c:v>
                </c:pt>
              </c:numCache>
            </c:numRef>
          </c:val>
        </c:ser>
        <c:ser>
          <c:idx val="2"/>
          <c:order val="2"/>
          <c:tx>
            <c:strRef>
              <c:f>Sheet1!$D$1</c:f>
              <c:strCache>
                <c:ptCount val="1"/>
                <c:pt idx="0">
                  <c:v>LightGBM, observed prices</c:v>
                </c:pt>
              </c:strCache>
            </c:strRef>
          </c:tx>
          <c:spPr>
            <a:solidFill>
              <a:srgbClr val="C9A24A"/>
            </a:solidFill>
          </c:spPr>
          <c:cat>
            <c:strRef>
              <c:f>Sheet1!$A$2:$A$5</c:f>
              <c:strCache>
                <c:ptCount val="4"/>
                <c:pt idx="0">
                  <c:v>Tomato</c:v>
                </c:pt>
                <c:pt idx="1">
                  <c:v>Onion</c:v>
                </c:pt>
                <c:pt idx="2">
                  <c:v>Potato</c:v>
                </c:pt>
                <c:pt idx="3">
                  <c:v>Ginger</c:v>
                </c:pt>
              </c:strCache>
            </c:strRef>
          </c:cat>
          <c:val>
            <c:numRef>
              <c:f>Sheet1!$D$2:$D$5</c:f>
              <c:numCache>
                <c:formatCode>General</c:formatCode>
                <c:ptCount val="4"/>
                <c:pt idx="0">
                  <c:v>2016</c:v>
                </c:pt>
                <c:pt idx="1">
                  <c:v>2395</c:v>
                </c:pt>
                <c:pt idx="2">
                  <c:v>1758</c:v>
                </c:pt>
                <c:pt idx="3">
                  <c:v>7047</c:v>
                </c:pt>
              </c:numCache>
            </c:numRef>
          </c:val>
        </c:ser>
        <c:ser>
          <c:idx val="3"/>
          <c:order val="3"/>
          <c:tx>
            <c:strRef>
              <c:f>Sheet1!$E$1</c:f>
              <c:strCache>
                <c:ptCount val="1"/>
                <c:pt idx="0">
                  <c:v>LightGBM, realised outcomes</c:v>
                </c:pt>
              </c:strCache>
            </c:strRef>
          </c:tx>
          <c:spPr>
            <a:solidFill>
              <a:srgbClr val="2E75B6"/>
            </a:solidFill>
          </c:spPr>
          <c:cat>
            <c:strRef>
              <c:f>Sheet1!$A$2:$A$5</c:f>
              <c:strCache>
                <c:ptCount val="4"/>
                <c:pt idx="0">
                  <c:v>Tomato</c:v>
                </c:pt>
                <c:pt idx="1">
                  <c:v>Onion</c:v>
                </c:pt>
                <c:pt idx="2">
                  <c:v>Potato</c:v>
                </c:pt>
                <c:pt idx="3">
                  <c:v>Ginger</c:v>
                </c:pt>
              </c:strCache>
            </c:strRef>
          </c:cat>
          <c:val>
            <c:numRef>
              <c:f>Sheet1!$E$2:$E$5</c:f>
              <c:numCache>
                <c:formatCode>General</c:formatCode>
                <c:ptCount val="4"/>
                <c:pt idx="0">
                  <c:v>2156</c:v>
                </c:pt>
                <c:pt idx="1">
                  <c:v>2552</c:v>
                </c:pt>
                <c:pt idx="2">
                  <c:v>1845</c:v>
                </c:pt>
                <c:pt idx="3">
                  <c:v>7196</c:v>
                </c:pt>
              </c:numCache>
            </c:numRef>
          </c:val>
        </c:ser>
        <c:ser>
          <c:idx val="4"/>
          <c:order val="4"/>
          <c:tx>
            <c:strRef>
              <c:f>Sheet1!$F$1</c:f>
              <c:strCache>
                <c:ptCount val="1"/>
                <c:pt idx="0">
                  <c:v>Neural SPO+</c:v>
                </c:pt>
              </c:strCache>
            </c:strRef>
          </c:tx>
          <c:spPr>
            <a:solidFill>
              <a:srgbClr val="1F4E79"/>
            </a:solidFill>
          </c:spPr>
          <c:cat>
            <c:strRef>
              <c:f>Sheet1!$A$2:$A$5</c:f>
              <c:strCache>
                <c:ptCount val="4"/>
                <c:pt idx="0">
                  <c:v>Tomato</c:v>
                </c:pt>
                <c:pt idx="1">
                  <c:v>Onion</c:v>
                </c:pt>
                <c:pt idx="2">
                  <c:v>Potato</c:v>
                </c:pt>
                <c:pt idx="3">
                  <c:v>Ginger</c:v>
                </c:pt>
              </c:strCache>
            </c:strRef>
          </c:cat>
          <c:val>
            <c:numRef>
              <c:f>Sheet1!$F$2:$F$5</c:f>
              <c:numCache>
                <c:formatCode>General</c:formatCode>
                <c:ptCount val="4"/>
                <c:pt idx="0">
                  <c:v>2164</c:v>
                </c:pt>
                <c:pt idx="1">
                  <c:v>2564</c:v>
                </c:pt>
                <c:pt idx="2">
                  <c:v>1830</c:v>
                </c:pt>
                <c:pt idx="3">
                  <c:v>7188</c:v>
                </c:pt>
              </c:numCache>
            </c:numRef>
          </c:val>
        </c:ser>
        <c:ser>
          <c:idx val="5"/>
          <c:order val="5"/>
          <c:tx>
            <c:strRef>
              <c:f>Sheet1!$G$1</c:f>
              <c:strCache>
                <c:ptCount val="1"/>
                <c:pt idx="0">
                  <c:v>Hindsight oracle</c:v>
                </c:pt>
              </c:strCache>
            </c:strRef>
          </c:tx>
          <c:spPr>
            <a:solidFill>
              <a:srgbClr val="9AA0A6"/>
            </a:solidFill>
          </c:spPr>
          <c:cat>
            <c:strRef>
              <c:f>Sheet1!$A$2:$A$5</c:f>
              <c:strCache>
                <c:ptCount val="4"/>
                <c:pt idx="0">
                  <c:v>Tomato</c:v>
                </c:pt>
                <c:pt idx="1">
                  <c:v>Onion</c:v>
                </c:pt>
                <c:pt idx="2">
                  <c:v>Potato</c:v>
                </c:pt>
                <c:pt idx="3">
                  <c:v>Ginger</c:v>
                </c:pt>
              </c:strCache>
            </c:strRef>
          </c:cat>
          <c:val>
            <c:numRef>
              <c:f>Sheet1!$G$2:$G$5</c:f>
              <c:numCache>
                <c:formatCode>General</c:formatCode>
                <c:ptCount val="4"/>
                <c:pt idx="0">
                  <c:v>2570</c:v>
                </c:pt>
                <c:pt idx="1">
                  <c:v>2902</c:v>
                </c:pt>
                <c:pt idx="2">
                  <c:v>2173</c:v>
                </c:pt>
                <c:pt idx="3">
                  <c:v>7741</c:v>
                </c:pt>
              </c:numCache>
            </c:numRef>
          </c:val>
        </c:ser>
        <c:gapWidth val="60"/>
        <c:axId val="-2068027336"/>
        <c:axId val="-2113994440"/>
      </c:barChart>
      <c:catAx>
        <c:axId val="-2068027336"/>
        <c:scaling>
          <c:orientation val="minMax"/>
        </c:scaling>
        <c:delete val="0"/>
        <c:axPos val="b"/>
        <c:majorTickMark val="out"/>
        <c:minorTickMark val="none"/>
        <c:tickLblPos val="nextTo"/>
        <c:txPr>
          <a:bodyPr/>
          <a:lstStyle/>
          <a:p>
            <a:pPr>
              <a:defRPr sz="2200"/>
            </a:pPr>
          </a:p>
        </c:txPr>
        <c:crossAx val="-2113994440"/>
        <c:crosses val="autoZero"/>
        <c:auto val="1"/>
        <c:lblAlgn val="ctr"/>
        <c:lblOffset val="100"/>
        <c:noMultiLvlLbl val="0"/>
      </c:catAx>
      <c:valAx>
        <c:axId val="-2113994440"/>
        <c:scaling/>
        <c:delete val="0"/>
        <c:axPos val="l"/>
        <c:majorGridlines>
          <c:spPr>
            <a:ln>
              <a:solidFill>
                <a:srgbClr val="D5DBE3"/>
              </a:solidFill>
            </a:ln>
          </c:spPr>
        </c:majorGridlines>
        <c:majorTickMark val="out"/>
        <c:minorTickMark val="none"/>
        <c:tickLblPos val="nextTo"/>
        <c:txPr>
          <a:bodyPr/>
          <a:lstStyle/>
          <a:p>
            <a:pPr>
              <a:defRPr sz="2000"/>
            </a:pPr>
          </a:p>
        </c:txPr>
        <c:crossAx val="-2068027336"/>
        <c:crosses val="autoZero"/>
      </c:valAx>
    </c:plotArea>
    <c:legend>
      <c:legendPos val="b"/>
      <c:overlay val="0"/>
      <c:txPr>
        <a:bodyPr/>
        <a:lstStyle/>
        <a:p>
          <a:pPr>
            <a:defRPr sz="2000"/>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2000"/>
              <a:t>Back-test gain of the advice, Rs per quintal</a:t>
            </a:r>
          </a:p>
        </c:rich>
      </c:tx>
      <c:layout/>
      <c:overlay val="0"/>
    </c:title>
    <c:autoTitleDeleted val="0"/>
    <c:plotArea>
      <c:barChart>
        <c:barDir val="col"/>
        <c:grouping val="clustered"/>
        <c:ser>
          <c:idx val="0"/>
          <c:order val="0"/>
          <c:tx>
            <c:strRef>
              <c:f>Sheet1!$B$1</c:f>
              <c:strCache>
                <c:ptCount val="1"/>
                <c:pt idx="0">
                  <c:v>vs highest price yesterday</c:v>
                </c:pt>
              </c:strCache>
            </c:strRef>
          </c:tx>
          <c:spPr>
            <a:solidFill>
              <a:srgbClr val="2E75B6"/>
            </a:solidFill>
          </c:spPr>
          <c:cat>
            <c:strRef>
              <c:f>Sheet1!$A$2:$A$5</c:f>
              <c:strCache>
                <c:ptCount val="4"/>
                <c:pt idx="0">
                  <c:v>Tomato</c:v>
                </c:pt>
                <c:pt idx="1">
                  <c:v>Onion</c:v>
                </c:pt>
                <c:pt idx="2">
                  <c:v>Potato</c:v>
                </c:pt>
                <c:pt idx="3">
                  <c:v>Ginger</c:v>
                </c:pt>
              </c:strCache>
            </c:strRef>
          </c:cat>
          <c:val>
            <c:numRef>
              <c:f>Sheet1!$B$2:$B$5</c:f>
              <c:numCache>
                <c:formatCode>General</c:formatCode>
                <c:ptCount val="4"/>
                <c:pt idx="0">
                  <c:v>170</c:v>
                </c:pt>
                <c:pt idx="1">
                  <c:v>60</c:v>
                </c:pt>
                <c:pt idx="2">
                  <c:v>15</c:v>
                </c:pt>
                <c:pt idx="3">
                  <c:v>202</c:v>
                </c:pt>
              </c:numCache>
            </c:numRef>
          </c:val>
        </c:ser>
        <c:ser>
          <c:idx val="1"/>
          <c:order val="1"/>
          <c:tx>
            <c:strRef>
              <c:f>Sheet1!$C$1</c:f>
              <c:strCache>
                <c:ptCount val="1"/>
                <c:pt idx="0">
                  <c:v>vs nearest mandi</c:v>
                </c:pt>
              </c:strCache>
            </c:strRef>
          </c:tx>
          <c:spPr>
            <a:solidFill>
              <a:srgbClr val="D9822B"/>
            </a:solidFill>
          </c:spPr>
          <c:cat>
            <c:strRef>
              <c:f>Sheet1!$A$2:$A$5</c:f>
              <c:strCache>
                <c:ptCount val="4"/>
                <c:pt idx="0">
                  <c:v>Tomato</c:v>
                </c:pt>
                <c:pt idx="1">
                  <c:v>Onion</c:v>
                </c:pt>
                <c:pt idx="2">
                  <c:v>Potato</c:v>
                </c:pt>
                <c:pt idx="3">
                  <c:v>Ginger</c:v>
                </c:pt>
              </c:strCache>
            </c:strRef>
          </c:cat>
          <c:val>
            <c:numRef>
              <c:f>Sheet1!$C$2:$C$5</c:f>
              <c:numCache>
                <c:formatCode>General</c:formatCode>
                <c:ptCount val="4"/>
                <c:pt idx="0">
                  <c:v>571</c:v>
                </c:pt>
                <c:pt idx="1">
                  <c:v>300</c:v>
                </c:pt>
                <c:pt idx="2">
                  <c:v>69</c:v>
                </c:pt>
                <c:pt idx="3">
                  <c:v>1595</c:v>
                </c:pt>
              </c:numCache>
            </c:numRef>
          </c:val>
        </c:ser>
        <c:gapWidth val="60"/>
        <c:axId val="-2068027336"/>
        <c:axId val="-2113994440"/>
      </c:barChart>
      <c:catAx>
        <c:axId val="-2068027336"/>
        <c:scaling>
          <c:orientation val="minMax"/>
        </c:scaling>
        <c:delete val="0"/>
        <c:axPos val="b"/>
        <c:majorTickMark val="out"/>
        <c:minorTickMark val="none"/>
        <c:tickLblPos val="nextTo"/>
        <c:txPr>
          <a:bodyPr/>
          <a:lstStyle/>
          <a:p>
            <a:pPr>
              <a:defRPr sz="2000"/>
            </a:pPr>
          </a:p>
        </c:txPr>
        <c:crossAx val="-2113994440"/>
        <c:crosses val="autoZero"/>
        <c:auto val="1"/>
        <c:lblAlgn val="ctr"/>
        <c:lblOffset val="100"/>
        <c:noMultiLvlLbl val="0"/>
      </c:catAx>
      <c:valAx>
        <c:axId val="-2113994440"/>
        <c:scaling/>
        <c:delete val="0"/>
        <c:axPos val="l"/>
        <c:majorGridlines>
          <c:spPr>
            <a:ln>
              <a:solidFill>
                <a:srgbClr val="D5DBE3"/>
              </a:solidFill>
            </a:ln>
          </c:spPr>
        </c:majorGridlines>
        <c:majorTickMark val="out"/>
        <c:minorTickMark val="none"/>
        <c:tickLblPos val="nextTo"/>
        <c:txPr>
          <a:bodyPr/>
          <a:lstStyle/>
          <a:p>
            <a:pPr>
              <a:defRPr sz="1800"/>
            </a:pPr>
          </a:p>
        </c:txPr>
        <c:crossAx val="-2068027336"/>
        <c:crosses val="autoZero"/>
      </c:valAx>
    </c:plotArea>
    <c:legend>
      <c:legendPos val="b"/>
      <c:overlay val="0"/>
      <c:txPr>
        <a:bodyPr/>
        <a:lstStyle/>
        <a:p>
          <a:pPr>
            <a:defRPr sz="1800"/>
          </a:pPr>
        </a:p>
      </c:txPr>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2200"/>
              <a:t>Skill vs random walk, tomato (%)</a:t>
            </a:r>
          </a:p>
        </c:rich>
      </c:tx>
      <c:layout/>
      <c:overlay val="0"/>
    </c:title>
    <c:autoTitleDeleted val="0"/>
    <c:plotArea>
      <c:barChart>
        <c:barDir val="col"/>
        <c:grouping val="clustered"/>
        <c:ser>
          <c:idx val="0"/>
          <c:order val="0"/>
          <c:tx>
            <c:strRef>
              <c:f>Sheet1!$B$1</c:f>
              <c:strCache>
                <c:ptCount val="1"/>
                <c:pt idx="0">
                  <c:v>Published protocol (decomposed once)</c:v>
                </c:pt>
              </c:strCache>
            </c:strRef>
          </c:tx>
          <c:spPr>
            <a:solidFill>
              <a:srgbClr val="C0392B"/>
            </a:solidFill>
          </c:spPr>
          <c:cat>
            <c:strRef>
              <c:f>Sheet1!$A$2:$A$9</c:f>
              <c:strCache>
                <c:ptCount val="8"/>
                <c:pt idx="0">
                  <c:v>STL + LGBM, 1 d</c:v>
                </c:pt>
                <c:pt idx="1">
                  <c:v>STL + LGBM, 7 d</c:v>
                </c:pt>
                <c:pt idx="2">
                  <c:v>STL + Ridge, 1 d</c:v>
                </c:pt>
                <c:pt idx="3">
                  <c:v>STL + Ridge, 7 d</c:v>
                </c:pt>
                <c:pt idx="4">
                  <c:v>VMD + LGBM, 1 d</c:v>
                </c:pt>
                <c:pt idx="5">
                  <c:v>VMD + LGBM, 7 d</c:v>
                </c:pt>
                <c:pt idx="6">
                  <c:v>VMD + Ridge, 1 d</c:v>
                </c:pt>
                <c:pt idx="7">
                  <c:v>VMD + Ridge, 7 d</c:v>
                </c:pt>
              </c:strCache>
            </c:strRef>
          </c:cat>
          <c:val>
            <c:numRef>
              <c:f>Sheet1!$B$2:$B$9</c:f>
              <c:numCache>
                <c:formatCode>General</c:formatCode>
                <c:ptCount val="8"/>
                <c:pt idx="0">
                  <c:v>27.3</c:v>
                </c:pt>
                <c:pt idx="1">
                  <c:v>40.8</c:v>
                </c:pt>
                <c:pt idx="2">
                  <c:v>28.5</c:v>
                </c:pt>
                <c:pt idx="3">
                  <c:v>41.1</c:v>
                </c:pt>
                <c:pt idx="4">
                  <c:v>44.4</c:v>
                </c:pt>
                <c:pt idx="5">
                  <c:v>57.9</c:v>
                </c:pt>
                <c:pt idx="6">
                  <c:v>50.5</c:v>
                </c:pt>
                <c:pt idx="7">
                  <c:v>62.4</c:v>
                </c:pt>
              </c:numCache>
            </c:numRef>
          </c:val>
        </c:ser>
        <c:ser>
          <c:idx val="1"/>
          <c:order val="1"/>
          <c:tx>
            <c:strRef>
              <c:f>Sheet1!$C$1</c:f>
              <c:strCache>
                <c:ptCount val="1"/>
                <c:pt idx="0">
                  <c:v>Causal protocol</c:v>
                </c:pt>
              </c:strCache>
            </c:strRef>
          </c:tx>
          <c:spPr>
            <a:solidFill>
              <a:srgbClr val="1F4E79"/>
            </a:solidFill>
          </c:spPr>
          <c:cat>
            <c:strRef>
              <c:f>Sheet1!$A$2:$A$9</c:f>
              <c:strCache>
                <c:ptCount val="8"/>
                <c:pt idx="0">
                  <c:v>STL + LGBM, 1 d</c:v>
                </c:pt>
                <c:pt idx="1">
                  <c:v>STL + LGBM, 7 d</c:v>
                </c:pt>
                <c:pt idx="2">
                  <c:v>STL + Ridge, 1 d</c:v>
                </c:pt>
                <c:pt idx="3">
                  <c:v>STL + Ridge, 7 d</c:v>
                </c:pt>
                <c:pt idx="4">
                  <c:v>VMD + LGBM, 1 d</c:v>
                </c:pt>
                <c:pt idx="5">
                  <c:v>VMD + LGBM, 7 d</c:v>
                </c:pt>
                <c:pt idx="6">
                  <c:v>VMD + Ridge, 1 d</c:v>
                </c:pt>
                <c:pt idx="7">
                  <c:v>VMD + Ridge, 7 d</c:v>
                </c:pt>
              </c:strCache>
            </c:strRef>
          </c:cat>
          <c:val>
            <c:numRef>
              <c:f>Sheet1!$C$2:$C$9</c:f>
              <c:numCache>
                <c:formatCode>General</c:formatCode>
                <c:ptCount val="8"/>
                <c:pt idx="0">
                  <c:v>-14.7</c:v>
                </c:pt>
                <c:pt idx="1">
                  <c:v>-11.7</c:v>
                </c:pt>
                <c:pt idx="2">
                  <c:v>-7.6</c:v>
                </c:pt>
                <c:pt idx="3">
                  <c:v>-2.7</c:v>
                </c:pt>
                <c:pt idx="4">
                  <c:v>-12.6</c:v>
                </c:pt>
                <c:pt idx="5">
                  <c:v>-5.8</c:v>
                </c:pt>
                <c:pt idx="6">
                  <c:v>-10.8</c:v>
                </c:pt>
                <c:pt idx="7">
                  <c:v>-0.6</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700"/>
            </a:pPr>
          </a:p>
        </c:txPr>
        <c:crossAx val="-2113994440"/>
        <c:crosses val="autoZero"/>
        <c:auto val="1"/>
        <c:lblAlgn val="ctr"/>
        <c:lblOffset val="100"/>
        <c:noMultiLvlLbl val="0"/>
      </c:catAx>
      <c:valAx>
        <c:axId val="-2113994440"/>
        <c:scaling/>
        <c:delete val="0"/>
        <c:axPos val="l"/>
        <c:majorGridlines>
          <c:spPr>
            <a:ln>
              <a:solidFill>
                <a:srgbClr val="D5DBE3"/>
              </a:solidFill>
            </a:ln>
          </c:spPr>
        </c:majorGridlines>
        <c:majorTickMark val="out"/>
        <c:minorTickMark val="none"/>
        <c:tickLblPos val="nextTo"/>
        <c:txPr>
          <a:bodyPr/>
          <a:lstStyle/>
          <a:p>
            <a:pPr>
              <a:defRPr sz="2000"/>
            </a:pPr>
          </a:p>
        </c:txPr>
        <c:crossAx val="-2068027336"/>
        <c:crosses val="autoZero"/>
      </c:valAx>
    </c:plotArea>
    <c:legend>
      <c:legendPos val="b"/>
      <c:overlay val="0"/>
      <c:txPr>
        <a:bodyPr/>
        <a:lstStyle/>
        <a:p>
          <a:pPr>
            <a:defRPr sz="2000"/>
          </a:pPr>
        </a:p>
      </c:txPr>
    </c:legend>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600"/>
              <a:t>Running mean gain over the nearest mandi, Rs per quintal (days 1 to 165; ginger, mean +Rs 2544, is off this scale)</a:t>
            </a:r>
          </a:p>
        </c:rich>
      </c:tx>
      <c:layout/>
      <c:overlay val="0"/>
    </c:title>
    <c:autoTitleDeleted val="0"/>
    <c:plotArea>
      <c:lineChart>
        <c:grouping val="standard"/>
        <c:varyColors val="0"/>
        <c:ser>
          <c:idx val="0"/>
          <c:order val="0"/>
          <c:tx>
            <c:strRef>
              <c:f>Sheet1!$B$1</c:f>
              <c:strCache>
                <c:ptCount val="1"/>
                <c:pt idx="0">
                  <c:v>Tomato</c:v>
                </c:pt>
              </c:strCache>
            </c:strRef>
          </c:tx>
          <c:spPr>
            <a:ln w="31750">
              <a:solidFill>
                <a:srgbClr val="C0392B"/>
              </a:solidFill>
            </a:ln>
          </c:spPr>
          <c:marker>
            <c:symbol val="none"/>
          </c:marker>
          <c:cat>
            <c:strRef>
              <c:f>Sheet1!$A$2:$A$166</c:f>
              <c:strCache>
                <c:ptCount val="16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strCache>
            </c:strRef>
          </c:cat>
          <c:val>
            <c:numRef>
              <c:f>Sheet1!$B$2:$B$166</c:f>
              <c:numCache>
                <c:formatCode>General</c:formatCode>
                <c:ptCount val="165"/>
                <c:pt idx="0">
                  <c:v>816.6</c:v>
                </c:pt>
                <c:pt idx="1">
                  <c:v>739.8</c:v>
                </c:pt>
                <c:pt idx="2">
                  <c:v>649.5</c:v>
                </c:pt>
                <c:pt idx="3">
                  <c:v>544.8</c:v>
                </c:pt>
                <c:pt idx="4">
                  <c:v>620.6</c:v>
                </c:pt>
                <c:pt idx="5">
                  <c:v>639.9</c:v>
                </c:pt>
                <c:pt idx="6">
                  <c:v>621.2</c:v>
                </c:pt>
                <c:pt idx="7">
                  <c:v>650.6</c:v>
                </c:pt>
                <c:pt idx="8">
                  <c:v>617.1</c:v>
                </c:pt>
                <c:pt idx="9">
                  <c:v>637.2</c:v>
                </c:pt>
                <c:pt idx="10">
                  <c:v>647.3</c:v>
                </c:pt>
                <c:pt idx="11">
                  <c:v>629.9</c:v>
                </c:pt>
                <c:pt idx="12">
                  <c:v>649.8</c:v>
                </c:pt>
                <c:pt idx="13">
                  <c:v>636.2</c:v>
                </c:pt>
                <c:pt idx="14">
                  <c:v>629.8</c:v>
                </c:pt>
                <c:pt idx="15">
                  <c:v>620.5</c:v>
                </c:pt>
                <c:pt idx="16">
                  <c:v>580.6</c:v>
                </c:pt>
                <c:pt idx="17">
                  <c:v>562.7</c:v>
                </c:pt>
                <c:pt idx="18">
                  <c:v>550.5</c:v>
                </c:pt>
                <c:pt idx="19">
                  <c:v>599.6</c:v>
                </c:pt>
                <c:pt idx="20">
                  <c:v>603.6</c:v>
                </c:pt>
                <c:pt idx="21">
                  <c:v>592.8</c:v>
                </c:pt>
                <c:pt idx="22">
                  <c:v>583.7</c:v>
                </c:pt>
                <c:pt idx="23">
                  <c:v>583.3</c:v>
                </c:pt>
                <c:pt idx="24">
                  <c:v>577.3</c:v>
                </c:pt>
                <c:pt idx="25">
                  <c:v>564.1</c:v>
                </c:pt>
                <c:pt idx="26">
                  <c:v>565.7</c:v>
                </c:pt>
                <c:pt idx="27">
                  <c:v>560.4</c:v>
                </c:pt>
                <c:pt idx="28">
                  <c:v>557.2</c:v>
                </c:pt>
                <c:pt idx="29">
                  <c:v>566.1</c:v>
                </c:pt>
                <c:pt idx="30">
                  <c:v>577.4</c:v>
                </c:pt>
                <c:pt idx="31">
                  <c:v>594.5</c:v>
                </c:pt>
                <c:pt idx="32">
                  <c:v>607.5</c:v>
                </c:pt>
                <c:pt idx="33">
                  <c:v>617.1</c:v>
                </c:pt>
                <c:pt idx="34">
                  <c:v>631.5</c:v>
                </c:pt>
                <c:pt idx="35">
                  <c:v>649.5</c:v>
                </c:pt>
                <c:pt idx="36">
                  <c:v>655.6</c:v>
                </c:pt>
                <c:pt idx="37">
                  <c:v>658.3</c:v>
                </c:pt>
                <c:pt idx="38">
                  <c:v>668.0</c:v>
                </c:pt>
                <c:pt idx="39">
                  <c:v>666.5</c:v>
                </c:pt>
                <c:pt idx="40">
                  <c:v>670.3</c:v>
                </c:pt>
                <c:pt idx="41">
                  <c:v>665.4</c:v>
                </c:pt>
                <c:pt idx="42">
                  <c:v>667.5</c:v>
                </c:pt>
                <c:pt idx="43">
                  <c:v>673.4</c:v>
                </c:pt>
                <c:pt idx="44">
                  <c:v>677.5</c:v>
                </c:pt>
                <c:pt idx="45">
                  <c:v>658.6</c:v>
                </c:pt>
                <c:pt idx="46">
                  <c:v>664.9</c:v>
                </c:pt>
                <c:pt idx="47">
                  <c:v>680.9</c:v>
                </c:pt>
                <c:pt idx="48">
                  <c:v>678.3</c:v>
                </c:pt>
                <c:pt idx="49">
                  <c:v>681.7</c:v>
                </c:pt>
                <c:pt idx="50">
                  <c:v>681.1</c:v>
                </c:pt>
                <c:pt idx="51">
                  <c:v>678.0</c:v>
                </c:pt>
                <c:pt idx="52">
                  <c:v>681.9</c:v>
                </c:pt>
                <c:pt idx="53">
                  <c:v>683.9</c:v>
                </c:pt>
                <c:pt idx="54">
                  <c:v>689.6</c:v>
                </c:pt>
                <c:pt idx="55">
                  <c:v>690.4</c:v>
                </c:pt>
                <c:pt idx="56">
                  <c:v>684.7</c:v>
                </c:pt>
                <c:pt idx="57">
                  <c:v>681.7</c:v>
                </c:pt>
                <c:pt idx="58">
                  <c:v>676.4</c:v>
                </c:pt>
                <c:pt idx="59">
                  <c:v>671.2</c:v>
                </c:pt>
                <c:pt idx="60">
                  <c:v>657.0</c:v>
                </c:pt>
                <c:pt idx="61">
                  <c:v>657.0</c:v>
                </c:pt>
                <c:pt idx="62">
                  <c:v>653.3</c:v>
                </c:pt>
                <c:pt idx="63">
                  <c:v>647.7</c:v>
                </c:pt>
                <c:pt idx="64">
                  <c:v>638.1</c:v>
                </c:pt>
                <c:pt idx="65">
                  <c:v>630.0</c:v>
                </c:pt>
                <c:pt idx="66">
                  <c:v>624.7</c:v>
                </c:pt>
                <c:pt idx="67">
                  <c:v>618.4</c:v>
                </c:pt>
                <c:pt idx="68">
                  <c:v>615.1</c:v>
                </c:pt>
                <c:pt idx="69">
                  <c:v>609.3</c:v>
                </c:pt>
                <c:pt idx="70">
                  <c:v>604.3</c:v>
                </c:pt>
                <c:pt idx="71">
                  <c:v>594.1</c:v>
                </c:pt>
                <c:pt idx="72">
                  <c:v>592.8</c:v>
                </c:pt>
                <c:pt idx="73">
                  <c:v>591.8</c:v>
                </c:pt>
                <c:pt idx="74">
                  <c:v>582.1</c:v>
                </c:pt>
                <c:pt idx="75">
                  <c:v>576.8</c:v>
                </c:pt>
                <c:pt idx="76">
                  <c:v>570.0</c:v>
                </c:pt>
                <c:pt idx="77">
                  <c:v>568.3</c:v>
                </c:pt>
                <c:pt idx="78">
                  <c:v>568.0</c:v>
                </c:pt>
                <c:pt idx="79">
                  <c:v>568.2</c:v>
                </c:pt>
                <c:pt idx="80">
                  <c:v>557.3</c:v>
                </c:pt>
                <c:pt idx="81">
                  <c:v>560.4</c:v>
                </c:pt>
                <c:pt idx="82">
                  <c:v>565.7</c:v>
                </c:pt>
                <c:pt idx="83">
                  <c:v>568.8</c:v>
                </c:pt>
                <c:pt idx="84">
                  <c:v>572.5</c:v>
                </c:pt>
                <c:pt idx="85">
                  <c:v>575.6</c:v>
                </c:pt>
                <c:pt idx="86">
                  <c:v>581.2</c:v>
                </c:pt>
                <c:pt idx="87">
                  <c:v>583.3</c:v>
                </c:pt>
                <c:pt idx="88">
                  <c:v>587.5</c:v>
                </c:pt>
                <c:pt idx="89">
                  <c:v>592.0</c:v>
                </c:pt>
                <c:pt idx="90">
                  <c:v>591.8</c:v>
                </c:pt>
                <c:pt idx="91">
                  <c:v>590.9</c:v>
                </c:pt>
                <c:pt idx="92">
                  <c:v>589.4</c:v>
                </c:pt>
                <c:pt idx="93">
                  <c:v>586.0</c:v>
                </c:pt>
                <c:pt idx="94">
                  <c:v>581.3</c:v>
                </c:pt>
                <c:pt idx="95">
                  <c:v>578.7</c:v>
                </c:pt>
                <c:pt idx="96">
                  <c:v>576.1</c:v>
                </c:pt>
                <c:pt idx="97">
                  <c:v>571.9</c:v>
                </c:pt>
                <c:pt idx="98">
                  <c:v>564.0</c:v>
                </c:pt>
                <c:pt idx="99">
                  <c:v>563.2</c:v>
                </c:pt>
                <c:pt idx="100">
                  <c:v>563.3</c:v>
                </c:pt>
                <c:pt idx="101">
                  <c:v>563.4</c:v>
                </c:pt>
                <c:pt idx="102">
                  <c:v>556.5</c:v>
                </c:pt>
                <c:pt idx="103">
                  <c:v>559.2</c:v>
                </c:pt>
                <c:pt idx="104">
                  <c:v>559.0</c:v>
                </c:pt>
                <c:pt idx="105">
                  <c:v>557.6</c:v>
                </c:pt>
                <c:pt idx="106">
                  <c:v>550.6</c:v>
                </c:pt>
                <c:pt idx="107">
                  <c:v>548.6</c:v>
                </c:pt>
                <c:pt idx="108">
                  <c:v>547.5</c:v>
                </c:pt>
                <c:pt idx="109">
                  <c:v>545.9</c:v>
                </c:pt>
                <c:pt idx="110">
                  <c:v>545.1</c:v>
                </c:pt>
                <c:pt idx="111">
                  <c:v>540.9</c:v>
                </c:pt>
                <c:pt idx="112">
                  <c:v>537.5</c:v>
                </c:pt>
                <c:pt idx="113">
                  <c:v>535.2</c:v>
                </c:pt>
                <c:pt idx="114">
                  <c:v>532.6</c:v>
                </c:pt>
                <c:pt idx="115">
                  <c:v>530.0</c:v>
                </c:pt>
                <c:pt idx="116">
                  <c:v>526.2</c:v>
                </c:pt>
                <c:pt idx="117">
                  <c:v>524.1</c:v>
                </c:pt>
                <c:pt idx="118">
                  <c:v>521.2</c:v>
                </c:pt>
                <c:pt idx="119">
                  <c:v>522.0</c:v>
                </c:pt>
                <c:pt idx="120">
                  <c:v>519.9</c:v>
                </c:pt>
                <c:pt idx="121">
                  <c:v>517.8</c:v>
                </c:pt>
                <c:pt idx="122">
                  <c:v>516.2</c:v>
                </c:pt>
                <c:pt idx="123">
                  <c:v>515.4</c:v>
                </c:pt>
                <c:pt idx="124">
                  <c:v>509.9</c:v>
                </c:pt>
                <c:pt idx="125">
                  <c:v>508.5</c:v>
                </c:pt>
                <c:pt idx="126">
                  <c:v>508.6</c:v>
                </c:pt>
                <c:pt idx="127">
                  <c:v>509.1</c:v>
                </c:pt>
                <c:pt idx="128">
                  <c:v>506.9</c:v>
                </c:pt>
                <c:pt idx="129">
                  <c:v>504.7</c:v>
                </c:pt>
                <c:pt idx="130">
                  <c:v>505.2</c:v>
                </c:pt>
                <c:pt idx="131">
                  <c:v>504.8</c:v>
                </c:pt>
                <c:pt idx="132">
                  <c:v>504.5</c:v>
                </c:pt>
                <c:pt idx="133">
                  <c:v>504.8</c:v>
                </c:pt>
                <c:pt idx="134">
                  <c:v>504.4</c:v>
                </c:pt>
                <c:pt idx="135">
                  <c:v>503.5</c:v>
                </c:pt>
                <c:pt idx="136">
                  <c:v>502.4</c:v>
                </c:pt>
                <c:pt idx="137">
                  <c:v>502.4</c:v>
                </c:pt>
                <c:pt idx="138">
                  <c:v>501.8</c:v>
                </c:pt>
                <c:pt idx="139">
                  <c:v>499.4</c:v>
                </c:pt>
                <c:pt idx="140">
                  <c:v>500.9</c:v>
                </c:pt>
                <c:pt idx="141">
                  <c:v>507.6</c:v>
                </c:pt>
                <c:pt idx="142">
                  <c:v>513.8</c:v>
                </c:pt>
                <c:pt idx="143">
                  <c:v>520.0</c:v>
                </c:pt>
                <c:pt idx="144">
                  <c:v>523.0</c:v>
                </c:pt>
                <c:pt idx="145">
                  <c:v>528.8</c:v>
                </c:pt>
                <c:pt idx="146">
                  <c:v>532.9</c:v>
                </c:pt>
                <c:pt idx="147">
                  <c:v>536.9</c:v>
                </c:pt>
                <c:pt idx="148">
                  <c:v>539.4</c:v>
                </c:pt>
                <c:pt idx="149">
                  <c:v>539.2</c:v>
                </c:pt>
                <c:pt idx="150">
                  <c:v>535.9</c:v>
                </c:pt>
                <c:pt idx="151">
                  <c:v>538.8</c:v>
                </c:pt>
                <c:pt idx="152">
                  <c:v>540.9</c:v>
                </c:pt>
                <c:pt idx="153">
                  <c:v>542.1</c:v>
                </c:pt>
                <c:pt idx="154">
                  <c:v>542.6</c:v>
                </c:pt>
                <c:pt idx="155">
                  <c:v>538.4</c:v>
                </c:pt>
                <c:pt idx="156">
                  <c:v>535.8</c:v>
                </c:pt>
                <c:pt idx="157">
                  <c:v>537.2</c:v>
                </c:pt>
                <c:pt idx="158">
                  <c:v>541.1</c:v>
                </c:pt>
                <c:pt idx="159">
                  <c:v>539.6</c:v>
                </c:pt>
                <c:pt idx="160">
                  <c:v>537.1</c:v>
                </c:pt>
                <c:pt idx="161">
                  <c:v>532.8</c:v>
                </c:pt>
                <c:pt idx="162">
                  <c:v>532.0</c:v>
                </c:pt>
                <c:pt idx="163">
                  <c:v>531.2</c:v>
                </c:pt>
                <c:pt idx="164">
                  <c:v>532.2</c:v>
                </c:pt>
              </c:numCache>
            </c:numRef>
          </c:val>
          <c:smooth val="0"/>
        </c:ser>
        <c:ser>
          <c:idx val="1"/>
          <c:order val="1"/>
          <c:tx>
            <c:strRef>
              <c:f>Sheet1!$C$1</c:f>
              <c:strCache>
                <c:ptCount val="1"/>
                <c:pt idx="0">
                  <c:v>Onion</c:v>
                </c:pt>
              </c:strCache>
            </c:strRef>
          </c:tx>
          <c:spPr>
            <a:ln w="31750">
              <a:solidFill>
                <a:srgbClr val="2E75B6"/>
              </a:solidFill>
            </a:ln>
          </c:spPr>
          <c:marker>
            <c:symbol val="none"/>
          </c:marker>
          <c:cat>
            <c:strRef>
              <c:f>Sheet1!$A$2:$A$166</c:f>
              <c:strCache>
                <c:ptCount val="16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strCache>
            </c:strRef>
          </c:cat>
          <c:val>
            <c:numRef>
              <c:f>Sheet1!$C$2:$C$166</c:f>
              <c:numCache>
                <c:formatCode>General</c:formatCode>
                <c:ptCount val="165"/>
                <c:pt idx="0">
                  <c:v>479.4</c:v>
                </c:pt>
                <c:pt idx="1">
                  <c:v>471.7</c:v>
                </c:pt>
                <c:pt idx="2">
                  <c:v>506.0</c:v>
                </c:pt>
                <c:pt idx="3">
                  <c:v>503.2</c:v>
                </c:pt>
                <c:pt idx="4">
                  <c:v>493.5</c:v>
                </c:pt>
                <c:pt idx="5">
                  <c:v>481.7</c:v>
                </c:pt>
                <c:pt idx="6">
                  <c:v>488.0</c:v>
                </c:pt>
                <c:pt idx="7">
                  <c:v>488.1</c:v>
                </c:pt>
                <c:pt idx="8">
                  <c:v>490.6</c:v>
                </c:pt>
                <c:pt idx="9">
                  <c:v>500.9</c:v>
                </c:pt>
                <c:pt idx="10">
                  <c:v>512.9</c:v>
                </c:pt>
                <c:pt idx="11">
                  <c:v>533.4</c:v>
                </c:pt>
                <c:pt idx="12">
                  <c:v>526.1</c:v>
                </c:pt>
                <c:pt idx="13">
                  <c:v>530.4</c:v>
                </c:pt>
                <c:pt idx="14">
                  <c:v>518.8</c:v>
                </c:pt>
                <c:pt idx="15">
                  <c:v>509.3</c:v>
                </c:pt>
                <c:pt idx="16">
                  <c:v>478.9</c:v>
                </c:pt>
                <c:pt idx="17">
                  <c:v>475.1</c:v>
                </c:pt>
                <c:pt idx="18">
                  <c:v>467.6</c:v>
                </c:pt>
                <c:pt idx="19">
                  <c:v>461.2</c:v>
                </c:pt>
                <c:pt idx="20">
                  <c:v>471.5</c:v>
                </c:pt>
                <c:pt idx="21">
                  <c:v>450.4</c:v>
                </c:pt>
                <c:pt idx="22">
                  <c:v>424.7</c:v>
                </c:pt>
                <c:pt idx="23">
                  <c:v>423.1</c:v>
                </c:pt>
                <c:pt idx="24">
                  <c:v>418.3</c:v>
                </c:pt>
                <c:pt idx="25">
                  <c:v>427.8</c:v>
                </c:pt>
                <c:pt idx="26">
                  <c:v>424.3</c:v>
                </c:pt>
                <c:pt idx="27">
                  <c:v>430.8</c:v>
                </c:pt>
                <c:pt idx="28">
                  <c:v>438.3</c:v>
                </c:pt>
                <c:pt idx="29">
                  <c:v>439.0</c:v>
                </c:pt>
                <c:pt idx="30">
                  <c:v>444.6</c:v>
                </c:pt>
                <c:pt idx="31">
                  <c:v>445.6</c:v>
                </c:pt>
                <c:pt idx="32">
                  <c:v>449.6</c:v>
                </c:pt>
                <c:pt idx="33">
                  <c:v>442.9</c:v>
                </c:pt>
                <c:pt idx="34">
                  <c:v>441.8</c:v>
                </c:pt>
                <c:pt idx="35">
                  <c:v>424.6</c:v>
                </c:pt>
                <c:pt idx="36">
                  <c:v>429.3</c:v>
                </c:pt>
                <c:pt idx="37">
                  <c:v>434.1</c:v>
                </c:pt>
                <c:pt idx="38">
                  <c:v>434.1</c:v>
                </c:pt>
                <c:pt idx="39">
                  <c:v>433.3</c:v>
                </c:pt>
                <c:pt idx="40">
                  <c:v>430.9</c:v>
                </c:pt>
                <c:pt idx="41">
                  <c:v>430.2</c:v>
                </c:pt>
                <c:pt idx="42">
                  <c:v>429.5</c:v>
                </c:pt>
                <c:pt idx="43">
                  <c:v>437.4</c:v>
                </c:pt>
                <c:pt idx="44">
                  <c:v>447.0</c:v>
                </c:pt>
                <c:pt idx="45">
                  <c:v>452.5</c:v>
                </c:pt>
                <c:pt idx="46">
                  <c:v>459.3</c:v>
                </c:pt>
                <c:pt idx="47">
                  <c:v>458.9</c:v>
                </c:pt>
                <c:pt idx="48">
                  <c:v>462.4</c:v>
                </c:pt>
                <c:pt idx="49">
                  <c:v>462.3</c:v>
                </c:pt>
                <c:pt idx="50">
                  <c:v>463.2</c:v>
                </c:pt>
                <c:pt idx="51">
                  <c:v>467.0</c:v>
                </c:pt>
                <c:pt idx="52">
                  <c:v>468.9</c:v>
                </c:pt>
                <c:pt idx="53">
                  <c:v>472.8</c:v>
                </c:pt>
                <c:pt idx="54">
                  <c:v>465.4</c:v>
                </c:pt>
                <c:pt idx="55">
                  <c:v>462.2</c:v>
                </c:pt>
                <c:pt idx="56">
                  <c:v>445.3</c:v>
                </c:pt>
                <c:pt idx="57">
                  <c:v>446.0</c:v>
                </c:pt>
                <c:pt idx="58">
                  <c:v>450.0</c:v>
                </c:pt>
                <c:pt idx="59">
                  <c:v>450.9</c:v>
                </c:pt>
                <c:pt idx="60">
                  <c:v>451.0</c:v>
                </c:pt>
                <c:pt idx="61">
                  <c:v>445.1</c:v>
                </c:pt>
                <c:pt idx="62">
                  <c:v>453.4</c:v>
                </c:pt>
                <c:pt idx="63">
                  <c:v>440.8</c:v>
                </c:pt>
                <c:pt idx="64">
                  <c:v>433.2</c:v>
                </c:pt>
                <c:pt idx="65">
                  <c:v>438.9</c:v>
                </c:pt>
                <c:pt idx="66">
                  <c:v>440.7</c:v>
                </c:pt>
                <c:pt idx="67">
                  <c:v>441.9</c:v>
                </c:pt>
                <c:pt idx="68">
                  <c:v>445.5</c:v>
                </c:pt>
                <c:pt idx="69">
                  <c:v>449.1</c:v>
                </c:pt>
                <c:pt idx="70">
                  <c:v>450.5</c:v>
                </c:pt>
                <c:pt idx="71">
                  <c:v>452.1</c:v>
                </c:pt>
                <c:pt idx="72">
                  <c:v>454.1</c:v>
                </c:pt>
                <c:pt idx="73">
                  <c:v>454.1</c:v>
                </c:pt>
                <c:pt idx="74">
                  <c:v>455.3</c:v>
                </c:pt>
                <c:pt idx="75">
                  <c:v>452.2</c:v>
                </c:pt>
                <c:pt idx="76">
                  <c:v>449.2</c:v>
                </c:pt>
                <c:pt idx="77">
                  <c:v>437.2</c:v>
                </c:pt>
                <c:pt idx="78">
                  <c:v>434.2</c:v>
                </c:pt>
                <c:pt idx="79">
                  <c:v>432.8</c:v>
                </c:pt>
                <c:pt idx="80">
                  <c:v>429.5</c:v>
                </c:pt>
                <c:pt idx="81">
                  <c:v>427.0</c:v>
                </c:pt>
                <c:pt idx="82">
                  <c:v>426.6</c:v>
                </c:pt>
                <c:pt idx="83">
                  <c:v>424.6</c:v>
                </c:pt>
                <c:pt idx="84">
                  <c:v>422.0</c:v>
                </c:pt>
                <c:pt idx="85">
                  <c:v>417.7</c:v>
                </c:pt>
                <c:pt idx="86">
                  <c:v>415.5</c:v>
                </c:pt>
                <c:pt idx="87">
                  <c:v>413.7</c:v>
                </c:pt>
                <c:pt idx="88">
                  <c:v>405.3</c:v>
                </c:pt>
                <c:pt idx="89">
                  <c:v>405.1</c:v>
                </c:pt>
                <c:pt idx="90">
                  <c:v>399.8</c:v>
                </c:pt>
                <c:pt idx="91">
                  <c:v>396.1</c:v>
                </c:pt>
                <c:pt idx="92">
                  <c:v>389.8</c:v>
                </c:pt>
                <c:pt idx="93">
                  <c:v>383.6</c:v>
                </c:pt>
                <c:pt idx="94">
                  <c:v>380.2</c:v>
                </c:pt>
                <c:pt idx="95">
                  <c:v>374.7</c:v>
                </c:pt>
                <c:pt idx="96">
                  <c:v>368.9</c:v>
                </c:pt>
                <c:pt idx="97">
                  <c:v>370.6</c:v>
                </c:pt>
                <c:pt idx="98">
                  <c:v>368.3</c:v>
                </c:pt>
                <c:pt idx="99">
                  <c:v>366.6</c:v>
                </c:pt>
                <c:pt idx="100">
                  <c:v>374.2</c:v>
                </c:pt>
                <c:pt idx="101">
                  <c:v>374.2</c:v>
                </c:pt>
                <c:pt idx="102">
                  <c:v>378.9</c:v>
                </c:pt>
                <c:pt idx="103">
                  <c:v>384.5</c:v>
                </c:pt>
                <c:pt idx="104">
                  <c:v>389.8</c:v>
                </c:pt>
                <c:pt idx="105">
                  <c:v>385.0</c:v>
                </c:pt>
                <c:pt idx="106">
                  <c:v>378.5</c:v>
                </c:pt>
                <c:pt idx="107">
                  <c:v>381.0</c:v>
                </c:pt>
                <c:pt idx="108">
                  <c:v>375.8</c:v>
                </c:pt>
                <c:pt idx="109">
                  <c:v>366.1</c:v>
                </c:pt>
                <c:pt idx="110">
                  <c:v>371.6</c:v>
                </c:pt>
                <c:pt idx="111">
                  <c:v>371.3</c:v>
                </c:pt>
                <c:pt idx="112">
                  <c:v>369.3</c:v>
                </c:pt>
                <c:pt idx="113">
                  <c:v>365.9</c:v>
                </c:pt>
                <c:pt idx="114">
                  <c:v>374.0</c:v>
                </c:pt>
                <c:pt idx="115">
                  <c:v>378.5</c:v>
                </c:pt>
                <c:pt idx="116">
                  <c:v>383.6</c:v>
                </c:pt>
                <c:pt idx="117">
                  <c:v>386.5</c:v>
                </c:pt>
                <c:pt idx="118">
                  <c:v>389.1</c:v>
                </c:pt>
                <c:pt idx="119">
                  <c:v>395.4</c:v>
                </c:pt>
                <c:pt idx="120">
                  <c:v>400.6</c:v>
                </c:pt>
                <c:pt idx="121">
                  <c:v>411.1</c:v>
                </c:pt>
                <c:pt idx="122">
                  <c:v>413.9</c:v>
                </c:pt>
                <c:pt idx="123">
                  <c:v>417.2</c:v>
                </c:pt>
                <c:pt idx="124">
                  <c:v>428.4</c:v>
                </c:pt>
                <c:pt idx="125">
                  <c:v>425.2</c:v>
                </c:pt>
                <c:pt idx="126">
                  <c:v>417.4</c:v>
                </c:pt>
                <c:pt idx="127">
                  <c:v>419.8</c:v>
                </c:pt>
                <c:pt idx="128">
                  <c:v>426.6</c:v>
                </c:pt>
                <c:pt idx="129">
                  <c:v>421.2</c:v>
                </c:pt>
                <c:pt idx="130">
                  <c:v>418.5</c:v>
                </c:pt>
                <c:pt idx="131">
                  <c:v>413.4</c:v>
                </c:pt>
                <c:pt idx="132">
                  <c:v>412.2</c:v>
                </c:pt>
                <c:pt idx="133">
                  <c:v>410.0</c:v>
                </c:pt>
                <c:pt idx="134">
                  <c:v>407.4</c:v>
                </c:pt>
                <c:pt idx="135">
                  <c:v>407.3</c:v>
                </c:pt>
                <c:pt idx="136">
                  <c:v>404.7</c:v>
                </c:pt>
                <c:pt idx="137">
                  <c:v>406.1</c:v>
                </c:pt>
                <c:pt idx="138">
                  <c:v>407.7</c:v>
                </c:pt>
                <c:pt idx="139">
                  <c:v>411.1</c:v>
                </c:pt>
                <c:pt idx="140">
                  <c:v>419.1</c:v>
                </c:pt>
                <c:pt idx="141">
                  <c:v>412.7</c:v>
                </c:pt>
                <c:pt idx="142">
                  <c:v>402.9</c:v>
                </c:pt>
                <c:pt idx="143">
                  <c:v>397.7</c:v>
                </c:pt>
                <c:pt idx="144">
                  <c:v>404.3</c:v>
                </c:pt>
                <c:pt idx="145">
                  <c:v>410.9</c:v>
                </c:pt>
                <c:pt idx="146">
                  <c:v>415.0</c:v>
                </c:pt>
                <c:pt idx="147">
                  <c:v>414.9</c:v>
                </c:pt>
                <c:pt idx="148">
                  <c:v>415.6</c:v>
                </c:pt>
                <c:pt idx="149">
                  <c:v>408.1</c:v>
                </c:pt>
                <c:pt idx="150">
                  <c:v>409.7</c:v>
                </c:pt>
                <c:pt idx="151">
                  <c:v>406.7</c:v>
                </c:pt>
                <c:pt idx="152">
                  <c:v>410.3</c:v>
                </c:pt>
                <c:pt idx="153">
                  <c:v>414.1</c:v>
                </c:pt>
                <c:pt idx="154">
                  <c:v>415.8</c:v>
                </c:pt>
                <c:pt idx="155">
                  <c:v>417.9</c:v>
                </c:pt>
                <c:pt idx="156">
                  <c:v>420.3</c:v>
                </c:pt>
                <c:pt idx="157">
                  <c:v>422.4</c:v>
                </c:pt>
                <c:pt idx="158">
                  <c:v>419.3</c:v>
                </c:pt>
                <c:pt idx="159">
                  <c:v>416.3</c:v>
                </c:pt>
                <c:pt idx="160">
                  <c:v>417.2</c:v>
                </c:pt>
                <c:pt idx="161">
                  <c:v>415.0</c:v>
                </c:pt>
                <c:pt idx="162">
                  <c:v>410.1</c:v>
                </c:pt>
                <c:pt idx="163">
                  <c:v>409.9</c:v>
                </c:pt>
                <c:pt idx="164">
                  <c:v>403.9</c:v>
                </c:pt>
              </c:numCache>
            </c:numRef>
          </c:val>
          <c:smooth val="0"/>
        </c:ser>
        <c:ser>
          <c:idx val="2"/>
          <c:order val="2"/>
          <c:tx>
            <c:strRef>
              <c:f>Sheet1!$D$1</c:f>
              <c:strCache>
                <c:ptCount val="1"/>
                <c:pt idx="0">
                  <c:v>Potato</c:v>
                </c:pt>
              </c:strCache>
            </c:strRef>
          </c:tx>
          <c:spPr>
            <a:ln w="31750">
              <a:solidFill>
                <a:srgbClr val="2E8B57"/>
              </a:solidFill>
            </a:ln>
          </c:spPr>
          <c:marker>
            <c:symbol val="none"/>
          </c:marker>
          <c:cat>
            <c:strRef>
              <c:f>Sheet1!$A$2:$A$166</c:f>
              <c:strCache>
                <c:ptCount val="16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strCache>
            </c:strRef>
          </c:cat>
          <c:val>
            <c:numRef>
              <c:f>Sheet1!$D$2:$D$166</c:f>
              <c:numCache>
                <c:formatCode>General</c:formatCode>
                <c:ptCount val="165"/>
                <c:pt idx="0">
                  <c:v>230.8</c:v>
                </c:pt>
                <c:pt idx="1">
                  <c:v>205.6</c:v>
                </c:pt>
                <c:pt idx="2">
                  <c:v>-43.6</c:v>
                </c:pt>
                <c:pt idx="3">
                  <c:v>-113.1</c:v>
                </c:pt>
                <c:pt idx="4">
                  <c:v>-75.8</c:v>
                </c:pt>
                <c:pt idx="5">
                  <c:v>-20.0</c:v>
                </c:pt>
                <c:pt idx="6">
                  <c:v>-0.5</c:v>
                </c:pt>
                <c:pt idx="7">
                  <c:v>17.6</c:v>
                </c:pt>
                <c:pt idx="8">
                  <c:v>33.7</c:v>
                </c:pt>
                <c:pt idx="9">
                  <c:v>27.6</c:v>
                </c:pt>
                <c:pt idx="10">
                  <c:v>27.2</c:v>
                </c:pt>
                <c:pt idx="11">
                  <c:v>20.8</c:v>
                </c:pt>
                <c:pt idx="12">
                  <c:v>32.7</c:v>
                </c:pt>
                <c:pt idx="13">
                  <c:v>37.6</c:v>
                </c:pt>
                <c:pt idx="14">
                  <c:v>38.3</c:v>
                </c:pt>
                <c:pt idx="15">
                  <c:v>41.2</c:v>
                </c:pt>
                <c:pt idx="16">
                  <c:v>48.5</c:v>
                </c:pt>
                <c:pt idx="17">
                  <c:v>53.6</c:v>
                </c:pt>
                <c:pt idx="18">
                  <c:v>64.2</c:v>
                </c:pt>
                <c:pt idx="19">
                  <c:v>85.5</c:v>
                </c:pt>
                <c:pt idx="20">
                  <c:v>88.9</c:v>
                </c:pt>
                <c:pt idx="21">
                  <c:v>87.2</c:v>
                </c:pt>
                <c:pt idx="22">
                  <c:v>88.5</c:v>
                </c:pt>
                <c:pt idx="23">
                  <c:v>87.7</c:v>
                </c:pt>
                <c:pt idx="24">
                  <c:v>87.3</c:v>
                </c:pt>
                <c:pt idx="25">
                  <c:v>92.0</c:v>
                </c:pt>
                <c:pt idx="26">
                  <c:v>99.8</c:v>
                </c:pt>
                <c:pt idx="27">
                  <c:v>104.3</c:v>
                </c:pt>
                <c:pt idx="28">
                  <c:v>106.2</c:v>
                </c:pt>
                <c:pt idx="29">
                  <c:v>94.3</c:v>
                </c:pt>
                <c:pt idx="30">
                  <c:v>91.3</c:v>
                </c:pt>
                <c:pt idx="31">
                  <c:v>94.9</c:v>
                </c:pt>
                <c:pt idx="32">
                  <c:v>105.4</c:v>
                </c:pt>
                <c:pt idx="33">
                  <c:v>80.8</c:v>
                </c:pt>
                <c:pt idx="34">
                  <c:v>81.8</c:v>
                </c:pt>
                <c:pt idx="35">
                  <c:v>62.1</c:v>
                </c:pt>
                <c:pt idx="36">
                  <c:v>55.9</c:v>
                </c:pt>
                <c:pt idx="37">
                  <c:v>45.9</c:v>
                </c:pt>
                <c:pt idx="38">
                  <c:v>50.7</c:v>
                </c:pt>
                <c:pt idx="39">
                  <c:v>55.7</c:v>
                </c:pt>
                <c:pt idx="40">
                  <c:v>67.8</c:v>
                </c:pt>
                <c:pt idx="41">
                  <c:v>71.5</c:v>
                </c:pt>
                <c:pt idx="42">
                  <c:v>73.4</c:v>
                </c:pt>
                <c:pt idx="43">
                  <c:v>76.4</c:v>
                </c:pt>
                <c:pt idx="44">
                  <c:v>76.2</c:v>
                </c:pt>
                <c:pt idx="45">
                  <c:v>78.3</c:v>
                </c:pt>
                <c:pt idx="46">
                  <c:v>75.0</c:v>
                </c:pt>
                <c:pt idx="47">
                  <c:v>75.7</c:v>
                </c:pt>
                <c:pt idx="48">
                  <c:v>75.6</c:v>
                </c:pt>
                <c:pt idx="49">
                  <c:v>74.2</c:v>
                </c:pt>
                <c:pt idx="50">
                  <c:v>74.2</c:v>
                </c:pt>
                <c:pt idx="51">
                  <c:v>69.8</c:v>
                </c:pt>
                <c:pt idx="52">
                  <c:v>67.6</c:v>
                </c:pt>
                <c:pt idx="53">
                  <c:v>65.6</c:v>
                </c:pt>
                <c:pt idx="54">
                  <c:v>71.1</c:v>
                </c:pt>
                <c:pt idx="55">
                  <c:v>67.5</c:v>
                </c:pt>
                <c:pt idx="56">
                  <c:v>61.5</c:v>
                </c:pt>
                <c:pt idx="57">
                  <c:v>55.6</c:v>
                </c:pt>
                <c:pt idx="58">
                  <c:v>56.1</c:v>
                </c:pt>
                <c:pt idx="59">
                  <c:v>56.8</c:v>
                </c:pt>
                <c:pt idx="60">
                  <c:v>57.4</c:v>
                </c:pt>
                <c:pt idx="61">
                  <c:v>56.8</c:v>
                </c:pt>
                <c:pt idx="62">
                  <c:v>49.8</c:v>
                </c:pt>
                <c:pt idx="63">
                  <c:v>46.6</c:v>
                </c:pt>
                <c:pt idx="64">
                  <c:v>44.2</c:v>
                </c:pt>
                <c:pt idx="65">
                  <c:v>45.2</c:v>
                </c:pt>
                <c:pt idx="66">
                  <c:v>44.0</c:v>
                </c:pt>
                <c:pt idx="67">
                  <c:v>42.1</c:v>
                </c:pt>
                <c:pt idx="68">
                  <c:v>44.6</c:v>
                </c:pt>
                <c:pt idx="69">
                  <c:v>48.7</c:v>
                </c:pt>
                <c:pt idx="70">
                  <c:v>52.9</c:v>
                </c:pt>
                <c:pt idx="71">
                  <c:v>54.2</c:v>
                </c:pt>
                <c:pt idx="72">
                  <c:v>55.3</c:v>
                </c:pt>
                <c:pt idx="73">
                  <c:v>58.2</c:v>
                </c:pt>
                <c:pt idx="74">
                  <c:v>64.1</c:v>
                </c:pt>
                <c:pt idx="75">
                  <c:v>67.0</c:v>
                </c:pt>
                <c:pt idx="76">
                  <c:v>69.7</c:v>
                </c:pt>
                <c:pt idx="77">
                  <c:v>69.2</c:v>
                </c:pt>
                <c:pt idx="78">
                  <c:v>70.9</c:v>
                </c:pt>
                <c:pt idx="79">
                  <c:v>73.1</c:v>
                </c:pt>
                <c:pt idx="80">
                  <c:v>74.3</c:v>
                </c:pt>
                <c:pt idx="81">
                  <c:v>71.8</c:v>
                </c:pt>
                <c:pt idx="82">
                  <c:v>72.5</c:v>
                </c:pt>
                <c:pt idx="83">
                  <c:v>71.6</c:v>
                </c:pt>
                <c:pt idx="84">
                  <c:v>69.1</c:v>
                </c:pt>
                <c:pt idx="85">
                  <c:v>67.1</c:v>
                </c:pt>
                <c:pt idx="86">
                  <c:v>68.6</c:v>
                </c:pt>
                <c:pt idx="87">
                  <c:v>68.1</c:v>
                </c:pt>
                <c:pt idx="88">
                  <c:v>66.9</c:v>
                </c:pt>
                <c:pt idx="89">
                  <c:v>64.4</c:v>
                </c:pt>
                <c:pt idx="90">
                  <c:v>63.9</c:v>
                </c:pt>
                <c:pt idx="91">
                  <c:v>62.5</c:v>
                </c:pt>
                <c:pt idx="92">
                  <c:v>61.5</c:v>
                </c:pt>
                <c:pt idx="93">
                  <c:v>60.8</c:v>
                </c:pt>
                <c:pt idx="94">
                  <c:v>60.0</c:v>
                </c:pt>
                <c:pt idx="95">
                  <c:v>58.3</c:v>
                </c:pt>
                <c:pt idx="96">
                  <c:v>58.6</c:v>
                </c:pt>
                <c:pt idx="97">
                  <c:v>56.7</c:v>
                </c:pt>
                <c:pt idx="98">
                  <c:v>60.7</c:v>
                </c:pt>
                <c:pt idx="99">
                  <c:v>56.4</c:v>
                </c:pt>
                <c:pt idx="100">
                  <c:v>59.0</c:v>
                </c:pt>
                <c:pt idx="101">
                  <c:v>54.2</c:v>
                </c:pt>
                <c:pt idx="102">
                  <c:v>50.3</c:v>
                </c:pt>
                <c:pt idx="103">
                  <c:v>49.2</c:v>
                </c:pt>
                <c:pt idx="104">
                  <c:v>48.3</c:v>
                </c:pt>
                <c:pt idx="105">
                  <c:v>52.5</c:v>
                </c:pt>
                <c:pt idx="106">
                  <c:v>55.7</c:v>
                </c:pt>
                <c:pt idx="107">
                  <c:v>55.1</c:v>
                </c:pt>
                <c:pt idx="108">
                  <c:v>51.1</c:v>
                </c:pt>
                <c:pt idx="109">
                  <c:v>50.5</c:v>
                </c:pt>
                <c:pt idx="110">
                  <c:v>51.7</c:v>
                </c:pt>
                <c:pt idx="111">
                  <c:v>51.4</c:v>
                </c:pt>
                <c:pt idx="112">
                  <c:v>53.7</c:v>
                </c:pt>
                <c:pt idx="113">
                  <c:v>53.8</c:v>
                </c:pt>
                <c:pt idx="114">
                  <c:v>55.0</c:v>
                </c:pt>
                <c:pt idx="115">
                  <c:v>54.8</c:v>
                </c:pt>
                <c:pt idx="116">
                  <c:v>56.8</c:v>
                </c:pt>
                <c:pt idx="117">
                  <c:v>56.5</c:v>
                </c:pt>
                <c:pt idx="118">
                  <c:v>54.7</c:v>
                </c:pt>
                <c:pt idx="119">
                  <c:v>55.6</c:v>
                </c:pt>
                <c:pt idx="120">
                  <c:v>54.7</c:v>
                </c:pt>
                <c:pt idx="121">
                  <c:v>55.7</c:v>
                </c:pt>
                <c:pt idx="122">
                  <c:v>56.3</c:v>
                </c:pt>
                <c:pt idx="123">
                  <c:v>55.8</c:v>
                </c:pt>
                <c:pt idx="124">
                  <c:v>53.7</c:v>
                </c:pt>
                <c:pt idx="125">
                  <c:v>56.4</c:v>
                </c:pt>
                <c:pt idx="126">
                  <c:v>57.7</c:v>
                </c:pt>
                <c:pt idx="127">
                  <c:v>58.4</c:v>
                </c:pt>
                <c:pt idx="128">
                  <c:v>58.4</c:v>
                </c:pt>
                <c:pt idx="129">
                  <c:v>58.3</c:v>
                </c:pt>
                <c:pt idx="130">
                  <c:v>58.1</c:v>
                </c:pt>
                <c:pt idx="131">
                  <c:v>59.2</c:v>
                </c:pt>
                <c:pt idx="132">
                  <c:v>59.5</c:v>
                </c:pt>
                <c:pt idx="133">
                  <c:v>59.4</c:v>
                </c:pt>
                <c:pt idx="134">
                  <c:v>59.3</c:v>
                </c:pt>
                <c:pt idx="135">
                  <c:v>59.8</c:v>
                </c:pt>
                <c:pt idx="136">
                  <c:v>59.8</c:v>
                </c:pt>
                <c:pt idx="137">
                  <c:v>59.8</c:v>
                </c:pt>
                <c:pt idx="138">
                  <c:v>61.8</c:v>
                </c:pt>
                <c:pt idx="139">
                  <c:v>60.0</c:v>
                </c:pt>
                <c:pt idx="140">
                  <c:v>57.9</c:v>
                </c:pt>
                <c:pt idx="141">
                  <c:v>56.9</c:v>
                </c:pt>
                <c:pt idx="142">
                  <c:v>54.8</c:v>
                </c:pt>
                <c:pt idx="143">
                  <c:v>56.1</c:v>
                </c:pt>
                <c:pt idx="144">
                  <c:v>54.4</c:v>
                </c:pt>
                <c:pt idx="145">
                  <c:v>54.5</c:v>
                </c:pt>
                <c:pt idx="146">
                  <c:v>54.8</c:v>
                </c:pt>
                <c:pt idx="147">
                  <c:v>53.9</c:v>
                </c:pt>
                <c:pt idx="148">
                  <c:v>52.9</c:v>
                </c:pt>
                <c:pt idx="149">
                  <c:v>52.7</c:v>
                </c:pt>
                <c:pt idx="150">
                  <c:v>51.3</c:v>
                </c:pt>
                <c:pt idx="151">
                  <c:v>51.3</c:v>
                </c:pt>
                <c:pt idx="152">
                  <c:v>51.9</c:v>
                </c:pt>
                <c:pt idx="153">
                  <c:v>52.1</c:v>
                </c:pt>
                <c:pt idx="154">
                  <c:v>50.2</c:v>
                </c:pt>
                <c:pt idx="155">
                  <c:v>49.5</c:v>
                </c:pt>
                <c:pt idx="156">
                  <c:v>51.1</c:v>
                </c:pt>
                <c:pt idx="157">
                  <c:v>51.7</c:v>
                </c:pt>
                <c:pt idx="158">
                  <c:v>51.9</c:v>
                </c:pt>
                <c:pt idx="159">
                  <c:v>50.6</c:v>
                </c:pt>
                <c:pt idx="160">
                  <c:v>49.7</c:v>
                </c:pt>
                <c:pt idx="161">
                  <c:v>47.6</c:v>
                </c:pt>
                <c:pt idx="162">
                  <c:v>45.7</c:v>
                </c:pt>
                <c:pt idx="163">
                  <c:v>45.3</c:v>
                </c:pt>
                <c:pt idx="164">
                  <c:v>46.0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one"/>
        <c:txPr>
          <a:bodyPr/>
          <a:lstStyle/>
          <a:p>
            <a:pPr>
              <a:defRPr sz="1200"/>
            </a:pPr>
          </a:p>
        </c:txPr>
        <c:crossAx val="2140495176"/>
        <c:crosses val="autoZero"/>
        <c:auto val="1"/>
        <c:lblAlgn val="ctr"/>
        <c:lblOffset val="100"/>
        <c:noMultiLvlLbl val="0"/>
      </c:catAx>
      <c:valAx>
        <c:axId val="2140495176"/>
        <c:scaling/>
        <c:delete val="0"/>
        <c:axPos val="l"/>
        <c:majorGridlines/>
        <c:majorTickMark val="out"/>
        <c:minorTickMark val="none"/>
        <c:tickLblPos val="nextTo"/>
        <c:txPr>
          <a:bodyPr/>
          <a:lstStyle/>
          <a:p>
            <a:pPr>
              <a:defRPr sz="1600"/>
            </a:pPr>
          </a:p>
        </c:txPr>
        <c:crossAx val="2118791784"/>
        <c:crosses val="autoZero"/>
      </c:valAx>
    </c:plotArea>
    <c:legend>
      <c:legendPos val="b"/>
      <c:layout/>
      <c:overlay val="0"/>
      <c:txPr>
        <a:bodyPr/>
        <a:lstStyle/>
        <a:p>
          <a:pPr>
            <a:defRPr sz="1600"/>
          </a:pPr>
        </a:p>
      </c:txPr>
    </c:legend>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600"/>
              <a:t>Net revenue per quintal (Rs) against the number of farmers (10 quintals each)</a:t>
            </a:r>
          </a:p>
        </c:rich>
      </c:tx>
      <c:layout/>
      <c:overlay val="0"/>
    </c:title>
    <c:autoTitleDeleted val="0"/>
    <c:plotArea>
      <c:lineChart>
        <c:grouping val="standard"/>
        <c:varyColors val="0"/>
        <c:ser>
          <c:idx val="0"/>
          <c:order val="0"/>
          <c:tx>
            <c:strRef>
              <c:f>Sheet1!$B$1</c:f>
              <c:strCache>
                <c:ptCount val="1"/>
                <c:pt idx="0">
                  <c:v>One farmer alone</c:v>
                </c:pt>
              </c:strCache>
            </c:strRef>
          </c:tx>
          <c:spPr>
            <a:ln w="34925">
              <a:solidFill>
                <a:srgbClr val="8A94A6"/>
              </a:solidFill>
            </a:ln>
          </c:spPr>
          <c:cat>
            <c:strRef>
              <c:f>Sheet1!$A$2:$A$12</c:f>
              <c:strCache>
                <c:ptCount val="11"/>
                <c:pt idx="0">
                  <c:v>1</c:v>
                </c:pt>
                <c:pt idx="1">
                  <c:v>5</c:v>
                </c:pt>
                <c:pt idx="2">
                  <c:v>10</c:v>
                </c:pt>
                <c:pt idx="3">
                  <c:v>20</c:v>
                </c:pt>
                <c:pt idx="4">
                  <c:v>50</c:v>
                </c:pt>
                <c:pt idx="5">
                  <c:v>100</c:v>
                </c:pt>
                <c:pt idx="6">
                  <c:v>200</c:v>
                </c:pt>
                <c:pt idx="7">
                  <c:v>500</c:v>
                </c:pt>
                <c:pt idx="8">
                  <c:v>1,000</c:v>
                </c:pt>
                <c:pt idx="9">
                  <c:v>2,000</c:v>
                </c:pt>
                <c:pt idx="10">
                  <c:v>5,000</c:v>
                </c:pt>
              </c:strCache>
            </c:strRef>
          </c:cat>
          <c:val>
            <c:numRef>
              <c:f>Sheet1!$B$2:$B$12</c:f>
              <c:numCache>
                <c:formatCode>General</c:formatCode>
                <c:ptCount val="11"/>
                <c:pt idx="0">
                  <c:v>1824.0</c:v>
                </c:pt>
                <c:pt idx="1">
                  <c:v>1824.0</c:v>
                </c:pt>
                <c:pt idx="2">
                  <c:v>1824.0</c:v>
                </c:pt>
                <c:pt idx="3">
                  <c:v>1824.0</c:v>
                </c:pt>
                <c:pt idx="4">
                  <c:v>1824.0</c:v>
                </c:pt>
                <c:pt idx="5">
                  <c:v>1824.0</c:v>
                </c:pt>
                <c:pt idx="6">
                  <c:v>1824.0</c:v>
                </c:pt>
                <c:pt idx="7">
                  <c:v>1824.0</c:v>
                </c:pt>
                <c:pt idx="8">
                  <c:v>1824.0</c:v>
                </c:pt>
                <c:pt idx="9">
                  <c:v>1824.0</c:v>
                </c:pt>
                <c:pt idx="10">
                  <c:v>1824.0</c:v>
                </c:pt>
              </c:numCache>
            </c:numRef>
          </c:val>
          <c:smooth val="0"/>
        </c:ser>
        <c:ser>
          <c:idx val="1"/>
          <c:order val="1"/>
          <c:tx>
            <c:strRef>
              <c:f>Sheet1!$C$1</c:f>
              <c:strCache>
                <c:ptCount val="1"/>
                <c:pt idx="0">
                  <c:v>Everyone follows the best action</c:v>
                </c:pt>
              </c:strCache>
            </c:strRef>
          </c:tx>
          <c:spPr>
            <a:ln w="34925">
              <a:solidFill>
                <a:srgbClr val="C0392B"/>
              </a:solidFill>
            </a:ln>
          </c:spPr>
          <c:cat>
            <c:strRef>
              <c:f>Sheet1!$A$2:$A$12</c:f>
              <c:strCache>
                <c:ptCount val="11"/>
                <c:pt idx="0">
                  <c:v>1</c:v>
                </c:pt>
                <c:pt idx="1">
                  <c:v>5</c:v>
                </c:pt>
                <c:pt idx="2">
                  <c:v>10</c:v>
                </c:pt>
                <c:pt idx="3">
                  <c:v>20</c:v>
                </c:pt>
                <c:pt idx="4">
                  <c:v>50</c:v>
                </c:pt>
                <c:pt idx="5">
                  <c:v>100</c:v>
                </c:pt>
                <c:pt idx="6">
                  <c:v>200</c:v>
                </c:pt>
                <c:pt idx="7">
                  <c:v>500</c:v>
                </c:pt>
                <c:pt idx="8">
                  <c:v>1,000</c:v>
                </c:pt>
                <c:pt idx="9">
                  <c:v>2,000</c:v>
                </c:pt>
                <c:pt idx="10">
                  <c:v>5,000</c:v>
                </c:pt>
              </c:strCache>
            </c:strRef>
          </c:cat>
          <c:val>
            <c:numRef>
              <c:f>Sheet1!$C$2:$C$12</c:f>
              <c:numCache>
                <c:formatCode>General</c:formatCode>
                <c:ptCount val="11"/>
                <c:pt idx="0">
                  <c:v>1793.0</c:v>
                </c:pt>
                <c:pt idx="1">
                  <c:v>1705.0</c:v>
                </c:pt>
                <c:pt idx="2">
                  <c:v>1632.0</c:v>
                </c:pt>
                <c:pt idx="3">
                  <c:v>1541.0</c:v>
                </c:pt>
                <c:pt idx="4">
                  <c:v>1404.0</c:v>
                </c:pt>
                <c:pt idx="5">
                  <c:v>1298.0</c:v>
                </c:pt>
                <c:pt idx="6">
                  <c:v>1194.0</c:v>
                </c:pt>
                <c:pt idx="7">
                  <c:v>1066.0</c:v>
                </c:pt>
                <c:pt idx="8">
                  <c:v>977.0</c:v>
                </c:pt>
                <c:pt idx="9">
                  <c:v>894.0</c:v>
                </c:pt>
                <c:pt idx="10">
                  <c:v>793.0</c:v>
                </c:pt>
              </c:numCache>
            </c:numRef>
          </c:val>
          <c:smooth val="0"/>
        </c:ser>
        <c:ser>
          <c:idx val="2"/>
          <c:order val="2"/>
          <c:tx>
            <c:strRef>
              <c:f>Sheet1!$D$1</c:f>
              <c:strCache>
                <c:ptCount val="1"/>
                <c:pt idx="0">
                  <c:v>Everyone goes to the nearest mandi</c:v>
                </c:pt>
              </c:strCache>
            </c:strRef>
          </c:tx>
          <c:spPr>
            <a:ln w="34925">
              <a:solidFill>
                <a:srgbClr val="D9822B"/>
              </a:solidFill>
            </a:ln>
          </c:spPr>
          <c:cat>
            <c:strRef>
              <c:f>Sheet1!$A$2:$A$12</c:f>
              <c:strCache>
                <c:ptCount val="11"/>
                <c:pt idx="0">
                  <c:v>1</c:v>
                </c:pt>
                <c:pt idx="1">
                  <c:v>5</c:v>
                </c:pt>
                <c:pt idx="2">
                  <c:v>10</c:v>
                </c:pt>
                <c:pt idx="3">
                  <c:v>20</c:v>
                </c:pt>
                <c:pt idx="4">
                  <c:v>50</c:v>
                </c:pt>
                <c:pt idx="5">
                  <c:v>100</c:v>
                </c:pt>
                <c:pt idx="6">
                  <c:v>200</c:v>
                </c:pt>
                <c:pt idx="7">
                  <c:v>500</c:v>
                </c:pt>
                <c:pt idx="8">
                  <c:v>1,000</c:v>
                </c:pt>
                <c:pt idx="9">
                  <c:v>2,000</c:v>
                </c:pt>
                <c:pt idx="10">
                  <c:v>5,000</c:v>
                </c:pt>
              </c:strCache>
            </c:strRef>
          </c:cat>
          <c:val>
            <c:numRef>
              <c:f>Sheet1!$D$2:$D$12</c:f>
              <c:numCache>
                <c:formatCode>General</c:formatCode>
                <c:ptCount val="11"/>
                <c:pt idx="0">
                  <c:v>1232.0</c:v>
                </c:pt>
                <c:pt idx="1">
                  <c:v>1232.0</c:v>
                </c:pt>
                <c:pt idx="2">
                  <c:v>1231.0</c:v>
                </c:pt>
                <c:pt idx="3">
                  <c:v>1230.0</c:v>
                </c:pt>
                <c:pt idx="4">
                  <c:v>1226.0</c:v>
                </c:pt>
                <c:pt idx="5">
                  <c:v>1219.0</c:v>
                </c:pt>
                <c:pt idx="6">
                  <c:v>1207.0</c:v>
                </c:pt>
                <c:pt idx="7">
                  <c:v>1177.0</c:v>
                </c:pt>
                <c:pt idx="8">
                  <c:v>1138.0</c:v>
                </c:pt>
                <c:pt idx="9">
                  <c:v>1086.0</c:v>
                </c:pt>
                <c:pt idx="10">
                  <c:v>1002.0</c:v>
                </c:pt>
              </c:numCache>
            </c:numRef>
          </c:val>
          <c:smooth val="0"/>
        </c:ser>
        <c:ser>
          <c:idx val="3"/>
          <c:order val="3"/>
          <c:tx>
            <c:strRef>
              <c:f>Sheet1!$E$1</c:f>
              <c:strCache>
                <c:ptCount val="1"/>
                <c:pt idx="0">
                  <c:v>Coordinated split</c:v>
                </c:pt>
              </c:strCache>
            </c:strRef>
          </c:tx>
          <c:spPr>
            <a:ln w="34925">
              <a:solidFill>
                <a:srgbClr val="2E8B57"/>
              </a:solidFill>
            </a:ln>
          </c:spPr>
          <c:cat>
            <c:strRef>
              <c:f>Sheet1!$A$2:$A$12</c:f>
              <c:strCache>
                <c:ptCount val="11"/>
                <c:pt idx="0">
                  <c:v>1</c:v>
                </c:pt>
                <c:pt idx="1">
                  <c:v>5</c:v>
                </c:pt>
                <c:pt idx="2">
                  <c:v>10</c:v>
                </c:pt>
                <c:pt idx="3">
                  <c:v>20</c:v>
                </c:pt>
                <c:pt idx="4">
                  <c:v>50</c:v>
                </c:pt>
                <c:pt idx="5">
                  <c:v>100</c:v>
                </c:pt>
                <c:pt idx="6">
                  <c:v>200</c:v>
                </c:pt>
                <c:pt idx="7">
                  <c:v>500</c:v>
                </c:pt>
                <c:pt idx="8">
                  <c:v>1,000</c:v>
                </c:pt>
                <c:pt idx="9">
                  <c:v>2,000</c:v>
                </c:pt>
                <c:pt idx="10">
                  <c:v>5,000</c:v>
                </c:pt>
              </c:strCache>
            </c:strRef>
          </c:cat>
          <c:val>
            <c:numRef>
              <c:f>Sheet1!$E$2:$E$12</c:f>
              <c:numCache>
                <c:formatCode>General</c:formatCode>
                <c:ptCount val="11"/>
                <c:pt idx="0">
                  <c:v>1796.0</c:v>
                </c:pt>
                <c:pt idx="1">
                  <c:v>1742.0</c:v>
                </c:pt>
                <c:pt idx="2">
                  <c:v>1700.0</c:v>
                </c:pt>
                <c:pt idx="3">
                  <c:v>1644.0</c:v>
                </c:pt>
                <c:pt idx="4">
                  <c:v>1563.0</c:v>
                </c:pt>
                <c:pt idx="5">
                  <c:v>1500.0</c:v>
                </c:pt>
                <c:pt idx="6">
                  <c:v>1436.0</c:v>
                </c:pt>
                <c:pt idx="7">
                  <c:v>1351.0</c:v>
                </c:pt>
                <c:pt idx="8">
                  <c:v>1294.0</c:v>
                </c:pt>
                <c:pt idx="9">
                  <c:v>1265.0</c:v>
                </c:pt>
                <c:pt idx="10">
                  <c:v>1247.0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600"/>
            </a:pPr>
          </a:p>
        </c:txPr>
        <c:crossAx val="2140495176"/>
        <c:crosses val="autoZero"/>
        <c:auto val="1"/>
        <c:lblAlgn val="ctr"/>
        <c:lblOffset val="100"/>
        <c:noMultiLvlLbl val="0"/>
      </c:catAx>
      <c:valAx>
        <c:axId val="2140495176"/>
        <c:scaling/>
        <c:delete val="0"/>
        <c:axPos val="l"/>
        <c:majorGridlines/>
        <c:majorTickMark val="out"/>
        <c:minorTickMark val="none"/>
        <c:tickLblPos val="nextTo"/>
        <c:txPr>
          <a:bodyPr/>
          <a:lstStyle/>
          <a:p>
            <a:pPr>
              <a:defRPr sz="1600"/>
            </a:pPr>
          </a:p>
        </c:txPr>
        <c:crossAx val="2118791784"/>
        <c:crosses val="autoZero"/>
      </c:valAx>
    </c:plotArea>
    <c:legend>
      <c:legendPos val="b"/>
      <c:layout/>
      <c:overlay val="0"/>
      <c:txPr>
        <a:bodyPr/>
        <a:lstStyle/>
        <a:p>
          <a:pPr>
            <a:defRPr sz="1600"/>
          </a:pPr>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6283325" y="847725"/>
            <a:ext cx="7539038" cy="42418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2010400" y="5371925"/>
            <a:ext cx="16083275" cy="50892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0.5 min]</a:t>
            </a:r>
          </a:p>
          <a:p/>
          <a:p>
            <a:r>
              <a:t>SAY (in these simple words)</a:t>
            </a:r>
          </a:p>
          <a:p>
            <a:r>
              <a:t>Good morning, respected panel. We are Srijan, Manohara and Shreejith. Our guide is Dr. Kalyan N.</a:t>
            </a:r>
          </a:p>
          <a:p>
            <a:r>
              <a:t>Our project is called MandiSense AI.</a:t>
            </a:r>
          </a:p>
          <a:p>
            <a:r>
              <a:t>It helps a farmer near Bengaluru and Kolar to decide two things: where to sell the crop, and whether to wait a day or two.</a:t>
            </a:r>
          </a:p>
          <a:p>
            <a:r>
              <a:t>It also tells the farmer a minimum amount they can count on.</a:t>
            </a:r>
          </a:p>
          <a:p>
            <a:r>
              <a:t>First we will explain the idea. Then the results, including what did not work. Then a live demo, and our plan.</a:t>
            </a:r>
          </a:p>
          <a:p/>
          <a:p>
            <a:r>
              <a:t>SHOW / CLICK</a:t>
            </a:r>
          </a:p>
          <a:p>
            <a:r>
              <a:t>Title slide. Stand still. Say the project name once.</a:t>
            </a:r>
          </a:p>
          <a:p/>
          <a:p>
            <a:r>
              <a:t>TRANSITION</a:t>
            </a:r>
          </a:p>
          <a:p>
            <a:r>
              <a:t>Go to the contents slide.</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1.5 min]</a:t>
            </a:r>
          </a:p>
          <a:p/>
          <a:p>
            <a:r>
              <a:t>SAY (in these simple words)</a:t>
            </a:r>
          </a:p>
          <a:p>
            <a:r>
              <a:t>Look at this graph. It shows the tomato price at Kolar market for five years.</a:t>
            </a:r>
          </a:p>
          <a:p>
            <a:r>
              <a:t>The price went from 100 rupees to over 9,000 rupees per quintal. That is a huge swing.</a:t>
            </a:r>
          </a:p>
          <a:p>
            <a:r>
              <a:t>The red dots show days when the market posted no price at all. That happened on 189 days out of about 2,100.</a:t>
            </a:r>
          </a:p>
          <a:p>
            <a:r>
              <a:t>Today a farmer decides using only yesterday's price. That is not enough.</a:t>
            </a:r>
          </a:p>
          <a:p>
            <a:r>
              <a:t>So our problem is simple: which market, and which day, gives the farmer the most money in hand after transport, fees and spoilage?</a:t>
            </a:r>
          </a:p>
          <a:p>
            <a:r>
              <a:t>Most earlier work only predicts prices. It does not check the real decision. It also ignores markets that post no price.</a:t>
            </a:r>
          </a:p>
          <a:p>
            <a:r>
              <a:t>We used 63,000 real records from the government price website Agmarknet, for tomato, onion, potato and ginger.</a:t>
            </a:r>
          </a:p>
          <a:p>
            <a:r>
              <a:t>We did not use garlic, because only one market has enough data, so there is no choice to make.</a:t>
            </a:r>
          </a:p>
          <a:p/>
          <a:p>
            <a:r>
              <a:t>SHOW / CLICK</a:t>
            </a:r>
          </a:p>
          <a:p>
            <a:r>
              <a:t>Point at the red dots on the graph. Then point at the three number boxes.</a:t>
            </a:r>
          </a:p>
          <a:p/>
          <a:p>
            <a:r>
              <a:t>NUMBERS TO QUOTE</a:t>
            </a:r>
          </a:p>
          <a:p>
            <a:r>
              <a:t>- 63,524 real records; 36,821 market-days</a:t>
            </a:r>
          </a:p>
          <a:p>
            <a:r>
              <a:t>- Tomato at Kolar: Rs 100 to Rs 9,330 per quintal</a:t>
            </a:r>
          </a:p>
          <a:p>
            <a:r>
              <a:t>- 189 days with no price out of 2,125</a:t>
            </a:r>
          </a:p>
          <a:p>
            <a:r>
              <a:t>- Garlic left out: only one usable market</a:t>
            </a:r>
          </a:p>
          <a:p/>
          <a:p>
            <a:r>
              <a:t>IF ASKED</a:t>
            </a:r>
          </a:p>
          <a:p>
            <a:r>
              <a:t>Q: Why not just predict the price?</a:t>
            </a:r>
          </a:p>
          <a:p>
            <a:r>
              <a:t>A: A price prediction does not tell the farmer what to do. We teach the system to aim at what the farmer really keeps, and that works better.</a:t>
            </a:r>
          </a:p>
          <a:p>
            <a:r>
              <a:t>Q: Is the data real?</a:t>
            </a:r>
          </a:p>
          <a:p>
            <a:r>
              <a:t>A: Yes. It is from Agmarknet. Two separate downloads match almost perfectly. We found and removed an early fake dataset; it is in our risk list.</a:t>
            </a:r>
          </a:p>
          <a:p/>
          <a:p>
            <a:r>
              <a:t>TRANSITION</a:t>
            </a:r>
          </a:p>
          <a:p>
            <a:r>
              <a:t>Now our objectives and how each one went.</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1.5 min]</a:t>
            </a:r>
          </a:p>
          <a:p/>
          <a:p>
            <a:r>
              <a:t>SAY (in these simple words)</a:t>
            </a:r>
          </a:p>
          <a:p>
            <a:r>
              <a:t>We set ten objectives. This table shows how each one went, including the ones that did not fully work.</a:t>
            </a:r>
          </a:p>
          <a:p>
            <a:r>
              <a:t>Seven are fully done. These are: the data, the revenue model, the tests of what helps, the app, the check of other people's methods, the AI summaries, and the five new features.</a:t>
            </a:r>
          </a:p>
          <a:p>
            <a:r>
              <a:t>One is partly done: the minimum amount we promise. For tomato and ginger it works as planned. For onion and potato it was more careful than needed.</a:t>
            </a:r>
          </a:p>
          <a:p>
            <a:r>
              <a:t>One gave no result: whether a shortage in one crop moves another crop's price. Our method found nothing strong enough, so we published nothing, and we say so.</a:t>
            </a:r>
          </a:p>
          <a:p>
            <a:r>
              <a:t>The last one is the morning message. It is built and tested. You will see it live in a few minutes.</a:t>
            </a:r>
          </a:p>
          <a:p/>
          <a:p>
            <a:r>
              <a:t>SHOW / CLICK</a:t>
            </a:r>
          </a:p>
          <a:p>
            <a:r>
              <a:t>Run your finger down the Status column: green, one orange, one red, and the last row.</a:t>
            </a:r>
          </a:p>
          <a:p/>
          <a:p>
            <a:r>
              <a:t>NUMBERS TO QUOTE</a:t>
            </a:r>
          </a:p>
          <a:p>
            <a:r>
              <a:t>- 7 done, 1 partly, 1 no result, 1 built and tested</a:t>
            </a:r>
          </a:p>
          <a:p>
            <a:r>
              <a:t>- 669 tests for the system and 11 for the app, all passing</a:t>
            </a:r>
          </a:p>
          <a:p/>
          <a:p>
            <a:r>
              <a:t>IF ASKED</a:t>
            </a:r>
          </a:p>
          <a:p>
            <a:r>
              <a:t>Q: Why report something that gave no result?</a:t>
            </a:r>
          </a:p>
          <a:p>
            <a:r>
              <a:t>A: Because a number we cannot support is worse than no number. Our rule is to publish only when there is enough evidence.</a:t>
            </a:r>
          </a:p>
          <a:p>
            <a:r>
              <a:t>Q: Is objective 4 a failure?</a:t>
            </a:r>
          </a:p>
          <a:p>
            <a:r>
              <a:t>A: Partly. The minimum amount was met for two crops. For two crops it was safer than needed, which is the safe side.</a:t>
            </a:r>
          </a:p>
          <a:p/>
          <a:p>
            <a:r>
              <a:t>TRANSITION</a:t>
            </a:r>
          </a:p>
          <a:p>
            <a:r>
              <a:t>Next, how it works, in simple words.</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2 min]</a:t>
            </a:r>
          </a:p>
          <a:p/>
          <a:p>
            <a:r>
              <a:t>SAY (in these simple words)</a:t>
            </a:r>
          </a:p>
          <a:p>
            <a:r>
              <a:t>Here is the main idea in simple words.</a:t>
            </a:r>
          </a:p>
          <a:p>
            <a:r>
              <a:t>Most systems predict the price at each market and pick the highest. But they forget that some markets post no price on some days. And they forget the cost of going there.</a:t>
            </a:r>
          </a:p>
          <a:p>
            <a:r>
              <a:t>We do it differently. We teach the system to aim at what the farmer really keeps: the price, minus the market fee, minus the loss while waiting, minus transport. If the market turns out to be silent, we count that as a loss too.</a:t>
            </a:r>
          </a:p>
          <a:p>
            <a:r>
              <a:t>The farmer's choices are: a market and a waiting time of 0 to 3 days, or sell at the farm gate.</a:t>
            </a:r>
          </a:p>
          <a:p>
            <a:r>
              <a:t>For the answer we also give a safe minimum, learned from how wrong the system was in the past.</a:t>
            </a:r>
          </a:p>
          <a:p>
            <a:r>
              <a:t>The picture shows how it is built. Government data is cleaned. Our engines work on it. One service gives the answers. The app and a Telegram bot show them to the farmer.</a:t>
            </a:r>
          </a:p>
          <a:p/>
          <a:p>
            <a:r>
              <a:t>SHOW / CLICK</a:t>
            </a:r>
          </a:p>
          <a:p>
            <a:r>
              <a:t>Move your finger left to right along the boxes. Point at the orange box and the green Telegram box.</a:t>
            </a:r>
          </a:p>
          <a:p/>
          <a:p>
            <a:r>
              <a:t>NUMBERS TO QUOTE</a:t>
            </a:r>
          </a:p>
          <a:p>
            <a:r>
              <a:t>- Five layers: data, models, service, AI summaries, app</a:t>
            </a:r>
          </a:p>
          <a:p>
            <a:r>
              <a:t>- Only real data in every result</a:t>
            </a:r>
          </a:p>
          <a:p/>
          <a:p>
            <a:r>
              <a:t>IF ASKED</a:t>
            </a:r>
          </a:p>
          <a:p>
            <a:r>
              <a:t>Q: Why not a simple average for the safe minimum?</a:t>
            </a:r>
          </a:p>
          <a:p>
            <a:r>
              <a:t>A: A simple average is often wrong. Our check showed it failed up to 35 days in 100. Ours stays close to the target.</a:t>
            </a:r>
          </a:p>
          <a:p/>
          <a:p>
            <a:r>
              <a:t>TRANSITION</a:t>
            </a:r>
          </a:p>
          <a:p>
            <a:r>
              <a:t>A little more detail on the formula.</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[SKIP IF SHORT · about 1.5 min]</a:t>
            </a:r>
          </a:p>
          <a:p/>
          <a:p>
            <a:r>
              <a:t>SAY (in these simple words)</a:t>
            </a:r>
          </a:p>
          <a:p>
            <a:r>
              <a:t>Do not read the symbols. Say it like this.</a:t>
            </a:r>
          </a:p>
          <a:p>
            <a:r>
              <a:t>The first box is how we count the money. Price, minus market fee, minus loss from waiting, minus transport, minus handling.</a:t>
            </a:r>
          </a:p>
          <a:p>
            <a:r>
              <a:t>If the market is silent, the farmer gets only part of the day's usual price.</a:t>
            </a:r>
          </a:p>
          <a:p>
            <a:r>
              <a:t>The second box is a special training method that aims at good decisions. We tested it. It did not help much.</a:t>
            </a:r>
          </a:p>
          <a:p>
            <a:r>
              <a:t>The third box is the safe minimum. It is the expected money minus a safety margin that is learned from past mistakes.</a:t>
            </a:r>
          </a:p>
          <a:p>
            <a:r>
              <a:t>The table on the right gives the cost numbers we assumed, such as 4 percent fee and 20 rupees handling.</a:t>
            </a:r>
          </a:p>
          <a:p>
            <a:r>
              <a:t>These are assumptions, so the app lets the farmer change them.</a:t>
            </a:r>
          </a:p>
          <a:p/>
          <a:p>
            <a:r>
              <a:t>SHOW / CLICK</a:t>
            </a:r>
          </a:p>
          <a:p>
            <a:r>
              <a:t>Point at the three boxes and the small table. Do not read the formulas.</a:t>
            </a:r>
          </a:p>
          <a:p/>
          <a:p>
            <a:r>
              <a:t>NUMBERS TO QUOTE</a:t>
            </a:r>
          </a:p>
          <a:p>
            <a:r>
              <a:t>- Fee 4%; handling Rs 20; transport Rs 0.35 per quintal per km; spoilage 3% a day for tomato</a:t>
            </a:r>
          </a:p>
          <a:p/>
          <a:p>
            <a:r>
              <a:t>IF ASKED</a:t>
            </a:r>
          </a:p>
          <a:p>
            <a:r>
              <a:t>Q: Where do the cost numbers come from?</a:t>
            </a:r>
          </a:p>
          <a:p>
            <a:r>
              <a:t>A: They are our assumptions. The farmer can change them in the app, and we tested many different values.</a:t>
            </a:r>
          </a:p>
          <a:p/>
          <a:p>
            <a:r>
              <a:t>TRANSITION</a:t>
            </a:r>
          </a:p>
          <a:p>
            <a:r>
              <a:t>Two more parts: the AI summaries and the crop-to-crop effect.</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[SKIP IF SHORT · about 1.5 min]</a:t>
            </a:r>
          </a:p>
          <a:p/>
          <a:p>
            <a:r>
              <a:t>SAY (in these simple words)</a:t>
            </a:r>
          </a:p>
          <a:p>
            <a:r>
              <a:t>Two smaller parts.</a:t>
            </a:r>
          </a:p>
          <a:p>
            <a:r>
              <a:t>On the left, the AI summary. A language model writes a short explanation. But a checker then compares every number in it with our data. If a number is wrong or missing, the summary is marked as not checked. We also tried deliberately wrong summaries. The checker caught all nine of them.</a:t>
            </a:r>
          </a:p>
          <a:p>
            <a:r>
              <a:t>On the right, a question: if tomato becomes scarce, does the onion price move? We tested all 40 pairs. We needed at least eight clear shortage events for each pair. We found none. So we published nothing.</a:t>
            </a:r>
          </a:p>
          <a:p>
            <a:r>
              <a:t>The same rule applies to both parts: say only what the evidence supports.</a:t>
            </a:r>
          </a:p>
          <a:p/>
          <a:p>
            <a:r>
              <a:t>SHOW / CLICK</a:t>
            </a:r>
          </a:p>
          <a:p>
            <a:r>
              <a:t>Point at the left box, then the right box.</a:t>
            </a:r>
          </a:p>
          <a:p/>
          <a:p>
            <a:r>
              <a:t>NUMBERS TO QUOTE</a:t>
            </a:r>
          </a:p>
          <a:p>
            <a:r>
              <a:t>- Wrong summaries caught: 9 of 9</a:t>
            </a:r>
          </a:p>
          <a:p>
            <a:r>
              <a:t>- Crop-to-crop effect: 40 pairs tested, 0 published</a:t>
            </a:r>
          </a:p>
          <a:p/>
          <a:p>
            <a:r>
              <a:t>IF ASKED</a:t>
            </a:r>
          </a:p>
          <a:p>
            <a:r>
              <a:t>Q: Does the AI decide the advice?</a:t>
            </a:r>
          </a:p>
          <a:p>
            <a:r>
              <a:t>A: No. Our engines decide. The AI only writes it in words, and its numbers are checked.</a:t>
            </a:r>
          </a:p>
          <a:p/>
          <a:p>
            <a:r>
              <a:t>TRANSITION</a:t>
            </a:r>
          </a:p>
          <a:p>
            <a:r>
              <a:t>Now the five features that let anyone check the advice.</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1.5 min]</a:t>
            </a:r>
          </a:p>
          <a:p/>
          <a:p>
            <a:r>
              <a:t>SAY (in these simple words)</a:t>
            </a:r>
          </a:p>
          <a:p>
            <a:r>
              <a:t>Everything is connected end to end.</a:t>
            </a:r>
          </a:p>
          <a:p>
            <a:r>
              <a:t>One command runs the whole chain, from the raw data to the final tests. Each step can also be run alone.</a:t>
            </a:r>
          </a:p>
          <a:p>
            <a:r>
              <a:t>What is still manual: we download the government data by hand, because we have no live feed. And we have not tested the online deployment.</a:t>
            </a:r>
          </a:p>
          <a:p>
            <a:r>
              <a:t>We also found and fixed some problems. A software update broke the data tools. A fresh copy of the project was missing a file. And an old server gave wrong errors during testing.</a:t>
            </a:r>
          </a:p>
          <a:p>
            <a:r>
              <a:t>The next two slides are the live demo.</a:t>
            </a:r>
          </a:p>
          <a:p/>
          <a:p>
            <a:r>
              <a:t>SHOW / CLICK</a:t>
            </a:r>
          </a:p>
          <a:p>
            <a:r>
              <a:t>Point along the boxes. The small screenshots are only a reminder.</a:t>
            </a:r>
          </a:p>
          <a:p/>
          <a:p>
            <a:r>
              <a:t>NUMBERS TO QUOTE</a:t>
            </a:r>
          </a:p>
          <a:p>
            <a:r>
              <a:t>- 13 steps in one command; 669 + 11 tests; a 60-point check of every page and service</a:t>
            </a:r>
          </a:p>
          <a:p/>
          <a:p>
            <a:r>
              <a:t>TRANSITION</a:t>
            </a:r>
          </a:p>
          <a:p>
            <a:r>
              <a:t>A quick map of the demo, then we start it.</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4 min]</a:t>
            </a:r>
          </a:p>
          <a:p/>
          <a:p>
            <a:r>
              <a:t>SAY (in these simple words)</a:t>
            </a:r>
          </a:p>
          <a:p>
            <a:r>
              <a:t>(Open the browser, farmer app. Follow the steps on the slide. The full clicks are in the demo script.)</a:t>
            </a:r>
          </a:p>
          <a:p>
            <a:r>
              <a:t>This is the farmer's screen. The farmer is in Kolar with 10 quintals of tomato.</a:t>
            </a:r>
          </a:p>
          <a:p>
            <a:r>
              <a:t>The advice is: sell at Ramanagara, tomorrow. It is about 103 kilometres away.</a:t>
            </a:r>
          </a:p>
          <a:p>
            <a:r>
              <a:t>The farmer keeps about 1,824 rupees per quintal after transport and fees. And can count on at least 1,316 rupees on 9 days out of 10.</a:t>
            </a:r>
          </a:p>
          <a:p>
            <a:r>
              <a:t>Open Why this mandi. The long green bar is what the farmer keeps. The small coloured parts are fee, loss while waiting, transport and handling. They add up exactly. The nearest market, Kolar, would give only 1,233.</a:t>
            </a:r>
          </a:p>
          <a:p>
            <a:r>
              <a:t>Open What if my costs differ. Move the transport slider to the maximum. Even then, the advice does not change. So the advice is safe against truck cost.</a:t>
            </a:r>
          </a:p>
          <a:p>
            <a:r>
              <a:t>Now move the spoilage slider up. At 5 percent a day, the advice changes to selling today. So the crop's shelf life matters.</a:t>
            </a:r>
          </a:p>
          <a:p>
            <a:r>
              <a:t>Open Has this advice worked. On past days it had not seen, it beat the nearest market 93 days out of 100. The minimum amount held on 84 days out of 100. We aim for 90. We show the real score, not a promise.</a:t>
            </a:r>
          </a:p>
          <a:p/>
          <a:p>
            <a:r>
              <a:t>SHOW / CLICK</a:t>
            </a:r>
          </a:p>
          <a:p>
            <a:r>
              <a:t>Browser: http://localhost:3000/tools, then Best Place and Day to Sell. The exact clicks and values are in the run-of-show.</a:t>
            </a:r>
          </a:p>
          <a:p/>
          <a:p>
            <a:r>
              <a:t>NUMBERS TO QUOTE</a:t>
            </a:r>
          </a:p>
          <a:p>
            <a:r>
              <a:t>- Ramanagara, tomorrow, 103 km</a:t>
            </a:r>
          </a:p>
          <a:p>
            <a:r>
              <a:t>- Keeps Rs 1,824; at least Rs 1,316; for 10 quintals Rs 18,238 and Rs 13,165</a:t>
            </a:r>
          </a:p>
          <a:p>
            <a:r>
              <a:t>- Nearest market Kolar: Rs 1,233; advice earns Rs 592 more per quintal</a:t>
            </a:r>
          </a:p>
          <a:p>
            <a:r>
              <a:t>- Transport at Rs 3.00: same advice, keeps Rs 1,515</a:t>
            </a:r>
          </a:p>
          <a:p>
            <a:r>
              <a:t>- Spoilage 5% a day: sell at Ramanagara today, Rs 1,789</a:t>
            </a:r>
          </a:p>
          <a:p>
            <a:r>
              <a:t>- Beat the nearest market 93%; minimum held 84%</a:t>
            </a:r>
          </a:p>
          <a:p/>
          <a:p>
            <a:r>
              <a:t>IF ASKED</a:t>
            </a:r>
          </a:p>
          <a:p>
            <a:r>
              <a:t>Q: Why not the nearest market?</a:t>
            </a:r>
          </a:p>
          <a:p>
            <a:r>
              <a:t>A: Because the price at Ramanagara is about 776 rupees higher. That is more than the extra transport of 94 and the extra loss of 60. The breakdown shows it.</a:t>
            </a:r>
          </a:p>
          <a:p/>
          <a:p>
            <a:r>
              <a:t>TRANSITION</a:t>
            </a:r>
          </a:p>
          <a:p>
            <a:r>
              <a:t>Demo part two: the trader screens and the phone.</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[SKIP IF SHORT · about 1 min]</a:t>
            </a:r>
          </a:p>
          <a:p/>
          <a:p>
            <a:r>
              <a:t>SAY (in these simple words)</a:t>
            </a:r>
          </a:p>
          <a:p>
            <a:r>
              <a:t>These are the tools we used, and why.</a:t>
            </a:r>
          </a:p>
          <a:p>
            <a:r>
              <a:t>Python for the data and models. Standard tools like LightGBM that work well on tables of numbers. FastAPI and Next.js to build the service and the app. Pinned versions, so anyone can repeat our work.</a:t>
            </a:r>
          </a:p>
          <a:p>
            <a:r>
              <a:t>Our checks: 669 tests for the system, 11 for the app, and a 60-point check that opens every page and service. All pass.</a:t>
            </a:r>
          </a:p>
          <a:p>
            <a:r>
              <a:t>The project is easy to repeat. One command rebuilds everything. Our report tables are produced by code, not typed by hand.</a:t>
            </a:r>
          </a:p>
          <a:p/>
          <a:p>
            <a:r>
              <a:t>SHOW / CLICK</a:t>
            </a:r>
          </a:p>
          <a:p>
            <a:r>
              <a:t>Table of tools. Point at the Tested line.</a:t>
            </a:r>
          </a:p>
          <a:p/>
          <a:p>
            <a:r>
              <a:t>NUMBERS TO QUOTE</a:t>
            </a:r>
          </a:p>
          <a:p>
            <a:r>
              <a:t>- 669 system tests + 11 app tests pass</a:t>
            </a:r>
          </a:p>
          <a:p>
            <a:r>
              <a:t>- 60-point check of every page and service passed</a:t>
            </a:r>
          </a:p>
          <a:p/>
          <a:p>
            <a:r>
              <a:t>IF ASKED</a:t>
            </a:r>
          </a:p>
          <a:p>
            <a:r>
              <a:t>Q: Who wrote the code?</a:t>
            </a:r>
          </a:p>
          <a:p>
            <a:r>
              <a:t>A: The project history is in our report, with the split of work. We show it openly.</a:t>
            </a:r>
          </a:p>
          <a:p/>
          <a:p>
            <a:r>
              <a:t>TRANSITION</a:t>
            </a:r>
          </a:p>
          <a:p>
            <a:r>
              <a:t>How we tested it.</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1.2 min]</a:t>
            </a:r>
          </a:p>
          <a:p/>
          <a:p>
            <a:r>
              <a:t>SAY (in these simple words)</a:t>
            </a:r>
          </a:p>
          <a:p>
            <a:r>
              <a:t>How we tested it, in simple words.</a:t>
            </a:r>
          </a:p>
          <a:p>
            <a:r>
              <a:t>We trained the system only on older data, and tested it only on later days. That is how it works in real life. We did this five times, for different time periods, from 2024 to October 2026.</a:t>
            </a:r>
          </a:p>
          <a:p>
            <a:r>
              <a:t>We tested on about 500 to 960 days per crop.</a:t>
            </a:r>
          </a:p>
          <a:p>
            <a:r>
              <a:t>Every method got the same tuning effort. We compared against what farmers really do: the nearest market, and yesterday's highest price. We also compared with standard prediction models.</a:t>
            </a:r>
          </a:p>
          <a:p>
            <a:r>
              <a:t>We measured: money actually kept, money lost compared with the best choice in hindsight, and how often the minimum amount held.</a:t>
            </a:r>
          </a:p>
          <a:p>
            <a:r>
              <a:t>We fixed what to compare before looking at the results, so we could not pick favourites.</a:t>
            </a:r>
          </a:p>
          <a:p/>
          <a:p>
            <a:r>
              <a:t>SHOW / CLICK</a:t>
            </a:r>
          </a:p>
          <a:p>
            <a:r>
              <a:t>Dataset table on the left; the bullet points on top.</a:t>
            </a:r>
          </a:p>
          <a:p/>
          <a:p>
            <a:r>
              <a:t>NUMBERS TO QUOTE</a:t>
            </a:r>
          </a:p>
          <a:p>
            <a:r>
              <a:t>- Test days: tomato 963, onion 511, potato 569, ginger 776</a:t>
            </a:r>
          </a:p>
          <a:p>
            <a:r>
              <a:t>- 5 tests over time, from 2024 to October 2026</a:t>
            </a:r>
          </a:p>
          <a:p/>
          <a:p>
            <a:r>
              <a:t>TRANSITION</a:t>
            </a:r>
          </a:p>
          <a:p>
            <a:r>
              <a:t>The results.</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1.2 min]</a:t>
            </a:r>
          </a:p>
          <a:p/>
          <a:p>
            <a:r>
              <a:t>SAY (in these simple words)</a:t>
            </a:r>
          </a:p>
          <a:p>
            <a:r>
              <a:t>Here are the results. Each group of bars is one crop. The bars show the average money the farmer keeps per quintal.</a:t>
            </a:r>
          </a:p>
          <a:p>
            <a:r>
              <a:t>The two blue bars are our method. They are the highest in every crop. The last grey bar is the best choice in hindsight, the ceiling.</a:t>
            </a:r>
          </a:p>
          <a:p>
            <a:r>
              <a:t>For tomato: our method gives 2,156 rupees. Yesterday's highest price gives 2,021. The nearest market gives only 1,600.</a:t>
            </a:r>
          </a:p>
          <a:p>
            <a:r>
              <a:t>Why does ours do better? Older methods sent 12 to 43 trips out of 100 to a market that posted no price that day. Ours cuts that to 5 to 21.</a:t>
            </a:r>
          </a:p>
          <a:p/>
          <a:p>
            <a:r>
              <a:t>SHOW / CLICK</a:t>
            </a:r>
          </a:p>
          <a:p>
            <a:r>
              <a:t>Point at the blue bars, then at the three boxes on the right.</a:t>
            </a:r>
          </a:p>
          <a:p/>
          <a:p>
            <a:r>
              <a:t>NUMBERS TO QUOTE</a:t>
            </a:r>
          </a:p>
          <a:p>
            <a:r>
              <a:t>- Tomato: Rs 2,156 vs Rs 2,021 vs Rs 1,600; best in hindsight Rs 2,570</a:t>
            </a:r>
          </a:p>
          <a:p>
            <a:r>
              <a:t>- Trips to a silent market: from 12-43 in 100 down to 5-21</a:t>
            </a:r>
          </a:p>
          <a:p/>
          <a:p>
            <a:r>
              <a:t>TRANSITION</a:t>
            </a:r>
          </a:p>
          <a:p>
            <a:r>
              <a:t>Is the improvement real?</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 min]</a:t>
            </a:r>
          </a:p>
          <a:p/>
          <a:p>
            <a:r>
              <a:t>SAY (in these simple words)</a:t>
            </a:r>
          </a:p>
          <a:p>
            <a:r>
              <a:t>Is the improvement real, or just luck? We checked.</a:t>
            </a:r>
          </a:p>
          <a:p>
            <a:r>
              <a:t>On the left: changing what we teach the system to aim at, from the posted price to what the farmer really keeps. That saved 87 to 157 rupees per quintal in all four crops. The difference is real, not luck.</a:t>
            </a:r>
          </a:p>
          <a:p>
            <a:r>
              <a:t>On the right: a special training method that many research papers like. On our data it made no real difference.</a:t>
            </a:r>
          </a:p>
          <a:p>
            <a:r>
              <a:t>So the gain comes from aiming at the right thing, not from a fancier method.</a:t>
            </a:r>
          </a:p>
          <a:p/>
          <a:p>
            <a:r>
              <a:t>SHOW / CLICK</a:t>
            </a:r>
          </a:p>
          <a:p>
            <a:r>
              <a:t>Point at the left block, then the right block, then the three cards.</a:t>
            </a:r>
          </a:p>
          <a:p/>
          <a:p>
            <a:r>
              <a:t>NUMBERS TO QUOTE</a:t>
            </a:r>
          </a:p>
          <a:p>
            <a:r>
              <a:t>- Gain from the right target: Rs 140, 157, 87, 149 per quintal</a:t>
            </a:r>
          </a:p>
          <a:p>
            <a:r>
              <a:t>- Special training method: no reliable gain</a:t>
            </a:r>
          </a:p>
          <a:p/>
          <a:p>
            <a:r>
              <a:t>IF ASKED</a:t>
            </a:r>
          </a:p>
          <a:p>
            <a:r>
              <a:t>Q: So the special method failed?</a:t>
            </a:r>
          </a:p>
          <a:p>
            <a:r>
              <a:t>A: On our problem it added nothing once the target was right. We planned this comparison in advance and report it as it is.</a:t>
            </a:r>
          </a:p>
          <a:p/>
          <a:p>
            <a:r>
              <a:t>TRANSITION</a:t>
            </a:r>
          </a:p>
          <a:p>
            <a:r>
              <a:t>The minimum amount, and the back-test of the served system.</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1.2 min]</a:t>
            </a:r>
          </a:p>
          <a:p/>
          <a:p>
            <a:r>
              <a:t>SAY (in these simple words)</a:t>
            </a:r>
          </a:p>
          <a:p>
            <a:r>
              <a:t>Now the safe minimum. We aim for it to fail on about 10 days in 100.</a:t>
            </a:r>
          </a:p>
          <a:p>
            <a:r>
              <a:t>In our test it fails about 6 to 10 days in 100. A simpler method fails on up to 35 days in 100. So our safety margin really works.</a:t>
            </a:r>
          </a:p>
          <a:p>
            <a:r>
              <a:t>On the right, the system as served, tested on the last 330 days, using only what was known each day.</a:t>
            </a:r>
          </a:p>
          <a:p>
            <a:r>
              <a:t>It beats the highest-price-yesterday habit by 170 rupees for tomato, 60 for onion, and 202 for ginger. These gains are real.</a:t>
            </a:r>
          </a:p>
          <a:p>
            <a:r>
              <a:t>For potato, the gain is only 15 rupees and could be luck. So the app does not give selling advice for potato. It shows prices only.</a:t>
            </a:r>
          </a:p>
          <a:p/>
          <a:p>
            <a:r>
              <a:t>SHOW / CLICK</a:t>
            </a:r>
          </a:p>
          <a:p>
            <a:r>
              <a:t>Left table, then the bar chart on the right.</a:t>
            </a:r>
          </a:p>
          <a:p/>
          <a:p>
            <a:r>
              <a:t>NUMBERS TO QUOTE</a:t>
            </a:r>
          </a:p>
          <a:p>
            <a:r>
              <a:t>- Minimum fails on 9.0, 6.3, 6.9, 10.5 days in 100 (target 10)</a:t>
            </a:r>
          </a:p>
          <a:p>
            <a:r>
              <a:t>- Simple method fails on up to 34.5 days in 100</a:t>
            </a:r>
          </a:p>
          <a:p>
            <a:r>
              <a:t>- Gain over yesterday's best market: Rs 170, 60, 202; potato 15 (not reliable)</a:t>
            </a:r>
          </a:p>
          <a:p/>
          <a:p>
            <a:r>
              <a:t>TRANSITION</a:t>
            </a:r>
          </a:p>
          <a:p>
            <a:r>
              <a:t>Now the new features, starting with why this market.</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1.2 min]</a:t>
            </a:r>
          </a:p>
          <a:p/>
          <a:p>
            <a:r>
              <a:t>SAY (in these simple words)</a:t>
            </a:r>
          </a:p>
          <a:p>
            <a:r>
              <a:t>Many papers say they predict prices very accurately by splitting the price into parts first. They report gains of 27 to 62 percent.</a:t>
            </a:r>
          </a:p>
          <a:p>
            <a:r>
              <a:t>We tested this. We found that their way of splitting secretly uses future prices. It is like the model peeking at tomorrow.</a:t>
            </a:r>
          </a:p>
          <a:p>
            <a:r>
              <a:t>When we split the series using only the past, as in real life, the gains vanish. The result is minus 15 to minus 1 percent. The red bars are the claimed gain. The blue bars are the honest result.</a:t>
            </a:r>
          </a:p>
          <a:p>
            <a:r>
              <a:t>A modern ready-made forecasting model also did not beat a simple rule on this daily tomato series.</a:t>
            </a:r>
          </a:p>
          <a:p>
            <a:r>
              <a:t>We checked the method that these papers describe, not each specific paper.</a:t>
            </a:r>
          </a:p>
          <a:p/>
          <a:p>
            <a:r>
              <a:t>SHOW / CLICK</a:t>
            </a:r>
          </a:p>
          <a:p>
            <a:r>
              <a:t>Bar chart: red is the claimed gain, blue is the honest result.</a:t>
            </a:r>
          </a:p>
          <a:p/>
          <a:p>
            <a:r>
              <a:t>NUMBERS TO QUOTE</a:t>
            </a:r>
          </a:p>
          <a:p>
            <a:r>
              <a:t>- Claimed gain +27 to +62%; honest result -15 to -1%</a:t>
            </a:r>
          </a:p>
          <a:p/>
          <a:p>
            <a:r>
              <a:t>TRANSITION</a:t>
            </a:r>
          </a:p>
          <a:p>
            <a:r>
              <a:t>Things that did not make the cut.</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[SKIP IF SHORT · about 1.2 min]</a:t>
            </a:r>
          </a:p>
          <a:p/>
          <a:p>
            <a:r>
              <a:t>SAY (in these simple words)</a:t>
            </a:r>
          </a:p>
          <a:p>
            <a:r>
              <a:t>We also tried other ideas. They did not work, and we say so.</a:t>
            </a:r>
          </a:p>
          <a:p>
            <a:r>
              <a:t>A team of four small forecasting models did not beat one model. So we do not use it.</a:t>
            </a:r>
          </a:p>
          <a:p>
            <a:r>
              <a:t>A study of supply shocks found no strong effects out of 30 tests, and only five weak hints.</a:t>
            </a:r>
          </a:p>
          <a:p>
            <a:r>
              <a:t>The crop-to-crop effect: none published.</a:t>
            </a:r>
          </a:p>
          <a:p>
            <a:r>
              <a:t>Forecasts for 3, 5 and 7 days do beat the simple rule, so we serve them, with honest ranges. One-day forecasts do not, so we do not serve them.</a:t>
            </a:r>
          </a:p>
          <a:p>
            <a:r>
              <a:t>The AI summaries keep most sentences; fewer in Kannada and Hindi, so those need a native speaker to check.</a:t>
            </a:r>
          </a:p>
          <a:p>
            <a:r>
              <a:t>Zero crop-to-crop events also tells us something about our own method: it needs labels that our data does not yet have.</a:t>
            </a:r>
          </a:p>
          <a:p/>
          <a:p>
            <a:r>
              <a:t>SHOW / CLICK</a:t>
            </a:r>
          </a:p>
          <a:p>
            <a:r>
              <a:t>Table. Read down the Verdict column.</a:t>
            </a:r>
          </a:p>
          <a:p/>
          <a:p>
            <a:r>
              <a:t>NUMBERS TO QUOTE</a:t>
            </a:r>
          </a:p>
          <a:p>
            <a:r>
              <a:t>- Team of models: no better than one</a:t>
            </a:r>
          </a:p>
          <a:p>
            <a:r>
              <a:t>- Shocks: 0 strong, 5 weak hints out of 30</a:t>
            </a:r>
          </a:p>
          <a:p>
            <a:r>
              <a:t>- Crop-to-crop: 0 of 40 pairs published</a:t>
            </a:r>
          </a:p>
          <a:p/>
          <a:p>
            <a:r>
              <a:t>IF ASKED</a:t>
            </a:r>
          </a:p>
          <a:p>
            <a:r>
              <a:t>Q: What would you do next about crop-to-crop effects?</a:t>
            </a:r>
          </a:p>
          <a:p>
            <a:r>
              <a:t>A: Define the shortage events directly from market arrivals, then test all 40 pairs again.</a:t>
            </a:r>
          </a:p>
          <a:p/>
          <a:p>
            <a:r>
              <a:t>TRANSITION</a:t>
            </a:r>
          </a:p>
          <a:p>
            <a:r>
              <a:t>Comparison with other methods.</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[SKIP IF SHORT · about 0.8 min]</a:t>
            </a:r>
          </a:p>
          <a:p/>
          <a:p>
            <a:r>
              <a:t>SAY (in these simple words)</a:t>
            </a:r>
          </a:p>
          <a:p>
            <a:r>
              <a:t>This compares everything on the same days and the same measure.</a:t>
            </a:r>
          </a:p>
          <a:p>
            <a:r>
              <a:t>No other published study judges market choice this way, so we compare with what farmers really do, and with standard prediction methods.</a:t>
            </a:r>
          </a:p>
          <a:p>
            <a:r>
              <a:t>We win in all four crops against every habit and every standard method.</a:t>
            </a:r>
          </a:p>
          <a:p>
            <a:r>
              <a:t>Where we do not clearly win: for potato, the gain is not reliable. And the special training method did not beat the ordinary one.</a:t>
            </a:r>
          </a:p>
          <a:p/>
          <a:p>
            <a:r>
              <a:t>SHOW / CLICK</a:t>
            </a:r>
          </a:p>
          <a:p>
            <a:r>
              <a:t>Table. The two blue rows are ours.</a:t>
            </a:r>
          </a:p>
          <a:p/>
          <a:p>
            <a:r>
              <a:t>NUMBERS TO QUOTE</a:t>
            </a:r>
          </a:p>
          <a:p>
            <a:r>
              <a:t>- Share of the possible gain captured: tomato 0.57, onion 0.48, potato 0.31, ginger 0.76</a:t>
            </a:r>
          </a:p>
          <a:p/>
          <a:p>
            <a:r>
              <a:t>TRANSITION</a:t>
            </a:r>
          </a:p>
          <a:p>
            <a:r>
              <a:t>What is new in our work.</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[SKIP IF SHORT · about 1 min]</a:t>
            </a:r>
          </a:p>
          <a:p/>
          <a:p>
            <a:r>
              <a:t>SAY (in these simple words)</a:t>
            </a:r>
          </a:p>
          <a:p>
            <a:r>
              <a:t>What is new here, in one sentence? We teach the system to aim at what the farmer really keeps, even when markets are silent. We give a tested minimum. And we showed that a popular price-prediction trick secretly uses the future.</a:t>
            </a:r>
          </a:p>
          <a:p>
            <a:r>
              <a:t>What already existed: price forecasting, the special training method, and the safety-margin idea.</a:t>
            </a:r>
          </a:p>
          <a:p>
            <a:r>
              <a:t>What is new: we use the money the farmer really keeps, on real market data. Our minimum is learned from past mistakes. We measured the false gain in other methods. And we added checks that let anyone inspect the advice.</a:t>
            </a:r>
          </a:p>
          <a:p>
            <a:r>
              <a:t>Some parts are ours, some are adapted from earlier work. The right-hand card lists which.</a:t>
            </a:r>
          </a:p>
          <a:p/>
          <a:p>
            <a:r>
              <a:t>SHOW / CLICK</a:t>
            </a:r>
          </a:p>
          <a:p>
            <a:r>
              <a:t>Three cards, left to right.</a:t>
            </a:r>
          </a:p>
          <a:p/>
          <a:p>
            <a:r>
              <a:t>IF ASKED</a:t>
            </a:r>
          </a:p>
          <a:p>
            <a:r>
              <a:t>Q: What exactly is new?</a:t>
            </a:r>
          </a:p>
          <a:p>
            <a:r>
              <a:t>A: The combination, and the check of other methods. The training idea and the safety-margin idea are adapted from earlier work. We did not find earlier work on the crowd effect for market choice.</a:t>
            </a:r>
          </a:p>
          <a:p/>
          <a:p>
            <a:r>
              <a:t>TRANSITION</a:t>
            </a:r>
          </a:p>
          <a:p>
            <a:r>
              <a:t>What we tried to improve.</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[SKIP IF SHORT · about 1 min]</a:t>
            </a:r>
          </a:p>
          <a:p/>
          <a:p>
            <a:r>
              <a:t>SAY (in these simple words)</a:t>
            </a:r>
          </a:p>
          <a:p>
            <a:r>
              <a:t>Each row changes one thing and checks whether it helps.</a:t>
            </a:r>
          </a:p>
          <a:p>
            <a:r>
              <a:t>The special training method: no real difference.</a:t>
            </a:r>
          </a:p>
          <a:p>
            <a:r>
              <a:t>Adding a part that guesses whether a market will post a price: it made things worse.</a:t>
            </a:r>
          </a:p>
          <a:p>
            <a:r>
              <a:t>Adding signals from neighbouring markets: no real difference.</a:t>
            </a:r>
          </a:p>
          <a:p>
            <a:r>
              <a:t>Tuning for forecast accuracy instead of decisions: no change.</a:t>
            </a:r>
          </a:p>
          <a:p>
            <a:r>
              <a:t>We chose the lighter model for serving, because it gives the same decisions, and is cheaper to run and easier to explain.</a:t>
            </a:r>
          </a:p>
          <a:p>
            <a:r>
              <a:t>We keep the failures in the report. They are part of the result.</a:t>
            </a:r>
          </a:p>
          <a:p/>
          <a:p>
            <a:r>
              <a:t>SHOW / CLICK</a:t>
            </a:r>
          </a:p>
          <a:p>
            <a:r>
              <a:t>Table, then the note below it.</a:t>
            </a:r>
          </a:p>
          <a:p/>
          <a:p>
            <a:r>
              <a:t>NUMBERS TO QUOTE</a:t>
            </a:r>
          </a:p>
          <a:p>
            <a:r>
              <a:t>- Reporting part: 23 rupees worse, a real difference</a:t>
            </a:r>
          </a:p>
          <a:p/>
          <a:p>
            <a:r>
              <a:t>TRANSITION</a:t>
            </a:r>
          </a:p>
          <a:p>
            <a:r>
              <a:t>Planning.</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1.5 min]</a:t>
            </a:r>
          </a:p>
          <a:p/>
          <a:p>
            <a:r>
              <a:t>SAY (in these simple words)</a:t>
            </a:r>
          </a:p>
          <a:p>
            <a:r>
              <a:t>Our plan. The work is in five packages, about 970 hours in total: management and documents, data, models and research, the application, and testing.</a:t>
            </a:r>
          </a:p>
          <a:p>
            <a:r>
              <a:t>Every task has one owner. Manohara has data and research. Srijan has the application. Shreejith has the report and test plan. The hours are our estimates, not a timesheet.</a:t>
            </a:r>
          </a:p>
          <a:p>
            <a:r>
              <a:t>The picture shows the tasks in order. The red path is the one that sets the total time: 24 weeks. A delay on the red path delays the whole project.</a:t>
            </a:r>
          </a:p>
          <a:p>
            <a:r>
              <a:t>The blue tasks have spare time. For example, the web app has 5 weeks of spare time, the AI summaries have 7.</a:t>
            </a:r>
          </a:p>
          <a:p>
            <a:r>
              <a:t>Worked example for the web app: it must finish by week 16, it takes 5 weeks, so it must start by week 11. It can start at week 6. The difference is 5 weeks of spare time.</a:t>
            </a:r>
          </a:p>
          <a:p/>
          <a:p>
            <a:r>
              <a:t>SHOW / CLICK</a:t>
            </a:r>
          </a:p>
          <a:p>
            <a:r>
              <a:t>Table on the left, picture on the right. Point at the red path, then the blue boxes, then the worked example.</a:t>
            </a:r>
          </a:p>
          <a:p/>
          <a:p>
            <a:r>
              <a:t>NUMBERS TO QUOTE</a:t>
            </a:r>
          </a:p>
          <a:p>
            <a:r>
              <a:t>- About 970 hours; Manohara 430, Srijan 360, Shreejith 180</a:t>
            </a:r>
          </a:p>
          <a:p>
            <a:r>
              <a:t>- Red path 24 weeks; spare time: web app 5, AI summaries 7, backend 5</a:t>
            </a:r>
          </a:p>
          <a:p/>
          <a:p>
            <a:r>
              <a:t>IF ASKED</a:t>
            </a:r>
          </a:p>
          <a:p>
            <a:r>
              <a:t>Q: The code history shows mostly one author.</a:t>
            </a:r>
          </a:p>
          <a:p>
            <a:r>
              <a:t>A: Yes, and our report says so plainly. The history does not show work done on other computers. The split of work is our agreement. We do not hide it.</a:t>
            </a:r>
          </a:p>
          <a:p/>
          <a:p>
            <a:r>
              <a:t>TRANSITION</a:t>
            </a:r>
          </a:p>
          <a:p>
            <a:r>
              <a:t>How the schedule went, and risks.</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1.5 min]</a:t>
            </a:r>
          </a:p>
          <a:p/>
          <a:p>
            <a:r>
              <a:t>SAY (in these simple words)</a:t>
            </a:r>
          </a:p>
          <a:p>
            <a:r>
              <a:t>Planned against actual. We planned 24 weeks and took about 27. That is a delay of about three weeks, or 14 percent.</a:t>
            </a:r>
          </a:p>
          <a:p>
            <a:r>
              <a:t>The main cause was the data. Our first dataset turned out to be fake. We replaced it with the real government data and ran every experiment again. That delayed the tasks on the red path.</a:t>
            </a:r>
          </a:p>
          <a:p>
            <a:r>
              <a:t>The orange bars are the actual time. The blue bars are the plan. The plan was rebuilt from our earlier roadmap, and the actual dates come from our work history.</a:t>
            </a:r>
          </a:p>
          <a:p>
            <a:r>
              <a:t>The risk table shows what could go wrong. Six risks really happened, including the fake data, a hidden problem where the model peeked at the future, and a software update that broke the tools. We caught and fixed each.</a:t>
            </a:r>
          </a:p>
          <a:p>
            <a:r>
              <a:t>Three are still open: team workload balance, testing the online version, and no trial with farmers.</a:t>
            </a:r>
          </a:p>
          <a:p/>
          <a:p>
            <a:r>
              <a:t>SHOW / CLICK</a:t>
            </a:r>
          </a:p>
          <a:p>
            <a:r>
              <a:t>Chart on the left, risk table on the right. Point at the orange bars.</a:t>
            </a:r>
          </a:p>
          <a:p/>
          <a:p>
            <a:r>
              <a:t>NUMBERS TO QUOTE</a:t>
            </a:r>
          </a:p>
          <a:p>
            <a:r>
              <a:t>- Planned 24 weeks; actual about 27 (+3.3 weeks, 14%)</a:t>
            </a:r>
          </a:p>
          <a:p/>
          <a:p>
            <a:r>
              <a:t>TRANSITION</a:t>
            </a:r>
          </a:p>
          <a:p>
            <a:r>
              <a:t>The report.</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0.8 min]</a:t>
            </a:r>
          </a:p>
          <a:p/>
          <a:p>
            <a:r>
              <a:t>SAY (in these simple words)</a:t>
            </a:r>
          </a:p>
          <a:p>
            <a:r>
              <a:t>Our report follows the college template. It has seven chapters, six appendices, and the references.</a:t>
            </a:r>
          </a:p>
          <a:p>
            <a:r>
              <a:t>Every table is produced by code from our results, so nothing is typed by hand.</a:t>
            </a:r>
          </a:p>
          <a:p>
            <a:r>
              <a:t>It now includes the new features and the morning message.</a:t>
            </a:r>
          </a:p>
          <a:p>
            <a:r>
              <a:t>Still to do: the official plagiarism report. We have not run it yet, so we quote no percentage. Also the table of course outcomes from the course file, and our guide's corrections.</a:t>
            </a:r>
          </a:p>
          <a:p/>
          <a:p>
            <a:r>
              <a:t>SHOW / CLICK</a:t>
            </a:r>
          </a:p>
          <a:p>
            <a:r>
              <a:t>The status table, and the box on plagiarism.</a:t>
            </a:r>
          </a:p>
          <a:p/>
          <a:p>
            <a:r>
              <a:t>IF ASKED</a:t>
            </a:r>
          </a:p>
          <a:p>
            <a:r>
              <a:t>Q: What is the similarity score?</a:t>
            </a:r>
          </a:p>
          <a:p>
            <a:r>
              <a:t>A: We have not run the official check yet. We will add it to Appendix F. We will not quote a number we have not measured.</a:t>
            </a:r>
          </a:p>
          <a:p/>
          <a:p>
            <a:r>
              <a:t>TRANSITION</a:t>
            </a:r>
          </a:p>
          <a:p>
            <a:r>
              <a:t>The goals for society.</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 min]</a:t>
            </a:r>
          </a:p>
          <a:p/>
          <a:p>
            <a:r>
              <a:t>SAY (in these simple words)</a:t>
            </a:r>
          </a:p>
          <a:p>
            <a:r>
              <a:t>These are the United Nations goals our work touches, with the exact target numbers.</a:t>
            </a:r>
          </a:p>
          <a:p>
            <a:r>
              <a:t>Target 2.3, helping small farmers earn more through better market information. In our test the advice earned 60 to 202 rupees per quintal more than the best simple habit in three crops. That is a test result, not real income yet.</a:t>
            </a:r>
          </a:p>
          <a:p>
            <a:r>
              <a:t>Target 1.4, access to services: a free tool in three languages. Not measured.</a:t>
            </a:r>
          </a:p>
          <a:p>
            <a:r>
              <a:t>Target 12.3, less food loss: we count spoilage in the advice. We did not measure kilograms saved.</a:t>
            </a:r>
          </a:p>
          <a:p>
            <a:r>
              <a:t>Target 9.c, access to technology: our open code, built on public data.</a:t>
            </a:r>
          </a:p>
          <a:p>
            <a:r>
              <a:t>The morning message puts this on a free channel. Whether farmers use it, we do not know yet.</a:t>
            </a:r>
          </a:p>
          <a:p/>
          <a:p>
            <a:r>
              <a:t>SHOW / CLICK</a:t>
            </a:r>
          </a:p>
          <a:p>
            <a:r>
              <a:t>Table. Point at the Status column.</a:t>
            </a:r>
          </a:p>
          <a:p/>
          <a:p>
            <a:r>
              <a:t>TRANSITION</a:t>
            </a:r>
          </a:p>
          <a:p>
            <a:r>
              <a:t>Our research papers.</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[SKIP IF SHORT · about 0.8 min]</a:t>
            </a:r>
          </a:p>
          <a:p/>
          <a:p>
            <a:r>
              <a:t>SAY (in these simple words)</a:t>
            </a:r>
          </a:p>
          <a:p>
            <a:r>
              <a:t>We have two papers written. The main one is for the journal IEEE Access. It has 14 pages. It covers training for what the farmer keeps, the safe minimum, and the check of other methods.</a:t>
            </a:r>
          </a:p>
          <a:p>
            <a:r>
              <a:t>The second is for a conference, 12 pages.</a:t>
            </a:r>
          </a:p>
          <a:p>
            <a:r>
              <a:t>Neither has been submitted yet, so we have no acknowledgement to show. We say that plainly. Our next step is to submit the journal paper.</a:t>
            </a:r>
          </a:p>
          <a:p/>
          <a:p>
            <a:r>
              <a:t>SHOW / CLICK</a:t>
            </a:r>
          </a:p>
          <a:p>
            <a:r>
              <a:t>Table of papers and status.</a:t>
            </a:r>
          </a:p>
          <a:p/>
          <a:p>
            <a:r>
              <a:t>TRANSITION</a:t>
            </a:r>
          </a:p>
          <a:p>
            <a:r>
              <a:t>Conclusion.</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1.2 min]</a:t>
            </a:r>
          </a:p>
          <a:p/>
          <a:p>
            <a:r>
              <a:t>SAY (in these simple words)</a:t>
            </a:r>
          </a:p>
          <a:p>
            <a:r>
              <a:t>To conclude. The system tells a farmer where and when to sell, and a minimum they can count on. In our tests it earns 170 rupees per quintal more than the best simple habit for tomato, and 202 more for ginger.</a:t>
            </a:r>
          </a:p>
          <a:p>
            <a:r>
              <a:t>Now the advice can also be inspected. Why it is what it is. What happens if costs change. How it did on days it had not seen.</a:t>
            </a:r>
          </a:p>
          <a:p>
            <a:r>
              <a:t>Of our ten objectives, seven are fully met, one is partly met, one gave no result, and one is built and tested.</a:t>
            </a:r>
          </a:p>
          <a:p>
            <a:r>
              <a:t>Our limits: one region, one data source, and no trial with real farmers. The crowd test is a scenario. The minimum held on 84 to 92 days out of 100.</a:t>
            </a:r>
          </a:p>
          <a:p>
            <a:r>
              <a:t>Our next steps follow from those limits: a trial with farmers through the bot, a better way to find shortage events, and testing the online version.</a:t>
            </a:r>
          </a:p>
          <a:p/>
          <a:p>
            <a:r>
              <a:t>SHOW / CLICK</a:t>
            </a:r>
          </a:p>
          <a:p>
            <a:r>
              <a:t>Left card, then right card.</a:t>
            </a:r>
          </a:p>
          <a:p/>
          <a:p>
            <a:r>
              <a:t>NUMBERS TO QUOTE</a:t>
            </a:r>
          </a:p>
          <a:p>
            <a:r>
              <a:t>- Rs 170 more for tomato; Rs 202 more for ginger</a:t>
            </a:r>
          </a:p>
          <a:p>
            <a:r>
              <a:t>- 7 done, 1 partly, 1 no result, 1 built and tested</a:t>
            </a:r>
          </a:p>
          <a:p/>
          <a:p>
            <a:r>
              <a:t>TRANSITION</a:t>
            </a:r>
          </a:p>
          <a:p>
            <a:r>
              <a:t>References, then thank you.</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[SKIP IF SHORT · about 0.2 min]</a:t>
            </a:r>
          </a:p>
          <a:p/>
          <a:p>
            <a:r>
              <a:t>SAY (in these simple words)</a:t>
            </a:r>
          </a:p>
          <a:p>
            <a:r>
              <a:t>The references are in the standard format, in the order we cite them. The full list of 40 is in the report.</a:t>
            </a:r>
          </a:p>
          <a:p/>
          <a:p>
            <a:r>
              <a:t>SHOW / CLICK</a:t>
            </a:r>
          </a:p>
          <a:p>
            <a:r>
              <a:t>Do not read.</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0.3 min]</a:t>
            </a:r>
          </a:p>
          <a:p/>
          <a:p>
            <a:r>
              <a:t>SAY (in these simple words)</a:t>
            </a:r>
          </a:p>
          <a:p>
            <a:r>
              <a:t>This is the plan of our talk. It follows the review checklist.</a:t>
            </a:r>
          </a:p>
          <a:p>
            <a:r>
              <a:t>We will spend the most time on the results, the live demo, and the planning.</a:t>
            </a:r>
          </a:p>
          <a:p/>
          <a:p>
            <a:r>
              <a:t>SHOW / CLICK</a:t>
            </a:r>
          </a:p>
          <a:p>
            <a:r>
              <a:t>Contents slide. Do not stay here long.</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1.5 min]</a:t>
            </a:r>
          </a:p>
          <a:p/>
          <a:p>
            <a:r>
              <a:t>SAY (in these simple words)</a:t>
            </a:r>
          </a:p>
          <a:p>
            <a:r>
              <a:t>The advice must not be a black box. So we added five features.</a:t>
            </a:r>
          </a:p>
          <a:p>
            <a:r>
              <a:t>One: a breakdown that shows where each rupee goes, and it always adds up exactly.</a:t>
            </a:r>
          </a:p>
          <a:p>
            <a:r>
              <a:t>Two: a what-if tool. The farmer changes the costs, and the advice updates. It also shows the exact point where the advice would change.</a:t>
            </a:r>
          </a:p>
          <a:p>
            <a:r>
              <a:t>Three: a track record. We replay the advice on past days it had not seen, and show how often it won.</a:t>
            </a:r>
          </a:p>
          <a:p>
            <a:r>
              <a:t>Four: a silence tax. It shows how much money a trip loses when a market posts no price.</a:t>
            </a:r>
          </a:p>
          <a:p>
            <a:r>
              <a:t>Five: a crowd test. If many farmers follow the same advice, that market's price falls. We show how much, and a better way to spread the farmers.</a:t>
            </a:r>
          </a:p>
          <a:p>
            <a:r>
              <a:t>The crowd test uses one assumed number. We say clearly that it is a scenario, not a measurement.</a:t>
            </a:r>
          </a:p>
          <a:p/>
          <a:p>
            <a:r>
              <a:t>SHOW / CLICK</a:t>
            </a:r>
          </a:p>
          <a:p>
            <a:r>
              <a:t>Point at the five boxes one by one. Do not read the formulas.</a:t>
            </a:r>
          </a:p>
          <a:p/>
          <a:p>
            <a:r>
              <a:t>NUMBERS TO QUOTE</a:t>
            </a:r>
          </a:p>
          <a:p>
            <a:r>
              <a:t>- Crowd test uses a price sensitivity of 0.115, taken from past data; it is an assumption</a:t>
            </a:r>
          </a:p>
          <a:p/>
          <a:p>
            <a:r>
              <a:t>IF ASKED</a:t>
            </a:r>
          </a:p>
          <a:p>
            <a:r>
              <a:t>Q: Is the crowd result a real measurement?</a:t>
            </a:r>
          </a:p>
          <a:p>
            <a:r>
              <a:t>A: No. It is a scenario. With the sensitivity set to zero, nothing changes. A trial with real farmers is needed to measure it.</a:t>
            </a:r>
          </a:p>
          <a:p/>
          <a:p>
            <a:r>
              <a:t>TRANSITION</a:t>
            </a:r>
          </a:p>
          <a:p>
            <a:r>
              <a:t>Now how it is built, and then the live demo.</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 min]</a:t>
            </a:r>
          </a:p>
          <a:p/>
          <a:p>
            <a:r>
              <a:t>SAY (in these simple words)</a:t>
            </a:r>
          </a:p>
          <a:p>
            <a:r>
              <a:t>Before we open the browser, here is the map of what you will see.</a:t>
            </a:r>
          </a:p>
          <a:p>
            <a:r>
              <a:t>Six things. Each answers one simple question.</a:t>
            </a:r>
          </a:p>
          <a:p>
            <a:r>
              <a:t>Why this market? What if my costs are different? Has the advice really worked? What does an unreliable market cost? What if everyone follows the advice? And what does the farmer receive at seven in the morning?</a:t>
            </a:r>
          </a:p>
          <a:p>
            <a:r>
              <a:t>Three are inside the farmer's tool. Two are for traders. And one is the Telegram message.</a:t>
            </a:r>
          </a:p>
          <a:p/>
          <a:p>
            <a:r>
              <a:t>SHOW / CLICK</a:t>
            </a:r>
          </a:p>
          <a:p>
            <a:r>
              <a:t>Point at the six boxes. Read only the question on each.</a:t>
            </a:r>
          </a:p>
          <a:p/>
          <a:p>
            <a:r>
              <a:t>TRANSITION</a:t>
            </a:r>
          </a:p>
          <a:p>
            <a:r>
              <a:t>Now the browser: demo part one.</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4 min]</a:t>
            </a:r>
          </a:p>
          <a:p/>
          <a:p>
            <a:r>
              <a:t>SAY (in these simple words)</a:t>
            </a:r>
          </a:p>
          <a:p>
            <a:r>
              <a:t>(Now the trader screens, and then the phone.)</a:t>
            </a:r>
          </a:p>
          <a:p>
            <a:r>
              <a:t>First, the Silence Tax. Each row is a tomato market. The small week strip shows the days it posts prices: green is reliable, red means closed.</a:t>
            </a:r>
          </a:p>
          <a:p>
            <a:r>
              <a:t>Kanakapura loses a trip about 313 rupees per quintal, because it often posts no price. Chikkaballapur posted nothing on any Thursday last year. So the farmer is warned not to bring a Thursday load there.</a:t>
            </a:r>
          </a:p>
          <a:p>
            <a:r>
              <a:t>Look at Kolar. It shows zero. That does not mean it is reliable. It means its prices are usually lower anyway. That is why we also show how often a market goes silent.</a:t>
            </a:r>
          </a:p>
          <a:p>
            <a:r>
              <a:t>Second, the Crowd Test. One farmer alone gets 1,824 per quintal. If 200 farmers all follow the best advice, that market is flooded, its price drops by about one third, and each farmer gets only about 1,194.</a:t>
            </a:r>
          </a:p>
          <a:p>
            <a:r>
              <a:t>If we send different farmers to different markets, each gets about 1,436. That is 241 rupees more per quintal.</a:t>
            </a:r>
          </a:p>
          <a:p>
            <a:r>
              <a:t>Move the slider to one farmer, and everything becomes equal. Move the sensitivity to zero, and again equal. So the result depends on that assumption, and we say it.</a:t>
            </a:r>
          </a:p>
          <a:p>
            <a:r>
              <a:t>Now the phone. Open the Telegram bot and send slash today. This is the morning message. Every price has its date. Advice appears only where our evidence is strong. Type onion Chintamani, and it answers for that crop and place. Every morning at seven a scheduled script sends it.</a:t>
            </a:r>
          </a:p>
          <a:p/>
          <a:p>
            <a:r>
              <a:t>SHOW / CLICK</a:t>
            </a:r>
          </a:p>
          <a:p>
            <a:r>
              <a:t>Browser tabs: Silence Tax and Crowd Simulator. Then the phone with the bot chat open.</a:t>
            </a:r>
          </a:p>
          <a:p/>
          <a:p>
            <a:r>
              <a:t>NUMBERS TO QUOTE</a:t>
            </a:r>
          </a:p>
          <a:p>
            <a:r>
              <a:t>- Kanakapura loses Rs 313 per quintal per trip (16.5% of price)</a:t>
            </a:r>
          </a:p>
          <a:p>
            <a:r>
              <a:t>- Chikkaballapur: no price on any Thursday last year</a:t>
            </a:r>
          </a:p>
          <a:p>
            <a:r>
              <a:t>- 200 farmers: alone Rs 1,824; all follow best Rs 1,194; split Rs 1,436</a:t>
            </a:r>
          </a:p>
          <a:p>
            <a:r>
              <a:t>- Gain Rs 241 per quintal, about Rs 4.8 lakh for the group</a:t>
            </a:r>
          </a:p>
          <a:p>
            <a:r>
              <a:t>- The best market normally gets about 68 quintals a day</a:t>
            </a:r>
          </a:p>
          <a:p/>
          <a:p>
            <a:r>
              <a:t>IF ASKED</a:t>
            </a:r>
          </a:p>
          <a:p>
            <a:r>
              <a:t>Q: Do farmers use Telegram?</a:t>
            </a:r>
          </a:p>
          <a:p>
            <a:r>
              <a:t>A: Few today. Telegram is free and lets us show the whole flow now. The same message can go by SMS or WhatsApp later.</a:t>
            </a:r>
          </a:p>
          <a:p>
            <a:r>
              <a:t>Q: Where does the message data come from?</a:t>
            </a:r>
          </a:p>
          <a:p>
            <a:r>
              <a:t>A: From the downloaded government data. There is no live feed, so the message says how old the data is.</a:t>
            </a:r>
          </a:p>
          <a:p/>
          <a:p>
            <a:r>
              <a:t>TRANSITION</a:t>
            </a:r>
          </a:p>
          <a:p>
            <a:r>
              <a:t>Back to the slides: tools and quality.</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1.2 min]</a:t>
            </a:r>
          </a:p>
          <a:p/>
          <a:p>
            <a:r>
              <a:t>SAY (in these simple words)</a:t>
            </a:r>
          </a:p>
          <a:p>
            <a:r>
              <a:t>These are the first two panels you saw in the demo.</a:t>
            </a:r>
          </a:p>
          <a:p>
            <a:r>
              <a:t>On the left: the breakdown. Price 2,081, minus fee 83, minus loss while waiting 60, minus transport 94, minus handling 20, equals 1,824. The nearest market keeps only 1,232.</a:t>
            </a:r>
          </a:p>
          <a:p>
            <a:r>
              <a:t>The advice wins because its price is 776 rupees higher. That is far more than the extra transport and extra loss.</a:t>
            </a:r>
          </a:p>
          <a:p>
            <a:r>
              <a:t>On the right: what if. Even if transport costs 4 times more, the advice stays the same. But if spoilage reaches 5 percent a day, or the farmer cannot wait, the advice changes to selling today.</a:t>
            </a:r>
          </a:p>
          <a:p>
            <a:r>
              <a:t>So the farmer sees what the advice depends on.</a:t>
            </a:r>
          </a:p>
          <a:p/>
          <a:p>
            <a:r>
              <a:t>SHOW / CLICK</a:t>
            </a:r>
          </a:p>
          <a:p>
            <a:r>
              <a:t>Left picture: Why this mandi. Right picture: What if. Then the bullets.</a:t>
            </a:r>
          </a:p>
          <a:p/>
          <a:p>
            <a:r>
              <a:t>NUMBERS TO QUOTE</a:t>
            </a:r>
          </a:p>
          <a:p>
            <a:r>
              <a:t>- 2,081 - 83 - 60 - 94 - 20 = 1,824</a:t>
            </a:r>
          </a:p>
          <a:p>
            <a:r>
              <a:t>- Nearest market Rs 1,232 (the screen shows 1,233 after rounding)</a:t>
            </a:r>
          </a:p>
          <a:p>
            <a:r>
              <a:t>- Advice changes at 5% spoilage a day</a:t>
            </a:r>
          </a:p>
          <a:p/>
          <a:p>
            <a:r>
              <a:t>TRANSITION</a:t>
            </a:r>
          </a:p>
          <a:p>
            <a:r>
              <a:t>Has the advice really worked?</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1.2 min]</a:t>
            </a:r>
          </a:p>
          <a:p/>
          <a:p>
            <a:r>
              <a:t>SAY (in these simple words)</a:t>
            </a:r>
          </a:p>
          <a:p>
            <a:r>
              <a:t>Has the advice really worked? We replayed it over 165 past days it had not seen.</a:t>
            </a:r>
          </a:p>
          <a:p>
            <a:r>
              <a:t>Against the nearest market, it did better on 93 days out of 100 for tomato, 82 for onion, 63 for potato, and 90 for ginger.</a:t>
            </a:r>
          </a:p>
          <a:p>
            <a:r>
              <a:t>Against yesterday's highest-price market, many days are the same, because both give the same advice. When they differ, ours wins more often for tomato and onion.</a:t>
            </a:r>
          </a:p>
          <a:p>
            <a:r>
              <a:t>Now the honest part. The minimum amount held on 84 days out of 100 for tomato, not 90. For onion 89, potato 92, ginger 86.</a:t>
            </a:r>
          </a:p>
          <a:p>
            <a:r>
              <a:t>This replay is a strict test. In the larger test earlier, the minimum failed on 10 to 12 days out of 100. We show the farmer the real score.</a:t>
            </a:r>
          </a:p>
          <a:p/>
          <a:p>
            <a:r>
              <a:t>SHOW / CLICK</a:t>
            </a:r>
          </a:p>
          <a:p>
            <a:r>
              <a:t>Table and line graph. Point at the Floor held column.</a:t>
            </a:r>
          </a:p>
          <a:p/>
          <a:p>
            <a:r>
              <a:t>NUMBERS TO QUOTE</a:t>
            </a:r>
          </a:p>
          <a:p>
            <a:r>
              <a:t>- 165 days, 12 May to 23 Oct 2026</a:t>
            </a:r>
          </a:p>
          <a:p>
            <a:r>
              <a:t>- Better than nearest market: 93, 82, 63, 90 days in 100</a:t>
            </a:r>
          </a:p>
          <a:p>
            <a:r>
              <a:t>- Minimum held: 84, 89, 92, 86 days in 100 (target 90)</a:t>
            </a:r>
          </a:p>
          <a:p/>
          <a:p>
            <a:r>
              <a:t>IF ASKED</a:t>
            </a:r>
          </a:p>
          <a:p>
            <a:r>
              <a:t>Q: Is 84 percent a failure?</a:t>
            </a:r>
          </a:p>
          <a:p>
            <a:r>
              <a:t>A: It is a little below our 90 percent target in a short, strict replay. The longer test was closer. The app shows the real score, not a promise.</a:t>
            </a:r>
          </a:p>
          <a:p/>
          <a:p>
            <a:r>
              <a:t>TRANSITION</a:t>
            </a:r>
          </a:p>
          <a:p>
            <a:r>
              <a:t>What does an unreliable market cost?</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 min]</a:t>
            </a:r>
          </a:p>
          <a:p/>
          <a:p>
            <a:r>
              <a:t>SAY (in these simple words)</a:t>
            </a:r>
          </a:p>
          <a:p>
            <a:r>
              <a:t>Some markets post no price on some days. That wastes the farmer's trip. We put a rupee figure on it.</a:t>
            </a:r>
          </a:p>
          <a:p>
            <a:r>
              <a:t>Across 13 tomato markets, a trip loses about 78 rupees per quintal on average. Kanakapura loses 313, which is 16.5 percent of its price.</a:t>
            </a:r>
          </a:p>
          <a:p>
            <a:r>
              <a:t>The colour picture shows each market by weekday. Red means the market is usually silent that day, like Sundays at several markets, and Thursdays at Chikkaballapur.</a:t>
            </a:r>
          </a:p>
          <a:p>
            <a:r>
              <a:t>Two warnings. A silent day may mean the market is closed or the data was not uploaded. We cannot tell. And a zero for a cheap market such as Kolar does not mean it is reliable, so we show the silence rate too.</a:t>
            </a:r>
          </a:p>
          <a:p/>
          <a:p>
            <a:r>
              <a:t>SHOW / CLICK</a:t>
            </a:r>
          </a:p>
          <a:p>
            <a:r>
              <a:t>The colour picture, then the table.</a:t>
            </a:r>
          </a:p>
          <a:p/>
          <a:p>
            <a:r>
              <a:t>NUMBERS TO QUOTE</a:t>
            </a:r>
          </a:p>
          <a:p>
            <a:r>
              <a:t>- 13 tomato markets; average loss Rs 78 per quintal per trip</a:t>
            </a:r>
          </a:p>
          <a:p>
            <a:r>
              <a:t>- Kanakapura Rs 313 (16.5%)</a:t>
            </a:r>
          </a:p>
          <a:p>
            <a:r>
              <a:t>- Chikkaballapur: no price on any Thursday</a:t>
            </a:r>
          </a:p>
          <a:p/>
          <a:p>
            <a:r>
              <a:t>TRANSITION</a:t>
            </a:r>
          </a:p>
          <a:p>
            <a:r>
              <a:t>What if everyone follows the advice?</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1.2 min]</a:t>
            </a:r>
          </a:p>
          <a:p/>
          <a:p>
            <a:r>
              <a:t>SAY (in these simple words)</a:t>
            </a:r>
          </a:p>
          <a:p>
            <a:r>
              <a:t>Here is the question an examiner should ask: what if everyone follows your advice?</a:t>
            </a:r>
          </a:p>
          <a:p>
            <a:r>
              <a:t>One farmer alone gets 1,824 rupees per quintal.</a:t>
            </a:r>
          </a:p>
          <a:p>
            <a:r>
              <a:t>If 200 farmers all go to the best market, it gets flooded. Its price drops by about one third. Each farmer gets only about 1,194. That is no better than going to the nearest market.</a:t>
            </a:r>
          </a:p>
          <a:p>
            <a:r>
              <a:t>If we send different farmers to different markets, each gets about 1,436. That is 241 rupees more per quintal, about 4.8 lakh for the group.</a:t>
            </a:r>
          </a:p>
          <a:p>
            <a:r>
              <a:t>The more farmers there are, the worse the flooding, and the more the split helps.</a:t>
            </a:r>
          </a:p>
          <a:p>
            <a:r>
              <a:t>This uses an assumed price sensitivity taken from past data. It is a scenario, not a measurement. With zero sensitivity, nothing changes.</a:t>
            </a:r>
          </a:p>
          <a:p/>
          <a:p>
            <a:r>
              <a:t>SHOW / CLICK</a:t>
            </a:r>
          </a:p>
          <a:p>
            <a:r>
              <a:t>The line graph, then the three boxes, then the grey caution note.</a:t>
            </a:r>
          </a:p>
          <a:p/>
          <a:p>
            <a:r>
              <a:t>NUMBERS TO QUOTE</a:t>
            </a:r>
          </a:p>
          <a:p>
            <a:r>
              <a:t>- 200 farmers, 10 quintals each</a:t>
            </a:r>
          </a:p>
          <a:p>
            <a:r>
              <a:t>- Alone Rs 1,824; all follow best Rs 1,194; nearest Rs 1,207; split Rs 1,436</a:t>
            </a:r>
          </a:p>
          <a:p>
            <a:r>
              <a:t>- Price drop 32.5%; gain Rs 241 per quintal; Rs 4,82,705 in total</a:t>
            </a:r>
          </a:p>
          <a:p/>
          <a:p>
            <a:r>
              <a:t>IF ASKED</a:t>
            </a:r>
          </a:p>
          <a:p>
            <a:r>
              <a:t>Q: How would you measure the real effect?</a:t>
            </a:r>
          </a:p>
          <a:p>
            <a:r>
              <a:t>A: By a trial: some farmers get the advice, some do not, at the same market. Then compare prices. This is our first future task.</a:t>
            </a:r>
          </a:p>
          <a:p/>
          <a:p>
            <a:r>
              <a:t>TRANSITION</a:t>
            </a:r>
          </a:p>
          <a:p>
            <a:r>
              <a:t>The morning message.</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 min]</a:t>
            </a:r>
          </a:p>
          <a:p/>
          <a:p>
            <a:r>
              <a:t>SAY (in these simple words)</a:t>
            </a:r>
          </a:p>
          <a:p>
            <a:r>
              <a:t>This is the morning message exactly as the bot sends it.</a:t>
            </a:r>
          </a:p>
          <a:p>
            <a:r>
              <a:t>The first lines say the date of the latest prices, and how old the data is, because we have no live feed.</a:t>
            </a:r>
          </a:p>
          <a:p>
            <a:r>
              <a:t>Each crop shows the latest price with its date, and the change from last week.</a:t>
            </a:r>
          </a:p>
          <a:p>
            <a:r>
              <a:t>Advice appears only where our evidence is strong: tomato, onion, ginger. For potato we show prices only.</a:t>
            </a:r>
          </a:p>
          <a:p>
            <a:r>
              <a:t>It is free, it works in English, Kannada and Hindi, and the farmer can ask by typing, for example, tomato Kolar.</a:t>
            </a:r>
          </a:p>
          <a:p>
            <a:r>
              <a:t>Every message sent is recorded, and it has already been delivered to a real phone. What we have not done: a trial with farmers, or a live price feed.</a:t>
            </a:r>
          </a:p>
          <a:p/>
          <a:p>
            <a:r>
              <a:t>SHOW / CLICK</a:t>
            </a:r>
          </a:p>
          <a:p>
            <a:r>
              <a:t>The message picture on the left, then the bullets on the right.</a:t>
            </a:r>
          </a:p>
          <a:p/>
          <a:p>
            <a:r>
              <a:t>NUMBERS TO QUOTE</a:t>
            </a:r>
          </a:p>
          <a:p>
            <a:r>
              <a:t>- Bot name: @MandiAis_BOT</a:t>
            </a:r>
          </a:p>
          <a:p>
            <a:r>
              <a:t>- 8 tests; every price carries its date</a:t>
            </a:r>
          </a:p>
          <a:p>
            <a:r>
              <a:t>- Sent every morning at 7 by a scheduled script</a:t>
            </a:r>
          </a:p>
          <a:p/>
          <a:p>
            <a:r>
              <a:t>IF ASKED</a:t>
            </a:r>
          </a:p>
          <a:p>
            <a:r>
              <a:t>Q: Why Telegram and not SMS?</a:t>
            </a:r>
          </a:p>
          <a:p>
            <a:r>
              <a:t>A: SMS in India needs registration and a paid service. Telegram is free, so we could build and show the full flow now. The same message can go by SMS later.</a:t>
            </a:r>
          </a:p>
          <a:p>
            <a:r>
              <a:t>Q: What about privacy?</a:t>
            </a:r>
          </a:p>
          <a:p>
            <a:r>
              <a:t>A: We store only the chat id, first name, language, district and crops. The farmer can stop at any time.</a:t>
            </a:r>
          </a:p>
          <a:p/>
          <a:p>
            <a:r>
              <a:t>TRANSITION</a:t>
            </a:r>
          </a:p>
          <a:p>
            <a:r>
              <a:t>Back to the research results: a check on other people's method.</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0.2 min]</a:t>
            </a:r>
          </a:p>
          <a:p/>
          <a:p>
            <a:r>
              <a:t>SAY (in these simple words)</a:t>
            </a:r>
          </a:p>
          <a:p>
            <a:r>
              <a:t>Thank you. We are happy to answer your questions, and to show any part of the system again.</a:t>
            </a:r>
          </a:p>
          <a:p/>
          <a:p>
            <a:r>
              <a:t>SHOW / CLICK</a:t>
            </a:r>
          </a:p>
          <a:p>
            <a:r>
              <a:t>Keep the browser and the phone ready for follow-up questions.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Blank" type="obj">
  <p:cSld name="Blank">
    <p:spTree>
      <p:nvGrpSpPr>
        <p:cNvPr id="1" name="Shape 11"/>
        <p:cNvGrpSpPr/>
        <p:nvPr/>
      </p:nvGrpSpPr>
      <p:grpSpPr>
        <a:xfrm>
          <a:off x="0" y="0"/>
          <a:ext cx="0" cy="0"/>
          <a:chOff x="0" y="0"/>
          <a:chExt cx="0" cy="0"/>
        </a:xfrm>
      </p:grpSpPr>
      <p:sp>
        <p:nvSpPr>
          <p:cNvPr id="12" name="Google Shape;12;p2"/>
          <p:cNvSpPr txBox="1">
            <a:spLocks noGrp="1"/>
          </p:cNvSpPr>
          <p:nvPr>
            <p:ph type="ftr" idx="11"/>
          </p:nvPr>
        </p:nvSpPr>
        <p:spPr>
          <a:xfrm>
            <a:off x="6835777" y="10517188"/>
            <a:ext cx="6432549" cy="566737"/>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M.Tech in Computer Network Engineering- June 2022</a:t>
            </a:r>
            <a:endParaRPr lang="en-IN"/>
          </a:p>
        </p:txBody>
      </p:sp>
      <p:sp>
        <p:nvSpPr>
          <p:cNvPr id="13" name="Google Shape;13;p2"/>
          <p:cNvSpPr txBox="1">
            <a:spLocks noGrp="1"/>
          </p:cNvSpPr>
          <p:nvPr>
            <p:ph type="dt" idx="10"/>
          </p:nvPr>
        </p:nvSpPr>
        <p:spPr>
          <a:xfrm>
            <a:off x="1004887" y="10517188"/>
            <a:ext cx="4624387" cy="566737"/>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B04CD0D4-4275-4D7D-AA13-C985D78AF328}" type="datetime1">
              <a:rPr lang="en-US" smtClean="0"/>
              <a:t>10/27/2026</a:t>
            </a:fld>
            <a:endParaRPr lang="en-IN"/>
          </a:p>
        </p:txBody>
      </p:sp>
      <p:sp>
        <p:nvSpPr>
          <p:cNvPr id="14" name="Google Shape;14;p2"/>
          <p:cNvSpPr txBox="1">
            <a:spLocks noGrp="1"/>
          </p:cNvSpPr>
          <p:nvPr>
            <p:ph type="sldNum" idx="12"/>
          </p:nvPr>
        </p:nvSpPr>
        <p:spPr>
          <a:xfrm>
            <a:off x="14474826" y="10517188"/>
            <a:ext cx="4624387" cy="566737"/>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898989"/>
              </a:buClr>
              <a:buSzPts val="1800"/>
              <a:buFont typeface="Calibri" panose="020F0502020204030204"/>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898989"/>
              </a:buClr>
              <a:buSzPts val="1800"/>
              <a:buFont typeface="Calibri" panose="020F0502020204030204"/>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898989"/>
              </a:buClr>
              <a:buSzPts val="1800"/>
              <a:buFont typeface="Calibri" panose="020F0502020204030204"/>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898989"/>
              </a:buClr>
              <a:buSzPts val="1800"/>
              <a:buFont typeface="Calibri" panose="020F0502020204030204"/>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898989"/>
              </a:buClr>
              <a:buSzPts val="1800"/>
              <a:buFont typeface="Calibri" panose="020F0502020204030204"/>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898989"/>
              </a:buClr>
              <a:buSzPts val="1800"/>
              <a:buFont typeface="Calibri" panose="020F0502020204030204"/>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898989"/>
              </a:buClr>
              <a:buSzPts val="1800"/>
              <a:buFont typeface="Calibri" panose="020F0502020204030204"/>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898989"/>
              </a:buClr>
              <a:buSzPts val="1800"/>
              <a:buFont typeface="Calibri" panose="020F0502020204030204"/>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898989"/>
              </a:buClr>
              <a:buSzPts val="1800"/>
              <a:buFont typeface="Calibri" panose="020F0502020204030204"/>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9pPr>
          </a:lstStyle>
          <a:p>
            <a:fld id="{00000000-1234-1234-1234-123412341234}" type="slidenum">
              <a:rPr lang="en-US" smtClean="0"/>
              <a:t>‹#›</a:t>
            </a:fld>
            <a:endParaRPr lang="en-US" sz="1400">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C7A9E8A-0B58-44E7-8B4B-C18EEB8D5E6B}" type="datetime1">
              <a:rPr lang="en-US" smtClean="0"/>
              <a:t>10/27/2026</a:t>
            </a:fld>
            <a:endParaRPr lang="en-IN"/>
          </a:p>
        </p:txBody>
      </p:sp>
      <p:sp>
        <p:nvSpPr>
          <p:cNvPr id="5" name="Footer Placeholder 4"/>
          <p:cNvSpPr>
            <a:spLocks noGrp="1"/>
          </p:cNvSpPr>
          <p:nvPr>
            <p:ph type="ftr" sz="quarter" idx="11"/>
          </p:nvPr>
        </p:nvSpPr>
        <p:spPr/>
        <p:txBody>
          <a:bodyPr/>
          <a:lstStyle/>
          <a:p>
            <a:r>
              <a:rPr lang="en-US"/>
              <a:t>M.Tech in Computer Network Engineering- June 2022</a:t>
            </a:r>
            <a:endParaRPr lang="en-IN"/>
          </a:p>
        </p:txBody>
      </p:sp>
      <p:sp>
        <p:nvSpPr>
          <p:cNvPr id="6" name="Slide Number Placeholder 5"/>
          <p:cNvSpPr>
            <a:spLocks noGrp="1"/>
          </p:cNvSpPr>
          <p:nvPr>
            <p:ph type="sldNum" sz="quarter" idx="12"/>
          </p:nvPr>
        </p:nvSpPr>
        <p:spPr/>
        <p:txBody>
          <a:bodyPr/>
          <a:lstStyle/>
          <a:p>
            <a:fld id="{00000000-1234-1234-1234-123412341234}"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507807" y="3505898"/>
            <a:ext cx="17088486" cy="2374963"/>
          </a:xfrm>
          <a:prstGeom prst="rect">
            <a:avLst/>
          </a:prstGeom>
        </p:spPr>
        <p:txBody>
          <a:bodyPr/>
          <a:lstStyle>
            <a:lvl1pPr>
              <a:defRPr/>
            </a:lvl1pPr>
          </a:lstStyle>
          <a:p>
            <a:endParaRPr/>
          </a:p>
        </p:txBody>
      </p:sp>
      <p:sp>
        <p:nvSpPr>
          <p:cNvPr id="3" name="Holder 3"/>
          <p:cNvSpPr>
            <a:spLocks noGrp="1"/>
          </p:cNvSpPr>
          <p:nvPr>
            <p:ph type="subTitle" idx="4"/>
          </p:nvPr>
        </p:nvSpPr>
        <p:spPr>
          <a:xfrm>
            <a:off x="3015615" y="6333236"/>
            <a:ext cx="14072870" cy="2827337"/>
          </a:xfrm>
          <a:prstGeom prst="rect">
            <a:avLst/>
          </a:prstGeom>
        </p:spPr>
        <p:txBody>
          <a:bodyPr/>
          <a:lstStyle>
            <a:lvl1pPr>
              <a:defRPr/>
            </a:lvl1pPr>
          </a:lstStyle>
          <a:p>
            <a:endParaRPr/>
          </a:p>
        </p:txBody>
      </p:sp>
      <p:sp>
        <p:nvSpPr>
          <p:cNvPr id="4" name="Holder 4"/>
          <p:cNvSpPr>
            <a:spLocks noGrp="1"/>
          </p:cNvSpPr>
          <p:nvPr>
            <p:ph type="ftr" sz="quarter" idx="10"/>
          </p:nvPr>
        </p:nvSpPr>
        <p:spPr/>
        <p:txBody>
          <a:bodyPr/>
          <a:lstStyle>
            <a:lvl1pPr>
              <a:defRPr/>
            </a:lvl1pPr>
          </a:lstStyle>
          <a:p>
            <a:pPr>
              <a:defRPr/>
            </a:pPr>
            <a:r>
              <a:rPr lang="en-US"/>
              <a:t>MTech in Computer Network Engineering –  Major Project Phase-I  Feb 2022</a:t>
            </a:r>
          </a:p>
        </p:txBody>
      </p:sp>
      <p:sp>
        <p:nvSpPr>
          <p:cNvPr id="5" name="Holder 5"/>
          <p:cNvSpPr>
            <a:spLocks noGrp="1"/>
          </p:cNvSpPr>
          <p:nvPr>
            <p:ph type="dt" sz="half" idx="11"/>
          </p:nvPr>
        </p:nvSpPr>
        <p:spPr/>
        <p:txBody>
          <a:bodyPr/>
          <a:lstStyle>
            <a:lvl1pPr>
              <a:defRPr/>
            </a:lvl1pPr>
          </a:lstStyle>
          <a:p>
            <a:pPr>
              <a:defRPr/>
            </a:pPr>
            <a:fld id="{21E4E739-A987-4E8A-B168-21AAA262878F}" type="datetime1">
              <a:rPr lang="en-US" altLang="en-US"/>
              <a:t>10/27/2026</a:t>
            </a:fld>
            <a:endParaRPr lang="en-US" altLang="en-US"/>
          </a:p>
        </p:txBody>
      </p:sp>
      <p:sp>
        <p:nvSpPr>
          <p:cNvPr id="6" name="Holder 6"/>
          <p:cNvSpPr>
            <a:spLocks noGrp="1"/>
          </p:cNvSpPr>
          <p:nvPr>
            <p:ph type="sldNum" sz="quarter" idx="12"/>
          </p:nvPr>
        </p:nvSpPr>
        <p:spPr/>
        <p:txBody>
          <a:bodyPr/>
          <a:lstStyle>
            <a:lvl1pPr>
              <a:defRPr/>
            </a:lvl1pPr>
          </a:lstStyle>
          <a:p>
            <a:pPr>
              <a:defRPr/>
            </a:pPr>
            <a:fld id="{8ED9323D-A949-499D-B0E8-309C95408804}" type="slidenum">
              <a:rPr lang="en-US" altLang="en-US"/>
              <a:t>‹#›</a:t>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a:lstStyle>
            <a:lvl1pPr>
              <a:defRPr sz="3000" b="0" i="1">
                <a:solidFill>
                  <a:srgbClr val="422C75"/>
                </a:solidFill>
                <a:latin typeface="Playfair Display" panose="00000500000000000000"/>
                <a:cs typeface="Playfair Display" panose="00000500000000000000"/>
              </a:defRPr>
            </a:lvl1pPr>
          </a:lstStyle>
          <a:p>
            <a:endParaRPr/>
          </a:p>
        </p:txBody>
      </p:sp>
      <p:sp>
        <p:nvSpPr>
          <p:cNvPr id="3" name="Holder 3"/>
          <p:cNvSpPr>
            <a:spLocks noGrp="1"/>
          </p:cNvSpPr>
          <p:nvPr>
            <p:ph type="body" idx="1"/>
          </p:nvPr>
        </p:nvSpPr>
        <p:spPr/>
        <p:txBody>
          <a:bodyPr/>
          <a:lstStyle>
            <a:lvl1pPr>
              <a:defRPr b="0" i="0">
                <a:solidFill>
                  <a:schemeClr val="tx1"/>
                </a:solidFill>
              </a:defRPr>
            </a:lvl1pPr>
          </a:lstStyle>
          <a:p>
            <a:endParaRPr/>
          </a:p>
        </p:txBody>
      </p:sp>
      <p:sp>
        <p:nvSpPr>
          <p:cNvPr id="4" name="Holder 4"/>
          <p:cNvSpPr>
            <a:spLocks noGrp="1"/>
          </p:cNvSpPr>
          <p:nvPr>
            <p:ph type="ftr" sz="quarter" idx="10"/>
          </p:nvPr>
        </p:nvSpPr>
        <p:spPr/>
        <p:txBody>
          <a:bodyPr/>
          <a:lstStyle>
            <a:lvl1pPr>
              <a:defRPr/>
            </a:lvl1pPr>
          </a:lstStyle>
          <a:p>
            <a:pPr>
              <a:defRPr/>
            </a:pPr>
            <a:r>
              <a:rPr lang="en-US"/>
              <a:t>MTech in Computer Network Engineering –  Major Project Phase-I  Feb 2022</a:t>
            </a:r>
          </a:p>
        </p:txBody>
      </p:sp>
      <p:sp>
        <p:nvSpPr>
          <p:cNvPr id="5" name="Holder 5"/>
          <p:cNvSpPr>
            <a:spLocks noGrp="1"/>
          </p:cNvSpPr>
          <p:nvPr>
            <p:ph type="dt" sz="half" idx="11"/>
          </p:nvPr>
        </p:nvSpPr>
        <p:spPr/>
        <p:txBody>
          <a:bodyPr/>
          <a:lstStyle>
            <a:lvl1pPr>
              <a:defRPr/>
            </a:lvl1pPr>
          </a:lstStyle>
          <a:p>
            <a:pPr>
              <a:defRPr/>
            </a:pPr>
            <a:fld id="{C977E9D2-16F2-417E-A5F0-B3E57AB994F6}" type="datetime1">
              <a:rPr lang="en-US" altLang="en-US"/>
              <a:t>10/27/2026</a:t>
            </a:fld>
            <a:endParaRPr lang="en-US" altLang="en-US"/>
          </a:p>
        </p:txBody>
      </p:sp>
      <p:sp>
        <p:nvSpPr>
          <p:cNvPr id="6" name="Holder 6"/>
          <p:cNvSpPr>
            <a:spLocks noGrp="1"/>
          </p:cNvSpPr>
          <p:nvPr>
            <p:ph type="sldNum" sz="quarter" idx="12"/>
          </p:nvPr>
        </p:nvSpPr>
        <p:spPr/>
        <p:txBody>
          <a:bodyPr/>
          <a:lstStyle>
            <a:lvl1pPr>
              <a:defRPr/>
            </a:lvl1pPr>
          </a:lstStyle>
          <a:p>
            <a:pPr>
              <a:defRPr/>
            </a:pPr>
            <a:fld id="{D9AD5552-F823-4200-88B5-2EBA191DD39E}" type="slidenum">
              <a:rPr lang="en-US" altLang="en-US"/>
              <a:t>‹#›</a:t>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a:lstStyle>
            <a:lvl1pPr>
              <a:defRPr sz="3000" b="0" i="1">
                <a:solidFill>
                  <a:srgbClr val="422C75"/>
                </a:solidFill>
                <a:latin typeface="Playfair Display" panose="00000500000000000000"/>
                <a:cs typeface="Playfair Display" panose="00000500000000000000"/>
              </a:defRPr>
            </a:lvl1pPr>
          </a:lstStyle>
          <a:p>
            <a:endParaRPr/>
          </a:p>
        </p:txBody>
      </p:sp>
      <p:sp>
        <p:nvSpPr>
          <p:cNvPr id="3" name="Holder 3"/>
          <p:cNvSpPr>
            <a:spLocks noGrp="1"/>
          </p:cNvSpPr>
          <p:nvPr>
            <p:ph sz="half" idx="2"/>
          </p:nvPr>
        </p:nvSpPr>
        <p:spPr>
          <a:xfrm>
            <a:off x="1005205" y="2601150"/>
            <a:ext cx="8745284" cy="7464171"/>
          </a:xfrm>
          <a:prstGeom prst="rect">
            <a:avLst/>
          </a:prstGeom>
        </p:spPr>
        <p:txBody>
          <a:bodyPr/>
          <a:lstStyle>
            <a:lvl1pPr>
              <a:defRPr/>
            </a:lvl1pPr>
          </a:lstStyle>
          <a:p>
            <a:endParaRPr/>
          </a:p>
        </p:txBody>
      </p:sp>
      <p:sp>
        <p:nvSpPr>
          <p:cNvPr id="4" name="Holder 4"/>
          <p:cNvSpPr>
            <a:spLocks noGrp="1"/>
          </p:cNvSpPr>
          <p:nvPr>
            <p:ph sz="half" idx="3"/>
          </p:nvPr>
        </p:nvSpPr>
        <p:spPr>
          <a:xfrm>
            <a:off x="10353611" y="2601150"/>
            <a:ext cx="8745284" cy="7464171"/>
          </a:xfrm>
          <a:prstGeom prst="rect">
            <a:avLst/>
          </a:prstGeom>
        </p:spPr>
        <p:txBody>
          <a:bodyPr/>
          <a:lstStyle>
            <a:lvl1pPr>
              <a:defRPr/>
            </a:lvl1pPr>
          </a:lstStyle>
          <a:p>
            <a:endParaRPr/>
          </a:p>
        </p:txBody>
      </p:sp>
      <p:sp>
        <p:nvSpPr>
          <p:cNvPr id="5" name="Holder 4"/>
          <p:cNvSpPr>
            <a:spLocks noGrp="1"/>
          </p:cNvSpPr>
          <p:nvPr>
            <p:ph type="ftr" sz="quarter" idx="10"/>
          </p:nvPr>
        </p:nvSpPr>
        <p:spPr/>
        <p:txBody>
          <a:bodyPr/>
          <a:lstStyle>
            <a:lvl1pPr>
              <a:defRPr/>
            </a:lvl1pPr>
          </a:lstStyle>
          <a:p>
            <a:pPr>
              <a:defRPr/>
            </a:pPr>
            <a:r>
              <a:rPr lang="en-US"/>
              <a:t>MTech in Computer Network Engineering –  Major Project Phase-I  Feb 2022</a:t>
            </a:r>
          </a:p>
        </p:txBody>
      </p:sp>
      <p:sp>
        <p:nvSpPr>
          <p:cNvPr id="6" name="Holder 5"/>
          <p:cNvSpPr>
            <a:spLocks noGrp="1"/>
          </p:cNvSpPr>
          <p:nvPr>
            <p:ph type="dt" sz="half" idx="11"/>
          </p:nvPr>
        </p:nvSpPr>
        <p:spPr/>
        <p:txBody>
          <a:bodyPr/>
          <a:lstStyle>
            <a:lvl1pPr>
              <a:defRPr/>
            </a:lvl1pPr>
          </a:lstStyle>
          <a:p>
            <a:pPr>
              <a:defRPr/>
            </a:pPr>
            <a:fld id="{2C8EF551-0267-439D-9A9D-6C9E698304E9}" type="datetime1">
              <a:rPr lang="en-US" altLang="en-US"/>
              <a:t>10/27/2026</a:t>
            </a:fld>
            <a:endParaRPr lang="en-US" altLang="en-US"/>
          </a:p>
        </p:txBody>
      </p:sp>
      <p:sp>
        <p:nvSpPr>
          <p:cNvPr id="7" name="Holder 6"/>
          <p:cNvSpPr>
            <a:spLocks noGrp="1"/>
          </p:cNvSpPr>
          <p:nvPr>
            <p:ph type="sldNum" sz="quarter" idx="12"/>
          </p:nvPr>
        </p:nvSpPr>
        <p:spPr/>
        <p:txBody>
          <a:bodyPr/>
          <a:lstStyle>
            <a:lvl1pPr>
              <a:defRPr/>
            </a:lvl1pPr>
          </a:lstStyle>
          <a:p>
            <a:pPr>
              <a:defRPr/>
            </a:pPr>
            <a:fld id="{F0D20FE6-005D-4110-AD4F-32432AB646E7}" type="slidenum">
              <a:rPr lang="en-US" altLang="en-US"/>
              <a:t>‹#›</a:t>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a:lstStyle>
            <a:lvl1pPr>
              <a:defRPr sz="3000" b="0" i="1">
                <a:solidFill>
                  <a:srgbClr val="422C75"/>
                </a:solidFill>
                <a:latin typeface="Playfair Display" panose="00000500000000000000"/>
                <a:cs typeface="Playfair Display" panose="00000500000000000000"/>
              </a:defRPr>
            </a:lvl1pPr>
          </a:lstStyle>
          <a:p>
            <a:endParaRPr/>
          </a:p>
        </p:txBody>
      </p:sp>
      <p:sp>
        <p:nvSpPr>
          <p:cNvPr id="3" name="Holder 4"/>
          <p:cNvSpPr>
            <a:spLocks noGrp="1"/>
          </p:cNvSpPr>
          <p:nvPr>
            <p:ph type="ftr" sz="quarter" idx="10"/>
          </p:nvPr>
        </p:nvSpPr>
        <p:spPr/>
        <p:txBody>
          <a:bodyPr/>
          <a:lstStyle>
            <a:lvl1pPr>
              <a:defRPr/>
            </a:lvl1pPr>
          </a:lstStyle>
          <a:p>
            <a:pPr>
              <a:defRPr/>
            </a:pPr>
            <a:r>
              <a:rPr lang="en-US"/>
              <a:t>MTech in Computer Network Engineering –  Major Project Phase-I  Feb 2022</a:t>
            </a:r>
          </a:p>
        </p:txBody>
      </p:sp>
      <p:sp>
        <p:nvSpPr>
          <p:cNvPr id="4" name="Holder 5"/>
          <p:cNvSpPr>
            <a:spLocks noGrp="1"/>
          </p:cNvSpPr>
          <p:nvPr>
            <p:ph type="dt" sz="half" idx="11"/>
          </p:nvPr>
        </p:nvSpPr>
        <p:spPr/>
        <p:txBody>
          <a:bodyPr/>
          <a:lstStyle>
            <a:lvl1pPr>
              <a:defRPr/>
            </a:lvl1pPr>
          </a:lstStyle>
          <a:p>
            <a:pPr>
              <a:defRPr/>
            </a:pPr>
            <a:fld id="{3945BEF0-0F14-4127-BDA9-581E69FA42F4}" type="datetime1">
              <a:rPr lang="en-US" altLang="en-US"/>
              <a:t>10/27/2026</a:t>
            </a:fld>
            <a:endParaRPr lang="en-US" altLang="en-US"/>
          </a:p>
        </p:txBody>
      </p:sp>
      <p:sp>
        <p:nvSpPr>
          <p:cNvPr id="5" name="Holder 6"/>
          <p:cNvSpPr>
            <a:spLocks noGrp="1"/>
          </p:cNvSpPr>
          <p:nvPr>
            <p:ph type="sldNum" sz="quarter" idx="12"/>
          </p:nvPr>
        </p:nvSpPr>
        <p:spPr/>
        <p:txBody>
          <a:bodyPr/>
          <a:lstStyle>
            <a:lvl1pPr>
              <a:defRPr/>
            </a:lvl1pPr>
          </a:lstStyle>
          <a:p>
            <a:pPr>
              <a:defRPr/>
            </a:pPr>
            <a:fld id="{DC58FD37-B21C-4E3A-8210-39175BC1A8F2}" type="slidenum">
              <a:rPr lang="en-US" altLang="en-US"/>
              <a:t>‹#›</a:t>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 preserve="1">
  <p:cSld name="Blank">
    <p:spTree>
      <p:nvGrpSpPr>
        <p:cNvPr id="1" name=""/>
        <p:cNvGrpSpPr/>
        <p:nvPr/>
      </p:nvGrpSpPr>
      <p:grpSpPr>
        <a:xfrm>
          <a:off x="0" y="0"/>
          <a:ext cx="0" cy="0"/>
          <a:chOff x="0" y="0"/>
          <a:chExt cx="0" cy="0"/>
        </a:xfrm>
      </p:grpSpPr>
      <p:sp>
        <p:nvSpPr>
          <p:cNvPr id="2" name="Holder 4"/>
          <p:cNvSpPr>
            <a:spLocks noGrp="1"/>
          </p:cNvSpPr>
          <p:nvPr>
            <p:ph type="ftr" sz="quarter" idx="10"/>
          </p:nvPr>
        </p:nvSpPr>
        <p:spPr/>
        <p:txBody>
          <a:bodyPr/>
          <a:lstStyle>
            <a:lvl1pPr>
              <a:defRPr/>
            </a:lvl1pPr>
          </a:lstStyle>
          <a:p>
            <a:pPr>
              <a:defRPr/>
            </a:pPr>
            <a:r>
              <a:rPr lang="en-US"/>
              <a:t>MTech in Computer Network Engineering –  Major Project Phase-I  Feb 2022</a:t>
            </a:r>
          </a:p>
        </p:txBody>
      </p:sp>
      <p:sp>
        <p:nvSpPr>
          <p:cNvPr id="3" name="Holder 5"/>
          <p:cNvSpPr>
            <a:spLocks noGrp="1"/>
          </p:cNvSpPr>
          <p:nvPr>
            <p:ph type="dt" sz="half" idx="11"/>
          </p:nvPr>
        </p:nvSpPr>
        <p:spPr/>
        <p:txBody>
          <a:bodyPr/>
          <a:lstStyle>
            <a:lvl1pPr>
              <a:defRPr/>
            </a:lvl1pPr>
          </a:lstStyle>
          <a:p>
            <a:pPr>
              <a:defRPr/>
            </a:pPr>
            <a:fld id="{B1A4BE81-A416-4134-B507-67950D617D9F}" type="datetime1">
              <a:rPr lang="en-US" altLang="en-US"/>
              <a:t>10/27/2026</a:t>
            </a:fld>
            <a:endParaRPr lang="en-US" altLang="en-US"/>
          </a:p>
        </p:txBody>
      </p:sp>
      <p:sp>
        <p:nvSpPr>
          <p:cNvPr id="4" name="Holder 6"/>
          <p:cNvSpPr>
            <a:spLocks noGrp="1"/>
          </p:cNvSpPr>
          <p:nvPr>
            <p:ph type="sldNum" sz="quarter" idx="12"/>
          </p:nvPr>
        </p:nvSpPr>
        <p:spPr/>
        <p:txBody>
          <a:bodyPr/>
          <a:lstStyle>
            <a:lvl1pPr>
              <a:defRPr/>
            </a:lvl1pPr>
          </a:lstStyle>
          <a:p>
            <a:pPr>
              <a:defRPr/>
            </a:pPr>
            <a:fld id="{6269011E-713A-4C0B-ABC2-7C3A290D551D}" type="slidenum">
              <a:rPr lang="en-US" altLang="en-US"/>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Relationship Id="rId5" Type="http://schemas.openxmlformats.org/officeDocument/2006/relationships/slideLayout" Target="../slideLayouts/slideLayout7.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581027" y="407987"/>
            <a:ext cx="18942050" cy="484187"/>
          </a:xfrm>
          <a:prstGeom prst="rect">
            <a:avLst/>
          </a:prstGeom>
          <a:noFill/>
          <a:ln>
            <a:noFill/>
          </a:ln>
        </p:spPr>
        <p:txBody>
          <a:bodyPr spcFirstLastPara="1" wrap="square" lIns="0" tIns="0" rIns="0" bIns="0" anchor="t" anchorCtr="0">
            <a:noAutofit/>
          </a:bodyPr>
          <a:lstStyle>
            <a:lvl1pPr marR="0" lvl="0" algn="ctr" rtl="0">
              <a:spcBef>
                <a:spcPts val="0"/>
              </a:spcBef>
              <a:spcAft>
                <a:spcPts val="0"/>
              </a:spcAft>
              <a:buSzPts val="1400"/>
              <a:buNone/>
              <a:defRPr sz="1800" b="0" i="0" u="none" strike="noStrike" cap="none">
                <a:solidFill>
                  <a:schemeClr val="dk2"/>
                </a:solidFill>
                <a:latin typeface="Calibri" panose="020F0502020204030204"/>
                <a:ea typeface="Calibri" panose="020F0502020204030204"/>
                <a:cs typeface="Calibri" panose="020F0502020204030204"/>
                <a:sym typeface="Calibri" panose="020F0502020204030204"/>
              </a:defRPr>
            </a:lvl1pPr>
            <a:lvl2pPr marR="0" lvl="1" algn="ctr" rtl="0">
              <a:spcBef>
                <a:spcPts val="0"/>
              </a:spcBef>
              <a:spcAft>
                <a:spcPts val="0"/>
              </a:spcAft>
              <a:buSzPts val="1400"/>
              <a:buNone/>
              <a:defRPr sz="1800" b="0" i="0" u="none" strike="noStrike" cap="none">
                <a:solidFill>
                  <a:schemeClr val="dk2"/>
                </a:solidFill>
                <a:latin typeface="Calibri" panose="020F0502020204030204"/>
                <a:ea typeface="Calibri" panose="020F0502020204030204"/>
                <a:cs typeface="Calibri" panose="020F0502020204030204"/>
                <a:sym typeface="Calibri" panose="020F0502020204030204"/>
              </a:defRPr>
            </a:lvl2pPr>
            <a:lvl3pPr marR="0" lvl="2" algn="ctr" rtl="0">
              <a:spcBef>
                <a:spcPts val="0"/>
              </a:spcBef>
              <a:spcAft>
                <a:spcPts val="0"/>
              </a:spcAft>
              <a:buSzPts val="1400"/>
              <a:buNone/>
              <a:defRPr sz="1800" b="0" i="0" u="none" strike="noStrike" cap="none">
                <a:solidFill>
                  <a:schemeClr val="dk2"/>
                </a:solidFill>
                <a:latin typeface="Calibri" panose="020F0502020204030204"/>
                <a:ea typeface="Calibri" panose="020F0502020204030204"/>
                <a:cs typeface="Calibri" panose="020F0502020204030204"/>
                <a:sym typeface="Calibri" panose="020F0502020204030204"/>
              </a:defRPr>
            </a:lvl3pPr>
            <a:lvl4pPr marR="0" lvl="3" algn="ctr" rtl="0">
              <a:spcBef>
                <a:spcPts val="0"/>
              </a:spcBef>
              <a:spcAft>
                <a:spcPts val="0"/>
              </a:spcAft>
              <a:buSzPts val="1400"/>
              <a:buNone/>
              <a:defRPr sz="1800" b="0" i="0" u="none" strike="noStrike" cap="none">
                <a:solidFill>
                  <a:schemeClr val="dk2"/>
                </a:solidFill>
                <a:latin typeface="Calibri" panose="020F0502020204030204"/>
                <a:ea typeface="Calibri" panose="020F0502020204030204"/>
                <a:cs typeface="Calibri" panose="020F0502020204030204"/>
                <a:sym typeface="Calibri" panose="020F0502020204030204"/>
              </a:defRPr>
            </a:lvl4pPr>
            <a:lvl5pPr marR="0" lvl="4" algn="ctr" rtl="0">
              <a:spcBef>
                <a:spcPts val="0"/>
              </a:spcBef>
              <a:spcAft>
                <a:spcPts val="0"/>
              </a:spcAft>
              <a:buSzPts val="1400"/>
              <a:buNone/>
              <a:defRPr sz="1800" b="0" i="0" u="none" strike="noStrike" cap="none">
                <a:solidFill>
                  <a:schemeClr val="dk2"/>
                </a:solidFill>
                <a:latin typeface="Calibri" panose="020F0502020204030204"/>
                <a:ea typeface="Calibri" panose="020F0502020204030204"/>
                <a:cs typeface="Calibri" panose="020F0502020204030204"/>
                <a:sym typeface="Calibri" panose="020F0502020204030204"/>
              </a:defRPr>
            </a:lvl5pPr>
            <a:lvl6pPr marR="0" lvl="5" algn="ctr" rtl="0">
              <a:spcBef>
                <a:spcPts val="0"/>
              </a:spcBef>
              <a:spcAft>
                <a:spcPts val="0"/>
              </a:spcAft>
              <a:buSzPts val="1400"/>
              <a:buNone/>
              <a:defRPr sz="1800" b="0" i="0" u="none" strike="noStrike" cap="none">
                <a:solidFill>
                  <a:schemeClr val="dk2"/>
                </a:solidFill>
                <a:latin typeface="Calibri" panose="020F0502020204030204"/>
                <a:ea typeface="Calibri" panose="020F0502020204030204"/>
                <a:cs typeface="Calibri" panose="020F0502020204030204"/>
                <a:sym typeface="Calibri" panose="020F0502020204030204"/>
              </a:defRPr>
            </a:lvl6pPr>
            <a:lvl7pPr marR="0" lvl="6" algn="ctr" rtl="0">
              <a:spcBef>
                <a:spcPts val="0"/>
              </a:spcBef>
              <a:spcAft>
                <a:spcPts val="0"/>
              </a:spcAft>
              <a:buSzPts val="1400"/>
              <a:buNone/>
              <a:defRPr sz="1800" b="0" i="0" u="none" strike="noStrike" cap="none">
                <a:solidFill>
                  <a:schemeClr val="dk2"/>
                </a:solidFill>
                <a:latin typeface="Calibri" panose="020F0502020204030204"/>
                <a:ea typeface="Calibri" panose="020F0502020204030204"/>
                <a:cs typeface="Calibri" panose="020F0502020204030204"/>
                <a:sym typeface="Calibri" panose="020F0502020204030204"/>
              </a:defRPr>
            </a:lvl7pPr>
            <a:lvl8pPr marR="0" lvl="7" algn="ctr" rtl="0">
              <a:spcBef>
                <a:spcPts val="0"/>
              </a:spcBef>
              <a:spcAft>
                <a:spcPts val="0"/>
              </a:spcAft>
              <a:buSzPts val="1400"/>
              <a:buNone/>
              <a:defRPr sz="1800" b="0" i="0" u="none" strike="noStrike" cap="none">
                <a:solidFill>
                  <a:schemeClr val="dk2"/>
                </a:solidFill>
                <a:latin typeface="Calibri" panose="020F0502020204030204"/>
                <a:ea typeface="Calibri" panose="020F0502020204030204"/>
                <a:cs typeface="Calibri" panose="020F0502020204030204"/>
                <a:sym typeface="Calibri" panose="020F0502020204030204"/>
              </a:defRPr>
            </a:lvl8pPr>
            <a:lvl9pPr marR="0" lvl="8" algn="ctr" rtl="0">
              <a:spcBef>
                <a:spcPts val="0"/>
              </a:spcBef>
              <a:spcAft>
                <a:spcPts val="0"/>
              </a:spcAft>
              <a:buSzPts val="1400"/>
              <a:buNone/>
              <a:defRPr sz="1800" b="0" i="0" u="none" strike="noStrike" cap="none">
                <a:solidFill>
                  <a:schemeClr val="dk2"/>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p1"/>
          <p:cNvSpPr txBox="1">
            <a:spLocks noGrp="1"/>
          </p:cNvSpPr>
          <p:nvPr>
            <p:ph type="body" idx="1"/>
          </p:nvPr>
        </p:nvSpPr>
        <p:spPr>
          <a:xfrm>
            <a:off x="2746377" y="2613025"/>
            <a:ext cx="14611350" cy="2271712"/>
          </a:xfrm>
          <a:prstGeom prst="rect">
            <a:avLst/>
          </a:prstGeom>
          <a:noFill/>
          <a:ln>
            <a:noFill/>
          </a:ln>
        </p:spPr>
        <p:txBody>
          <a:bodyPr spcFirstLastPara="1" wrap="square" lIns="0" tIns="0" rIns="0" bIns="0" anchor="t" anchorCtr="0">
            <a:noAutofit/>
          </a:bodyPr>
          <a:lstStyle>
            <a:lvl1pPr marL="457200" marR="0" lvl="0" indent="-228600" algn="l" rtl="0">
              <a:spcBef>
                <a:spcPts val="36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36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36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36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36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800" b="0" i="0" u="none" strike="noStrike" cap="none">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800" b="0" i="0" u="none" strike="noStrike" cap="none">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800" b="0" i="0" u="none" strike="noStrike" cap="none">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800" b="0" i="0" u="none" strike="noStrike" cap="none">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p1"/>
          <p:cNvSpPr txBox="1">
            <a:spLocks noGrp="1"/>
          </p:cNvSpPr>
          <p:nvPr>
            <p:ph type="ftr" idx="11"/>
          </p:nvPr>
        </p:nvSpPr>
        <p:spPr>
          <a:xfrm>
            <a:off x="6835777" y="10517188"/>
            <a:ext cx="6432549" cy="566737"/>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r>
              <a:rPr lang="en-US"/>
              <a:t>M.Tech in Computer Network Engineering- June 2022</a:t>
            </a:r>
            <a:endParaRPr lang="en-IN"/>
          </a:p>
        </p:txBody>
      </p:sp>
      <p:sp>
        <p:nvSpPr>
          <p:cNvPr id="9" name="Google Shape;9;p1"/>
          <p:cNvSpPr txBox="1">
            <a:spLocks noGrp="1"/>
          </p:cNvSpPr>
          <p:nvPr>
            <p:ph type="dt" idx="10"/>
          </p:nvPr>
        </p:nvSpPr>
        <p:spPr>
          <a:xfrm>
            <a:off x="1004887" y="10517188"/>
            <a:ext cx="4624387" cy="566737"/>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SzPts val="1400"/>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fld id="{DDCBA8C0-BF7B-4CC5-B13A-7BC327826D49}" type="datetime1">
              <a:rPr lang="en-US" smtClean="0"/>
              <a:t>10/27/2026</a:t>
            </a:fld>
            <a:endParaRPr lang="en-IN"/>
          </a:p>
        </p:txBody>
      </p:sp>
      <p:sp>
        <p:nvSpPr>
          <p:cNvPr id="10" name="Google Shape;10;p1"/>
          <p:cNvSpPr txBox="1">
            <a:spLocks noGrp="1"/>
          </p:cNvSpPr>
          <p:nvPr>
            <p:ph type="sldNum" idx="12"/>
          </p:nvPr>
        </p:nvSpPr>
        <p:spPr>
          <a:xfrm>
            <a:off x="14474826" y="10517188"/>
            <a:ext cx="4624387" cy="566737"/>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898989"/>
              </a:buClr>
              <a:buSzPts val="1800"/>
              <a:buFont typeface="Calibri" panose="020F0502020204030204"/>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898989"/>
              </a:buClr>
              <a:buSzPts val="1800"/>
              <a:buFont typeface="Calibri" panose="020F0502020204030204"/>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898989"/>
              </a:buClr>
              <a:buSzPts val="1800"/>
              <a:buFont typeface="Calibri" panose="020F0502020204030204"/>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898989"/>
              </a:buClr>
              <a:buSzPts val="1800"/>
              <a:buFont typeface="Calibri" panose="020F0502020204030204"/>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898989"/>
              </a:buClr>
              <a:buSzPts val="1800"/>
              <a:buFont typeface="Calibri" panose="020F0502020204030204"/>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898989"/>
              </a:buClr>
              <a:buSzPts val="1800"/>
              <a:buFont typeface="Calibri" panose="020F0502020204030204"/>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898989"/>
              </a:buClr>
              <a:buSzPts val="1800"/>
              <a:buFont typeface="Calibri" panose="020F0502020204030204"/>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898989"/>
              </a:buClr>
              <a:buSzPts val="1800"/>
              <a:buFont typeface="Calibri" panose="020F0502020204030204"/>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898989"/>
              </a:buClr>
              <a:buSzPts val="1800"/>
              <a:buFont typeface="Calibri" panose="020F0502020204030204"/>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9pPr>
          </a:lstStyle>
          <a:p>
            <a:fld id="{00000000-1234-1234-1234-123412341234}" type="slidenum">
              <a:rPr lang="en-US" smtClean="0"/>
              <a:t>‹#›</a:t>
            </a:fld>
            <a:endParaRPr lang="en-US" sz="1400">
              <a:solidFill>
                <a:srgbClr val="000000"/>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sldLayoutIdLst>
    <p:sldLayoutId id="2147483673" r:id="rId1"/>
    <p:sldLayoutId id="2147483674" r:id="rId2"/>
  </p:sldLayoutIdLst>
  <p:hf hd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bk object 16"/>
          <p:cNvSpPr/>
          <p:nvPr/>
        </p:nvSpPr>
        <p:spPr bwMode="auto">
          <a:xfrm>
            <a:off x="0" y="11296650"/>
            <a:ext cx="20104100" cy="0"/>
          </a:xfrm>
          <a:custGeom>
            <a:avLst/>
            <a:gdLst>
              <a:gd name="T0" fmla="*/ 0 w 20104100"/>
              <a:gd name="T1" fmla="*/ 20104099 w 20104100"/>
              <a:gd name="T2" fmla="*/ 0 60000 65536"/>
              <a:gd name="T3" fmla="*/ 0 60000 65536"/>
            </a:gdLst>
            <a:ahLst/>
            <a:cxnLst>
              <a:cxn ang="T2">
                <a:pos x="T0" y="0"/>
              </a:cxn>
              <a:cxn ang="T3">
                <a:pos x="T1" y="0"/>
              </a:cxn>
            </a:cxnLst>
            <a:rect l="0" t="0" r="r" b="b"/>
            <a:pathLst>
              <a:path w="20104100">
                <a:moveTo>
                  <a:pt x="0" y="0"/>
                </a:moveTo>
                <a:lnTo>
                  <a:pt x="20104099" y="0"/>
                </a:lnTo>
              </a:path>
            </a:pathLst>
          </a:custGeom>
          <a:noFill/>
          <a:ln w="22859">
            <a:solidFill>
              <a:srgbClr val="E76A81"/>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2051" name="bk object 17"/>
          <p:cNvSpPr/>
          <p:nvPr/>
        </p:nvSpPr>
        <p:spPr bwMode="auto">
          <a:xfrm>
            <a:off x="0" y="11274425"/>
            <a:ext cx="20075525" cy="0"/>
          </a:xfrm>
          <a:custGeom>
            <a:avLst/>
            <a:gdLst>
              <a:gd name="T0" fmla="*/ 0 w 20076160"/>
              <a:gd name="T1" fmla="*/ 20042410 w 20076160"/>
              <a:gd name="T2" fmla="*/ 0 60000 65536"/>
              <a:gd name="T3" fmla="*/ 0 60000 65536"/>
            </a:gdLst>
            <a:ahLst/>
            <a:cxnLst>
              <a:cxn ang="T2">
                <a:pos x="T0" y="0"/>
              </a:cxn>
              <a:cxn ang="T3">
                <a:pos x="T1" y="0"/>
              </a:cxn>
            </a:cxnLst>
            <a:rect l="0" t="0" r="r" b="b"/>
            <a:pathLst>
              <a:path w="20076160">
                <a:moveTo>
                  <a:pt x="0" y="0"/>
                </a:moveTo>
                <a:lnTo>
                  <a:pt x="20076037" y="0"/>
                </a:lnTo>
              </a:path>
            </a:pathLst>
          </a:custGeom>
          <a:noFill/>
          <a:ln w="22859">
            <a:solidFill>
              <a:srgbClr val="E76A81"/>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2052" name="bk object 18"/>
          <p:cNvSpPr/>
          <p:nvPr/>
        </p:nvSpPr>
        <p:spPr bwMode="auto">
          <a:xfrm>
            <a:off x="28575" y="47625"/>
            <a:ext cx="0" cy="11214100"/>
          </a:xfrm>
          <a:custGeom>
            <a:avLst/>
            <a:gdLst>
              <a:gd name="T0" fmla="*/ 0 h 11215370"/>
              <a:gd name="T1" fmla="*/ 11148256 h 11215370"/>
              <a:gd name="T2" fmla="*/ 0 60000 65536"/>
              <a:gd name="T3" fmla="*/ 0 60000 65536"/>
            </a:gdLst>
            <a:ahLst/>
            <a:cxnLst>
              <a:cxn ang="T2">
                <a:pos x="0" y="T0"/>
              </a:cxn>
              <a:cxn ang="T3">
                <a:pos x="0" y="T1"/>
              </a:cxn>
            </a:cxnLst>
            <a:rect l="0" t="0" r="r" b="b"/>
            <a:pathLst>
              <a:path h="11215370">
                <a:moveTo>
                  <a:pt x="0" y="0"/>
                </a:moveTo>
                <a:lnTo>
                  <a:pt x="0" y="11215370"/>
                </a:lnTo>
              </a:path>
            </a:pathLst>
          </a:custGeom>
          <a:noFill/>
          <a:ln w="56218">
            <a:solidFill>
              <a:srgbClr val="E76A81"/>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2053" name="bk object 19"/>
          <p:cNvSpPr/>
          <p:nvPr/>
        </p:nvSpPr>
        <p:spPr bwMode="auto">
          <a:xfrm>
            <a:off x="0" y="23813"/>
            <a:ext cx="20104100" cy="0"/>
          </a:xfrm>
          <a:custGeom>
            <a:avLst/>
            <a:gdLst>
              <a:gd name="T0" fmla="*/ 0 w 20104100"/>
              <a:gd name="T1" fmla="*/ 20104099 w 20104100"/>
              <a:gd name="T2" fmla="*/ 0 60000 65536"/>
              <a:gd name="T3" fmla="*/ 0 60000 65536"/>
            </a:gdLst>
            <a:ahLst/>
            <a:cxnLst>
              <a:cxn ang="T2">
                <a:pos x="T0" y="0"/>
              </a:cxn>
              <a:cxn ang="T3">
                <a:pos x="T1" y="0"/>
              </a:cxn>
            </a:cxnLst>
            <a:rect l="0" t="0" r="r" b="b"/>
            <a:pathLst>
              <a:path w="20104100">
                <a:moveTo>
                  <a:pt x="0" y="0"/>
                </a:moveTo>
                <a:lnTo>
                  <a:pt x="20104099" y="0"/>
                </a:lnTo>
              </a:path>
            </a:pathLst>
          </a:custGeom>
          <a:noFill/>
          <a:ln w="46990">
            <a:solidFill>
              <a:srgbClr val="E76A81"/>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2054" name="bk object 20"/>
          <p:cNvSpPr/>
          <p:nvPr/>
        </p:nvSpPr>
        <p:spPr bwMode="auto">
          <a:xfrm>
            <a:off x="20075525" y="11261725"/>
            <a:ext cx="28575" cy="23813"/>
          </a:xfrm>
          <a:custGeom>
            <a:avLst/>
            <a:gdLst>
              <a:gd name="T0" fmla="*/ 0 w 28575"/>
              <a:gd name="T1" fmla="*/ 199575 h 22859"/>
              <a:gd name="T2" fmla="*/ 28061 w 28575"/>
              <a:gd name="T3" fmla="*/ 199575 h 22859"/>
              <a:gd name="T4" fmla="*/ 28061 w 28575"/>
              <a:gd name="T5" fmla="*/ 0 h 22859"/>
              <a:gd name="T6" fmla="*/ 0 w 28575"/>
              <a:gd name="T7" fmla="*/ 0 h 22859"/>
              <a:gd name="T8" fmla="*/ 0 w 28575"/>
              <a:gd name="T9" fmla="*/ 199575 h 2285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575" h="22859">
                <a:moveTo>
                  <a:pt x="0" y="22856"/>
                </a:moveTo>
                <a:lnTo>
                  <a:pt x="28061" y="22856"/>
                </a:lnTo>
                <a:lnTo>
                  <a:pt x="28061" y="0"/>
                </a:lnTo>
                <a:lnTo>
                  <a:pt x="0" y="0"/>
                </a:lnTo>
                <a:lnTo>
                  <a:pt x="0" y="22856"/>
                </a:lnTo>
                <a:close/>
              </a:path>
            </a:pathLst>
          </a:custGeom>
          <a:solidFill>
            <a:srgbClr val="E76A81"/>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en-IN"/>
          </a:p>
        </p:txBody>
      </p:sp>
      <p:sp>
        <p:nvSpPr>
          <p:cNvPr id="2055" name="bk object 21"/>
          <p:cNvSpPr/>
          <p:nvPr/>
        </p:nvSpPr>
        <p:spPr bwMode="auto">
          <a:xfrm>
            <a:off x="20075525" y="47625"/>
            <a:ext cx="0" cy="11214100"/>
          </a:xfrm>
          <a:custGeom>
            <a:avLst/>
            <a:gdLst>
              <a:gd name="T0" fmla="*/ 0 h 11215370"/>
              <a:gd name="T1" fmla="*/ 11148256 h 11215370"/>
              <a:gd name="T2" fmla="*/ 0 60000 65536"/>
              <a:gd name="T3" fmla="*/ 0 60000 65536"/>
            </a:gdLst>
            <a:ahLst/>
            <a:cxnLst>
              <a:cxn ang="T2">
                <a:pos x="0" y="T0"/>
              </a:cxn>
              <a:cxn ang="T3">
                <a:pos x="0" y="T1"/>
              </a:cxn>
            </a:cxnLst>
            <a:rect l="0" t="0" r="r" b="b"/>
            <a:pathLst>
              <a:path h="11215370">
                <a:moveTo>
                  <a:pt x="0" y="0"/>
                </a:moveTo>
                <a:lnTo>
                  <a:pt x="0" y="11215370"/>
                </a:lnTo>
              </a:path>
            </a:pathLst>
          </a:custGeom>
          <a:noFill/>
          <a:ln w="56176">
            <a:solidFill>
              <a:srgbClr val="E76A81"/>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2056" name="Holder 2"/>
          <p:cNvSpPr>
            <a:spLocks noGrp="1"/>
          </p:cNvSpPr>
          <p:nvPr>
            <p:ph type="title"/>
          </p:nvPr>
        </p:nvSpPr>
        <p:spPr bwMode="auto">
          <a:xfrm>
            <a:off x="581025" y="407988"/>
            <a:ext cx="18942050"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spAutoFit/>
          </a:bodyPr>
          <a:lstStyle/>
          <a:p>
            <a:pPr lvl="0"/>
            <a:endParaRPr lang="en-US" altLang="en-US"/>
          </a:p>
        </p:txBody>
      </p:sp>
      <p:sp>
        <p:nvSpPr>
          <p:cNvPr id="2057" name="Holder 3"/>
          <p:cNvSpPr>
            <a:spLocks noGrp="1"/>
          </p:cNvSpPr>
          <p:nvPr>
            <p:ph type="body" idx="1"/>
          </p:nvPr>
        </p:nvSpPr>
        <p:spPr bwMode="auto">
          <a:xfrm>
            <a:off x="2746375" y="2613025"/>
            <a:ext cx="14611350" cy="2271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spAutoFit/>
          </a:bodyPr>
          <a:lstStyle/>
          <a:p>
            <a:pPr lvl="0"/>
            <a:endParaRPr lang="en-US" altLang="en-US"/>
          </a:p>
        </p:txBody>
      </p:sp>
      <p:sp>
        <p:nvSpPr>
          <p:cNvPr id="4" name="Holder 4"/>
          <p:cNvSpPr>
            <a:spLocks noGrp="1"/>
          </p:cNvSpPr>
          <p:nvPr>
            <p:ph type="ftr" sz="quarter" idx="5"/>
          </p:nvPr>
        </p:nvSpPr>
        <p:spPr>
          <a:xfrm>
            <a:off x="6835775" y="10517188"/>
            <a:ext cx="6432550" cy="566737"/>
          </a:xfrm>
          <a:prstGeom prst="rect">
            <a:avLst/>
          </a:prstGeom>
        </p:spPr>
        <p:txBody>
          <a:bodyPr wrap="square" lIns="0" tIns="0" rIns="0" bIns="0">
            <a:spAutoFit/>
          </a:bodyPr>
          <a:lstStyle>
            <a:lvl1pPr algn="ctr" eaLnBrk="1" fontAlgn="auto" hangingPunct="1">
              <a:spcBef>
                <a:spcPts val="0"/>
              </a:spcBef>
              <a:spcAft>
                <a:spcPts val="0"/>
              </a:spcAft>
              <a:defRPr>
                <a:solidFill>
                  <a:schemeClr val="tx1">
                    <a:tint val="75000"/>
                  </a:schemeClr>
                </a:solidFill>
                <a:latin typeface="+mn-lt"/>
                <a:ea typeface="+mn-ea"/>
                <a:cs typeface="+mn-cs"/>
              </a:defRPr>
            </a:lvl1pPr>
          </a:lstStyle>
          <a:p>
            <a:pPr>
              <a:defRPr/>
            </a:pPr>
            <a:r>
              <a:rPr lang="en-US"/>
              <a:t>MTech in Computer Network Engineering –  Major Project Phase-I  Feb 2022</a:t>
            </a:r>
          </a:p>
        </p:txBody>
      </p:sp>
      <p:sp>
        <p:nvSpPr>
          <p:cNvPr id="5" name="Holder 5"/>
          <p:cNvSpPr>
            <a:spLocks noGrp="1"/>
          </p:cNvSpPr>
          <p:nvPr>
            <p:ph type="dt" sz="half" idx="6"/>
          </p:nvPr>
        </p:nvSpPr>
        <p:spPr>
          <a:xfrm>
            <a:off x="1004888" y="10517188"/>
            <a:ext cx="4624387" cy="566737"/>
          </a:xfrm>
          <a:prstGeom prst="rect">
            <a:avLst/>
          </a:prstGeom>
        </p:spPr>
        <p:txBody>
          <a:bodyPr vert="horz" wrap="square" lIns="0" tIns="0" rIns="0" bIns="0" numCol="1" anchor="t" anchorCtr="0" compatLnSpc="1">
            <a:spAutoFit/>
          </a:bodyPr>
          <a:lstStyle>
            <a:lvl1pPr eaLnBrk="1" hangingPunct="1">
              <a:defRPr>
                <a:solidFill>
                  <a:srgbClr val="898989"/>
                </a:solidFill>
              </a:defRPr>
            </a:lvl1pPr>
          </a:lstStyle>
          <a:p>
            <a:pPr>
              <a:defRPr/>
            </a:pPr>
            <a:fld id="{B5ED016A-ACB0-4727-B350-0E0147E433F2}" type="datetime1">
              <a:rPr lang="en-US" altLang="en-US"/>
              <a:t>10/27/2026</a:t>
            </a:fld>
            <a:endParaRPr lang="en-US" altLang="en-US"/>
          </a:p>
        </p:txBody>
      </p:sp>
      <p:sp>
        <p:nvSpPr>
          <p:cNvPr id="6" name="Holder 6"/>
          <p:cNvSpPr>
            <a:spLocks noGrp="1"/>
          </p:cNvSpPr>
          <p:nvPr>
            <p:ph type="sldNum" sz="quarter" idx="7"/>
          </p:nvPr>
        </p:nvSpPr>
        <p:spPr>
          <a:xfrm>
            <a:off x="14474825" y="10517188"/>
            <a:ext cx="4624388" cy="566737"/>
          </a:xfrm>
          <a:prstGeom prst="rect">
            <a:avLst/>
          </a:prstGeom>
        </p:spPr>
        <p:txBody>
          <a:bodyPr vert="horz" wrap="square" lIns="0" tIns="0" rIns="0" bIns="0" numCol="1" anchor="t" anchorCtr="0" compatLnSpc="1">
            <a:spAutoFit/>
          </a:bodyPr>
          <a:lstStyle>
            <a:lvl1pPr algn="r" eaLnBrk="1" hangingPunct="1">
              <a:defRPr>
                <a:solidFill>
                  <a:srgbClr val="898989"/>
                </a:solidFill>
              </a:defRPr>
            </a:lvl1pPr>
          </a:lstStyle>
          <a:p>
            <a:pPr>
              <a:defRPr/>
            </a:pPr>
            <a:fld id="{75FB71A7-BD20-480F-B99C-894E6ADC2977}" type="slidenum">
              <a:rPr lang="en-US" altLang="en-US"/>
              <a:t>‹#›</a:t>
            </a:fld>
            <a:endParaRPr lang="en-US" altLang="en-US"/>
          </a:p>
        </p:txBody>
      </p:sp>
    </p:spTree>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Lst>
  <p:hf hdr="0" dt="0"/>
  <p:txStyles>
    <p:titleStyle>
      <a:lvl1pPr algn="ctr" rtl="0" eaLnBrk="0" fontAlgn="base" hangingPunct="0">
        <a:spcBef>
          <a:spcPct val="0"/>
        </a:spcBef>
        <a:spcAft>
          <a:spcPct val="0"/>
        </a:spcAft>
        <a:defRPr>
          <a:solidFill>
            <a:schemeClr val="tx2"/>
          </a:solidFill>
          <a:latin typeface="+mj-lt"/>
          <a:ea typeface="MS PGothic" panose="020B0600070205080204" charset="-128"/>
          <a:cs typeface="MS PGothic" panose="020B0600070205080204" charset="-128"/>
        </a:defRPr>
      </a:lvl1pPr>
      <a:lvl2pPr algn="ctr" rtl="0" eaLnBrk="0" fontAlgn="base" hangingPunct="0">
        <a:spcBef>
          <a:spcPct val="0"/>
        </a:spcBef>
        <a:spcAft>
          <a:spcPct val="0"/>
        </a:spcAft>
        <a:defRPr>
          <a:solidFill>
            <a:schemeClr val="tx2"/>
          </a:solidFill>
          <a:latin typeface="Calibri" panose="020F0502020204030204" charset="0"/>
          <a:ea typeface="MS PGothic" panose="020B0600070205080204" charset="-128"/>
          <a:cs typeface="MS PGothic" panose="020B0600070205080204" charset="-128"/>
        </a:defRPr>
      </a:lvl2pPr>
      <a:lvl3pPr algn="ctr" rtl="0" eaLnBrk="0" fontAlgn="base" hangingPunct="0">
        <a:spcBef>
          <a:spcPct val="0"/>
        </a:spcBef>
        <a:spcAft>
          <a:spcPct val="0"/>
        </a:spcAft>
        <a:defRPr>
          <a:solidFill>
            <a:schemeClr val="tx2"/>
          </a:solidFill>
          <a:latin typeface="Calibri" panose="020F0502020204030204" charset="0"/>
          <a:ea typeface="MS PGothic" panose="020B0600070205080204" charset="-128"/>
          <a:cs typeface="MS PGothic" panose="020B0600070205080204" charset="-128"/>
        </a:defRPr>
      </a:lvl3pPr>
      <a:lvl4pPr algn="ctr" rtl="0" eaLnBrk="0" fontAlgn="base" hangingPunct="0">
        <a:spcBef>
          <a:spcPct val="0"/>
        </a:spcBef>
        <a:spcAft>
          <a:spcPct val="0"/>
        </a:spcAft>
        <a:defRPr>
          <a:solidFill>
            <a:schemeClr val="tx2"/>
          </a:solidFill>
          <a:latin typeface="Calibri" panose="020F0502020204030204" charset="0"/>
          <a:ea typeface="MS PGothic" panose="020B0600070205080204" charset="-128"/>
          <a:cs typeface="MS PGothic" panose="020B0600070205080204" charset="-128"/>
        </a:defRPr>
      </a:lvl4pPr>
      <a:lvl5pPr algn="ctr" rtl="0" eaLnBrk="0" fontAlgn="base" hangingPunct="0">
        <a:spcBef>
          <a:spcPct val="0"/>
        </a:spcBef>
        <a:spcAft>
          <a:spcPct val="0"/>
        </a:spcAft>
        <a:defRPr>
          <a:solidFill>
            <a:schemeClr val="tx2"/>
          </a:solidFill>
          <a:latin typeface="Calibri" panose="020F0502020204030204" charset="0"/>
          <a:ea typeface="MS PGothic" panose="020B0600070205080204" charset="-128"/>
          <a:cs typeface="MS PGothic" panose="020B0600070205080204" charset="-128"/>
        </a:defRPr>
      </a:lvl5pPr>
      <a:lvl6pPr marL="457200" algn="ctr" rtl="0" eaLnBrk="0" fontAlgn="base" hangingPunct="0">
        <a:spcBef>
          <a:spcPct val="0"/>
        </a:spcBef>
        <a:spcAft>
          <a:spcPct val="0"/>
        </a:spcAft>
        <a:defRPr>
          <a:solidFill>
            <a:schemeClr val="tx2"/>
          </a:solidFill>
          <a:latin typeface="Calibri" panose="020F0502020204030204" charset="0"/>
          <a:ea typeface="MS PGothic" panose="020B0600070205080204" charset="-128"/>
          <a:cs typeface="MS PGothic" panose="020B0600070205080204" charset="-128"/>
        </a:defRPr>
      </a:lvl6pPr>
      <a:lvl7pPr marL="914400" algn="ctr" rtl="0" eaLnBrk="0" fontAlgn="base" hangingPunct="0">
        <a:spcBef>
          <a:spcPct val="0"/>
        </a:spcBef>
        <a:spcAft>
          <a:spcPct val="0"/>
        </a:spcAft>
        <a:defRPr>
          <a:solidFill>
            <a:schemeClr val="tx2"/>
          </a:solidFill>
          <a:latin typeface="Calibri" panose="020F0502020204030204" charset="0"/>
          <a:ea typeface="MS PGothic" panose="020B0600070205080204" charset="-128"/>
          <a:cs typeface="MS PGothic" panose="020B0600070205080204" charset="-128"/>
        </a:defRPr>
      </a:lvl7pPr>
      <a:lvl8pPr marL="1371600" algn="ctr" rtl="0" eaLnBrk="0" fontAlgn="base" hangingPunct="0">
        <a:spcBef>
          <a:spcPct val="0"/>
        </a:spcBef>
        <a:spcAft>
          <a:spcPct val="0"/>
        </a:spcAft>
        <a:defRPr>
          <a:solidFill>
            <a:schemeClr val="tx2"/>
          </a:solidFill>
          <a:latin typeface="Calibri" panose="020F0502020204030204" charset="0"/>
          <a:ea typeface="MS PGothic" panose="020B0600070205080204" charset="-128"/>
          <a:cs typeface="MS PGothic" panose="020B0600070205080204" charset="-128"/>
        </a:defRPr>
      </a:lvl8pPr>
      <a:lvl9pPr marL="1828800" algn="ctr" rtl="0" eaLnBrk="0" fontAlgn="base" hangingPunct="0">
        <a:spcBef>
          <a:spcPct val="0"/>
        </a:spcBef>
        <a:spcAft>
          <a:spcPct val="0"/>
        </a:spcAft>
        <a:defRPr>
          <a:solidFill>
            <a:schemeClr val="tx2"/>
          </a:solidFill>
          <a:latin typeface="Calibri" panose="020F0502020204030204" charset="0"/>
          <a:ea typeface="MS PGothic" panose="020B0600070205080204" charset="-128"/>
          <a:cs typeface="MS PGothic" panose="020B0600070205080204" charset="-128"/>
        </a:defRPr>
      </a:lvl9pPr>
    </p:titleStyle>
    <p:bodyStyle>
      <a:lvl1pPr marL="342900" indent="-342900" algn="l" rtl="0" eaLnBrk="0" fontAlgn="base" hangingPunct="0">
        <a:spcBef>
          <a:spcPct val="20000"/>
        </a:spcBef>
        <a:spcAft>
          <a:spcPct val="0"/>
        </a:spcAft>
        <a:defRPr>
          <a:solidFill>
            <a:schemeClr val="tx1"/>
          </a:solidFill>
          <a:latin typeface="+mn-lt"/>
          <a:ea typeface="MS PGothic" panose="020B0600070205080204" charset="-128"/>
          <a:cs typeface="MS PGothic" panose="020B0600070205080204" charset="-128"/>
        </a:defRPr>
      </a:lvl1pPr>
      <a:lvl2pPr marL="457200" algn="l" rtl="0" eaLnBrk="0" fontAlgn="base" hangingPunct="0">
        <a:spcBef>
          <a:spcPct val="20000"/>
        </a:spcBef>
        <a:spcAft>
          <a:spcPct val="0"/>
        </a:spcAft>
        <a:defRPr>
          <a:solidFill>
            <a:schemeClr val="tx1"/>
          </a:solidFill>
          <a:latin typeface="+mn-lt"/>
          <a:ea typeface="MS PGothic" panose="020B0600070205080204" charset="-128"/>
          <a:cs typeface="+mn-cs"/>
        </a:defRPr>
      </a:lvl2pPr>
      <a:lvl3pPr marL="914400" algn="l" rtl="0" eaLnBrk="0" fontAlgn="base" hangingPunct="0">
        <a:spcBef>
          <a:spcPct val="20000"/>
        </a:spcBef>
        <a:spcAft>
          <a:spcPct val="0"/>
        </a:spcAft>
        <a:defRPr>
          <a:solidFill>
            <a:schemeClr val="tx1"/>
          </a:solidFill>
          <a:latin typeface="+mn-lt"/>
          <a:ea typeface="MS PGothic" panose="020B0600070205080204" charset="-128"/>
          <a:cs typeface="+mn-cs"/>
        </a:defRPr>
      </a:lvl3pPr>
      <a:lvl4pPr marL="1371600" algn="l" rtl="0" eaLnBrk="0" fontAlgn="base" hangingPunct="0">
        <a:spcBef>
          <a:spcPct val="20000"/>
        </a:spcBef>
        <a:spcAft>
          <a:spcPct val="0"/>
        </a:spcAft>
        <a:defRPr>
          <a:solidFill>
            <a:schemeClr val="tx1"/>
          </a:solidFill>
          <a:latin typeface="+mn-lt"/>
          <a:ea typeface="MS PGothic" panose="020B0600070205080204" charset="-128"/>
          <a:cs typeface="+mn-cs"/>
        </a:defRPr>
      </a:lvl4pPr>
      <a:lvl5pPr marL="1828800" algn="l" rtl="0" eaLnBrk="0" fontAlgn="base" hangingPunct="0">
        <a:spcBef>
          <a:spcPct val="20000"/>
        </a:spcBef>
        <a:spcAft>
          <a:spcPct val="0"/>
        </a:spcAft>
        <a:defRPr>
          <a:solidFill>
            <a:schemeClr val="tx1"/>
          </a:solidFill>
          <a:latin typeface="+mn-lt"/>
          <a:ea typeface="MS PGothic" panose="020B0600070205080204" charset="-128"/>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2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chart" Target="../charts/chart1.xml"/><Relationship Id="rId4" Type="http://schemas.openxmlformats.org/officeDocument/2006/relationships/notesSlide" Target="../notesSlides/notesSlide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1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2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2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2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2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2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3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notesSlide" Target="../notesSlides/notesSlide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chart" Target="../charts/chart2.xml"/><Relationship Id="rId4" Type="http://schemas.openxmlformats.org/officeDocument/2006/relationships/notesSlide" Target="../notesSlides/notesSlide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chart" Target="../charts/chart3.xml"/><Relationship Id="rId4" Type="http://schemas.openxmlformats.org/officeDocument/2006/relationships/notesSlide" Target="../notesSlides/notesSlide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chart" Target="../charts/chart4.xml"/><Relationship Id="rId4"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image" Target="../media/image10.png"/><Relationship Id="rId4"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chart" Target="../charts/chart5.xml"/><Relationship Id="rId4"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image" Target="../media/image11.png"/><Relationship Id="rId4"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5088" y="15875"/>
            <a:ext cx="20234275" cy="11309350"/>
          </a:xfrm>
          <a:prstGeom prst="rect">
            <a:avLst/>
          </a:prstGeom>
          <a:solidFill>
            <a:schemeClr val="accent5">
              <a:lumMod val="20000"/>
              <a:lumOff val="80000"/>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8195" name="object 2"/>
          <p:cNvSpPr txBox="1">
            <a:spLocks noChangeArrowheads="1"/>
          </p:cNvSpPr>
          <p:nvPr/>
        </p:nvSpPr>
        <p:spPr bwMode="auto">
          <a:xfrm>
            <a:off x="2508250" y="5072937"/>
            <a:ext cx="18249900" cy="6918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1430" rIns="0" bIns="0">
            <a:spAutoFit/>
          </a:bodyPr>
          <a:lstStyle>
            <a:lvl1pPr marL="12700">
              <a:spcBef>
                <a:spcPct val="20000"/>
              </a:spcBef>
              <a:tabLst>
                <a:tab pos="3514725" algn="l"/>
              </a:tabLst>
              <a:defRPr>
                <a:solidFill>
                  <a:schemeClr val="tx1"/>
                </a:solidFill>
                <a:latin typeface="Calibri" panose="020F0502020204030204" charset="0"/>
                <a:ea typeface="MS PGothic" panose="020B0600070205080204" charset="-128"/>
              </a:defRPr>
            </a:lvl1pPr>
            <a:lvl2pPr marL="742950" indent="-285750">
              <a:spcBef>
                <a:spcPct val="20000"/>
              </a:spcBef>
              <a:tabLst>
                <a:tab pos="3514725" algn="l"/>
              </a:tabLst>
              <a:defRPr>
                <a:solidFill>
                  <a:schemeClr val="tx1"/>
                </a:solidFill>
                <a:latin typeface="Calibri" panose="020F0502020204030204" charset="0"/>
                <a:ea typeface="MS PGothic" panose="020B0600070205080204" charset="-128"/>
              </a:defRPr>
            </a:lvl2pPr>
            <a:lvl3pPr marL="1143000" indent="-228600">
              <a:spcBef>
                <a:spcPct val="20000"/>
              </a:spcBef>
              <a:tabLst>
                <a:tab pos="3514725" algn="l"/>
              </a:tabLst>
              <a:defRPr>
                <a:solidFill>
                  <a:schemeClr val="tx1"/>
                </a:solidFill>
                <a:latin typeface="Calibri" panose="020F0502020204030204" charset="0"/>
                <a:ea typeface="MS PGothic" panose="020B0600070205080204" charset="-128"/>
              </a:defRPr>
            </a:lvl3pPr>
            <a:lvl4pPr marL="1600200" indent="-228600">
              <a:spcBef>
                <a:spcPct val="20000"/>
              </a:spcBef>
              <a:tabLst>
                <a:tab pos="3514725" algn="l"/>
              </a:tabLst>
              <a:defRPr>
                <a:solidFill>
                  <a:schemeClr val="tx1"/>
                </a:solidFill>
                <a:latin typeface="Calibri" panose="020F0502020204030204" charset="0"/>
                <a:ea typeface="MS PGothic" panose="020B0600070205080204" charset="-128"/>
              </a:defRPr>
            </a:lvl4pPr>
            <a:lvl5pPr marL="2057400" indent="-228600">
              <a:spcBef>
                <a:spcPct val="20000"/>
              </a:spcBef>
              <a:tabLst>
                <a:tab pos="3514725" algn="l"/>
              </a:tabLst>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tabLst>
                <a:tab pos="3514725" algn="l"/>
              </a:tabLs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tabLst>
                <a:tab pos="3514725" algn="l"/>
              </a:tabLs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tabLst>
                <a:tab pos="3514725" algn="l"/>
              </a:tabLs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tabLst>
                <a:tab pos="3514725" algn="l"/>
              </a:tabLst>
              <a:defRPr>
                <a:solidFill>
                  <a:schemeClr val="tx1"/>
                </a:solidFill>
                <a:latin typeface="Calibri" panose="020F0502020204030204" charset="0"/>
                <a:ea typeface="MS PGothic" panose="020B0600070205080204" charset="-128"/>
              </a:defRPr>
            </a:lvl9pPr>
          </a:lstStyle>
          <a:p>
            <a:pPr algn="ctr"/>
            <a:r>
              <a:rPr lang="en-US" altLang="en-US" sz="36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Srijan C Vachadmath (1BM23CD060)</a:t>
            </a:r>
          </a:p>
          <a:p>
            <a:pPr algn="ctr"/>
            <a:r>
              <a:rPr lang="en-US" altLang="en-US" sz="36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Manohara Salmani (1BM23CD035)</a:t>
            </a:r>
          </a:p>
          <a:p>
            <a:pPr algn="ctr"/>
            <a:r>
              <a:rPr lang="en-US" altLang="en-US" sz="36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Shreejith Shah (1BM23CD057)</a:t>
            </a:r>
          </a:p>
          <a:p>
            <a:endParaRPr lang="en-US" altLang="en-US" sz="4000" dirty="0">
              <a:ea typeface="Cambria" panose="02040503050406030204" pitchFamily="18" charset="0"/>
              <a:cs typeface="Times New Roman" panose="02020603050405020304" pitchFamily="18" charset="0"/>
            </a:endParaRPr>
          </a:p>
          <a:p>
            <a:endParaRPr lang="en-US" altLang="en-US" sz="4000" dirty="0">
              <a:ea typeface="Cambria" panose="02040503050406030204" pitchFamily="18" charset="0"/>
              <a:cs typeface="Times New Roman" panose="02020603050405020304" pitchFamily="18" charset="0"/>
            </a:endParaRPr>
          </a:p>
          <a:p>
            <a:pPr algn="ctr"/>
            <a:r>
              <a:rPr lang="en-US" altLang="en-US" sz="3600" dirty="0">
                <a:latin typeface="Times New Roman" panose="02020603050405020304" pitchFamily="18" charset="0"/>
                <a:ea typeface="Cambria" panose="02040503050406030204" pitchFamily="18" charset="0"/>
                <a:cs typeface="Times New Roman" panose="02020603050405020304" pitchFamily="18" charset="0"/>
              </a:rPr>
              <a:t>Dr. Kalyan N</a:t>
            </a:r>
          </a:p>
          <a:p>
            <a:pPr algn="ctr"/>
            <a:r>
              <a:rPr lang="en-US" altLang="en-US" sz="3600" dirty="0">
                <a:latin typeface="Times New Roman" panose="02020603050405020304" pitchFamily="18" charset="0"/>
                <a:ea typeface="Cambria" panose="02040503050406030204" pitchFamily="18" charset="0"/>
                <a:cs typeface="Times New Roman" panose="02020603050405020304" pitchFamily="18" charset="0"/>
              </a:rPr>
              <a:t>Assistant Professor </a:t>
            </a:r>
          </a:p>
          <a:p>
            <a:pPr algn="ctr"/>
            <a:r>
              <a:rPr lang="en-US" altLang="en-US" sz="3600" dirty="0">
                <a:latin typeface="Times New Roman" panose="02020603050405020304" pitchFamily="18" charset="0"/>
                <a:ea typeface="Cambria" panose="02040503050406030204" pitchFamily="18" charset="0"/>
                <a:cs typeface="Times New Roman" panose="02020603050405020304" pitchFamily="18" charset="0"/>
              </a:rPr>
              <a:t>Department of CSE(Data Science)</a:t>
            </a:r>
          </a:p>
          <a:p>
            <a:pPr algn="ctr"/>
            <a:r>
              <a:rPr lang="en-US" altLang="en-US" sz="3600" dirty="0">
                <a:latin typeface="Times New Roman" panose="02020603050405020304" pitchFamily="18" charset="0"/>
                <a:ea typeface="Cambria" panose="02040503050406030204" pitchFamily="18" charset="0"/>
                <a:cs typeface="Times New Roman" panose="02020603050405020304" pitchFamily="18" charset="0"/>
              </a:rPr>
              <a:t>BMSCE, Bengaluru</a:t>
            </a:r>
          </a:p>
          <a:p>
            <a:endParaRPr lang="en-US" altLang="en-US" sz="4800" dirty="0">
              <a:ea typeface="Cambria" panose="02040503050406030204" pitchFamily="18" charset="0"/>
              <a:cs typeface="Times New Roman" panose="02020603050405020304" pitchFamily="18" charset="0"/>
            </a:endParaRPr>
          </a:p>
        </p:txBody>
      </p:sp>
      <p:sp>
        <p:nvSpPr>
          <p:cNvPr id="8196" name="object 3"/>
          <p:cNvSpPr/>
          <p:nvPr/>
        </p:nvSpPr>
        <p:spPr bwMode="auto">
          <a:xfrm>
            <a:off x="0" y="56776"/>
            <a:ext cx="8645236" cy="6110979"/>
          </a:xfrm>
          <a:custGeom>
            <a:avLst/>
            <a:gdLst>
              <a:gd name="T0" fmla="*/ 303909309 w 7436484"/>
              <a:gd name="T1" fmla="*/ 0 h 5134610"/>
              <a:gd name="T2" fmla="*/ 0 w 7436484"/>
              <a:gd name="T3" fmla="*/ 0 h 5134610"/>
              <a:gd name="T4" fmla="*/ 0 w 7436484"/>
              <a:gd name="T5" fmla="*/ 211077907 h 5134610"/>
              <a:gd name="T6" fmla="*/ 303909309 w 7436484"/>
              <a:gd name="T7" fmla="*/ 0 h 513461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436484" h="5134610">
                <a:moveTo>
                  <a:pt x="7435941" y="0"/>
                </a:moveTo>
                <a:lnTo>
                  <a:pt x="0" y="0"/>
                </a:lnTo>
                <a:lnTo>
                  <a:pt x="0" y="5134513"/>
                </a:lnTo>
                <a:lnTo>
                  <a:pt x="7435941" y="0"/>
                </a:lnTo>
                <a:close/>
              </a:path>
            </a:pathLst>
          </a:custGeom>
          <a:solidFill>
            <a:schemeClr val="bg1"/>
          </a:solidFill>
          <a:ln>
            <a:noFill/>
          </a:ln>
        </p:spPr>
        <p:txBody>
          <a:bodyPr lIns="0" tIns="0" rIns="0" bIns="0"/>
          <a:lstStyle/>
          <a:p>
            <a:endParaRPr lang="en-IN">
              <a:solidFill>
                <a:srgbClr val="FFFF00"/>
              </a:solidFill>
            </a:endParaRPr>
          </a:p>
        </p:txBody>
      </p:sp>
      <p:sp>
        <p:nvSpPr>
          <p:cNvPr id="8198" name="object 5"/>
          <p:cNvSpPr>
            <a:spLocks noChangeArrowheads="1"/>
          </p:cNvSpPr>
          <p:nvPr/>
        </p:nvSpPr>
        <p:spPr bwMode="auto">
          <a:xfrm>
            <a:off x="5603875" y="1336675"/>
            <a:ext cx="146050" cy="147638"/>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eaLnBrk="1" hangingPunct="1">
              <a:spcBef>
                <a:spcPct val="0"/>
              </a:spcBef>
            </a:pPr>
            <a:endParaRPr lang="en-US" altLang="en-US"/>
          </a:p>
        </p:txBody>
      </p:sp>
      <p:sp>
        <p:nvSpPr>
          <p:cNvPr id="8199" name="object 6"/>
          <p:cNvSpPr txBox="1">
            <a:spLocks noChangeArrowheads="1"/>
          </p:cNvSpPr>
          <p:nvPr/>
        </p:nvSpPr>
        <p:spPr bwMode="auto">
          <a:xfrm>
            <a:off x="2508250" y="720725"/>
            <a:ext cx="3810000" cy="1231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3335" rIns="0" bIns="0">
            <a:spAutoFit/>
          </a:bodyPr>
          <a:lstStyle>
            <a:lvl1pPr marL="12700">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pPr eaLnBrk="1" hangingPunct="1">
              <a:lnSpc>
                <a:spcPts val="4700"/>
              </a:lnSpc>
              <a:spcBef>
                <a:spcPts val="100"/>
              </a:spcBef>
            </a:pPr>
            <a:r>
              <a:rPr lang="en-IN" altLang="en-US" sz="4100" b="1" dirty="0">
                <a:solidFill>
                  <a:schemeClr val="bg2"/>
                </a:solidFill>
                <a:cs typeface="Calibri" panose="020F0502020204030204" charset="0"/>
              </a:rPr>
              <a:t>B.M.S. College of </a:t>
            </a:r>
          </a:p>
          <a:p>
            <a:pPr eaLnBrk="1" hangingPunct="1">
              <a:lnSpc>
                <a:spcPts val="4700"/>
              </a:lnSpc>
              <a:spcBef>
                <a:spcPts val="100"/>
              </a:spcBef>
            </a:pPr>
            <a:r>
              <a:rPr lang="en-IN" altLang="en-US" sz="4100" b="1" dirty="0">
                <a:solidFill>
                  <a:schemeClr val="bg2"/>
                </a:solidFill>
                <a:cs typeface="Calibri" panose="020F0502020204030204" charset="0"/>
              </a:rPr>
              <a:t>Engineering</a:t>
            </a:r>
            <a:endParaRPr lang="en-US" altLang="en-US" sz="4100" dirty="0">
              <a:solidFill>
                <a:schemeClr val="bg2"/>
              </a:solidFill>
              <a:cs typeface="Calibri" panose="020F0502020204030204" charset="0"/>
            </a:endParaRPr>
          </a:p>
        </p:txBody>
      </p:sp>
      <p:sp>
        <p:nvSpPr>
          <p:cNvPr id="8201" name="Text Box 4"/>
          <p:cNvSpPr txBox="1">
            <a:spLocks noChangeArrowheads="1"/>
          </p:cNvSpPr>
          <p:nvPr/>
        </p:nvSpPr>
        <p:spPr bwMode="auto">
          <a:xfrm>
            <a:off x="4119563" y="1188663"/>
            <a:ext cx="14979650"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000" b="1" dirty="0">
                <a:solidFill>
                  <a:schemeClr val="bg2"/>
                </a:solidFill>
                <a:latin typeface="Cambria" panose="02040503050406030204" pitchFamily="18" charset="0"/>
                <a:cs typeface="Arial" panose="020B0604020202020204" pitchFamily="34" charset="0"/>
              </a:rPr>
              <a:t>Project work – Phase II</a:t>
            </a:r>
          </a:p>
          <a:p>
            <a:pPr algn="ctr">
              <a:spcBef>
                <a:spcPct val="0"/>
              </a:spcBef>
            </a:pPr>
            <a:r>
              <a:rPr lang="en-IN" sz="4800" dirty="0"/>
              <a:t>23DS7PWPP2  |  Review 2</a:t>
            </a:r>
            <a:endParaRPr lang="en-US" altLang="en-US" sz="3200" b="1" dirty="0">
              <a:solidFill>
                <a:schemeClr val="bg2"/>
              </a:solidFill>
              <a:latin typeface="Times New Roman" panose="02020603050405020304" pitchFamily="18" charset="0"/>
              <a:cs typeface="Times New Roman" panose="02020603050405020304" pitchFamily="18" charset="0"/>
            </a:endParaRPr>
          </a:p>
          <a:p>
            <a:pPr algn="ctr">
              <a:spcBef>
                <a:spcPct val="0"/>
              </a:spcBef>
            </a:pPr>
            <a:endParaRPr lang="en-US" altLang="en-US" sz="4000" b="1" dirty="0">
              <a:solidFill>
                <a:srgbClr val="002060"/>
              </a:solidFill>
              <a:latin typeface="Times New Roman" panose="02020603050405020304" pitchFamily="18" charset="0"/>
              <a:cs typeface="Calibri" panose="020F0502020204030204" charset="0"/>
            </a:endParaRPr>
          </a:p>
          <a:p>
            <a:pPr algn="ctr">
              <a:spcBef>
                <a:spcPct val="0"/>
              </a:spcBef>
            </a:pPr>
            <a:r>
              <a:rPr lang="en-US" altLang="en-US" sz="3000" b="1" dirty="0">
                <a:latin typeface="Times New Roman" panose="02020603050405020304" pitchFamily="18" charset="0"/>
                <a:cs typeface="Times New Roman" panose="02020603050405020304" pitchFamily="18" charset="0"/>
              </a:rPr>
              <a:t>MandiSense AI: Where and When to Sell, with Verified Revenue Floors</a:t>
            </a:r>
            <a:endParaRPr lang="en-US" altLang="en-US" sz="4400" dirty="0">
              <a:latin typeface="Times New Roman" panose="02020603050405020304" pitchFamily="18" charset="0"/>
              <a:cs typeface="Times New Roman" panose="02020603050405020304" pitchFamily="18" charset="0"/>
            </a:endParaRPr>
          </a:p>
          <a:p>
            <a:pPr algn="ctr">
              <a:spcBef>
                <a:spcPct val="0"/>
              </a:spcBef>
            </a:pPr>
            <a:endParaRPr lang="en-US" altLang="en-US" sz="4000" dirty="0">
              <a:latin typeface="Cambria" panose="02040503050406030204" pitchFamily="18" charset="0"/>
              <a:cs typeface="Arial" panose="020B0604020202020204" pitchFamily="34" charset="0"/>
            </a:endParaRPr>
          </a:p>
          <a:p>
            <a:pPr algn="ctr">
              <a:spcBef>
                <a:spcPct val="0"/>
              </a:spcBef>
            </a:pPr>
            <a:r>
              <a:rPr lang="en-US" altLang="en-US" sz="3600" dirty="0">
                <a:latin typeface="Times New Roman" panose="02020603050405020304" pitchFamily="18" charset="0"/>
                <a:cs typeface="Times New Roman" panose="02020603050405020304" pitchFamily="18" charset="0"/>
              </a:rPr>
              <a:t>                     </a:t>
            </a:r>
            <a:r>
              <a:rPr lang="en-US" altLang="en-US" sz="4000" dirty="0">
                <a:latin typeface="Times New Roman" panose="02020603050405020304" pitchFamily="18" charset="0"/>
                <a:cs typeface="Times New Roman" panose="02020603050405020304" pitchFamily="18" charset="0"/>
              </a:rPr>
              <a:t>   </a:t>
            </a:r>
            <a:r>
              <a:rPr lang="en-US" altLang="en-US" sz="4000" dirty="0">
                <a:latin typeface="Cambria" panose="02040503050406030204" pitchFamily="18" charset="0"/>
                <a:cs typeface="Arial" panose="020B0604020202020204" pitchFamily="34" charset="0"/>
              </a:rPr>
              <a:t>    </a:t>
            </a:r>
          </a:p>
        </p:txBody>
      </p:sp>
      <p:sp>
        <p:nvSpPr>
          <p:cNvPr id="8202"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A113630E-BEDD-460F-A1F6-2143BFA3998E}" type="slidenum">
              <a:rPr lang="en-US" altLang="en-US" smtClean="0">
                <a:solidFill>
                  <a:srgbClr val="898989"/>
                </a:solidFill>
              </a:rPr>
              <a:t>1</a:t>
            </a:fld>
            <a:endParaRPr lang="en-US" altLang="en-US">
              <a:solidFill>
                <a:srgbClr val="898989"/>
              </a:solidFill>
            </a:endParaRPr>
          </a:p>
        </p:txBody>
      </p:sp>
      <p:pic>
        <p:nvPicPr>
          <p:cNvPr id="4" name="Picture 3">
            <a:extLst>
              <a:ext uri="{FF2B5EF4-FFF2-40B4-BE49-F238E27FC236}">
                <a16:creationId xmlns:a16="http://schemas.microsoft.com/office/drawing/2014/main" id="{E39399D0-30B5-4229-A2EA-13CC7C272EA9}"/>
              </a:ext>
            </a:extLst>
          </p:cNvPr>
          <p:cNvPicPr>
            <a:picLocks noChangeAspect="1"/>
          </p:cNvPicPr>
          <p:nvPr/>
        </p:nvPicPr>
        <p:blipFill>
          <a:blip r:embed="rId3"/>
          <a:stretch>
            <a:fillRect/>
          </a:stretch>
        </p:blipFill>
        <p:spPr>
          <a:xfrm>
            <a:off x="174625" y="348456"/>
            <a:ext cx="2152650" cy="212407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6867525" y="358198"/>
            <a:ext cx="10134600" cy="7508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065" rIns="0" bIns="0">
            <a:sp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Table of Contents</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2</a:t>
            </a:fld>
            <a:endParaRPr lang="en-US" altLang="en-US">
              <a:solidFill>
                <a:srgbClr val="898989"/>
              </a:solidFill>
            </a:endParaRPr>
          </a:p>
        </p:txBody>
      </p:sp>
      <p:sp>
        <p:nvSpPr>
          <p:cNvPr id="2" name="TextBox 1"/>
          <p:cNvSpPr txBox="1"/>
          <p:nvPr/>
        </p:nvSpPr>
        <p:spPr>
          <a:xfrm>
            <a:off x="1136650" y="1844675"/>
            <a:ext cx="17962563" cy="6900351"/>
          </a:xfrm>
          <a:prstGeom prst="rect">
            <a:avLst/>
          </a:prstGeom>
          <a:noFill/>
        </p:spPr>
        <p:txBody>
          <a:bodyPr>
            <a:spAutoFit/>
          </a:bodyPr>
          <a:lstStyle/>
          <a:p>
            <a:pPr marL="914400" indent="-914400" algn="just">
              <a:lnSpc>
                <a:spcPct val="135000"/>
              </a:lnSpc>
              <a:spcAft>
                <a:spcPts val="1000"/>
              </a:spcAft>
              <a:buFont typeface="+mj-lt"/>
              <a:buAutoNum type="arabicPeriod"/>
              <a:defRPr/>
            </a:pPr>
            <a:r>
              <a:rPr lang="en-US" sz="3200" dirty="0">
                <a:latin typeface="Times New Roman" panose="02020603050405020304" pitchFamily="18" charset="0"/>
                <a:ea typeface="Calibri" panose="020F0502020204030204" charset="0"/>
                <a:cs typeface="Times New Roman" panose="02020603050405020304" pitchFamily="18" charset="0"/>
              </a:rPr>
              <a:t>INTRODUCTION AND OBJECTIVES</a:t>
            </a:r>
          </a:p>
          <a:p>
            <a:pPr marL="914400" indent="-914400" algn="just">
              <a:lnSpc>
                <a:spcPct val="135000"/>
              </a:lnSpc>
              <a:spcAft>
                <a:spcPts val="1000"/>
              </a:spcAft>
              <a:buFont typeface="+mj-lt"/>
              <a:buAutoNum type="arabicPeriod"/>
              <a:defRPr/>
            </a:pPr>
            <a:r>
              <a:rPr lang="en-US" sz="3200" dirty="0">
                <a:latin typeface="Times New Roman" panose="02020603050405020304" pitchFamily="18" charset="0"/>
                <a:ea typeface="Calibri" panose="020F0502020204030204" charset="0"/>
                <a:cs typeface="Times New Roman" panose="02020603050405020304" pitchFamily="18" charset="0"/>
              </a:rPr>
              <a:t>METHODOLOGY AND SYSTEM ARCHITECTURE</a:t>
            </a:r>
          </a:p>
          <a:p>
            <a:pPr marL="914400" indent="-914400" algn="just">
              <a:lnSpc>
                <a:spcPct val="135000"/>
              </a:lnSpc>
              <a:spcAft>
                <a:spcPts val="1000"/>
              </a:spcAft>
              <a:buFont typeface="+mj-lt"/>
              <a:buAutoNum type="arabicPeriod"/>
              <a:defRPr/>
            </a:pPr>
            <a:r>
              <a:rPr lang="en-US" sz="3200" dirty="0">
                <a:latin typeface="Times New Roman" panose="02020603050405020304" pitchFamily="18" charset="0"/>
                <a:ea typeface="Calibri" panose="020F0502020204030204" charset="0"/>
                <a:cs typeface="Times New Roman" panose="02020603050405020304" pitchFamily="18" charset="0"/>
              </a:rPr>
              <a:t>IMPLEMENTATION AND CODE QUALITY</a:t>
            </a:r>
          </a:p>
          <a:p>
            <a:pPr marL="914400" indent="-914400" algn="just">
              <a:lnSpc>
                <a:spcPct val="135000"/>
              </a:lnSpc>
              <a:spcAft>
                <a:spcPts val="1000"/>
              </a:spcAft>
              <a:buFont typeface="+mj-lt"/>
              <a:buAutoNum type="arabicPeriod"/>
              <a:defRPr/>
            </a:pPr>
            <a:r>
              <a:rPr lang="en-US" sz="3200" dirty="0">
                <a:latin typeface="Times New Roman" panose="02020603050405020304" pitchFamily="18" charset="0"/>
                <a:ea typeface="Calibri" panose="020F0502020204030204" charset="0"/>
                <a:cs typeface="Times New Roman" panose="02020603050405020304" pitchFamily="18" charset="0"/>
              </a:rPr>
              <a:t>RESULTS, VALIDATION AND BENCHMARKING</a:t>
            </a:r>
          </a:p>
          <a:p>
            <a:pPr marL="914400" indent="-914400" algn="just">
              <a:lnSpc>
                <a:spcPct val="135000"/>
              </a:lnSpc>
              <a:spcAft>
                <a:spcPts val="1000"/>
              </a:spcAft>
              <a:buFont typeface="+mj-lt"/>
              <a:buAutoNum type="arabicPeriod"/>
              <a:defRPr/>
            </a:pPr>
            <a:r>
              <a:rPr lang="en-US" sz="3200" dirty="0">
                <a:latin typeface="Times New Roman" panose="02020603050405020304" pitchFamily="18" charset="0"/>
                <a:ea typeface="Calibri" panose="020F0502020204030204" charset="0"/>
                <a:cs typeface="Times New Roman" panose="02020603050405020304" pitchFamily="18" charset="0"/>
              </a:rPr>
              <a:t>NOVELTY AND OPTIMIZATION</a:t>
            </a:r>
          </a:p>
          <a:p>
            <a:pPr marL="914400" indent="-914400" algn="just">
              <a:lnSpc>
                <a:spcPct val="135000"/>
              </a:lnSpc>
              <a:spcAft>
                <a:spcPts val="1000"/>
              </a:spcAft>
              <a:buFont typeface="+mj-lt"/>
              <a:buAutoNum type="arabicPeriod"/>
              <a:defRPr/>
            </a:pPr>
            <a:r>
              <a:rPr lang="en-US" sz="3200" dirty="0">
                <a:latin typeface="Times New Roman" panose="02020603050405020304" pitchFamily="18" charset="0"/>
                <a:ea typeface="Calibri" panose="020F0502020204030204" charset="0"/>
                <a:cs typeface="Times New Roman" panose="02020603050405020304" pitchFamily="18" charset="0"/>
              </a:rPr>
              <a:t>PROJECT PLANNING AND RISK MANAGEMENT</a:t>
            </a:r>
          </a:p>
          <a:p>
            <a:pPr marL="914400" indent="-914400" algn="just">
              <a:lnSpc>
                <a:spcPct val="135000"/>
              </a:lnSpc>
              <a:spcAft>
                <a:spcPts val="1000"/>
              </a:spcAft>
              <a:buFont typeface="+mj-lt"/>
              <a:buAutoNum type="arabicPeriod"/>
              <a:defRPr/>
            </a:pPr>
            <a:r>
              <a:rPr lang="en-US" sz="3200" dirty="0">
                <a:latin typeface="Times New Roman" panose="02020603050405020304" pitchFamily="18" charset="0"/>
                <a:ea typeface="Calibri" panose="020F0502020204030204" charset="0"/>
                <a:cs typeface="Times New Roman" panose="02020603050405020304" pitchFamily="18" charset="0"/>
              </a:rPr>
              <a:t>REPORT, DOCUMENTATION AND SDG MAPPING</a:t>
            </a:r>
          </a:p>
          <a:p>
            <a:pPr marL="914400" indent="-914400" algn="just">
              <a:lnSpc>
                <a:spcPct val="135000"/>
              </a:lnSpc>
              <a:spcAft>
                <a:spcPts val="1000"/>
              </a:spcAft>
              <a:buFont typeface="+mj-lt"/>
              <a:buAutoNum type="arabicPeriod"/>
              <a:defRPr/>
            </a:pPr>
            <a:r>
              <a:rPr lang="en-US" sz="3200" dirty="0">
                <a:latin typeface="Times New Roman" panose="02020603050405020304" pitchFamily="18" charset="0"/>
                <a:ea typeface="Calibri" panose="020F0502020204030204" charset="0"/>
                <a:cs typeface="Times New Roman" panose="02020603050405020304" pitchFamily="18" charset="0"/>
              </a:rPr>
              <a:t>RESEARCH PAPER STATUS</a:t>
            </a:r>
          </a:p>
          <a:p>
            <a:pPr marL="914400" indent="-914400" algn="just">
              <a:lnSpc>
                <a:spcPct val="135000"/>
              </a:lnSpc>
              <a:spcAft>
                <a:spcPts val="1000"/>
              </a:spcAft>
              <a:buFont typeface="+mj-lt"/>
              <a:buAutoNum type="arabicPeriod"/>
              <a:defRPr/>
            </a:pPr>
            <a:r>
              <a:rPr lang="en-US" sz="3200" dirty="0">
                <a:latin typeface="Times New Roman" panose="02020603050405020304" pitchFamily="18" charset="0"/>
                <a:ea typeface="Calibri" panose="020F0502020204030204" charset="0"/>
                <a:cs typeface="Times New Roman" panose="02020603050405020304" pitchFamily="18" charset="0"/>
              </a:rPr>
              <a:t>CONCLUSION AND FUTURE WORK</a:t>
            </a:r>
          </a:p>
          <a:p>
            <a:pPr marL="914400" indent="-914400" algn="just">
              <a:lnSpc>
                <a:spcPct val="135000"/>
              </a:lnSpc>
              <a:spcAft>
                <a:spcPts val="1000"/>
              </a:spcAft>
              <a:buFont typeface="+mj-lt"/>
              <a:buAutoNum type="arabicPeriod"/>
              <a:defRPr/>
            </a:pPr>
            <a:r>
              <a:rPr lang="en-US" sz="3200" dirty="0">
                <a:latin typeface="Times New Roman" panose="02020603050405020304" pitchFamily="18" charset="0"/>
                <a:ea typeface="Calibri" panose="020F0502020204030204" charset="0"/>
                <a:cs typeface="Times New Roman" panose="02020603050405020304" pitchFamily="18" charset="0"/>
              </a:rPr>
              <a:t>REFERENCES</a:t>
            </a:r>
          </a:p>
          <a:p>
            <a:pPr>
              <a:defRPr/>
            </a:pPr>
            <a:endParaRPr lang="en-US" sz="3600" dirty="0">
              <a:latin typeface="+mn-lt"/>
              <a:ea typeface="Calibri" panose="020F0502020204030204" charset="0"/>
              <a:cs typeface="Times New Roman" panose="02020603050405020304" pitchFamily="18" charset="0"/>
            </a:endParaRPr>
          </a:p>
        </p:txBody>
      </p:sp>
      <p:sp>
        <p:nvSpPr>
          <p:cNvPr id="5" name="TextBox 4">
            <a:extLst>
              <a:ext uri="{FF2B5EF4-FFF2-40B4-BE49-F238E27FC236}">
                <a16:creationId xmlns:a16="http://schemas.microsoft.com/office/drawing/2014/main" id="{9BA66955-D8E8-4C4E-8773-8C77725AED8F}"/>
              </a:ext>
            </a:extLst>
          </p:cNvPr>
          <p:cNvSpPr txBox="1"/>
          <p:nvPr/>
        </p:nvSpPr>
        <p:spPr>
          <a:xfrm>
            <a:off x="6420355" y="10471307"/>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pic>
        <p:nvPicPr>
          <p:cNvPr id="10" name="Picture 9">
            <a:extLst>
              <a:ext uri="{FF2B5EF4-FFF2-40B4-BE49-F238E27FC236}">
                <a16:creationId xmlns:a16="http://schemas.microsoft.com/office/drawing/2014/main" id="{5065ACCF-0D1C-4629-BED7-3A5F6D94C009}"/>
              </a:ext>
            </a:extLst>
          </p:cNvPr>
          <p:cNvPicPr>
            <a:picLocks noChangeAspect="1"/>
          </p:cNvPicPr>
          <p:nvPr/>
        </p:nvPicPr>
        <p:blipFill>
          <a:blip r:embed="rId2"/>
          <a:stretch>
            <a:fillRect/>
          </a:stretch>
        </p:blipFill>
        <p:spPr>
          <a:xfrm>
            <a:off x="433389" y="152403"/>
            <a:ext cx="1187594" cy="103908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Introduction and Problem Statement</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3</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900" name="Content Guidance"/>
          <p:cNvSpPr txBox="1"/>
          <p:nvPr/>
        </p:nvSpPr>
        <p:spPr>
          <a:xfrm>
            <a:off x="1005840" y="1737360"/>
            <a:ext cx="9692640" cy="6949440"/>
          </a:xfrm>
          <a:prstGeom prst="rect">
            <a:avLst/>
          </a:prstGeom>
          <a:noFill/>
        </p:spPr>
        <p:txBody>
          <a:bodyPr wrap="square" lIns="0" tIns="0" rIns="0" bIns="0">
            <a:normAutofit/>
          </a:bodyPr>
          <a:lstStyle/>
          <a:p>
            <a:pPr marL="514350" indent="-514350">
              <a:lnSpc>
                <a:spcPct val="115000"/>
              </a:lnSpc>
              <a:spcAft>
                <a:spcPts val="600"/>
              </a:spcAft>
              <a:buFont typeface="Arial" panose="020B0604020202020204" pitchFamily="34" charset="0"/>
              <a:buChar char="•"/>
            </a:pPr>
            <a:r>
              <a:rPr lang="en-US" sz="2400" dirty="0" b="1">
                <a:solidFill>
                  <a:srgbClr val="1F2A44"/>
                </a:solidFill>
                <a:latin typeface="Calibri" panose="020F0502020204030204" charset="0"/>
                <a:cs typeface="Calibri" panose="020F0502020204030204" charset="0"/>
              </a:rPr>
              <a:t>Context: </a:t>
            </a:r>
            <a:r>
              <a:rPr lang="en-US" sz="2400" dirty="0">
                <a:solidFill>
                  <a:srgbClr val="1F2A44"/>
                </a:solidFill>
                <a:latin typeface="Calibri" panose="020F0502020204030204" charset="0"/>
                <a:cs typeface="Calibri" panose="020F0502020204030204" charset="0"/>
              </a:rPr>
              <a:t>farmers in the Bengaluru–Kolar belt choose a mandi and a day with only yesterday's price. Kolar tomato ranged Rs 100–9,330 per quintal and was silent on 189 of 2,125 days.</a:t>
            </a:r>
          </a:p>
          <a:p>
            <a:pPr marL="514350" indent="-514350">
              <a:lnSpc>
                <a:spcPct val="115000"/>
              </a:lnSpc>
              <a:spcAft>
                <a:spcPts val="600"/>
              </a:spcAft>
              <a:buFont typeface="Arial" panose="020B0604020202020204" pitchFamily="34" charset="0"/>
              <a:buChar char="•"/>
            </a:pPr>
            <a:r>
              <a:rPr lang="en-US" sz="2400" dirty="0" b="1">
                <a:solidFill>
                  <a:srgbClr val="1F2A44"/>
                </a:solidFill>
                <a:latin typeface="Calibri" panose="020F0502020204030204" charset="0"/>
                <a:cs typeface="Calibri" panose="020F0502020204030204" charset="0"/>
              </a:rPr>
              <a:t>Problem: </a:t>
            </a:r>
            <a:r>
              <a:rPr lang="en-US" sz="2400" dirty="0">
                <a:solidFill>
                  <a:srgbClr val="1F2A44"/>
                </a:solidFill>
                <a:latin typeface="Calibri" panose="020F0502020204030204" charset="0"/>
                <a:cs typeface="Calibri" panose="020F0502020204030204" charset="0"/>
              </a:rPr>
              <a:t>choose (mandi, hold 0–3 days) or the farm gate to maximise net revenue, and state a floor that holds.</a:t>
            </a:r>
          </a:p>
          <a:p>
            <a:pPr marL="514350" indent="-514350">
              <a:lnSpc>
                <a:spcPct val="115000"/>
              </a:lnSpc>
              <a:spcAft>
                <a:spcPts val="600"/>
              </a:spcAft>
              <a:buFont typeface="Arial" panose="020B0604020202020204" pitchFamily="34" charset="0"/>
              <a:buChar char="•"/>
            </a:pPr>
            <a:r>
              <a:rPr lang="en-US" sz="2400" dirty="0" b="1">
                <a:solidFill>
                  <a:srgbClr val="1F2A44"/>
                </a:solidFill>
                <a:latin typeface="Calibri" panose="020F0502020204030204" charset="0"/>
                <a:cs typeface="Calibri" panose="020F0502020204030204" charset="0"/>
              </a:rPr>
              <a:t>Gap: </a:t>
            </a:r>
            <a:r>
              <a:rPr lang="en-US" sz="2400" dirty="0">
                <a:solidFill>
                  <a:srgbClr val="1F2A44"/>
                </a:solidFill>
                <a:latin typeface="Calibri" panose="020F0502020204030204" charset="0"/>
                <a:cs typeface="Calibri" panose="020F0502020204030204" charset="0"/>
              </a:rPr>
              <a:t>models are judged on forecast error, not decisions; reporting gaps are ignored; decompose-then-forecast gains are unaudited [1]–[6].</a:t>
            </a:r>
          </a:p>
          <a:p>
            <a:pPr marL="514350" indent="-514350">
              <a:lnSpc>
                <a:spcPct val="115000"/>
              </a:lnSpc>
              <a:spcAft>
                <a:spcPts val="600"/>
              </a:spcAft>
              <a:buFont typeface="Arial" panose="020B0604020202020204" pitchFamily="34" charset="0"/>
              <a:buChar char="•"/>
            </a:pPr>
            <a:r>
              <a:rPr lang="en-US" sz="2400" dirty="0" b="1">
                <a:solidFill>
                  <a:srgbClr val="1F2A44"/>
                </a:solidFill>
                <a:latin typeface="Calibri" panose="020F0502020204030204" charset="0"/>
                <a:cs typeface="Calibri" panose="020F0502020204030204" charset="0"/>
              </a:rPr>
              <a:t>Scope: </a:t>
            </a:r>
            <a:r>
              <a:rPr lang="en-US" sz="2400" dirty="0">
                <a:solidFill>
                  <a:srgbClr val="1F2A44"/>
                </a:solidFill>
                <a:latin typeface="Calibri" panose="020F0502020204030204" charset="0"/>
                <a:cs typeface="Calibri" panose="020F0502020204030204" charset="0"/>
              </a:rPr>
              <a:t>tomato, onion, potato, ginger; Agmarknet only; offline evaluation. Garlic refused (one eligible mandi).</a:t>
            </a:r>
          </a:p>
        </p:txBody>
      </p:sp>
      <p:pic>
        <p:nvPicPr>
          <p:cNvPr id="10251" name="Picture 10250" descr="fig_intro_kolar_tomato.png"/>
          <p:cNvPicPr>
            <a:picLocks noChangeAspect="1"/>
          </p:cNvPicPr>
          <p:nvPr/>
        </p:nvPicPr>
        <p:blipFill>
          <a:blip r:embed="rId3"/>
          <a:stretch>
            <a:fillRect/>
          </a:stretch>
        </p:blipFill>
        <p:spPr>
          <a:xfrm>
            <a:off x="10972800" y="1828800"/>
            <a:ext cx="8229600" cy="3429000"/>
          </a:xfrm>
          <a:prstGeom prst="rect">
            <a:avLst/>
          </a:prstGeom>
        </p:spPr>
      </p:pic>
      <p:sp>
        <p:nvSpPr>
          <p:cNvPr id="10252" name="Rectangle 10251"/>
          <p:cNvSpPr/>
          <p:nvPr/>
        </p:nvSpPr>
        <p:spPr>
          <a:xfrm>
            <a:off x="10972800" y="5212080"/>
            <a:ext cx="2606040" cy="100584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73152" rIns="73152" tIns="36576" bIns="36576"/>
          <a:lstStyle/>
          <a:p>
            <a:pPr algn="ctr"/>
            <a:r>
              <a:rPr sz="4900" b="1" i="0">
                <a:solidFill>
                  <a:srgbClr val="1F4E79"/>
                </a:solidFill>
                <a:latin typeface="Calibri"/>
              </a:rPr>
              <a:t>63,524</a:t>
            </a:r>
          </a:p>
        </p:txBody>
      </p:sp>
      <p:sp>
        <p:nvSpPr>
          <p:cNvPr id="10253" name="Rectangle 10252"/>
          <p:cNvSpPr/>
          <p:nvPr/>
        </p:nvSpPr>
        <p:spPr>
          <a:xfrm>
            <a:off x="10972800" y="6217920"/>
            <a:ext cx="2606040" cy="82296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r>
              <a:rPr sz="2000" b="0" i="0">
                <a:solidFill>
                  <a:srgbClr val="5F6B7A"/>
                </a:solidFill>
                <a:latin typeface="Calibri"/>
              </a:rPr>
              <a:t>real Agmarknet records</a:t>
            </a:r>
          </a:p>
        </p:txBody>
      </p:sp>
      <p:sp>
        <p:nvSpPr>
          <p:cNvPr id="10254" name="Rectangle 10253"/>
          <p:cNvSpPr/>
          <p:nvPr/>
        </p:nvSpPr>
        <p:spPr>
          <a:xfrm>
            <a:off x="13761720" y="5212080"/>
            <a:ext cx="2606040" cy="100584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73152" rIns="73152" tIns="36576" bIns="36576"/>
          <a:lstStyle/>
          <a:p>
            <a:pPr algn="ctr"/>
            <a:r>
              <a:rPr sz="4900" b="1" i="0">
                <a:solidFill>
                  <a:srgbClr val="1F4E79"/>
                </a:solidFill>
                <a:latin typeface="Calibri"/>
              </a:rPr>
              <a:t>36,821</a:t>
            </a:r>
          </a:p>
        </p:txBody>
      </p:sp>
      <p:sp>
        <p:nvSpPr>
          <p:cNvPr id="10255" name="Rectangle 10254"/>
          <p:cNvSpPr/>
          <p:nvPr/>
        </p:nvSpPr>
        <p:spPr>
          <a:xfrm>
            <a:off x="13761720" y="6217920"/>
            <a:ext cx="2606040" cy="82296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r>
              <a:rPr sz="2000" b="0" i="0">
                <a:solidFill>
                  <a:srgbClr val="5F6B7A"/>
                </a:solidFill>
                <a:latin typeface="Calibri"/>
              </a:rPr>
              <a:t>mandi-days in the panel</a:t>
            </a:r>
          </a:p>
        </p:txBody>
      </p:sp>
      <p:sp>
        <p:nvSpPr>
          <p:cNvPr id="10256" name="Rectangle 10255"/>
          <p:cNvSpPr/>
          <p:nvPr/>
        </p:nvSpPr>
        <p:spPr>
          <a:xfrm>
            <a:off x="16550640" y="5212080"/>
            <a:ext cx="2651760" cy="100584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73152" rIns="73152" tIns="36576" bIns="36576"/>
          <a:lstStyle/>
          <a:p>
            <a:pPr algn="ctr"/>
            <a:r>
              <a:rPr sz="4900" b="1" i="0">
                <a:solidFill>
                  <a:srgbClr val="D9822B"/>
                </a:solidFill>
                <a:latin typeface="Calibri"/>
              </a:rPr>
              <a:t>4 crops</a:t>
            </a:r>
          </a:p>
        </p:txBody>
      </p:sp>
      <p:sp>
        <p:nvSpPr>
          <p:cNvPr id="10257" name="Rectangle 10256"/>
          <p:cNvSpPr/>
          <p:nvPr/>
        </p:nvSpPr>
        <p:spPr>
          <a:xfrm>
            <a:off x="16550640" y="6217920"/>
            <a:ext cx="2651760" cy="82296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r>
              <a:rPr sz="2000" b="0" i="0">
                <a:solidFill>
                  <a:srgbClr val="5F6B7A"/>
                </a:solidFill>
                <a:latin typeface="Calibri"/>
              </a:rPr>
              <a:t>plus garlic refused</a:t>
            </a:r>
          </a:p>
        </p:txBody>
      </p:sp>
      <p:sp>
        <p:nvSpPr>
          <p:cNvPr id="10258" name="Rectangle 10257"/>
          <p:cNvSpPr/>
          <p:nvPr/>
        </p:nvSpPr>
        <p:spPr>
          <a:xfrm>
            <a:off x="10972800" y="7406640"/>
            <a:ext cx="8229600" cy="246888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r>
              <a:rPr sz="2400" b="1" i="0">
                <a:solidFill>
                  <a:srgbClr val="1F2A44"/>
                </a:solidFill>
                <a:latin typeface="Calibri"/>
              </a:rPr>
              <a:t>Why it matters: </a:t>
            </a:r>
            <a:r>
              <a:rPr sz="2400" b="0" i="0">
                <a:solidFill>
                  <a:srgbClr val="1F2A44"/>
                </a:solidFill>
                <a:latin typeface="Calibri"/>
              </a:rPr>
              <a:t>a farmer who gambles a harvest needs a minimum expected revenue, not just a forecast. Information frictions of exactly this kind measurably hurt small sellers [7], [8].</a:t>
            </a:r>
          </a:p>
        </p:txBody>
      </p:sp>
    </p:spTree>
    <p:extLst>
      <p:ext uri="{BB962C8B-B14F-4D97-AF65-F5344CB8AC3E}">
        <p14:creationId xmlns:p14="http://schemas.microsoft.com/office/powerpoint/2010/main" val="17690171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Objectives</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4</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901" name="Content Guidance"/>
          <p:cNvSpPr txBox="1"/>
          <p:nvPr/>
        </p:nvSpPr>
        <p:spPr>
          <a:xfrm>
            <a:off x="1005840" y="1737360"/>
            <a:ext cx="18105120" cy="822960"/>
          </a:xfrm>
          <a:prstGeom prst="rect">
            <a:avLst/>
          </a:prstGeom>
          <a:noFill/>
        </p:spPr>
        <p:txBody>
          <a:bodyPr wrap="square" lIns="0" tIns="0" rIns="0" bIns="0">
            <a:normAutofit/>
          </a:bodyPr>
          <a:lstStyle/>
          <a:p>
            <a:pPr marL="514350" indent="-514350">
              <a:lnSpc>
                <a:spcPct val="115000"/>
              </a:lnSpc>
              <a:spcAft>
                <a:spcPts val="600"/>
              </a:spcAft>
              <a:buFont typeface="Arial" panose="020B0604020202020204" pitchFamily="34" charset="0"/>
              <a:buChar char="•"/>
            </a:pPr>
            <a:r>
              <a:rPr lang="en-US" sz="2400" dirty="0" b="1">
                <a:solidFill>
                  <a:srgbClr val="1F2A44"/>
                </a:solidFill>
                <a:latin typeface="Calibri" panose="020F0502020204030204" charset="0"/>
                <a:cs typeface="Calibri" panose="020F0502020204030204" charset="0"/>
              </a:rPr>
              <a:t>Status: </a:t>
            </a:r>
            <a:r>
              <a:rPr lang="en-US" sz="2400" dirty="0">
                <a:solidFill>
                  <a:srgbClr val="1F2A44"/>
                </a:solidFill>
                <a:latin typeface="Calibri" panose="020F0502020204030204" charset="0"/>
                <a:cs typeface="Calibri" panose="020F0502020204030204" charset="0"/>
              </a:rPr>
              <a:t>7 met · 1 partly met (floors) · 1 null result (spillover) · 1 built and tested (digest, shown live today).</a:t>
            </a:r>
          </a:p>
        </p:txBody>
      </p:sp>
      <p:graphicFrame>
        <p:nvGraphicFramePr>
          <p:cNvPr id="10251" name="Table 10250"/>
          <p:cNvGraphicFramePr>
            <a:graphicFrameLocks noGrp="1"/>
          </p:cNvGraphicFramePr>
          <p:nvPr/>
        </p:nvGraphicFramePr>
        <p:xfrm>
          <a:off x="1005840" y="2331720"/>
          <a:ext cx="18105119" cy="7845552"/>
        </p:xfrm>
        <a:graphic>
          <a:graphicData uri="http://schemas.openxmlformats.org/drawingml/2006/table">
            <a:tbl>
              <a:tblPr firstRow="1" bandRow="1">
                <a:tableStyleId>{5C22544A-7EE6-4342-B048-85BDC9FD1C3A}</a:tableStyleId>
              </a:tblPr>
              <a:tblGrid>
                <a:gridCol w="454902"/>
                <a:gridCol w="8188245"/>
                <a:gridCol w="2183532"/>
                <a:gridCol w="7278440"/>
              </a:tblGrid>
              <a:tr h="713232">
                <a:tc>
                  <a:txBody>
                    <a:bodyPr wrap="square"/>
                    <a:lstStyle/>
                    <a:p>
                      <a:pPr algn="ctr"/>
                      <a:r>
                        <a:rPr sz="2100" b="1">
                          <a:solidFill>
                            <a:srgbClr val="FFFFFF"/>
                          </a:solidFill>
                          <a:latin typeface="Calibri"/>
                        </a:rPr>
                        <a:t>#</a:t>
                      </a:r>
                    </a:p>
                  </a:txBody>
                  <a:tcPr marL="73152" marR="73152" marT="27432" marB="27432" anchor="ctr">
                    <a:solidFill>
                      <a:srgbClr val="1F4E79"/>
                    </a:solidFill>
                  </a:tcPr>
                </a:tc>
                <a:tc>
                  <a:txBody>
                    <a:bodyPr wrap="square"/>
                    <a:lstStyle/>
                    <a:p>
                      <a:pPr algn="ctr"/>
                      <a:r>
                        <a:rPr sz="2100" b="1">
                          <a:solidFill>
                            <a:srgbClr val="FFFFFF"/>
                          </a:solidFill>
                          <a:latin typeface="Calibri"/>
                        </a:rPr>
                        <a:t>Objective (approved scope)</a:t>
                      </a:r>
                    </a:p>
                  </a:txBody>
                  <a:tcPr marL="73152" marR="73152" marT="27432" marB="27432" anchor="ctr">
                    <a:solidFill>
                      <a:srgbClr val="1F4E79"/>
                    </a:solidFill>
                  </a:tcPr>
                </a:tc>
                <a:tc>
                  <a:txBody>
                    <a:bodyPr wrap="square"/>
                    <a:lstStyle/>
                    <a:p>
                      <a:pPr algn="ctr"/>
                      <a:r>
                        <a:rPr sz="2100" b="1">
                          <a:solidFill>
                            <a:srgbClr val="FFFFFF"/>
                          </a:solidFill>
                          <a:latin typeface="Calibri"/>
                        </a:rPr>
                        <a:t>Status</a:t>
                      </a:r>
                    </a:p>
                  </a:txBody>
                  <a:tcPr marL="73152" marR="73152" marT="27432" marB="27432" anchor="ctr">
                    <a:solidFill>
                      <a:srgbClr val="1F4E79"/>
                    </a:solidFill>
                  </a:tcPr>
                </a:tc>
                <a:tc>
                  <a:txBody>
                    <a:bodyPr wrap="square"/>
                    <a:lstStyle/>
                    <a:p>
                      <a:pPr algn="ctr"/>
                      <a:r>
                        <a:rPr sz="2100" b="1">
                          <a:solidFill>
                            <a:srgbClr val="FFFFFF"/>
                          </a:solidFill>
                          <a:latin typeface="Calibri"/>
                        </a:rPr>
                        <a:t>Evidence</a:t>
                      </a:r>
                    </a:p>
                  </a:txBody>
                  <a:tcPr marL="73152" marR="73152" marT="27432" marB="27432" anchor="ctr">
                    <a:solidFill>
                      <a:srgbClr val="1F4E79"/>
                    </a:solidFill>
                  </a:tcPr>
                </a:tc>
              </a:tr>
              <a:tr h="713232">
                <a:tc>
                  <a:txBody>
                    <a:bodyPr wrap="square"/>
                    <a:lstStyle/>
                    <a:p>
                      <a:pPr algn="ctr"/>
                      <a:r>
                        <a:rPr sz="2100" b="0">
                          <a:solidFill>
                            <a:srgbClr val="1F2A44"/>
                          </a:solidFill>
                          <a:latin typeface="Calibri"/>
                        </a:rPr>
                        <a:t>1</a:t>
                      </a:r>
                    </a:p>
                  </a:txBody>
                  <a:tcPr marL="73152" marR="73152" marT="27432" marB="27432" anchor="ctr">
                    <a:solidFill>
                      <a:srgbClr val="FFFFFF"/>
                    </a:solidFill>
                  </a:tcPr>
                </a:tc>
                <a:tc>
                  <a:txBody>
                    <a:bodyPr wrap="square"/>
                    <a:lstStyle/>
                    <a:p>
                      <a:pPr algn="l"/>
                      <a:r>
                        <a:rPr sz="2100" b="0">
                          <a:solidFill>
                            <a:srgbClr val="1F2A44"/>
                          </a:solidFill>
                          <a:latin typeface="Calibri"/>
                        </a:rPr>
                        <a:t>Real-data panel, ≥30,000 mandi-days, exclusions recorded</a:t>
                      </a:r>
                    </a:p>
                  </a:txBody>
                  <a:tcPr marL="73152" marR="73152" marT="27432" marB="27432" anchor="ctr">
                    <a:solidFill>
                      <a:srgbClr val="FFFFFF"/>
                    </a:solidFill>
                  </a:tcPr>
                </a:tc>
                <a:tc>
                  <a:txBody>
                    <a:bodyPr wrap="square"/>
                    <a:lstStyle/>
                    <a:p>
                      <a:pPr algn="ctr"/>
                      <a:r>
                        <a:rPr sz="2100" b="0">
                          <a:solidFill>
                            <a:srgbClr val="2E8B57"/>
                          </a:solidFill>
                          <a:latin typeface="Calibri"/>
                        </a:rPr>
                        <a:t>Met</a:t>
                      </a:r>
                    </a:p>
                  </a:txBody>
                  <a:tcPr marL="73152" marR="73152" marT="27432" marB="27432" anchor="ctr">
                    <a:solidFill>
                      <a:srgbClr val="FFFFFF"/>
                    </a:solidFill>
                  </a:tcPr>
                </a:tc>
                <a:tc>
                  <a:txBody>
                    <a:bodyPr wrap="square"/>
                    <a:lstStyle/>
                    <a:p>
                      <a:pPr algn="l"/>
                      <a:r>
                        <a:rPr sz="2100" b="0">
                          <a:solidFill>
                            <a:srgbClr val="1F2A44"/>
                          </a:solidFill>
                          <a:latin typeface="Calibri"/>
                        </a:rPr>
                        <a:t>36,821 mandi-days; 63,524 records</a:t>
                      </a:r>
                    </a:p>
                  </a:txBody>
                  <a:tcPr marL="73152" marR="73152" marT="27432" marB="27432" anchor="ctr">
                    <a:solidFill>
                      <a:srgbClr val="FFFFFF"/>
                    </a:solidFill>
                  </a:tcPr>
                </a:tc>
              </a:tr>
              <a:tr h="713232">
                <a:tc>
                  <a:txBody>
                    <a:bodyPr wrap="square"/>
                    <a:lstStyle/>
                    <a:p>
                      <a:pPr algn="ctr"/>
                      <a:r>
                        <a:rPr sz="2100" b="0">
                          <a:solidFill>
                            <a:srgbClr val="1F2A44"/>
                          </a:solidFill>
                          <a:latin typeface="Calibri"/>
                        </a:rPr>
                        <a:t>2</a:t>
                      </a:r>
                    </a:p>
                  </a:txBody>
                  <a:tcPr marL="73152" marR="73152" marT="27432" marB="27432" anchor="ctr">
                    <a:solidFill>
                      <a:srgbClr val="F1F7FB"/>
                    </a:solidFill>
                  </a:tcPr>
                </a:tc>
                <a:tc>
                  <a:txBody>
                    <a:bodyPr wrap="square"/>
                    <a:lstStyle/>
                    <a:p>
                      <a:pPr algn="l"/>
                      <a:r>
                        <a:rPr sz="2100" b="0">
                          <a:solidFill>
                            <a:srgbClr val="1F2A44"/>
                          </a:solidFill>
                          <a:latin typeface="Calibri"/>
                        </a:rPr>
                        <a:t>Revenue formulation + market-choice model; ≥500 held-out days per crop</a:t>
                      </a:r>
                    </a:p>
                  </a:txBody>
                  <a:tcPr marL="73152" marR="73152" marT="27432" marB="27432" anchor="ctr">
                    <a:solidFill>
                      <a:srgbClr val="F1F7FB"/>
                    </a:solidFill>
                  </a:tcPr>
                </a:tc>
                <a:tc>
                  <a:txBody>
                    <a:bodyPr wrap="square"/>
                    <a:lstStyle/>
                    <a:p>
                      <a:pPr algn="ctr"/>
                      <a:r>
                        <a:rPr sz="2100" b="0">
                          <a:solidFill>
                            <a:srgbClr val="2E8B57"/>
                          </a:solidFill>
                          <a:latin typeface="Calibri"/>
                        </a:rPr>
                        <a:t>Met</a:t>
                      </a:r>
                    </a:p>
                  </a:txBody>
                  <a:tcPr marL="73152" marR="73152" marT="27432" marB="27432" anchor="ctr">
                    <a:solidFill>
                      <a:srgbClr val="F1F7FB"/>
                    </a:solidFill>
                  </a:tcPr>
                </a:tc>
                <a:tc>
                  <a:txBody>
                    <a:bodyPr wrap="square"/>
                    <a:lstStyle/>
                    <a:p>
                      <a:pPr algn="l"/>
                      <a:r>
                        <a:rPr sz="2100" b="0">
                          <a:solidFill>
                            <a:srgbClr val="1F2A44"/>
                          </a:solidFill>
                          <a:latin typeface="Calibri"/>
                        </a:rPr>
                        <a:t>511–963 scored days per crop</a:t>
                      </a:r>
                    </a:p>
                  </a:txBody>
                  <a:tcPr marL="73152" marR="73152" marT="27432" marB="27432" anchor="ctr">
                    <a:solidFill>
                      <a:srgbClr val="F1F7FB"/>
                    </a:solidFill>
                  </a:tcPr>
                </a:tc>
              </a:tr>
              <a:tr h="713232">
                <a:tc>
                  <a:txBody>
                    <a:bodyPr wrap="square"/>
                    <a:lstStyle/>
                    <a:p>
                      <a:pPr algn="ctr"/>
                      <a:r>
                        <a:rPr sz="2100" b="0">
                          <a:solidFill>
                            <a:srgbClr val="1F2A44"/>
                          </a:solidFill>
                          <a:latin typeface="Calibri"/>
                        </a:rPr>
                        <a:t>3</a:t>
                      </a:r>
                    </a:p>
                  </a:txBody>
                  <a:tcPr marL="73152" marR="73152" marT="27432" marB="27432" anchor="ctr">
                    <a:solidFill>
                      <a:srgbClr val="FFFFFF"/>
                    </a:solidFill>
                  </a:tcPr>
                </a:tc>
                <a:tc>
                  <a:txBody>
                    <a:bodyPr wrap="square"/>
                    <a:lstStyle/>
                    <a:p>
                      <a:pPr algn="l"/>
                      <a:r>
                        <a:rPr sz="2100" b="0">
                          <a:solidFill>
                            <a:srgbClr val="1F2A44"/>
                          </a:solidFill>
                          <a:latin typeface="Calibri"/>
                        </a:rPr>
                        <a:t>Test label and loss effects with paired tests</a:t>
                      </a:r>
                    </a:p>
                  </a:txBody>
                  <a:tcPr marL="73152" marR="73152" marT="27432" marB="27432" anchor="ctr">
                    <a:solidFill>
                      <a:srgbClr val="FFFFFF"/>
                    </a:solidFill>
                  </a:tcPr>
                </a:tc>
                <a:tc>
                  <a:txBody>
                    <a:bodyPr wrap="square"/>
                    <a:lstStyle/>
                    <a:p>
                      <a:pPr algn="ctr"/>
                      <a:r>
                        <a:rPr sz="2100" b="0">
                          <a:solidFill>
                            <a:srgbClr val="2E8B57"/>
                          </a:solidFill>
                          <a:latin typeface="Calibri"/>
                        </a:rPr>
                        <a:t>Met</a:t>
                      </a:r>
                    </a:p>
                  </a:txBody>
                  <a:tcPr marL="73152" marR="73152" marT="27432" marB="27432" anchor="ctr">
                    <a:solidFill>
                      <a:srgbClr val="FFFFFF"/>
                    </a:solidFill>
                  </a:tcPr>
                </a:tc>
                <a:tc>
                  <a:txBody>
                    <a:bodyPr wrap="square"/>
                    <a:lstStyle/>
                    <a:p>
                      <a:pPr algn="l"/>
                      <a:r>
                        <a:rPr sz="2100" b="0">
                          <a:solidFill>
                            <a:srgbClr val="1F2A44"/>
                          </a:solidFill>
                          <a:latin typeface="Calibri"/>
                        </a:rPr>
                        <a:t>Realised labels: −87 to −157 Rs/q; SPO+ no gain</a:t>
                      </a:r>
                    </a:p>
                  </a:txBody>
                  <a:tcPr marL="73152" marR="73152" marT="27432" marB="27432" anchor="ctr">
                    <a:solidFill>
                      <a:srgbClr val="FFFFFF"/>
                    </a:solidFill>
                  </a:tcPr>
                </a:tc>
              </a:tr>
              <a:tr h="713232">
                <a:tc>
                  <a:txBody>
                    <a:bodyPr wrap="square"/>
                    <a:lstStyle/>
                    <a:p>
                      <a:pPr algn="ctr"/>
                      <a:r>
                        <a:rPr sz="2100" b="0">
                          <a:solidFill>
                            <a:srgbClr val="1F2A44"/>
                          </a:solidFill>
                          <a:latin typeface="Calibri"/>
                        </a:rPr>
                        <a:t>4</a:t>
                      </a:r>
                    </a:p>
                  </a:txBody>
                  <a:tcPr marL="73152" marR="73152" marT="27432" marB="27432" anchor="ctr">
                    <a:solidFill>
                      <a:srgbClr val="F1F7FB"/>
                    </a:solidFill>
                  </a:tcPr>
                </a:tc>
                <a:tc>
                  <a:txBody>
                    <a:bodyPr wrap="square"/>
                    <a:lstStyle/>
                    <a:p>
                      <a:pPr algn="l"/>
                      <a:r>
                        <a:rPr sz="2100" b="0">
                          <a:solidFill>
                            <a:srgbClr val="1F2A44"/>
                          </a:solidFill>
                          <a:latin typeface="Calibri"/>
                        </a:rPr>
                        <a:t>Floor violation within 2 points of nominal 10%</a:t>
                      </a:r>
                    </a:p>
                  </a:txBody>
                  <a:tcPr marL="73152" marR="73152" marT="27432" marB="27432" anchor="ctr">
                    <a:solidFill>
                      <a:srgbClr val="F1F7FB"/>
                    </a:solidFill>
                  </a:tcPr>
                </a:tc>
                <a:tc>
                  <a:txBody>
                    <a:bodyPr wrap="square"/>
                    <a:lstStyle/>
                    <a:p>
                      <a:pPr algn="ctr"/>
                      <a:r>
                        <a:rPr sz="2100" b="0">
                          <a:solidFill>
                            <a:srgbClr val="D9822B"/>
                          </a:solidFill>
                          <a:latin typeface="Calibri"/>
                        </a:rPr>
                        <a:t>Partly</a:t>
                      </a:r>
                    </a:p>
                  </a:txBody>
                  <a:tcPr marL="73152" marR="73152" marT="27432" marB="27432" anchor="ctr">
                    <a:solidFill>
                      <a:srgbClr val="F1F7FB"/>
                    </a:solidFill>
                  </a:tcPr>
                </a:tc>
                <a:tc>
                  <a:txBody>
                    <a:bodyPr wrap="square"/>
                    <a:lstStyle/>
                    <a:p>
                      <a:pPr algn="l"/>
                      <a:r>
                        <a:rPr sz="2100" b="0">
                          <a:solidFill>
                            <a:srgbClr val="1F2A44"/>
                          </a:solidFill>
                          <a:latin typeface="Calibri"/>
                        </a:rPr>
                        <a:t>Tomato 9.0%, ginger 10.5%; onion 6.3%, potato 6.9%</a:t>
                      </a:r>
                    </a:p>
                  </a:txBody>
                  <a:tcPr marL="73152" marR="73152" marT="27432" marB="27432" anchor="ctr">
                    <a:solidFill>
                      <a:srgbClr val="F1F7FB"/>
                    </a:solidFill>
                  </a:tcPr>
                </a:tc>
              </a:tr>
              <a:tr h="713232">
                <a:tc>
                  <a:txBody>
                    <a:bodyPr wrap="square"/>
                    <a:lstStyle/>
                    <a:p>
                      <a:pPr algn="ctr"/>
                      <a:r>
                        <a:rPr sz="2100" b="0">
                          <a:solidFill>
                            <a:srgbClr val="1F2A44"/>
                          </a:solidFill>
                          <a:latin typeface="Calibri"/>
                        </a:rPr>
                        <a:t>5</a:t>
                      </a:r>
                    </a:p>
                  </a:txBody>
                  <a:tcPr marL="73152" marR="73152" marT="27432" marB="27432" anchor="ctr">
                    <a:solidFill>
                      <a:srgbClr val="FFFFFF"/>
                    </a:solidFill>
                  </a:tcPr>
                </a:tc>
                <a:tc>
                  <a:txBody>
                    <a:bodyPr wrap="square"/>
                    <a:lstStyle/>
                    <a:p>
                      <a:pPr algn="l"/>
                      <a:r>
                        <a:rPr sz="2100" b="0">
                          <a:solidFill>
                            <a:srgbClr val="1F2A44"/>
                          </a:solidFill>
                          <a:latin typeface="Calibri"/>
                        </a:rPr>
                        <a:t>FastAPI + trilingual app, tests, reproducible pipeline</a:t>
                      </a:r>
                    </a:p>
                  </a:txBody>
                  <a:tcPr marL="73152" marR="73152" marT="27432" marB="27432" anchor="ctr">
                    <a:solidFill>
                      <a:srgbClr val="FFFFFF"/>
                    </a:solidFill>
                  </a:tcPr>
                </a:tc>
                <a:tc>
                  <a:txBody>
                    <a:bodyPr wrap="square"/>
                    <a:lstStyle/>
                    <a:p>
                      <a:pPr algn="ctr"/>
                      <a:r>
                        <a:rPr sz="2100" b="0">
                          <a:solidFill>
                            <a:srgbClr val="2E8B57"/>
                          </a:solidFill>
                          <a:latin typeface="Calibri"/>
                        </a:rPr>
                        <a:t>Met</a:t>
                      </a:r>
                    </a:p>
                  </a:txBody>
                  <a:tcPr marL="73152" marR="73152" marT="27432" marB="27432" anchor="ctr">
                    <a:solidFill>
                      <a:srgbClr val="FFFFFF"/>
                    </a:solidFill>
                  </a:tcPr>
                </a:tc>
                <a:tc>
                  <a:txBody>
                    <a:bodyPr wrap="square"/>
                    <a:lstStyle/>
                    <a:p>
                      <a:pPr algn="l"/>
                      <a:r>
                        <a:rPr sz="2100" b="0">
                          <a:solidFill>
                            <a:srgbClr val="1F2A44"/>
                          </a:solidFill>
                          <a:latin typeface="Calibri"/>
                        </a:rPr>
                        <a:t>669 backend + 11 web tests; one-command pipeline</a:t>
                      </a:r>
                    </a:p>
                  </a:txBody>
                  <a:tcPr marL="73152" marR="73152" marT="27432" marB="27432" anchor="ctr">
                    <a:solidFill>
                      <a:srgbClr val="FFFFFF"/>
                    </a:solidFill>
                  </a:tcPr>
                </a:tc>
              </a:tr>
              <a:tr h="713232">
                <a:tc>
                  <a:txBody>
                    <a:bodyPr wrap="square"/>
                    <a:lstStyle/>
                    <a:p>
                      <a:pPr algn="ctr"/>
                      <a:r>
                        <a:rPr sz="2100" b="0">
                          <a:solidFill>
                            <a:srgbClr val="1F2A44"/>
                          </a:solidFill>
                          <a:latin typeface="Calibri"/>
                        </a:rPr>
                        <a:t>6</a:t>
                      </a:r>
                    </a:p>
                  </a:txBody>
                  <a:tcPr marL="73152" marR="73152" marT="27432" marB="27432" anchor="ctr">
                    <a:solidFill>
                      <a:srgbClr val="F1F7FB"/>
                    </a:solidFill>
                  </a:tcPr>
                </a:tc>
                <a:tc>
                  <a:txBody>
                    <a:bodyPr wrap="square"/>
                    <a:lstStyle/>
                    <a:p>
                      <a:pPr algn="l"/>
                      <a:r>
                        <a:rPr sz="2100" b="0">
                          <a:solidFill>
                            <a:srgbClr val="1F2A44"/>
                          </a:solidFill>
                          <a:latin typeface="Calibri"/>
                        </a:rPr>
                        <a:t>Audit decompose-then-forecast leakage; foundation-model baseline</a:t>
                      </a:r>
                    </a:p>
                  </a:txBody>
                  <a:tcPr marL="73152" marR="73152" marT="27432" marB="27432" anchor="ctr">
                    <a:solidFill>
                      <a:srgbClr val="F1F7FB"/>
                    </a:solidFill>
                  </a:tcPr>
                </a:tc>
                <a:tc>
                  <a:txBody>
                    <a:bodyPr wrap="square"/>
                    <a:lstStyle/>
                    <a:p>
                      <a:pPr algn="ctr"/>
                      <a:r>
                        <a:rPr sz="2100" b="0">
                          <a:solidFill>
                            <a:srgbClr val="2E8B57"/>
                          </a:solidFill>
                          <a:latin typeface="Calibri"/>
                        </a:rPr>
                        <a:t>Met</a:t>
                      </a:r>
                    </a:p>
                  </a:txBody>
                  <a:tcPr marL="73152" marR="73152" marT="27432" marB="27432" anchor="ctr">
                    <a:solidFill>
                      <a:srgbClr val="F1F7FB"/>
                    </a:solidFill>
                  </a:tcPr>
                </a:tc>
                <a:tc>
                  <a:txBody>
                    <a:bodyPr wrap="square"/>
                    <a:lstStyle/>
                    <a:p>
                      <a:pPr algn="l"/>
                      <a:r>
                        <a:rPr sz="2100" b="0">
                          <a:solidFill>
                            <a:srgbClr val="1F2A44"/>
                          </a:solidFill>
                          <a:latin typeface="Calibri"/>
                        </a:rPr>
                        <a:t>+27…62% skill → −15…−1% when causal</a:t>
                      </a:r>
                    </a:p>
                  </a:txBody>
                  <a:tcPr marL="73152" marR="73152" marT="27432" marB="27432" anchor="ctr">
                    <a:solidFill>
                      <a:srgbClr val="F1F7FB"/>
                    </a:solidFill>
                  </a:tcPr>
                </a:tc>
              </a:tr>
              <a:tr h="713232">
                <a:tc>
                  <a:txBody>
                    <a:bodyPr wrap="square"/>
                    <a:lstStyle/>
                    <a:p>
                      <a:pPr algn="ctr"/>
                      <a:r>
                        <a:rPr sz="2100" b="0">
                          <a:solidFill>
                            <a:srgbClr val="1F2A44"/>
                          </a:solidFill>
                          <a:latin typeface="Calibri"/>
                        </a:rPr>
                        <a:t>7</a:t>
                      </a:r>
                    </a:p>
                  </a:txBody>
                  <a:tcPr marL="73152" marR="73152" marT="27432" marB="27432" anchor="ctr">
                    <a:solidFill>
                      <a:srgbClr val="FFFFFF"/>
                    </a:solidFill>
                  </a:tcPr>
                </a:tc>
                <a:tc>
                  <a:txBody>
                    <a:bodyPr wrap="square"/>
                    <a:lstStyle/>
                    <a:p>
                      <a:pPr algn="l"/>
                      <a:r>
                        <a:rPr sz="2100" b="0">
                          <a:solidFill>
                            <a:srgbClr val="1F2A44"/>
                          </a:solidFill>
                          <a:latin typeface="Calibri"/>
                        </a:rPr>
                        <a:t>LLM decision intelligence, grounded and verified</a:t>
                      </a:r>
                    </a:p>
                  </a:txBody>
                  <a:tcPr marL="73152" marR="73152" marT="27432" marB="27432" anchor="ctr">
                    <a:solidFill>
                      <a:srgbClr val="FFFFFF"/>
                    </a:solidFill>
                  </a:tcPr>
                </a:tc>
                <a:tc>
                  <a:txBody>
                    <a:bodyPr wrap="square"/>
                    <a:lstStyle/>
                    <a:p>
                      <a:pPr algn="ctr"/>
                      <a:r>
                        <a:rPr sz="2100" b="0">
                          <a:solidFill>
                            <a:srgbClr val="2E8B57"/>
                          </a:solidFill>
                          <a:latin typeface="Calibri"/>
                        </a:rPr>
                        <a:t>Met</a:t>
                      </a:r>
                    </a:p>
                  </a:txBody>
                  <a:tcPr marL="73152" marR="73152" marT="27432" marB="27432" anchor="ctr">
                    <a:solidFill>
                      <a:srgbClr val="FFFFFF"/>
                    </a:solidFill>
                  </a:tcPr>
                </a:tc>
                <a:tc>
                  <a:txBody>
                    <a:bodyPr wrap="square"/>
                    <a:lstStyle/>
                    <a:p>
                      <a:pPr algn="l"/>
                      <a:r>
                        <a:rPr sz="2100" b="0">
                          <a:solidFill>
                            <a:srgbClr val="1F2A44"/>
                          </a:solidFill>
                          <a:latin typeface="Calibri"/>
                        </a:rPr>
                        <a:t>Judge caught 9/9 corrupted; 30 unit tests</a:t>
                      </a:r>
                    </a:p>
                  </a:txBody>
                  <a:tcPr marL="73152" marR="73152" marT="27432" marB="27432" anchor="ctr">
                    <a:solidFill>
                      <a:srgbClr val="FFFFFF"/>
                    </a:solidFill>
                  </a:tcPr>
                </a:tc>
              </a:tr>
              <a:tr h="713232">
                <a:tc>
                  <a:txBody>
                    <a:bodyPr wrap="square"/>
                    <a:lstStyle/>
                    <a:p>
                      <a:pPr algn="ctr"/>
                      <a:r>
                        <a:rPr sz="2100" b="0">
                          <a:solidFill>
                            <a:srgbClr val="1F2A44"/>
                          </a:solidFill>
                          <a:latin typeface="Calibri"/>
                        </a:rPr>
                        <a:t>8</a:t>
                      </a:r>
                    </a:p>
                  </a:txBody>
                  <a:tcPr marL="73152" marR="73152" marT="27432" marB="27432" anchor="ctr">
                    <a:solidFill>
                      <a:srgbClr val="F1F7FB"/>
                    </a:solidFill>
                  </a:tcPr>
                </a:tc>
                <a:tc>
                  <a:txBody>
                    <a:bodyPr wrap="square"/>
                    <a:lstStyle/>
                    <a:p>
                      <a:pPr algn="l"/>
                      <a:r>
                        <a:rPr sz="2100" b="0">
                          <a:solidFill>
                            <a:srgbClr val="1F2A44"/>
                          </a:solidFill>
                          <a:latin typeface="Calibri"/>
                        </a:rPr>
                        <a:t>Cross-commodity spillover with FDR control</a:t>
                      </a:r>
                    </a:p>
                  </a:txBody>
                  <a:tcPr marL="73152" marR="73152" marT="27432" marB="27432" anchor="ctr">
                    <a:solidFill>
                      <a:srgbClr val="F1F7FB"/>
                    </a:solidFill>
                  </a:tcPr>
                </a:tc>
                <a:tc>
                  <a:txBody>
                    <a:bodyPr wrap="square"/>
                    <a:lstStyle/>
                    <a:p>
                      <a:pPr algn="ctr"/>
                      <a:r>
                        <a:rPr sz="2100" b="0">
                          <a:solidFill>
                            <a:srgbClr val="C0392B"/>
                          </a:solidFill>
                          <a:latin typeface="Calibri"/>
                        </a:rPr>
                        <a:t>Null result</a:t>
                      </a:r>
                    </a:p>
                  </a:txBody>
                  <a:tcPr marL="73152" marR="73152" marT="27432" marB="27432" anchor="ctr">
                    <a:solidFill>
                      <a:srgbClr val="F1F7FB"/>
                    </a:solidFill>
                  </a:tcPr>
                </a:tc>
                <a:tc>
                  <a:txBody>
                    <a:bodyPr wrap="square"/>
                    <a:lstStyle/>
                    <a:p>
                      <a:pPr algn="l"/>
                      <a:r>
                        <a:rPr sz="2100" b="0">
                          <a:solidFill>
                            <a:srgbClr val="1F2A44"/>
                          </a:solidFill>
                          <a:latin typeface="Calibri"/>
                        </a:rPr>
                        <a:t>0 of 40 edges published: no shock episodes</a:t>
                      </a:r>
                    </a:p>
                  </a:txBody>
                  <a:tcPr marL="73152" marR="73152" marT="27432" marB="27432" anchor="ctr">
                    <a:solidFill>
                      <a:srgbClr val="F1F7FB"/>
                    </a:solidFill>
                  </a:tcPr>
                </a:tc>
              </a:tr>
              <a:tr h="713232">
                <a:tc>
                  <a:txBody>
                    <a:bodyPr wrap="square"/>
                    <a:lstStyle/>
                    <a:p>
                      <a:pPr algn="ctr"/>
                      <a:r>
                        <a:rPr sz="2100" b="0">
                          <a:solidFill>
                            <a:srgbClr val="1F2A44"/>
                          </a:solidFill>
                          <a:latin typeface="Calibri"/>
                        </a:rPr>
                        <a:t>9</a:t>
                      </a:r>
                    </a:p>
                  </a:txBody>
                  <a:tcPr marL="73152" marR="73152" marT="27432" marB="27432" anchor="ctr">
                    <a:solidFill>
                      <a:srgbClr val="FFFFFF"/>
                    </a:solidFill>
                  </a:tcPr>
                </a:tc>
                <a:tc>
                  <a:txBody>
                    <a:bodyPr wrap="square"/>
                    <a:lstStyle/>
                    <a:p>
                      <a:pPr algn="l"/>
                      <a:r>
                        <a:rPr sz="2100" b="0">
                          <a:solidFill>
                            <a:srgbClr val="1F2A44"/>
                          </a:solidFill>
                          <a:latin typeface="Calibri"/>
                        </a:rPr>
                        <a:t>Inspectable advice: breakdown, what-if, track record, silence tax, crowd</a:t>
                      </a:r>
                    </a:p>
                  </a:txBody>
                  <a:tcPr marL="73152" marR="73152" marT="27432" marB="27432" anchor="ctr">
                    <a:solidFill>
                      <a:srgbClr val="FFFFFF"/>
                    </a:solidFill>
                  </a:tcPr>
                </a:tc>
                <a:tc>
                  <a:txBody>
                    <a:bodyPr wrap="square"/>
                    <a:lstStyle/>
                    <a:p>
                      <a:pPr algn="ctr"/>
                      <a:r>
                        <a:rPr sz="2100" b="0">
                          <a:solidFill>
                            <a:srgbClr val="2E8B57"/>
                          </a:solidFill>
                          <a:latin typeface="Calibri"/>
                        </a:rPr>
                        <a:t>Met</a:t>
                      </a:r>
                    </a:p>
                  </a:txBody>
                  <a:tcPr marL="73152" marR="73152" marT="27432" marB="27432" anchor="ctr">
                    <a:solidFill>
                      <a:srgbClr val="FFFFFF"/>
                    </a:solidFill>
                  </a:tcPr>
                </a:tc>
                <a:tc>
                  <a:txBody>
                    <a:bodyPr wrap="square"/>
                    <a:lstStyle/>
                    <a:p>
                      <a:pPr algn="l"/>
                      <a:r>
                        <a:rPr sz="2100" b="0">
                          <a:solidFill>
                            <a:srgbClr val="1F2A44"/>
                          </a:solidFill>
                          <a:latin typeface="Calibri"/>
                        </a:rPr>
                        <a:t>Parts add up to net; replay 165 days; 11 tests</a:t>
                      </a:r>
                    </a:p>
                  </a:txBody>
                  <a:tcPr marL="73152" marR="73152" marT="27432" marB="27432" anchor="ctr">
                    <a:solidFill>
                      <a:srgbClr val="FFFFFF"/>
                    </a:solidFill>
                  </a:tcPr>
                </a:tc>
              </a:tr>
              <a:tr h="713232">
                <a:tc>
                  <a:txBody>
                    <a:bodyPr wrap="square"/>
                    <a:lstStyle/>
                    <a:p>
                      <a:pPr algn="ctr"/>
                      <a:r>
                        <a:rPr sz="2100" b="0">
                          <a:solidFill>
                            <a:srgbClr val="1F2A44"/>
                          </a:solidFill>
                          <a:latin typeface="Calibri"/>
                        </a:rPr>
                        <a:t>10</a:t>
                      </a:r>
                    </a:p>
                  </a:txBody>
                  <a:tcPr marL="73152" marR="73152" marT="27432" marB="27432" anchor="ctr">
                    <a:solidFill>
                      <a:srgbClr val="F1F7FB"/>
                    </a:solidFill>
                  </a:tcPr>
                </a:tc>
                <a:tc>
                  <a:txBody>
                    <a:bodyPr wrap="square"/>
                    <a:lstStyle/>
                    <a:p>
                      <a:pPr algn="l"/>
                      <a:r>
                        <a:rPr sz="2100" b="0">
                          <a:solidFill>
                            <a:srgbClr val="1F2A44"/>
                          </a:solidFill>
                          <a:latin typeface="Calibri"/>
                        </a:rPr>
                        <a:t>Dated morning digest on a free channel (Telegram), EN/KN/HI</a:t>
                      </a:r>
                    </a:p>
                  </a:txBody>
                  <a:tcPr marL="73152" marR="73152" marT="27432" marB="27432" anchor="ctr">
                    <a:solidFill>
                      <a:srgbClr val="F1F7FB"/>
                    </a:solidFill>
                  </a:tcPr>
                </a:tc>
                <a:tc>
                  <a:txBody>
                    <a:bodyPr wrap="square"/>
                    <a:lstStyle/>
                    <a:p>
                      <a:pPr algn="ctr"/>
                      <a:r>
                        <a:rPr sz="2100" b="0">
                          <a:solidFill>
                            <a:srgbClr val="D9822B"/>
                          </a:solidFill>
                          <a:latin typeface="Calibri"/>
                        </a:rPr>
                        <a:t>Built, tested</a:t>
                      </a:r>
                    </a:p>
                  </a:txBody>
                  <a:tcPr marL="73152" marR="73152" marT="27432" marB="27432" anchor="ctr">
                    <a:solidFill>
                      <a:srgbClr val="F1F7FB"/>
                    </a:solidFill>
                  </a:tcPr>
                </a:tc>
                <a:tc>
                  <a:txBody>
                    <a:bodyPr wrap="square"/>
                    <a:lstStyle/>
                    <a:p>
                      <a:pPr algn="l"/>
                      <a:r>
                        <a:rPr sz="2100" b="0">
                          <a:solidFill>
                            <a:srgbClr val="1F2A44"/>
                          </a:solidFill>
                          <a:latin typeface="Calibri"/>
                        </a:rPr>
                        <a:t>8 tests; live demo today; no farmer pilot</a:t>
                      </a:r>
                    </a:p>
                  </a:txBody>
                  <a:tcPr marL="73152" marR="73152" marT="27432" marB="27432" anchor="ctr">
                    <a:solidFill>
                      <a:srgbClr val="F1F7FB"/>
                    </a:solidFill>
                  </a:tcPr>
                </a:tc>
              </a:tr>
            </a:tbl>
          </a:graphicData>
        </a:graphic>
      </p:graphicFrame>
    </p:spTree>
    <p:extLst>
      <p:ext uri="{BB962C8B-B14F-4D97-AF65-F5344CB8AC3E}">
        <p14:creationId xmlns:p14="http://schemas.microsoft.com/office/powerpoint/2010/main" val="17690171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Proposed Methodology and System Architecture</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5</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902" name="Content Guidance"/>
          <p:cNvSpPr txBox="1"/>
          <p:nvPr/>
        </p:nvSpPr>
        <p:spPr>
          <a:xfrm>
            <a:off x="1005840" y="1737360"/>
            <a:ext cx="18105120" cy="3383280"/>
          </a:xfrm>
          <a:prstGeom prst="rect">
            <a:avLst/>
          </a:prstGeom>
          <a:noFill/>
        </p:spPr>
        <p:txBody>
          <a:bodyPr wrap="square" lIns="0" tIns="0" rIns="0" bIns="0">
            <a:normAutofit/>
          </a:bodyPr>
          <a:lstStyle/>
          <a:p>
            <a:pPr marL="514350" indent="-514350">
              <a:lnSpc>
                <a:spcPct val="115000"/>
              </a:lnSpc>
              <a:spcAft>
                <a:spcPts val="600"/>
              </a:spcAft>
              <a:buFont typeface="Arial" panose="020B0604020202020204" pitchFamily="34" charset="0"/>
              <a:buChar char="•"/>
            </a:pPr>
            <a:r>
              <a:rPr lang="en-US" sz="2400" dirty="0" b="1">
                <a:solidFill>
                  <a:srgbClr val="1F2A44"/>
                </a:solidFill>
                <a:latin typeface="Calibri" panose="020F0502020204030204" charset="0"/>
                <a:cs typeface="Calibri" panose="020F0502020204030204" charset="0"/>
              </a:rPr>
              <a:t>Idea: </a:t>
            </a:r>
            <a:r>
              <a:rPr lang="en-US" sz="2400" dirty="0">
                <a:solidFill>
                  <a:srgbClr val="1F2A44"/>
                </a:solidFill>
                <a:latin typeface="Calibri" panose="020F0502020204030204" charset="0"/>
                <a:cs typeface="Calibri" panose="020F0502020204030204" charset="0"/>
              </a:rPr>
              <a:t>train on what the farmer would actually receive (price net of transport, shrinkage and silent markets), not on the posted price.</a:t>
            </a:r>
          </a:p>
          <a:p>
            <a:pPr marL="514350" indent="-514350">
              <a:lnSpc>
                <a:spcPct val="115000"/>
              </a:lnSpc>
              <a:spcAft>
                <a:spcPts val="600"/>
              </a:spcAft>
              <a:buFont typeface="Arial" panose="020B0604020202020204" pitchFamily="34" charset="0"/>
              <a:buChar char="•"/>
            </a:pPr>
            <a:r>
              <a:rPr lang="en-US" sz="2400" dirty="0" b="1">
                <a:solidFill>
                  <a:srgbClr val="1F2A44"/>
                </a:solidFill>
                <a:latin typeface="Calibri" panose="020F0502020204030204" charset="0"/>
                <a:cs typeface="Calibri" panose="020F0502020204030204" charset="0"/>
              </a:rPr>
              <a:t>Action: </a:t>
            </a:r>
            <a:r>
              <a:rPr lang="en-US" sz="2400" dirty="0">
                <a:solidFill>
                  <a:srgbClr val="1F2A44"/>
                </a:solidFill>
                <a:latin typeface="Calibri" panose="020F0502020204030204" charset="0"/>
                <a:cs typeface="Calibri" panose="020F0502020204030204" charset="0"/>
              </a:rPr>
              <a:t>(mandi, hold 0–3 days) or farm gate; recommendation = best guaranteed revenue, with an adaptive conformal floor.</a:t>
            </a:r>
          </a:p>
          <a:p>
            <a:pPr marL="514350" indent="-514350">
              <a:lnSpc>
                <a:spcPct val="115000"/>
              </a:lnSpc>
              <a:spcAft>
                <a:spcPts val="600"/>
              </a:spcAft>
              <a:buFont typeface="Arial" panose="020B0604020202020204" pitchFamily="34" charset="0"/>
              <a:buChar char="•"/>
            </a:pPr>
            <a:r>
              <a:rPr lang="en-US" sz="2400" dirty="0" b="1">
                <a:solidFill>
                  <a:srgbClr val="1F2A44"/>
                </a:solidFill>
                <a:latin typeface="Calibri" panose="020F0502020204030204" charset="0"/>
                <a:cs typeface="Calibri" panose="020F0502020204030204" charset="0"/>
              </a:rPr>
              <a:t>Rejected: </a:t>
            </a:r>
            <a:r>
              <a:rPr lang="en-US" sz="2400" dirty="0">
                <a:solidFill>
                  <a:srgbClr val="1F2A44"/>
                </a:solidFill>
                <a:latin typeface="Calibri" panose="020F0502020204030204" charset="0"/>
                <a:cs typeface="Calibri" panose="020F0502020204030204" charset="0"/>
              </a:rPr>
              <a:t>predict-then-optimise on posted prices and decompose-then-forecast hybrids (they never see a silent market, and leak the future).</a:t>
            </a:r>
          </a:p>
        </p:txBody>
      </p:sp>
      <p:sp>
        <p:nvSpPr>
          <p:cNvPr id="10251" name="Rounded Rectangle 10250"/>
          <p:cNvSpPr/>
          <p:nvPr/>
        </p:nvSpPr>
        <p:spPr>
          <a:xfrm>
            <a:off x="1005840" y="5486400"/>
            <a:ext cx="2286000" cy="109728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200" b="1" i="0">
                <a:solidFill>
                  <a:srgbClr val="1F2A44"/>
                </a:solidFill>
                <a:latin typeface="Calibri"/>
              </a:rPr>
              <a:t>Agmarknet</a:t>
            </a:r>
          </a:p>
          <a:p>
            <a:pPr algn="ctr"/>
            <a:r>
              <a:rPr sz="2200" b="1" i="0">
                <a:solidFill>
                  <a:srgbClr val="1F2A44"/>
                </a:solidFill>
                <a:latin typeface="Calibri"/>
              </a:rPr>
              <a:t>exports</a:t>
            </a:r>
          </a:p>
        </p:txBody>
      </p:sp>
      <p:sp>
        <p:nvSpPr>
          <p:cNvPr id="10252" name="Rounded Rectangle 10251"/>
          <p:cNvSpPr/>
          <p:nvPr/>
        </p:nvSpPr>
        <p:spPr>
          <a:xfrm>
            <a:off x="3657600" y="5486400"/>
            <a:ext cx="2286000" cy="109728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200" b="1" i="0">
                <a:solidFill>
                  <a:srgbClr val="1F2A44"/>
                </a:solidFill>
                <a:latin typeface="Calibri"/>
              </a:rPr>
              <a:t>Clean + audit</a:t>
            </a:r>
          </a:p>
          <a:p>
            <a:pPr algn="ctr"/>
            <a:r>
              <a:rPr sz="2200" b="1" i="0">
                <a:solidFill>
                  <a:srgbClr val="1F2A44"/>
                </a:solidFill>
                <a:latin typeface="Calibri"/>
              </a:rPr>
              <a:t>loader, checks</a:t>
            </a:r>
          </a:p>
        </p:txBody>
      </p:sp>
      <p:sp>
        <p:nvSpPr>
          <p:cNvPr id="10253" name="Rounded Rectangle 10252"/>
          <p:cNvSpPr/>
          <p:nvPr/>
        </p:nvSpPr>
        <p:spPr>
          <a:xfrm>
            <a:off x="6309360" y="5486400"/>
            <a:ext cx="2286000" cy="109728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200" b="1" i="0">
                <a:solidFill>
                  <a:srgbClr val="1F2A44"/>
                </a:solidFill>
                <a:latin typeface="Calibri"/>
              </a:rPr>
              <a:t>Market panel,</a:t>
            </a:r>
          </a:p>
          <a:p>
            <a:pPr algn="ctr"/>
            <a:r>
              <a:rPr sz="2200" b="1" i="0">
                <a:solidFill>
                  <a:srgbClr val="1F2A44"/>
                </a:solidFill>
                <a:latin typeface="Calibri"/>
              </a:rPr>
              <a:t>observation store</a:t>
            </a:r>
          </a:p>
        </p:txBody>
      </p:sp>
      <p:cxnSp>
        <p:nvCxnSpPr>
          <p:cNvPr id="10254" name="Connector 10253"/>
          <p:cNvCxnSpPr/>
          <p:nvPr/>
        </p:nvCxnSpPr>
        <p:spPr>
          <a:xfrm>
            <a:off x="3291840" y="6035040"/>
            <a:ext cx="365760" cy="0"/>
          </a:xfrm>
          <a:prstGeom prst="line">
            <a:avLst/>
          </a:prstGeom>
          <a:ln w="28575">
            <a:solidFill>
              <a:srgbClr val="5F6B7A"/>
            </a:solidFill>
            <a:tailEnd type="triangle"/>
          </a:ln>
        </p:spPr>
        <p:style>
          <a:lnRef idx="2">
            <a:schemeClr val="accent1"/>
          </a:lnRef>
          <a:fillRef idx="0">
            <a:schemeClr val="accent1"/>
          </a:fillRef>
          <a:effectRef idx="1">
            <a:schemeClr val="accent1"/>
          </a:effectRef>
          <a:fontRef idx="minor">
            <a:schemeClr val="tx1"/>
          </a:fontRef>
        </p:style>
      </p:cxnSp>
      <p:cxnSp>
        <p:nvCxnSpPr>
          <p:cNvPr id="10255" name="Connector 10254"/>
          <p:cNvCxnSpPr/>
          <p:nvPr/>
        </p:nvCxnSpPr>
        <p:spPr>
          <a:xfrm>
            <a:off x="5943600" y="6035040"/>
            <a:ext cx="365760" cy="0"/>
          </a:xfrm>
          <a:prstGeom prst="line">
            <a:avLst/>
          </a:prstGeom>
          <a:ln w="28575">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0256" name="Rounded Rectangle 10255"/>
          <p:cNvSpPr/>
          <p:nvPr/>
        </p:nvSpPr>
        <p:spPr>
          <a:xfrm>
            <a:off x="9509760" y="4572000"/>
            <a:ext cx="3017520" cy="109728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200" b="1" i="0">
                <a:solidFill>
                  <a:srgbClr val="1F2A44"/>
                </a:solidFill>
                <a:latin typeface="Calibri"/>
              </a:rPr>
              <a:t>Market-choice engines</a:t>
            </a:r>
          </a:p>
          <a:p>
            <a:pPr algn="ctr"/>
            <a:r>
              <a:rPr sz="2200" b="1" i="0">
                <a:solidFill>
                  <a:srgbClr val="1F2A44"/>
                </a:solidFill>
                <a:latin typeface="Calibri"/>
              </a:rPr>
              <a:t>+ conformal floors</a:t>
            </a:r>
          </a:p>
        </p:txBody>
      </p:sp>
      <p:cxnSp>
        <p:nvCxnSpPr>
          <p:cNvPr id="10257" name="Connector 10256"/>
          <p:cNvCxnSpPr/>
          <p:nvPr/>
        </p:nvCxnSpPr>
        <p:spPr>
          <a:xfrm flipV="1">
            <a:off x="8595360" y="5120640"/>
            <a:ext cx="914400" cy="914400"/>
          </a:xfrm>
          <a:prstGeom prst="line">
            <a:avLst/>
          </a:prstGeom>
          <a:ln w="28575">
            <a:solidFill>
              <a:srgbClr val="5F6B7A"/>
            </a:solidFill>
            <a:tailEnd type="triangle"/>
          </a:ln>
        </p:spPr>
        <p:style>
          <a:lnRef idx="2">
            <a:schemeClr val="accent1"/>
          </a:lnRef>
          <a:fillRef idx="0">
            <a:schemeClr val="accent1"/>
          </a:fillRef>
          <a:effectRef idx="1">
            <a:schemeClr val="accent1"/>
          </a:effectRef>
          <a:fontRef idx="minor">
            <a:schemeClr val="tx1"/>
          </a:fontRef>
        </p:style>
      </p:cxnSp>
      <p:cxnSp>
        <p:nvCxnSpPr>
          <p:cNvPr id="10258" name="Connector 10257"/>
          <p:cNvCxnSpPr/>
          <p:nvPr/>
        </p:nvCxnSpPr>
        <p:spPr>
          <a:xfrm>
            <a:off x="12527280" y="5120640"/>
            <a:ext cx="822960" cy="1188719"/>
          </a:xfrm>
          <a:prstGeom prst="line">
            <a:avLst/>
          </a:prstGeom>
          <a:ln w="28575">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0259" name="Rounded Rectangle 10258"/>
          <p:cNvSpPr/>
          <p:nvPr/>
        </p:nvSpPr>
        <p:spPr>
          <a:xfrm>
            <a:off x="9509760" y="5943600"/>
            <a:ext cx="3017520" cy="109728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200" b="1" i="0">
                <a:solidFill>
                  <a:srgbClr val="1F2A44"/>
                </a:solidFill>
                <a:latin typeface="Calibri"/>
              </a:rPr>
              <a:t>Forecasters</a:t>
            </a:r>
          </a:p>
          <a:p>
            <a:pPr algn="ctr"/>
            <a:r>
              <a:rPr sz="2200" b="1" i="0">
                <a:solidFill>
                  <a:srgbClr val="1F2A44"/>
                </a:solidFill>
                <a:latin typeface="Calibri"/>
              </a:rPr>
              <a:t>+ specialist council</a:t>
            </a:r>
          </a:p>
        </p:txBody>
      </p:sp>
      <p:cxnSp>
        <p:nvCxnSpPr>
          <p:cNvPr id="10260" name="Connector 10259"/>
          <p:cNvCxnSpPr/>
          <p:nvPr/>
        </p:nvCxnSpPr>
        <p:spPr>
          <a:xfrm>
            <a:off x="8595360" y="6035040"/>
            <a:ext cx="914400" cy="457200"/>
          </a:xfrm>
          <a:prstGeom prst="line">
            <a:avLst/>
          </a:prstGeom>
          <a:ln w="28575">
            <a:solidFill>
              <a:srgbClr val="5F6B7A"/>
            </a:solidFill>
            <a:tailEnd type="triangle"/>
          </a:ln>
        </p:spPr>
        <p:style>
          <a:lnRef idx="2">
            <a:schemeClr val="accent1"/>
          </a:lnRef>
          <a:fillRef idx="0">
            <a:schemeClr val="accent1"/>
          </a:fillRef>
          <a:effectRef idx="1">
            <a:schemeClr val="accent1"/>
          </a:effectRef>
          <a:fontRef idx="minor">
            <a:schemeClr val="tx1"/>
          </a:fontRef>
        </p:style>
      </p:cxnSp>
      <p:cxnSp>
        <p:nvCxnSpPr>
          <p:cNvPr id="10261" name="Connector 10260"/>
          <p:cNvCxnSpPr/>
          <p:nvPr/>
        </p:nvCxnSpPr>
        <p:spPr>
          <a:xfrm flipV="1">
            <a:off x="12527280" y="6309359"/>
            <a:ext cx="822960" cy="182881"/>
          </a:xfrm>
          <a:prstGeom prst="line">
            <a:avLst/>
          </a:prstGeom>
          <a:ln w="28575">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0262" name="Rounded Rectangle 10261"/>
          <p:cNvSpPr/>
          <p:nvPr/>
        </p:nvSpPr>
        <p:spPr>
          <a:xfrm>
            <a:off x="9509760" y="7315200"/>
            <a:ext cx="3017520" cy="109728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200" b="1" i="0">
                <a:solidFill>
                  <a:srgbClr val="1F2A44"/>
                </a:solidFill>
                <a:latin typeface="Calibri"/>
              </a:rPr>
              <a:t>Shock study</a:t>
            </a:r>
          </a:p>
          <a:p>
            <a:pPr algn="ctr"/>
            <a:r>
              <a:rPr sz="2200" b="1" i="0">
                <a:solidFill>
                  <a:srgbClr val="1F2A44"/>
                </a:solidFill>
                <a:latin typeface="Calibri"/>
              </a:rPr>
              <a:t>+ spillover</a:t>
            </a:r>
          </a:p>
        </p:txBody>
      </p:sp>
      <p:cxnSp>
        <p:nvCxnSpPr>
          <p:cNvPr id="10263" name="Connector 10262"/>
          <p:cNvCxnSpPr/>
          <p:nvPr/>
        </p:nvCxnSpPr>
        <p:spPr>
          <a:xfrm>
            <a:off x="8595360" y="6035040"/>
            <a:ext cx="914400" cy="1828800"/>
          </a:xfrm>
          <a:prstGeom prst="line">
            <a:avLst/>
          </a:prstGeom>
          <a:ln w="28575">
            <a:solidFill>
              <a:srgbClr val="5F6B7A"/>
            </a:solidFill>
            <a:tailEnd type="triangle"/>
          </a:ln>
        </p:spPr>
        <p:style>
          <a:lnRef idx="2">
            <a:schemeClr val="accent1"/>
          </a:lnRef>
          <a:fillRef idx="0">
            <a:schemeClr val="accent1"/>
          </a:fillRef>
          <a:effectRef idx="1">
            <a:schemeClr val="accent1"/>
          </a:effectRef>
          <a:fontRef idx="minor">
            <a:schemeClr val="tx1"/>
          </a:fontRef>
        </p:style>
      </p:cxnSp>
      <p:cxnSp>
        <p:nvCxnSpPr>
          <p:cNvPr id="10264" name="Connector 10263"/>
          <p:cNvCxnSpPr/>
          <p:nvPr/>
        </p:nvCxnSpPr>
        <p:spPr>
          <a:xfrm flipV="1">
            <a:off x="12527280" y="6309359"/>
            <a:ext cx="822960" cy="1554481"/>
          </a:xfrm>
          <a:prstGeom prst="line">
            <a:avLst/>
          </a:prstGeom>
          <a:ln w="28575">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0265" name="Rounded Rectangle 10264"/>
          <p:cNvSpPr/>
          <p:nvPr/>
        </p:nvSpPr>
        <p:spPr>
          <a:xfrm>
            <a:off x="13350240" y="5349240"/>
            <a:ext cx="2651760" cy="137160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200" b="1" i="0">
                <a:solidFill>
                  <a:srgbClr val="FFFFFF"/>
                </a:solidFill>
                <a:latin typeface="Calibri"/>
              </a:rPr>
              <a:t>FastAPI service</a:t>
            </a:r>
          </a:p>
          <a:p>
            <a:pPr algn="ctr"/>
            <a:r>
              <a:rPr sz="2200" b="1" i="0">
                <a:solidFill>
                  <a:srgbClr val="FFFFFF"/>
                </a:solidFill>
                <a:latin typeface="Calibri"/>
              </a:rPr>
              <a:t>farmer · trader · chat</a:t>
            </a:r>
          </a:p>
        </p:txBody>
      </p:sp>
      <p:sp>
        <p:nvSpPr>
          <p:cNvPr id="10266" name="Rounded Rectangle 10265"/>
          <p:cNvSpPr/>
          <p:nvPr/>
        </p:nvSpPr>
        <p:spPr>
          <a:xfrm>
            <a:off x="16550640" y="5349240"/>
            <a:ext cx="2560320" cy="137160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200" b="1" i="0">
                <a:solidFill>
                  <a:srgbClr val="FFFFFF"/>
                </a:solidFill>
                <a:latin typeface="Calibri"/>
              </a:rPr>
              <a:t>Next.js app</a:t>
            </a:r>
          </a:p>
          <a:p>
            <a:pPr algn="ctr"/>
            <a:r>
              <a:rPr sz="2200" b="1" i="0">
                <a:solidFill>
                  <a:srgbClr val="FFFFFF"/>
                </a:solidFill>
                <a:latin typeface="Calibri"/>
              </a:rPr>
              <a:t>EN · KN · HI</a:t>
            </a:r>
          </a:p>
        </p:txBody>
      </p:sp>
      <p:cxnSp>
        <p:nvCxnSpPr>
          <p:cNvPr id="10267" name="Connector 10266"/>
          <p:cNvCxnSpPr/>
          <p:nvPr/>
        </p:nvCxnSpPr>
        <p:spPr>
          <a:xfrm>
            <a:off x="16002000" y="6035040"/>
            <a:ext cx="548640" cy="0"/>
          </a:xfrm>
          <a:prstGeom prst="line">
            <a:avLst/>
          </a:prstGeom>
          <a:ln w="28575">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0268" name="Rounded Rectangle 10267"/>
          <p:cNvSpPr/>
          <p:nvPr/>
        </p:nvSpPr>
        <p:spPr>
          <a:xfrm>
            <a:off x="13350240" y="7589520"/>
            <a:ext cx="5760720" cy="1280160"/>
          </a:xfrm>
          <a:prstGeom prst="round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100" b="1" i="0">
                <a:solidFill>
                  <a:srgbClr val="FFFFFF"/>
                </a:solidFill>
                <a:latin typeface="Calibri"/>
              </a:rPr>
              <a:t>Language layer: decision-intelligence briefs,</a:t>
            </a:r>
          </a:p>
          <a:p>
            <a:pPr algn="ctr"/>
            <a:r>
              <a:rPr sz="2100" b="1" i="0">
                <a:solidFill>
                  <a:srgbClr val="FFFFFF"/>
                </a:solidFill>
                <a:latin typeface="Calibri"/>
              </a:rPr>
              <a:t>explanation writer + independent judge</a:t>
            </a:r>
          </a:p>
        </p:txBody>
      </p:sp>
      <p:cxnSp>
        <p:nvCxnSpPr>
          <p:cNvPr id="10269" name="Connector 10268"/>
          <p:cNvCxnSpPr/>
          <p:nvPr/>
        </p:nvCxnSpPr>
        <p:spPr>
          <a:xfrm flipH="1" flipV="1">
            <a:off x="15453359" y="6903720"/>
            <a:ext cx="731521" cy="685800"/>
          </a:xfrm>
          <a:prstGeom prst="line">
            <a:avLst/>
          </a:prstGeom>
          <a:ln w="28575">
            <a:solidFill>
              <a:srgbClr val="D9822B"/>
            </a:solidFill>
            <a:tailEnd type="triangle"/>
          </a:ln>
        </p:spPr>
        <p:style>
          <a:lnRef idx="2">
            <a:schemeClr val="accent1"/>
          </a:lnRef>
          <a:fillRef idx="0">
            <a:schemeClr val="accent1"/>
          </a:fillRef>
          <a:effectRef idx="1">
            <a:schemeClr val="accent1"/>
          </a:effectRef>
          <a:fontRef idx="minor">
            <a:schemeClr val="tx1"/>
          </a:fontRef>
        </p:style>
      </p:cxnSp>
      <p:sp>
        <p:nvSpPr>
          <p:cNvPr id="10270" name="TextBox 10269"/>
          <p:cNvSpPr txBox="1"/>
          <p:nvPr/>
        </p:nvSpPr>
        <p:spPr>
          <a:xfrm>
            <a:off x="1005840" y="9052560"/>
            <a:ext cx="11887200" cy="1097280"/>
          </a:xfrm>
          <a:prstGeom prst="rect">
            <a:avLst/>
          </a:prstGeom>
          <a:noFill/>
        </p:spPr>
        <p:txBody>
          <a:bodyPr wrap="square" anchor="t" lIns="73152" rIns="73152" tIns="36576" bIns="36576">
            <a:spAutoFit/>
          </a:bodyPr>
          <a:lstStyle/>
          <a:p>
            <a:pPr algn="l"/>
            <a:r>
              <a:rPr sz="2200" b="0" i="1">
                <a:solidFill>
                  <a:srgbClr val="5F6B7A"/>
                </a:solidFill>
                <a:latin typeface="Calibri"/>
              </a:rPr>
              <a:t>Data layer → model layer → service layer (engines + five insight features) → language layer → presentation. All results use real portal records; no synthetic data enter any result.</a:t>
            </a:r>
          </a:p>
        </p:txBody>
      </p:sp>
      <p:sp>
        <p:nvSpPr>
          <p:cNvPr id="10271" name="Rounded Rectangle 10270"/>
          <p:cNvSpPr/>
          <p:nvPr/>
        </p:nvSpPr>
        <p:spPr>
          <a:xfrm>
            <a:off x="13350240" y="9098280"/>
            <a:ext cx="5760720" cy="914400"/>
          </a:xfrm>
          <a:prstGeom prst="round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100" b="1" i="0">
                <a:solidFill>
                  <a:srgbClr val="FFFFFF"/>
                </a:solidFill>
                <a:latin typeface="Calibri"/>
              </a:rPr>
              <a:t>Telegram bot · 7 am digest</a:t>
            </a:r>
          </a:p>
        </p:txBody>
      </p:sp>
      <p:cxnSp>
        <p:nvCxnSpPr>
          <p:cNvPr id="10272" name="Connector 10271"/>
          <p:cNvCxnSpPr/>
          <p:nvPr/>
        </p:nvCxnSpPr>
        <p:spPr>
          <a:xfrm flipV="1">
            <a:off x="16184880" y="8915400"/>
            <a:ext cx="0" cy="182880"/>
          </a:xfrm>
          <a:prstGeom prst="line">
            <a:avLst/>
          </a:prstGeom>
          <a:ln w="28575">
            <a:solidFill>
              <a:srgbClr val="2E8B57"/>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69017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Implementation and System Integration</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6</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903" name="Content Guidance"/>
          <p:cNvSpPr txBox="1"/>
          <p:nvPr/>
        </p:nvSpPr>
        <p:spPr>
          <a:xfrm>
            <a:off x="1005840" y="1737360"/>
            <a:ext cx="18105120" cy="3383280"/>
          </a:xfrm>
          <a:prstGeom prst="rect">
            <a:avLst/>
          </a:prstGeom>
          <a:noFill/>
        </p:spPr>
        <p:txBody>
          <a:bodyPr wrap="square" lIns="0" tIns="0" rIns="0" bIns="0">
            <a:normAutofit/>
          </a:bodyPr>
          <a:lstStyle/>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Integrated: </a:t>
            </a:r>
            <a:r>
              <a:rPr lang="en-US" sz="2500" dirty="0">
                <a:solidFill>
                  <a:srgbClr val="1F2A44"/>
                </a:solidFill>
                <a:latin typeface="Calibri" panose="020F0502020204030204" charset="0"/>
                <a:cs typeface="Calibri" panose="020F0502020204030204" charset="0"/>
              </a:rPr>
              <a:t>one pipeline command runs 13 stages from raw exports to tests; API, web app, engines and language layer share one data store.</a:t>
            </a:r>
          </a:p>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Manual: </a:t>
            </a:r>
            <a:r>
              <a:rPr lang="en-US" sz="2500" dirty="0">
                <a:solidFill>
                  <a:srgbClr val="1F2A44"/>
                </a:solidFill>
                <a:latin typeface="Calibri" panose="020F0502020204030204" charset="0"/>
                <a:cs typeface="Calibri" panose="020F0502020204030204" charset="0"/>
              </a:rPr>
              <a:t>refreshing Agmarknet exports (download by hand); public deployment config exists but is not verified live.</a:t>
            </a:r>
          </a:p>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Defects fixed: </a:t>
            </a:r>
            <a:r>
              <a:rPr lang="en-US" sz="2500" dirty="0">
                <a:solidFill>
                  <a:srgbClr val="1F2A44"/>
                </a:solidFill>
                <a:latin typeface="Calibri" panose="020F0502020204030204" charset="0"/>
                <a:cs typeface="Calibri" panose="020F0502020204030204" charset="0"/>
              </a:rPr>
              <a:t>NumPy 2 broke pandas; fresh clone missed the observation store; hard deletion emptied trader pages; council weights summed above 1.</a:t>
            </a:r>
          </a:p>
        </p:txBody>
      </p:sp>
      <p:sp>
        <p:nvSpPr>
          <p:cNvPr id="10251" name="Rounded Rectangle 10250"/>
          <p:cNvSpPr/>
          <p:nvPr/>
        </p:nvSpPr>
        <p:spPr>
          <a:xfrm>
            <a:off x="1005840" y="5394960"/>
            <a:ext cx="1463040" cy="105156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800" b="1" i="0">
                <a:solidFill>
                  <a:srgbClr val="1F2A44"/>
                </a:solidFill>
                <a:latin typeface="Calibri"/>
              </a:rPr>
              <a:t>world</a:t>
            </a:r>
          </a:p>
        </p:txBody>
      </p:sp>
      <p:cxnSp>
        <p:nvCxnSpPr>
          <p:cNvPr id="10252" name="Connector 10251"/>
          <p:cNvCxnSpPr/>
          <p:nvPr/>
        </p:nvCxnSpPr>
        <p:spPr>
          <a:xfrm>
            <a:off x="2468880" y="5920740"/>
            <a:ext cx="146304" cy="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0253" name="Rounded Rectangle 10252"/>
          <p:cNvSpPr/>
          <p:nvPr/>
        </p:nvSpPr>
        <p:spPr>
          <a:xfrm>
            <a:off x="2615184" y="5394960"/>
            <a:ext cx="1463040" cy="105156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800" b="1" i="0">
                <a:solidFill>
                  <a:srgbClr val="1F2A44"/>
                </a:solidFill>
                <a:latin typeface="Calibri"/>
              </a:rPr>
              <a:t>forecasts</a:t>
            </a:r>
          </a:p>
        </p:txBody>
      </p:sp>
      <p:cxnSp>
        <p:nvCxnSpPr>
          <p:cNvPr id="10254" name="Connector 10253"/>
          <p:cNvCxnSpPr/>
          <p:nvPr/>
        </p:nvCxnSpPr>
        <p:spPr>
          <a:xfrm>
            <a:off x="4078224" y="5920740"/>
            <a:ext cx="146304" cy="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0255" name="Rounded Rectangle 10254"/>
          <p:cNvSpPr/>
          <p:nvPr/>
        </p:nvSpPr>
        <p:spPr>
          <a:xfrm>
            <a:off x="4224528" y="5394960"/>
            <a:ext cx="1463040" cy="105156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800" b="1" i="0">
                <a:solidFill>
                  <a:srgbClr val="1F2A44"/>
                </a:solidFill>
                <a:latin typeface="Calibri"/>
              </a:rPr>
              <a:t>market</a:t>
            </a:r>
          </a:p>
          <a:p>
            <a:pPr algn="ctr"/>
            <a:r>
              <a:rPr sz="1800" b="1" i="0">
                <a:solidFill>
                  <a:srgbClr val="1F2A44"/>
                </a:solidFill>
                <a:latin typeface="Calibri"/>
              </a:rPr>
              <a:t>choice</a:t>
            </a:r>
          </a:p>
        </p:txBody>
      </p:sp>
      <p:cxnSp>
        <p:nvCxnSpPr>
          <p:cNvPr id="10256" name="Connector 10255"/>
          <p:cNvCxnSpPr/>
          <p:nvPr/>
        </p:nvCxnSpPr>
        <p:spPr>
          <a:xfrm>
            <a:off x="5687568" y="5920740"/>
            <a:ext cx="146304" cy="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0257" name="Rounded Rectangle 10256"/>
          <p:cNvSpPr/>
          <p:nvPr/>
        </p:nvSpPr>
        <p:spPr>
          <a:xfrm>
            <a:off x="5833872" y="5394960"/>
            <a:ext cx="1463040" cy="105156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800" b="1" i="0">
                <a:solidFill>
                  <a:srgbClr val="1F2A44"/>
                </a:solidFill>
                <a:latin typeface="Calibri"/>
              </a:rPr>
              <a:t>track</a:t>
            </a:r>
          </a:p>
          <a:p>
            <a:pPr algn="ctr"/>
            <a:r>
              <a:rPr sz="1800" b="1" i="0">
                <a:solidFill>
                  <a:srgbClr val="1F2A44"/>
                </a:solidFill>
                <a:latin typeface="Calibri"/>
              </a:rPr>
              <a:t>record</a:t>
            </a:r>
          </a:p>
        </p:txBody>
      </p:sp>
      <p:cxnSp>
        <p:nvCxnSpPr>
          <p:cNvPr id="10258" name="Connector 10257"/>
          <p:cNvCxnSpPr/>
          <p:nvPr/>
        </p:nvCxnSpPr>
        <p:spPr>
          <a:xfrm>
            <a:off x="7296912" y="5920740"/>
            <a:ext cx="146304" cy="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0259" name="Rounded Rectangle 10258"/>
          <p:cNvSpPr/>
          <p:nvPr/>
        </p:nvSpPr>
        <p:spPr>
          <a:xfrm>
            <a:off x="7443216" y="5394960"/>
            <a:ext cx="1463040" cy="105156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800" b="1" i="0">
                <a:solidFill>
                  <a:srgbClr val="1F2A44"/>
                </a:solidFill>
                <a:latin typeface="Calibri"/>
              </a:rPr>
              <a:t>transmission</a:t>
            </a:r>
          </a:p>
        </p:txBody>
      </p:sp>
      <p:cxnSp>
        <p:nvCxnSpPr>
          <p:cNvPr id="10260" name="Connector 10259"/>
          <p:cNvCxnSpPr/>
          <p:nvPr/>
        </p:nvCxnSpPr>
        <p:spPr>
          <a:xfrm>
            <a:off x="8906256" y="5920740"/>
            <a:ext cx="146304" cy="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0261" name="Rounded Rectangle 10260"/>
          <p:cNvSpPr/>
          <p:nvPr/>
        </p:nvSpPr>
        <p:spPr>
          <a:xfrm>
            <a:off x="9052560" y="5394960"/>
            <a:ext cx="1463040" cy="105156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800" b="1" i="0">
                <a:solidFill>
                  <a:srgbClr val="1F2A44"/>
                </a:solidFill>
                <a:latin typeface="Calibri"/>
              </a:rPr>
              <a:t>shock</a:t>
            </a:r>
          </a:p>
        </p:txBody>
      </p:sp>
      <p:cxnSp>
        <p:nvCxnSpPr>
          <p:cNvPr id="10262" name="Connector 10261"/>
          <p:cNvCxnSpPr/>
          <p:nvPr/>
        </p:nvCxnSpPr>
        <p:spPr>
          <a:xfrm>
            <a:off x="10515600" y="5920740"/>
            <a:ext cx="146304" cy="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0263" name="Rounded Rectangle 10262"/>
          <p:cNvSpPr/>
          <p:nvPr/>
        </p:nvSpPr>
        <p:spPr>
          <a:xfrm>
            <a:off x="10661904" y="5394960"/>
            <a:ext cx="1463040" cy="105156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800" b="1" i="0">
                <a:solidFill>
                  <a:srgbClr val="1F2A44"/>
                </a:solidFill>
                <a:latin typeface="Calibri"/>
              </a:rPr>
              <a:t>spillover</a:t>
            </a:r>
          </a:p>
        </p:txBody>
      </p:sp>
      <p:cxnSp>
        <p:nvCxnSpPr>
          <p:cNvPr id="10264" name="Connector 10263"/>
          <p:cNvCxnSpPr/>
          <p:nvPr/>
        </p:nvCxnSpPr>
        <p:spPr>
          <a:xfrm>
            <a:off x="12124944" y="5920740"/>
            <a:ext cx="146304" cy="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0265" name="Rounded Rectangle 10264"/>
          <p:cNvSpPr/>
          <p:nvPr/>
        </p:nvSpPr>
        <p:spPr>
          <a:xfrm>
            <a:off x="12271248" y="5394960"/>
            <a:ext cx="1463040" cy="105156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800" b="1" i="0">
                <a:solidFill>
                  <a:srgbClr val="1F2A44"/>
                </a:solidFill>
                <a:latin typeface="Calibri"/>
              </a:rPr>
              <a:t>council</a:t>
            </a:r>
          </a:p>
        </p:txBody>
      </p:sp>
      <p:cxnSp>
        <p:nvCxnSpPr>
          <p:cNvPr id="10266" name="Connector 10265"/>
          <p:cNvCxnSpPr/>
          <p:nvPr/>
        </p:nvCxnSpPr>
        <p:spPr>
          <a:xfrm>
            <a:off x="13734288" y="5920740"/>
            <a:ext cx="146304" cy="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0267" name="Rounded Rectangle 10266"/>
          <p:cNvSpPr/>
          <p:nvPr/>
        </p:nvSpPr>
        <p:spPr>
          <a:xfrm>
            <a:off x="13880592" y="5394960"/>
            <a:ext cx="1463040" cy="105156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800" b="1" i="0">
                <a:solidFill>
                  <a:srgbClr val="1F2A44"/>
                </a:solidFill>
                <a:latin typeface="Calibri"/>
              </a:rPr>
              <a:t>research</a:t>
            </a:r>
          </a:p>
          <a:p>
            <a:pPr algn="ctr"/>
            <a:r>
              <a:rPr sz="1800" b="1" i="0">
                <a:solidFill>
                  <a:srgbClr val="1F2A44"/>
                </a:solidFill>
                <a:latin typeface="Calibri"/>
              </a:rPr>
              <a:t>evidence</a:t>
            </a:r>
          </a:p>
        </p:txBody>
      </p:sp>
      <p:cxnSp>
        <p:nvCxnSpPr>
          <p:cNvPr id="10268" name="Connector 10267"/>
          <p:cNvCxnSpPr/>
          <p:nvPr/>
        </p:nvCxnSpPr>
        <p:spPr>
          <a:xfrm>
            <a:off x="15343632" y="5920740"/>
            <a:ext cx="146304" cy="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0269" name="Rounded Rectangle 10268"/>
          <p:cNvSpPr/>
          <p:nvPr/>
        </p:nvSpPr>
        <p:spPr>
          <a:xfrm>
            <a:off x="15489936" y="5394960"/>
            <a:ext cx="1463040" cy="105156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800" b="1" i="0">
                <a:solidFill>
                  <a:srgbClr val="1F2A44"/>
                </a:solidFill>
                <a:latin typeface="Calibri"/>
              </a:rPr>
              <a:t>results</a:t>
            </a:r>
          </a:p>
          <a:p>
            <a:pPr algn="ctr"/>
            <a:r>
              <a:rPr sz="1800" b="1" i="0">
                <a:solidFill>
                  <a:srgbClr val="1F2A44"/>
                </a:solidFill>
                <a:latin typeface="Calibri"/>
              </a:rPr>
              <a:t>doc</a:t>
            </a:r>
          </a:p>
        </p:txBody>
      </p:sp>
      <p:cxnSp>
        <p:nvCxnSpPr>
          <p:cNvPr id="10270" name="Connector 10269"/>
          <p:cNvCxnSpPr/>
          <p:nvPr/>
        </p:nvCxnSpPr>
        <p:spPr>
          <a:xfrm>
            <a:off x="16952976" y="5920740"/>
            <a:ext cx="146304" cy="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0271" name="Rounded Rectangle 10270"/>
          <p:cNvSpPr/>
          <p:nvPr/>
        </p:nvSpPr>
        <p:spPr>
          <a:xfrm>
            <a:off x="17099280" y="5394960"/>
            <a:ext cx="1463040" cy="1051560"/>
          </a:xfrm>
          <a:prstGeom prst="roundRect">
            <a:avLst/>
          </a:prstGeom>
          <a:solidFill>
            <a:srgbClr val="2E8B57"/>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800" b="1" i="0">
                <a:solidFill>
                  <a:srgbClr val="FFFFFF"/>
                </a:solidFill>
                <a:latin typeface="Calibri"/>
              </a:rPr>
              <a:t>tests</a:t>
            </a:r>
          </a:p>
        </p:txBody>
      </p:sp>
      <p:sp>
        <p:nvSpPr>
          <p:cNvPr id="10272" name="TextBox 10271"/>
          <p:cNvSpPr txBox="1"/>
          <p:nvPr/>
        </p:nvSpPr>
        <p:spPr>
          <a:xfrm>
            <a:off x="1005840" y="6720840"/>
            <a:ext cx="18105120" cy="457200"/>
          </a:xfrm>
          <a:prstGeom prst="rect">
            <a:avLst/>
          </a:prstGeom>
          <a:noFill/>
        </p:spPr>
        <p:txBody>
          <a:bodyPr wrap="square" anchor="t" lIns="73152" rIns="73152" tIns="36576" bIns="36576">
            <a:spAutoFit/>
          </a:bodyPr>
          <a:lstStyle/>
          <a:p>
            <a:pPr algn="l"/>
            <a:r>
              <a:rPr sz="2100" b="0" i="1">
                <a:solidFill>
                  <a:srgbClr val="5F6B7A"/>
                </a:solidFill>
                <a:latin typeface="Calibri"/>
              </a:rPr>
              <a:t>scripts/pipeline.py: each stage has declared outputs; run alone, skipped, or dry-run (--list, --only, --skip, --dry-run)</a:t>
            </a:r>
          </a:p>
        </p:txBody>
      </p:sp>
      <p:pic>
        <p:nvPicPr>
          <p:cNvPr id="10273" name="Picture 10272" descr="ui_farmer_home.png"/>
          <p:cNvPicPr>
            <a:picLocks noChangeAspect="1"/>
          </p:cNvPicPr>
          <p:nvPr/>
        </p:nvPicPr>
        <p:blipFill>
          <a:blip r:embed="rId3"/>
          <a:stretch>
            <a:fillRect/>
          </a:stretch>
        </p:blipFill>
        <p:spPr>
          <a:xfrm>
            <a:off x="1005840" y="7315200"/>
            <a:ext cx="2735885" cy="3017520"/>
          </a:xfrm>
          <a:prstGeom prst="rect">
            <a:avLst/>
          </a:prstGeom>
        </p:spPr>
      </p:pic>
      <p:pic>
        <p:nvPicPr>
          <p:cNvPr id="10274" name="Picture 10273" descr="ui_market_choice.png"/>
          <p:cNvPicPr>
            <a:picLocks noChangeAspect="1"/>
          </p:cNvPicPr>
          <p:nvPr/>
        </p:nvPicPr>
        <p:blipFill>
          <a:blip r:embed="rId4"/>
          <a:stretch>
            <a:fillRect/>
          </a:stretch>
        </p:blipFill>
        <p:spPr>
          <a:xfrm>
            <a:off x="4061765" y="7315200"/>
            <a:ext cx="2414016" cy="3017520"/>
          </a:xfrm>
          <a:prstGeom prst="rect">
            <a:avLst/>
          </a:prstGeom>
        </p:spPr>
      </p:pic>
      <p:pic>
        <p:nvPicPr>
          <p:cNvPr id="10275" name="Picture 10274" descr="ui_trader_hub.png"/>
          <p:cNvPicPr>
            <a:picLocks noChangeAspect="1"/>
          </p:cNvPicPr>
          <p:nvPr/>
        </p:nvPicPr>
        <p:blipFill>
          <a:blip r:embed="rId5"/>
          <a:stretch>
            <a:fillRect/>
          </a:stretch>
        </p:blipFill>
        <p:spPr>
          <a:xfrm>
            <a:off x="6795821" y="7315200"/>
            <a:ext cx="2735885" cy="3017520"/>
          </a:xfrm>
          <a:prstGeom prst="rect">
            <a:avLst/>
          </a:prstGeom>
        </p:spPr>
      </p:pic>
      <p:sp>
        <p:nvSpPr>
          <p:cNvPr id="10276" name="Rectangle 10275"/>
          <p:cNvSpPr/>
          <p:nvPr/>
        </p:nvSpPr>
        <p:spPr>
          <a:xfrm>
            <a:off x="14996159" y="7315200"/>
            <a:ext cx="4114800" cy="301752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2000" b="1" i="0">
                <a:solidFill>
                  <a:srgbClr val="1F2A44"/>
                </a:solidFill>
                <a:latin typeface="Calibri"/>
              </a:rPr>
              <a:t>Endpoints: </a:t>
            </a:r>
            <a:r>
              <a:rPr sz="2000" b="0" i="0">
                <a:solidFill>
                  <a:srgbClr val="1F2A44"/>
                </a:solidFill>
                <a:latin typeface="Calibri"/>
              </a:rPr>
              <a:t>/v1/market-choice (+5 insight routes), /v1/farmer, /v1/trader, /v1/shock, /v1/council, /v1/spillover, /v1/intelligence, /v1/chat, /v1/notify</a:t>
            </a:r>
          </a:p>
        </p:txBody>
      </p:sp>
    </p:spTree>
    <p:extLst>
      <p:ext uri="{BB962C8B-B14F-4D97-AF65-F5344CB8AC3E}">
        <p14:creationId xmlns:p14="http://schemas.microsoft.com/office/powerpoint/2010/main" val="17690171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Tools, Technology Stack and Code Quality</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7</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904" name="Content Guidance"/>
          <p:cNvSpPr txBox="1"/>
          <p:nvPr/>
        </p:nvSpPr>
        <p:spPr>
          <a:xfrm>
            <a:off x="1005840" y="1737360"/>
            <a:ext cx="18105120" cy="2743200"/>
          </a:xfrm>
          <a:prstGeom prst="rect">
            <a:avLst/>
          </a:prstGeom>
          <a:noFill/>
        </p:spPr>
        <p:txBody>
          <a:bodyPr wrap="square" lIns="0" tIns="0" rIns="0" bIns="0">
            <a:normAutofit/>
          </a:bodyPr>
          <a:lstStyle/>
          <a:p>
            <a:pPr marL="514350" indent="-514350">
              <a:lnSpc>
                <a:spcPct val="115000"/>
              </a:lnSpc>
              <a:spcAft>
                <a:spcPts val="600"/>
              </a:spcAft>
              <a:buFont typeface="Arial" panose="020B0604020202020204" pitchFamily="34" charset="0"/>
              <a:buChar char="•"/>
            </a:pPr>
            <a:r>
              <a:rPr lang="en-US" sz="2400" dirty="0" b="1">
                <a:solidFill>
                  <a:srgbClr val="1F2A44"/>
                </a:solidFill>
                <a:latin typeface="Calibri" panose="020F0502020204030204" charset="0"/>
                <a:cs typeface="Calibri" panose="020F0502020204030204" charset="0"/>
              </a:rPr>
              <a:t>Repository: </a:t>
            </a:r>
            <a:r>
              <a:rPr lang="en-US" sz="2400" dirty="0">
                <a:solidFill>
                  <a:srgbClr val="1F2A44"/>
                </a:solidFill>
                <a:latin typeface="Calibri" panose="020F0502020204030204" charset="0"/>
                <a:cs typeface="Calibri" panose="020F0502020204030204" charset="0"/>
              </a:rPr>
              <a:t>Git, 69 commits; README, requirements.lock, docs for architecture, tool choices, shock study, council and LLM evaluation; CI workflow.</a:t>
            </a:r>
          </a:p>
          <a:p>
            <a:pPr marL="514350" indent="-514350">
              <a:lnSpc>
                <a:spcPct val="115000"/>
              </a:lnSpc>
              <a:spcAft>
                <a:spcPts val="600"/>
              </a:spcAft>
              <a:buFont typeface="Arial" panose="020B0604020202020204" pitchFamily="34" charset="0"/>
              <a:buChar char="•"/>
            </a:pPr>
            <a:r>
              <a:rPr lang="en-US" sz="2400" dirty="0" b="1">
                <a:solidFill>
                  <a:srgbClr val="1F2A44"/>
                </a:solidFill>
                <a:latin typeface="Calibri" panose="020F0502020204030204" charset="0"/>
                <a:cs typeface="Calibri" panose="020F0502020204030204" charset="0"/>
              </a:rPr>
              <a:t>Reproducible: </a:t>
            </a:r>
            <a:r>
              <a:rPr lang="en-US" sz="2400" dirty="0">
                <a:solidFill>
                  <a:srgbClr val="1F2A44"/>
                </a:solidFill>
                <a:latin typeface="Calibri" panose="020F0502020204030204" charset="0"/>
                <a:cs typeface="Calibri" panose="020F0502020204030204" charset="0"/>
              </a:rPr>
              <a:t>pipeline.py regenerates all artefacts; the thesis tables are generated from them, not typed.</a:t>
            </a:r>
          </a:p>
          <a:p>
            <a:pPr marL="514350" indent="-514350">
              <a:lnSpc>
                <a:spcPct val="115000"/>
              </a:lnSpc>
              <a:spcAft>
                <a:spcPts val="600"/>
              </a:spcAft>
              <a:buFont typeface="Arial" panose="020B0604020202020204" pitchFamily="34" charset="0"/>
              <a:buChar char="•"/>
            </a:pPr>
            <a:r>
              <a:rPr lang="en-US" sz="2400" dirty="0" b="1">
                <a:solidFill>
                  <a:srgbClr val="1F2A44"/>
                </a:solidFill>
                <a:latin typeface="Calibri" panose="020F0502020204030204" charset="0"/>
                <a:cs typeface="Calibri" panose="020F0502020204030204" charset="0"/>
              </a:rPr>
              <a:t>Tested: </a:t>
            </a:r>
            <a:r>
              <a:rPr lang="en-US" sz="2400" dirty="0">
                <a:solidFill>
                  <a:srgbClr val="1F2A44"/>
                </a:solidFill>
                <a:latin typeface="Calibri" panose="020F0502020204030204" charset="0"/>
                <a:cs typeface="Calibri" panose="020F0502020204030204" charset="0"/>
              </a:rPr>
              <a:t>669 backend tests and 11 web tests passing; a 60-check smoke test of every endpoint and page; fresh-clone check; CI.</a:t>
            </a:r>
          </a:p>
        </p:txBody>
      </p:sp>
      <p:graphicFrame>
        <p:nvGraphicFramePr>
          <p:cNvPr id="10251" name="Table 10250"/>
          <p:cNvGraphicFramePr>
            <a:graphicFrameLocks noGrp="1"/>
          </p:cNvGraphicFramePr>
          <p:nvPr/>
        </p:nvGraphicFramePr>
        <p:xfrm>
          <a:off x="1005840" y="4297680"/>
          <a:ext cx="18105118" cy="5760720"/>
        </p:xfrm>
        <a:graphic>
          <a:graphicData uri="http://schemas.openxmlformats.org/drawingml/2006/table">
            <a:tbl>
              <a:tblPr firstRow="1" bandRow="1">
                <a:tableStyleId>{5C22544A-7EE6-4342-B048-85BDC9FD1C3A}</a:tableStyleId>
              </a:tblPr>
              <a:tblGrid>
                <a:gridCol w="2399473"/>
                <a:gridCol w="9597894"/>
                <a:gridCol w="6107751"/>
              </a:tblGrid>
              <a:tr h="822960">
                <a:tc>
                  <a:txBody>
                    <a:bodyPr wrap="square"/>
                    <a:lstStyle/>
                    <a:p>
                      <a:pPr algn="ctr"/>
                      <a:r>
                        <a:rPr sz="2100" b="1">
                          <a:solidFill>
                            <a:srgbClr val="FFFFFF"/>
                          </a:solidFill>
                          <a:latin typeface="Calibri"/>
                        </a:rPr>
                        <a:t>Layer</a:t>
                      </a:r>
                    </a:p>
                  </a:txBody>
                  <a:tcPr marL="73152" marR="73152" marT="27432" marB="27432" anchor="ctr">
                    <a:solidFill>
                      <a:srgbClr val="1F4E79"/>
                    </a:solidFill>
                  </a:tcPr>
                </a:tc>
                <a:tc>
                  <a:txBody>
                    <a:bodyPr wrap="square"/>
                    <a:lstStyle/>
                    <a:p>
                      <a:pPr algn="ctr"/>
                      <a:r>
                        <a:rPr sz="2100" b="1">
                          <a:solidFill>
                            <a:srgbClr val="FFFFFF"/>
                          </a:solidFill>
                          <a:latin typeface="Calibri"/>
                        </a:rPr>
                        <a:t>Tool (version)</a:t>
                      </a:r>
                    </a:p>
                  </a:txBody>
                  <a:tcPr marL="73152" marR="73152" marT="27432" marB="27432" anchor="ctr">
                    <a:solidFill>
                      <a:srgbClr val="1F4E79"/>
                    </a:solidFill>
                  </a:tcPr>
                </a:tc>
                <a:tc>
                  <a:txBody>
                    <a:bodyPr wrap="square"/>
                    <a:lstStyle/>
                    <a:p>
                      <a:pPr algn="ctr"/>
                      <a:r>
                        <a:rPr sz="2100" b="1">
                          <a:solidFill>
                            <a:srgbClr val="FFFFFF"/>
                          </a:solidFill>
                          <a:latin typeface="Calibri"/>
                        </a:rPr>
                        <a:t>Why chosen</a:t>
                      </a:r>
                    </a:p>
                  </a:txBody>
                  <a:tcPr marL="73152" marR="73152" marT="27432" marB="27432" anchor="ctr">
                    <a:solidFill>
                      <a:srgbClr val="1F4E79"/>
                    </a:solidFill>
                  </a:tcPr>
                </a:tc>
              </a:tr>
              <a:tr h="822960">
                <a:tc>
                  <a:txBody>
                    <a:bodyPr wrap="square"/>
                    <a:lstStyle/>
                    <a:p>
                      <a:pPr algn="l"/>
                      <a:r>
                        <a:rPr sz="2100" b="1">
                          <a:solidFill>
                            <a:srgbClr val="1F2A44"/>
                          </a:solidFill>
                          <a:latin typeface="Calibri"/>
                        </a:rPr>
                        <a:t>Data / stats</a:t>
                      </a:r>
                    </a:p>
                  </a:txBody>
                  <a:tcPr marL="73152" marR="73152" marT="27432" marB="27432" anchor="ctr">
                    <a:solidFill>
                      <a:srgbClr val="FFFFFF"/>
                    </a:solidFill>
                  </a:tcPr>
                </a:tc>
                <a:tc>
                  <a:txBody>
                    <a:bodyPr wrap="square"/>
                    <a:lstStyle/>
                    <a:p>
                      <a:pPr algn="l"/>
                      <a:r>
                        <a:rPr sz="2100" b="0">
                          <a:solidFill>
                            <a:srgbClr val="1F2A44"/>
                          </a:solidFill>
                          <a:latin typeface="Calibri"/>
                        </a:rPr>
                        <a:t>NumPy 1.26.4, pandas 2.1.4, SciPy 1.11.4, statsmodels 0.14.1</a:t>
                      </a:r>
                    </a:p>
                  </a:txBody>
                  <a:tcPr marL="73152" marR="73152" marT="27432" marB="27432" anchor="ctr">
                    <a:solidFill>
                      <a:srgbClr val="FFFFFF"/>
                    </a:solidFill>
                  </a:tcPr>
                </a:tc>
                <a:tc>
                  <a:txBody>
                    <a:bodyPr wrap="square"/>
                    <a:lstStyle/>
                    <a:p>
                      <a:pPr algn="l"/>
                      <a:r>
                        <a:rPr sz="2100" b="0">
                          <a:solidFill>
                            <a:srgbClr val="1F2A44"/>
                          </a:solidFill>
                          <a:latin typeface="Calibri"/>
                        </a:rPr>
                        <a:t>tested, pinned stack</a:t>
                      </a:r>
                    </a:p>
                  </a:txBody>
                  <a:tcPr marL="73152" marR="73152" marT="27432" marB="27432" anchor="ctr">
                    <a:solidFill>
                      <a:srgbClr val="FFFFFF"/>
                    </a:solidFill>
                  </a:tcPr>
                </a:tc>
              </a:tr>
              <a:tr h="822960">
                <a:tc>
                  <a:txBody>
                    <a:bodyPr wrap="square"/>
                    <a:lstStyle/>
                    <a:p>
                      <a:pPr algn="l"/>
                      <a:r>
                        <a:rPr sz="2100" b="1">
                          <a:solidFill>
                            <a:srgbClr val="1F2A44"/>
                          </a:solidFill>
                          <a:latin typeface="Calibri"/>
                        </a:rPr>
                        <a:t>Learning</a:t>
                      </a:r>
                    </a:p>
                  </a:txBody>
                  <a:tcPr marL="73152" marR="73152" marT="27432" marB="27432" anchor="ctr">
                    <a:solidFill>
                      <a:srgbClr val="F1F7FB"/>
                    </a:solidFill>
                  </a:tcPr>
                </a:tc>
                <a:tc>
                  <a:txBody>
                    <a:bodyPr wrap="square"/>
                    <a:lstStyle/>
                    <a:p>
                      <a:pPr algn="l"/>
                      <a:r>
                        <a:rPr sz="2100" b="0">
                          <a:solidFill>
                            <a:srgbClr val="1F2A44"/>
                          </a:solidFill>
                          <a:latin typeface="Calibri"/>
                        </a:rPr>
                        <a:t>LightGBM 4.6.0, XGBoost 2.0.3, scikit-learn 1.3.2, Optuna, PyTorch (research env)</a:t>
                      </a:r>
                    </a:p>
                  </a:txBody>
                  <a:tcPr marL="73152" marR="73152" marT="27432" marB="27432" anchor="ctr">
                    <a:solidFill>
                      <a:srgbClr val="F1F7FB"/>
                    </a:solidFill>
                  </a:tcPr>
                </a:tc>
                <a:tc>
                  <a:txBody>
                    <a:bodyPr wrap="square"/>
                    <a:lstStyle/>
                    <a:p>
                      <a:pPr algn="l"/>
                      <a:r>
                        <a:rPr sz="2100" b="0">
                          <a:solidFill>
                            <a:srgbClr val="1F2A44"/>
                          </a:solidFill>
                          <a:latin typeface="Calibri"/>
                        </a:rPr>
                        <a:t>trees win on tabular [19]; Optuna TPE [20]</a:t>
                      </a:r>
                    </a:p>
                  </a:txBody>
                  <a:tcPr marL="73152" marR="73152" marT="27432" marB="27432" anchor="ctr">
                    <a:solidFill>
                      <a:srgbClr val="F1F7FB"/>
                    </a:solidFill>
                  </a:tcPr>
                </a:tc>
              </a:tr>
              <a:tr h="822960">
                <a:tc>
                  <a:txBody>
                    <a:bodyPr wrap="square"/>
                    <a:lstStyle/>
                    <a:p>
                      <a:pPr algn="l"/>
                      <a:r>
                        <a:rPr sz="2100" b="1">
                          <a:solidFill>
                            <a:srgbClr val="1F2A44"/>
                          </a:solidFill>
                          <a:latin typeface="Calibri"/>
                        </a:rPr>
                        <a:t>Backend</a:t>
                      </a:r>
                    </a:p>
                  </a:txBody>
                  <a:tcPr marL="73152" marR="73152" marT="27432" marB="27432" anchor="ctr">
                    <a:solidFill>
                      <a:srgbClr val="FFFFFF"/>
                    </a:solidFill>
                  </a:tcPr>
                </a:tc>
                <a:tc>
                  <a:txBody>
                    <a:bodyPr wrap="square"/>
                    <a:lstStyle/>
                    <a:p>
                      <a:pPr algn="l"/>
                      <a:r>
                        <a:rPr sz="2100" b="0">
                          <a:solidFill>
                            <a:srgbClr val="1F2A44"/>
                          </a:solidFill>
                          <a:latin typeface="Calibri"/>
                        </a:rPr>
                        <a:t>FastAPI 0.136.1, Uvicorn 0.46.0, Pydantic 2.13.3</a:t>
                      </a:r>
                    </a:p>
                  </a:txBody>
                  <a:tcPr marL="73152" marR="73152" marT="27432" marB="27432" anchor="ctr">
                    <a:solidFill>
                      <a:srgbClr val="FFFFFF"/>
                    </a:solidFill>
                  </a:tcPr>
                </a:tc>
                <a:tc>
                  <a:txBody>
                    <a:bodyPr wrap="square"/>
                    <a:lstStyle/>
                    <a:p>
                      <a:pPr algn="l"/>
                      <a:r>
                        <a:rPr sz="2100" b="0">
                          <a:solidFill>
                            <a:srgbClr val="1F2A44"/>
                          </a:solidFill>
                          <a:latin typeface="Calibri"/>
                        </a:rPr>
                        <a:t>typed requests, auto API docs</a:t>
                      </a:r>
                    </a:p>
                  </a:txBody>
                  <a:tcPr marL="73152" marR="73152" marT="27432" marB="27432" anchor="ctr">
                    <a:solidFill>
                      <a:srgbClr val="FFFFFF"/>
                    </a:solidFill>
                  </a:tcPr>
                </a:tc>
              </a:tr>
              <a:tr h="822960">
                <a:tc>
                  <a:txBody>
                    <a:bodyPr wrap="square"/>
                    <a:lstStyle/>
                    <a:p>
                      <a:pPr algn="l"/>
                      <a:r>
                        <a:rPr sz="2100" b="1">
                          <a:solidFill>
                            <a:srgbClr val="1F2A44"/>
                          </a:solidFill>
                          <a:latin typeface="Calibri"/>
                        </a:rPr>
                        <a:t>Frontend</a:t>
                      </a:r>
                    </a:p>
                  </a:txBody>
                  <a:tcPr marL="73152" marR="73152" marT="27432" marB="27432" anchor="ctr">
                    <a:solidFill>
                      <a:srgbClr val="F1F7FB"/>
                    </a:solidFill>
                  </a:tcPr>
                </a:tc>
                <a:tc>
                  <a:txBody>
                    <a:bodyPr wrap="square"/>
                    <a:lstStyle/>
                    <a:p>
                      <a:pPr algn="l"/>
                      <a:r>
                        <a:rPr sz="2100" b="0">
                          <a:solidFill>
                            <a:srgbClr val="1F2A44"/>
                          </a:solidFill>
                          <a:latin typeface="Calibri"/>
                        </a:rPr>
                        <a:t>Next.js 16.2.4, React 19.2.4, TypeScript 5, Tailwind 4</a:t>
                      </a:r>
                    </a:p>
                  </a:txBody>
                  <a:tcPr marL="73152" marR="73152" marT="27432" marB="27432" anchor="ctr">
                    <a:solidFill>
                      <a:srgbClr val="F1F7FB"/>
                    </a:solidFill>
                  </a:tcPr>
                </a:tc>
                <a:tc>
                  <a:txBody>
                    <a:bodyPr wrap="square"/>
                    <a:lstStyle/>
                    <a:p>
                      <a:pPr algn="l"/>
                      <a:r>
                        <a:rPr sz="2100" b="0">
                          <a:solidFill>
                            <a:srgbClr val="1F2A44"/>
                          </a:solidFill>
                          <a:latin typeface="Calibri"/>
                        </a:rPr>
                        <a:t>fast pages on weak connections</a:t>
                      </a:r>
                    </a:p>
                  </a:txBody>
                  <a:tcPr marL="73152" marR="73152" marT="27432" marB="27432" anchor="ctr">
                    <a:solidFill>
                      <a:srgbClr val="F1F7FB"/>
                    </a:solidFill>
                  </a:tcPr>
                </a:tc>
              </a:tr>
              <a:tr h="822960">
                <a:tc>
                  <a:txBody>
                    <a:bodyPr wrap="square"/>
                    <a:lstStyle/>
                    <a:p>
                      <a:pPr algn="l"/>
                      <a:r>
                        <a:rPr sz="2100" b="1">
                          <a:solidFill>
                            <a:srgbClr val="1F2A44"/>
                          </a:solidFill>
                          <a:latin typeface="Calibri"/>
                        </a:rPr>
                        <a:t>Language layer</a:t>
                      </a:r>
                    </a:p>
                  </a:txBody>
                  <a:tcPr marL="73152" marR="73152" marT="27432" marB="27432" anchor="ctr">
                    <a:solidFill>
                      <a:srgbClr val="FFFFFF"/>
                    </a:solidFill>
                  </a:tcPr>
                </a:tc>
                <a:tc>
                  <a:txBody>
                    <a:bodyPr wrap="square"/>
                    <a:lstStyle/>
                    <a:p>
                      <a:pPr algn="l"/>
                      <a:r>
                        <a:rPr sz="2100" b="0">
                          <a:solidFill>
                            <a:srgbClr val="1F2A44"/>
                          </a:solidFill>
                          <a:latin typeface="Calibri"/>
                        </a:rPr>
                        <a:t>gpt-oss-120b writer, Qwen judge (Groq); Claude provider optional</a:t>
                      </a:r>
                    </a:p>
                  </a:txBody>
                  <a:tcPr marL="73152" marR="73152" marT="27432" marB="27432" anchor="ctr">
                    <a:solidFill>
                      <a:srgbClr val="FFFFFF"/>
                    </a:solidFill>
                  </a:tcPr>
                </a:tc>
                <a:tc>
                  <a:txBody>
                    <a:bodyPr wrap="square"/>
                    <a:lstStyle/>
                    <a:p>
                      <a:pPr algn="l"/>
                      <a:r>
                        <a:rPr sz="2100" b="0">
                          <a:solidFill>
                            <a:srgbClr val="1F2A44"/>
                          </a:solidFill>
                          <a:latin typeface="Calibri"/>
                        </a:rPr>
                        <a:t>two model families; deterministic fallback</a:t>
                      </a:r>
                    </a:p>
                  </a:txBody>
                  <a:tcPr marL="73152" marR="73152" marT="27432" marB="27432" anchor="ctr">
                    <a:solidFill>
                      <a:srgbClr val="FFFFFF"/>
                    </a:solidFill>
                  </a:tcPr>
                </a:tc>
              </a:tr>
              <a:tr h="822960">
                <a:tc>
                  <a:txBody>
                    <a:bodyPr wrap="square"/>
                    <a:lstStyle/>
                    <a:p>
                      <a:pPr algn="l"/>
                      <a:r>
                        <a:rPr sz="2100" b="1">
                          <a:solidFill>
                            <a:srgbClr val="1F2A44"/>
                          </a:solidFill>
                          <a:latin typeface="Calibri"/>
                        </a:rPr>
                        <a:t>Quality</a:t>
                      </a:r>
                    </a:p>
                  </a:txBody>
                  <a:tcPr marL="73152" marR="73152" marT="27432" marB="27432" anchor="ctr">
                    <a:solidFill>
                      <a:srgbClr val="F1F7FB"/>
                    </a:solidFill>
                  </a:tcPr>
                </a:tc>
                <a:tc>
                  <a:txBody>
                    <a:bodyPr wrap="square"/>
                    <a:lstStyle/>
                    <a:p>
                      <a:pPr algn="l"/>
                      <a:r>
                        <a:rPr sz="2100" b="0">
                          <a:solidFill>
                            <a:srgbClr val="1F2A44"/>
                          </a:solidFill>
                          <a:latin typeface="Calibri"/>
                        </a:rPr>
                        <a:t>pytest 9.0.3, vitest 3.2, GitHub Actions, Docker, Render file</a:t>
                      </a:r>
                    </a:p>
                  </a:txBody>
                  <a:tcPr marL="73152" marR="73152" marT="27432" marB="27432" anchor="ctr">
                    <a:solidFill>
                      <a:srgbClr val="F1F7FB"/>
                    </a:solidFill>
                  </a:tcPr>
                </a:tc>
                <a:tc>
                  <a:txBody>
                    <a:bodyPr wrap="square"/>
                    <a:lstStyle/>
                    <a:p>
                      <a:pPr algn="l"/>
                      <a:r>
                        <a:rPr sz="2100" b="0">
                          <a:solidFill>
                            <a:srgbClr val="1F2A44"/>
                          </a:solidFill>
                          <a:latin typeface="Calibri"/>
                        </a:rPr>
                        <a:t>automated checks on every push</a:t>
                      </a:r>
                    </a:p>
                  </a:txBody>
                  <a:tcPr marL="73152" marR="73152" marT="27432" marB="27432" anchor="ctr">
                    <a:solidFill>
                      <a:srgbClr val="F1F7FB"/>
                    </a:solidFill>
                  </a:tcPr>
                </a:tc>
              </a:tr>
            </a:tbl>
          </a:graphicData>
        </a:graphic>
      </p:graphicFrame>
    </p:spTree>
    <p:extLst>
      <p:ext uri="{BB962C8B-B14F-4D97-AF65-F5344CB8AC3E}">
        <p14:creationId xmlns:p14="http://schemas.microsoft.com/office/powerpoint/2010/main" val="1769017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Experimental Setup and Evaluation Metrics</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8</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905" name="Content Guidance"/>
          <p:cNvSpPr txBox="1"/>
          <p:nvPr/>
        </p:nvSpPr>
        <p:spPr>
          <a:xfrm>
            <a:off x="1005840" y="1737360"/>
            <a:ext cx="18105120" cy="4572000"/>
          </a:xfrm>
          <a:prstGeom prst="rect">
            <a:avLst/>
          </a:prstGeom>
          <a:noFill/>
        </p:spPr>
        <p:txBody>
          <a:bodyPr wrap="square" lIns="0" tIns="0" rIns="0" bIns="0">
            <a:normAutofit/>
          </a:bodyPr>
          <a:lstStyle/>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Split: </a:t>
            </a:r>
            <a:r>
              <a:rPr lang="en-US" sz="2500" dirty="0">
                <a:solidFill>
                  <a:srgbClr val="1F2A44"/>
                </a:solidFill>
                <a:latin typeface="Calibri" panose="020F0502020204030204" charset="0"/>
                <a:cs typeface="Calibri" panose="020F0502020204030204" charset="0"/>
              </a:rPr>
              <a:t>nested walk-forward, 5 outer blocks (2024-H1 → 2026-10); inner validation by Optuna (20 neural / 25 boosting trials); K+2-day gap before every block.</a:t>
            </a:r>
          </a:p>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Setup: </a:t>
            </a:r>
            <a:r>
              <a:rPr lang="en-US" sz="2500" dirty="0">
                <a:solidFill>
                  <a:srgbClr val="1F2A44"/>
                </a:solidFill>
                <a:latin typeface="Calibri" panose="020F0502020204030204" charset="0"/>
                <a:cs typeface="Calibri" panose="020F0502020204030204" charset="0"/>
              </a:rPr>
              <a:t>Core i9-13900HX, 31.7 GB, RTX 4060; fixed seeds recorded in configuration; same tuning budget for every method.</a:t>
            </a:r>
          </a:p>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Metrics: </a:t>
            </a:r>
            <a:r>
              <a:rPr lang="en-US" sz="2500" dirty="0">
                <a:solidFill>
                  <a:srgbClr val="1F2A44"/>
                </a:solidFill>
                <a:latin typeface="Calibri" panose="020F0502020204030204" charset="0"/>
                <a:cs typeface="Calibri" panose="020F0502020204030204" charset="0"/>
              </a:rPr>
              <a:t>realised revenue, regret to hindsight oracle, share of oracle gap closed, silent-market trips, floor violation, forecast skill.</a:t>
            </a:r>
          </a:p>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Baselines (all retrained): </a:t>
            </a:r>
            <a:r>
              <a:rPr lang="en-US" sz="2500" dirty="0">
                <a:solidFill>
                  <a:srgbClr val="1F2A44"/>
                </a:solidFill>
                <a:latin typeface="Calibri" panose="020F0502020204030204" charset="0"/>
                <a:cs typeface="Calibri" panose="020F0502020204030204" charset="0"/>
              </a:rPr>
              <a:t>random walk, LightGBM/XGBoost on observed prices, nearest mandi, highest price yesterday, best 7-day mean, farm gate.</a:t>
            </a:r>
          </a:p>
        </p:txBody>
      </p:sp>
      <p:graphicFrame>
        <p:nvGraphicFramePr>
          <p:cNvPr id="10251" name="Table 10250"/>
          <p:cNvGraphicFramePr>
            <a:graphicFrameLocks noGrp="1"/>
          </p:cNvGraphicFramePr>
          <p:nvPr/>
        </p:nvGraphicFramePr>
        <p:xfrm>
          <a:off x="1005840" y="6400800"/>
          <a:ext cx="11338557" cy="3840480"/>
        </p:xfrm>
        <a:graphic>
          <a:graphicData uri="http://schemas.openxmlformats.org/drawingml/2006/table">
            <a:tbl>
              <a:tblPr firstRow="1" bandRow="1">
                <a:tableStyleId>{5C22544A-7EE6-4342-B048-85BDC9FD1C3A}</a:tableStyleId>
              </a:tblPr>
              <a:tblGrid>
                <a:gridCol w="1993592"/>
                <a:gridCol w="2242792"/>
                <a:gridCol w="1619794"/>
                <a:gridCol w="1619794"/>
                <a:gridCol w="1744393"/>
                <a:gridCol w="2118192"/>
              </a:tblGrid>
              <a:tr h="548640">
                <a:tc>
                  <a:txBody>
                    <a:bodyPr wrap="square"/>
                    <a:lstStyle/>
                    <a:p>
                      <a:pPr algn="ctr"/>
                      <a:r>
                        <a:rPr sz="2200" b="1">
                          <a:solidFill>
                            <a:srgbClr val="FFFFFF"/>
                          </a:solidFill>
                          <a:latin typeface="Calibri"/>
                        </a:rPr>
                        <a:t>Crop</a:t>
                      </a:r>
                    </a:p>
                  </a:txBody>
                  <a:tcPr marL="73152" marR="73152" marT="27432" marB="27432" anchor="ctr">
                    <a:solidFill>
                      <a:srgbClr val="1F4E79"/>
                    </a:solidFill>
                  </a:tcPr>
                </a:tc>
                <a:tc>
                  <a:txBody>
                    <a:bodyPr wrap="square"/>
                    <a:lstStyle/>
                    <a:p>
                      <a:pPr algn="ctr"/>
                      <a:r>
                        <a:rPr sz="2200" b="1">
                          <a:solidFill>
                            <a:srgbClr val="FFFFFF"/>
                          </a:solidFill>
                          <a:latin typeface="Calibri"/>
                        </a:rPr>
                        <a:t>Mandi-days</a:t>
                      </a:r>
                    </a:p>
                  </a:txBody>
                  <a:tcPr marL="73152" marR="73152" marT="27432" marB="27432" anchor="ctr">
                    <a:solidFill>
                      <a:srgbClr val="1F4E79"/>
                    </a:solidFill>
                  </a:tcPr>
                </a:tc>
                <a:tc>
                  <a:txBody>
                    <a:bodyPr wrap="square"/>
                    <a:lstStyle/>
                    <a:p>
                      <a:pPr algn="ctr"/>
                      <a:r>
                        <a:rPr sz="2200" b="1">
                          <a:solidFill>
                            <a:srgbClr val="FFFFFF"/>
                          </a:solidFill>
                          <a:latin typeface="Calibri"/>
                        </a:rPr>
                        <a:t>Mandis</a:t>
                      </a:r>
                    </a:p>
                  </a:txBody>
                  <a:tcPr marL="73152" marR="73152" marT="27432" marB="27432" anchor="ctr">
                    <a:solidFill>
                      <a:srgbClr val="1F4E79"/>
                    </a:solidFill>
                  </a:tcPr>
                </a:tc>
                <a:tc>
                  <a:txBody>
                    <a:bodyPr wrap="square"/>
                    <a:lstStyle/>
                    <a:p>
                      <a:pPr algn="ctr"/>
                      <a:r>
                        <a:rPr sz="2200" b="1">
                          <a:solidFill>
                            <a:srgbClr val="FFFFFF"/>
                          </a:solidFill>
                          <a:latin typeface="Calibri"/>
                        </a:rPr>
                        <a:t>Eligible</a:t>
                      </a:r>
                    </a:p>
                  </a:txBody>
                  <a:tcPr marL="73152" marR="73152" marT="27432" marB="27432" anchor="ctr">
                    <a:solidFill>
                      <a:srgbClr val="1F4E79"/>
                    </a:solidFill>
                  </a:tcPr>
                </a:tc>
                <a:tc>
                  <a:txBody>
                    <a:bodyPr wrap="square"/>
                    <a:lstStyle/>
                    <a:p>
                      <a:pPr algn="ctr"/>
                      <a:r>
                        <a:rPr sz="2200" b="1">
                          <a:solidFill>
                            <a:srgbClr val="FFFFFF"/>
                          </a:solidFill>
                          <a:latin typeface="Calibri"/>
                        </a:rPr>
                        <a:t>Test days</a:t>
                      </a:r>
                    </a:p>
                  </a:txBody>
                  <a:tcPr marL="73152" marR="73152" marT="27432" marB="27432" anchor="ctr">
                    <a:solidFill>
                      <a:srgbClr val="1F4E79"/>
                    </a:solidFill>
                  </a:tcPr>
                </a:tc>
                <a:tc>
                  <a:txBody>
                    <a:bodyPr wrap="square"/>
                    <a:lstStyle/>
                    <a:p>
                      <a:pPr algn="ctr"/>
                      <a:r>
                        <a:rPr sz="2200" b="1">
                          <a:solidFill>
                            <a:srgbClr val="FFFFFF"/>
                          </a:solidFill>
                          <a:latin typeface="Calibri"/>
                        </a:rPr>
                        <a:t>Studied</a:t>
                      </a:r>
                    </a:p>
                  </a:txBody>
                  <a:tcPr marL="73152" marR="73152" marT="27432" marB="27432" anchor="ctr">
                    <a:solidFill>
                      <a:srgbClr val="1F4E79"/>
                    </a:solidFill>
                  </a:tcPr>
                </a:tc>
              </a:tr>
              <a:tr h="548640">
                <a:tc>
                  <a:txBody>
                    <a:bodyPr wrap="square"/>
                    <a:lstStyle/>
                    <a:p>
                      <a:pPr algn="l"/>
                      <a:r>
                        <a:rPr sz="2200" b="0">
                          <a:solidFill>
                            <a:srgbClr val="1F2A44"/>
                          </a:solidFill>
                          <a:latin typeface="Calibri"/>
                        </a:rPr>
                        <a:t>Tomato</a:t>
                      </a:r>
                    </a:p>
                  </a:txBody>
                  <a:tcPr marL="73152" marR="73152" marT="27432" marB="27432" anchor="ctr">
                    <a:solidFill>
                      <a:srgbClr val="FFFFFF"/>
                    </a:solidFill>
                  </a:tcPr>
                </a:tc>
                <a:tc>
                  <a:txBody>
                    <a:bodyPr wrap="square"/>
                    <a:lstStyle/>
                    <a:p>
                      <a:pPr algn="ctr"/>
                      <a:r>
                        <a:rPr sz="2200" b="0">
                          <a:solidFill>
                            <a:srgbClr val="1F2A44"/>
                          </a:solidFill>
                          <a:latin typeface="Calibri"/>
                        </a:rPr>
                        <a:t>17,582</a:t>
                      </a:r>
                    </a:p>
                  </a:txBody>
                  <a:tcPr marL="73152" marR="73152" marT="27432" marB="27432" anchor="ctr">
                    <a:solidFill>
                      <a:srgbClr val="FFFFFF"/>
                    </a:solidFill>
                  </a:tcPr>
                </a:tc>
                <a:tc>
                  <a:txBody>
                    <a:bodyPr wrap="square"/>
                    <a:lstStyle/>
                    <a:p>
                      <a:pPr algn="ctr"/>
                      <a:r>
                        <a:rPr sz="2200" b="0">
                          <a:solidFill>
                            <a:srgbClr val="1F2A44"/>
                          </a:solidFill>
                          <a:latin typeface="Calibri"/>
                        </a:rPr>
                        <a:t>14</a:t>
                      </a:r>
                    </a:p>
                  </a:txBody>
                  <a:tcPr marL="73152" marR="73152" marT="27432" marB="27432" anchor="ctr">
                    <a:solidFill>
                      <a:srgbClr val="FFFFFF"/>
                    </a:solidFill>
                  </a:tcPr>
                </a:tc>
                <a:tc>
                  <a:txBody>
                    <a:bodyPr wrap="square"/>
                    <a:lstStyle/>
                    <a:p>
                      <a:pPr algn="ctr"/>
                      <a:r>
                        <a:rPr sz="2200" b="0">
                          <a:solidFill>
                            <a:srgbClr val="1F2A44"/>
                          </a:solidFill>
                          <a:latin typeface="Calibri"/>
                        </a:rPr>
                        <a:t>12</a:t>
                      </a:r>
                    </a:p>
                  </a:txBody>
                  <a:tcPr marL="73152" marR="73152" marT="27432" marB="27432" anchor="ctr">
                    <a:solidFill>
                      <a:srgbClr val="FFFFFF"/>
                    </a:solidFill>
                  </a:tcPr>
                </a:tc>
                <a:tc>
                  <a:txBody>
                    <a:bodyPr wrap="square"/>
                    <a:lstStyle/>
                    <a:p>
                      <a:pPr algn="ctr"/>
                      <a:r>
                        <a:rPr sz="2200" b="0">
                          <a:solidFill>
                            <a:srgbClr val="1F2A44"/>
                          </a:solidFill>
                          <a:latin typeface="Calibri"/>
                        </a:rPr>
                        <a:t>963</a:t>
                      </a:r>
                    </a:p>
                  </a:txBody>
                  <a:tcPr marL="73152" marR="73152" marT="27432" marB="27432" anchor="ctr">
                    <a:solidFill>
                      <a:srgbClr val="FFFFFF"/>
                    </a:solidFill>
                  </a:tcPr>
                </a:tc>
                <a:tc>
                  <a:txBody>
                    <a:bodyPr wrap="square"/>
                    <a:lstStyle/>
                    <a:p>
                      <a:pPr algn="ctr"/>
                      <a:r>
                        <a:rPr sz="2200" b="0">
                          <a:solidFill>
                            <a:srgbClr val="1F2A44"/>
                          </a:solidFill>
                          <a:latin typeface="Calibri"/>
                        </a:rPr>
                        <a:t>yes</a:t>
                      </a:r>
                    </a:p>
                  </a:txBody>
                  <a:tcPr marL="73152" marR="73152" marT="27432" marB="27432" anchor="ctr">
                    <a:solidFill>
                      <a:srgbClr val="FFFFFF"/>
                    </a:solidFill>
                  </a:tcPr>
                </a:tc>
              </a:tr>
              <a:tr h="548640">
                <a:tc>
                  <a:txBody>
                    <a:bodyPr wrap="square"/>
                    <a:lstStyle/>
                    <a:p>
                      <a:pPr algn="l"/>
                      <a:r>
                        <a:rPr sz="2200" b="0">
                          <a:solidFill>
                            <a:srgbClr val="1F2A44"/>
                          </a:solidFill>
                          <a:latin typeface="Calibri"/>
                        </a:rPr>
                        <a:t>Onion</a:t>
                      </a:r>
                    </a:p>
                  </a:txBody>
                  <a:tcPr marL="73152" marR="73152" marT="27432" marB="27432" anchor="ctr">
                    <a:solidFill>
                      <a:srgbClr val="F1F7FB"/>
                    </a:solidFill>
                  </a:tcPr>
                </a:tc>
                <a:tc>
                  <a:txBody>
                    <a:bodyPr wrap="square"/>
                    <a:lstStyle/>
                    <a:p>
                      <a:pPr algn="ctr"/>
                      <a:r>
                        <a:rPr sz="2200" b="0">
                          <a:solidFill>
                            <a:srgbClr val="1F2A44"/>
                          </a:solidFill>
                          <a:latin typeface="Calibri"/>
                        </a:rPr>
                        <a:t>5,343</a:t>
                      </a:r>
                    </a:p>
                  </a:txBody>
                  <a:tcPr marL="73152" marR="73152" marT="27432" marB="27432" anchor="ctr">
                    <a:solidFill>
                      <a:srgbClr val="F1F7FB"/>
                    </a:solidFill>
                  </a:tcPr>
                </a:tc>
                <a:tc>
                  <a:txBody>
                    <a:bodyPr wrap="square"/>
                    <a:lstStyle/>
                    <a:p>
                      <a:pPr algn="ctr"/>
                      <a:r>
                        <a:rPr sz="2200" b="0">
                          <a:solidFill>
                            <a:srgbClr val="1F2A44"/>
                          </a:solidFill>
                          <a:latin typeface="Calibri"/>
                        </a:rPr>
                        <a:t>11</a:t>
                      </a:r>
                    </a:p>
                  </a:txBody>
                  <a:tcPr marL="73152" marR="73152" marT="27432" marB="27432" anchor="ctr">
                    <a:solidFill>
                      <a:srgbClr val="F1F7FB"/>
                    </a:solidFill>
                  </a:tcPr>
                </a:tc>
                <a:tc>
                  <a:txBody>
                    <a:bodyPr wrap="square"/>
                    <a:lstStyle/>
                    <a:p>
                      <a:pPr algn="ctr"/>
                      <a:r>
                        <a:rPr sz="2200" b="0">
                          <a:solidFill>
                            <a:srgbClr val="1F2A44"/>
                          </a:solidFill>
                          <a:latin typeface="Calibri"/>
                        </a:rPr>
                        <a:t>4</a:t>
                      </a:r>
                    </a:p>
                  </a:txBody>
                  <a:tcPr marL="73152" marR="73152" marT="27432" marB="27432" anchor="ctr">
                    <a:solidFill>
                      <a:srgbClr val="F1F7FB"/>
                    </a:solidFill>
                  </a:tcPr>
                </a:tc>
                <a:tc>
                  <a:txBody>
                    <a:bodyPr wrap="square"/>
                    <a:lstStyle/>
                    <a:p>
                      <a:pPr algn="ctr"/>
                      <a:r>
                        <a:rPr sz="2200" b="0">
                          <a:solidFill>
                            <a:srgbClr val="1F2A44"/>
                          </a:solidFill>
                          <a:latin typeface="Calibri"/>
                        </a:rPr>
                        <a:t>511</a:t>
                      </a:r>
                    </a:p>
                  </a:txBody>
                  <a:tcPr marL="73152" marR="73152" marT="27432" marB="27432" anchor="ctr">
                    <a:solidFill>
                      <a:srgbClr val="F1F7FB"/>
                    </a:solidFill>
                  </a:tcPr>
                </a:tc>
                <a:tc>
                  <a:txBody>
                    <a:bodyPr wrap="square"/>
                    <a:lstStyle/>
                    <a:p>
                      <a:pPr algn="ctr"/>
                      <a:r>
                        <a:rPr sz="2200" b="0">
                          <a:solidFill>
                            <a:srgbClr val="1F2A44"/>
                          </a:solidFill>
                          <a:latin typeface="Calibri"/>
                        </a:rPr>
                        <a:t>yes</a:t>
                      </a:r>
                    </a:p>
                  </a:txBody>
                  <a:tcPr marL="73152" marR="73152" marT="27432" marB="27432" anchor="ctr">
                    <a:solidFill>
                      <a:srgbClr val="F1F7FB"/>
                    </a:solidFill>
                  </a:tcPr>
                </a:tc>
              </a:tr>
              <a:tr h="548640">
                <a:tc>
                  <a:txBody>
                    <a:bodyPr wrap="square"/>
                    <a:lstStyle/>
                    <a:p>
                      <a:pPr algn="l"/>
                      <a:r>
                        <a:rPr sz="2200" b="0">
                          <a:solidFill>
                            <a:srgbClr val="1F2A44"/>
                          </a:solidFill>
                          <a:latin typeface="Calibri"/>
                        </a:rPr>
                        <a:t>Potato</a:t>
                      </a:r>
                    </a:p>
                  </a:txBody>
                  <a:tcPr marL="73152" marR="73152" marT="27432" marB="27432" anchor="ctr">
                    <a:solidFill>
                      <a:srgbClr val="FFFFFF"/>
                    </a:solidFill>
                  </a:tcPr>
                </a:tc>
                <a:tc>
                  <a:txBody>
                    <a:bodyPr wrap="square"/>
                    <a:lstStyle/>
                    <a:p>
                      <a:pPr algn="ctr"/>
                      <a:r>
                        <a:rPr sz="2200" b="0">
                          <a:solidFill>
                            <a:srgbClr val="1F2A44"/>
                          </a:solidFill>
                          <a:latin typeface="Calibri"/>
                        </a:rPr>
                        <a:t>5,000</a:t>
                      </a:r>
                    </a:p>
                  </a:txBody>
                  <a:tcPr marL="73152" marR="73152" marT="27432" marB="27432" anchor="ctr">
                    <a:solidFill>
                      <a:srgbClr val="FFFFFF"/>
                    </a:solidFill>
                  </a:tcPr>
                </a:tc>
                <a:tc>
                  <a:txBody>
                    <a:bodyPr wrap="square"/>
                    <a:lstStyle/>
                    <a:p>
                      <a:pPr algn="ctr"/>
                      <a:r>
                        <a:rPr sz="2200" b="0">
                          <a:solidFill>
                            <a:srgbClr val="1F2A44"/>
                          </a:solidFill>
                          <a:latin typeface="Calibri"/>
                        </a:rPr>
                        <a:t>12</a:t>
                      </a:r>
                    </a:p>
                  </a:txBody>
                  <a:tcPr marL="73152" marR="73152" marT="27432" marB="27432" anchor="ctr">
                    <a:solidFill>
                      <a:srgbClr val="FFFFFF"/>
                    </a:solidFill>
                  </a:tcPr>
                </a:tc>
                <a:tc>
                  <a:txBody>
                    <a:bodyPr wrap="square"/>
                    <a:lstStyle/>
                    <a:p>
                      <a:pPr algn="ctr"/>
                      <a:r>
                        <a:rPr sz="2200" b="0">
                          <a:solidFill>
                            <a:srgbClr val="1F2A44"/>
                          </a:solidFill>
                          <a:latin typeface="Calibri"/>
                        </a:rPr>
                        <a:t>3</a:t>
                      </a:r>
                    </a:p>
                  </a:txBody>
                  <a:tcPr marL="73152" marR="73152" marT="27432" marB="27432" anchor="ctr">
                    <a:solidFill>
                      <a:srgbClr val="FFFFFF"/>
                    </a:solidFill>
                  </a:tcPr>
                </a:tc>
                <a:tc>
                  <a:txBody>
                    <a:bodyPr wrap="square"/>
                    <a:lstStyle/>
                    <a:p>
                      <a:pPr algn="ctr"/>
                      <a:r>
                        <a:rPr sz="2200" b="0">
                          <a:solidFill>
                            <a:srgbClr val="1F2A44"/>
                          </a:solidFill>
                          <a:latin typeface="Calibri"/>
                        </a:rPr>
                        <a:t>569</a:t>
                      </a:r>
                    </a:p>
                  </a:txBody>
                  <a:tcPr marL="73152" marR="73152" marT="27432" marB="27432" anchor="ctr">
                    <a:solidFill>
                      <a:srgbClr val="FFFFFF"/>
                    </a:solidFill>
                  </a:tcPr>
                </a:tc>
                <a:tc>
                  <a:txBody>
                    <a:bodyPr wrap="square"/>
                    <a:lstStyle/>
                    <a:p>
                      <a:pPr algn="ctr"/>
                      <a:r>
                        <a:rPr sz="2200" b="0">
                          <a:solidFill>
                            <a:srgbClr val="1F2A44"/>
                          </a:solidFill>
                          <a:latin typeface="Calibri"/>
                        </a:rPr>
                        <a:t>yes</a:t>
                      </a:r>
                    </a:p>
                  </a:txBody>
                  <a:tcPr marL="73152" marR="73152" marT="27432" marB="27432" anchor="ctr">
                    <a:solidFill>
                      <a:srgbClr val="FFFFFF"/>
                    </a:solidFill>
                  </a:tcPr>
                </a:tc>
              </a:tr>
              <a:tr h="548640">
                <a:tc>
                  <a:txBody>
                    <a:bodyPr wrap="square"/>
                    <a:lstStyle/>
                    <a:p>
                      <a:pPr algn="l"/>
                      <a:r>
                        <a:rPr sz="2200" b="0">
                          <a:solidFill>
                            <a:srgbClr val="1F2A44"/>
                          </a:solidFill>
                          <a:latin typeface="Calibri"/>
                        </a:rPr>
                        <a:t>Ginger</a:t>
                      </a:r>
                    </a:p>
                  </a:txBody>
                  <a:tcPr marL="73152" marR="73152" marT="27432" marB="27432" anchor="ctr">
                    <a:solidFill>
                      <a:srgbClr val="F1F7FB"/>
                    </a:solidFill>
                  </a:tcPr>
                </a:tc>
                <a:tc>
                  <a:txBody>
                    <a:bodyPr wrap="square"/>
                    <a:lstStyle/>
                    <a:p>
                      <a:pPr algn="ctr"/>
                      <a:r>
                        <a:rPr sz="2200" b="0">
                          <a:solidFill>
                            <a:srgbClr val="1F2A44"/>
                          </a:solidFill>
                          <a:latin typeface="Calibri"/>
                        </a:rPr>
                        <a:t>6,423</a:t>
                      </a:r>
                    </a:p>
                  </a:txBody>
                  <a:tcPr marL="73152" marR="73152" marT="27432" marB="27432" anchor="ctr">
                    <a:solidFill>
                      <a:srgbClr val="F1F7FB"/>
                    </a:solidFill>
                  </a:tcPr>
                </a:tc>
                <a:tc>
                  <a:txBody>
                    <a:bodyPr wrap="square"/>
                    <a:lstStyle/>
                    <a:p>
                      <a:pPr algn="ctr"/>
                      <a:r>
                        <a:rPr sz="2200" b="0">
                          <a:solidFill>
                            <a:srgbClr val="1F2A44"/>
                          </a:solidFill>
                          <a:latin typeface="Calibri"/>
                        </a:rPr>
                        <a:t>10</a:t>
                      </a:r>
                    </a:p>
                  </a:txBody>
                  <a:tcPr marL="73152" marR="73152" marT="27432" marB="27432" anchor="ctr">
                    <a:solidFill>
                      <a:srgbClr val="F1F7FB"/>
                    </a:solidFill>
                  </a:tcPr>
                </a:tc>
                <a:tc>
                  <a:txBody>
                    <a:bodyPr wrap="square"/>
                    <a:lstStyle/>
                    <a:p>
                      <a:pPr algn="ctr"/>
                      <a:r>
                        <a:rPr sz="2200" b="0">
                          <a:solidFill>
                            <a:srgbClr val="1F2A44"/>
                          </a:solidFill>
                          <a:latin typeface="Calibri"/>
                        </a:rPr>
                        <a:t>3</a:t>
                      </a:r>
                    </a:p>
                  </a:txBody>
                  <a:tcPr marL="73152" marR="73152" marT="27432" marB="27432" anchor="ctr">
                    <a:solidFill>
                      <a:srgbClr val="F1F7FB"/>
                    </a:solidFill>
                  </a:tcPr>
                </a:tc>
                <a:tc>
                  <a:txBody>
                    <a:bodyPr wrap="square"/>
                    <a:lstStyle/>
                    <a:p>
                      <a:pPr algn="ctr"/>
                      <a:r>
                        <a:rPr sz="2200" b="0">
                          <a:solidFill>
                            <a:srgbClr val="1F2A44"/>
                          </a:solidFill>
                          <a:latin typeface="Calibri"/>
                        </a:rPr>
                        <a:t>776</a:t>
                      </a:r>
                    </a:p>
                  </a:txBody>
                  <a:tcPr marL="73152" marR="73152" marT="27432" marB="27432" anchor="ctr">
                    <a:solidFill>
                      <a:srgbClr val="F1F7FB"/>
                    </a:solidFill>
                  </a:tcPr>
                </a:tc>
                <a:tc>
                  <a:txBody>
                    <a:bodyPr wrap="square"/>
                    <a:lstStyle/>
                    <a:p>
                      <a:pPr algn="ctr"/>
                      <a:r>
                        <a:rPr sz="2200" b="0">
                          <a:solidFill>
                            <a:srgbClr val="1F2A44"/>
                          </a:solidFill>
                          <a:latin typeface="Calibri"/>
                        </a:rPr>
                        <a:t>yes</a:t>
                      </a:r>
                    </a:p>
                  </a:txBody>
                  <a:tcPr marL="73152" marR="73152" marT="27432" marB="27432" anchor="ctr">
                    <a:solidFill>
                      <a:srgbClr val="F1F7FB"/>
                    </a:solidFill>
                  </a:tcPr>
                </a:tc>
              </a:tr>
              <a:tr h="548640">
                <a:tc>
                  <a:txBody>
                    <a:bodyPr wrap="square"/>
                    <a:lstStyle/>
                    <a:p>
                      <a:pPr algn="l"/>
                      <a:r>
                        <a:rPr sz="2200" b="0">
                          <a:solidFill>
                            <a:srgbClr val="1F2A44"/>
                          </a:solidFill>
                          <a:latin typeface="Calibri"/>
                        </a:rPr>
                        <a:t>Garlic</a:t>
                      </a:r>
                    </a:p>
                  </a:txBody>
                  <a:tcPr marL="73152" marR="73152" marT="27432" marB="27432" anchor="ctr">
                    <a:solidFill>
                      <a:srgbClr val="FFFFFF"/>
                    </a:solidFill>
                  </a:tcPr>
                </a:tc>
                <a:tc>
                  <a:txBody>
                    <a:bodyPr wrap="square"/>
                    <a:lstStyle/>
                    <a:p>
                      <a:pPr algn="ctr"/>
                      <a:r>
                        <a:rPr sz="2200" b="0">
                          <a:solidFill>
                            <a:srgbClr val="1F2A44"/>
                          </a:solidFill>
                          <a:latin typeface="Calibri"/>
                        </a:rPr>
                        <a:t>2,473</a:t>
                      </a:r>
                    </a:p>
                  </a:txBody>
                  <a:tcPr marL="73152" marR="73152" marT="27432" marB="27432" anchor="ctr">
                    <a:solidFill>
                      <a:srgbClr val="FFFFFF"/>
                    </a:solidFill>
                  </a:tcPr>
                </a:tc>
                <a:tc>
                  <a:txBody>
                    <a:bodyPr wrap="square"/>
                    <a:lstStyle/>
                    <a:p>
                      <a:pPr algn="ctr"/>
                      <a:r>
                        <a:rPr sz="2200" b="0">
                          <a:solidFill>
                            <a:srgbClr val="1F2A44"/>
                          </a:solidFill>
                          <a:latin typeface="Calibri"/>
                        </a:rPr>
                        <a:t>7</a:t>
                      </a:r>
                    </a:p>
                  </a:txBody>
                  <a:tcPr marL="73152" marR="73152" marT="27432" marB="27432" anchor="ctr">
                    <a:solidFill>
                      <a:srgbClr val="FFFFFF"/>
                    </a:solidFill>
                  </a:tcPr>
                </a:tc>
                <a:tc>
                  <a:txBody>
                    <a:bodyPr wrap="square"/>
                    <a:lstStyle/>
                    <a:p>
                      <a:pPr algn="ctr"/>
                      <a:r>
                        <a:rPr sz="2200" b="0">
                          <a:solidFill>
                            <a:srgbClr val="1F2A44"/>
                          </a:solidFill>
                          <a:latin typeface="Calibri"/>
                        </a:rPr>
                        <a:t>1</a:t>
                      </a:r>
                    </a:p>
                  </a:txBody>
                  <a:tcPr marL="73152" marR="73152" marT="27432" marB="27432" anchor="ctr">
                    <a:solidFill>
                      <a:srgbClr val="FFFFFF"/>
                    </a:solidFill>
                  </a:tcPr>
                </a:tc>
                <a:tc>
                  <a:txBody>
                    <a:bodyPr wrap="square"/>
                    <a:lstStyle/>
                    <a:p>
                      <a:pPr algn="ctr"/>
                      <a:r>
                        <a:rPr sz="2200" b="0">
                          <a:solidFill>
                            <a:srgbClr val="1F2A44"/>
                          </a:solidFill>
                          <a:latin typeface="Calibri"/>
                        </a:rPr>
                        <a:t>—</a:t>
                      </a:r>
                    </a:p>
                  </a:txBody>
                  <a:tcPr marL="73152" marR="73152" marT="27432" marB="27432" anchor="ctr">
                    <a:solidFill>
                      <a:srgbClr val="FFFFFF"/>
                    </a:solidFill>
                  </a:tcPr>
                </a:tc>
                <a:tc>
                  <a:txBody>
                    <a:bodyPr wrap="square"/>
                    <a:lstStyle/>
                    <a:p>
                      <a:pPr algn="ctr"/>
                      <a:r>
                        <a:rPr sz="2200" b="0">
                          <a:solidFill>
                            <a:srgbClr val="C0392B"/>
                          </a:solidFill>
                          <a:latin typeface="Calibri"/>
                        </a:rPr>
                        <a:t>refused</a:t>
                      </a:r>
                    </a:p>
                  </a:txBody>
                  <a:tcPr marL="73152" marR="73152" marT="27432" marB="27432" anchor="ctr">
                    <a:solidFill>
                      <a:srgbClr val="FFFFFF"/>
                    </a:solidFill>
                  </a:tcPr>
                </a:tc>
              </a:tr>
              <a:tr h="548640">
                <a:tc>
                  <a:txBody>
                    <a:bodyPr wrap="square"/>
                    <a:lstStyle/>
                    <a:p>
                      <a:pPr algn="l"/>
                      <a:r>
                        <a:rPr sz="2200" b="1">
                          <a:solidFill>
                            <a:srgbClr val="1F2A44"/>
                          </a:solidFill>
                          <a:latin typeface="Calibri"/>
                        </a:rPr>
                        <a:t>Total</a:t>
                      </a:r>
                    </a:p>
                  </a:txBody>
                  <a:tcPr marL="73152" marR="73152" marT="27432" marB="27432" anchor="ctr">
                    <a:solidFill>
                      <a:srgbClr val="DCEBF5"/>
                    </a:solidFill>
                  </a:tcPr>
                </a:tc>
                <a:tc>
                  <a:txBody>
                    <a:bodyPr wrap="square"/>
                    <a:lstStyle/>
                    <a:p>
                      <a:pPr algn="ctr"/>
                      <a:r>
                        <a:rPr sz="2200" b="1">
                          <a:solidFill>
                            <a:srgbClr val="1F2A44"/>
                          </a:solidFill>
                          <a:latin typeface="Calibri"/>
                        </a:rPr>
                        <a:t>36,821</a:t>
                      </a:r>
                    </a:p>
                  </a:txBody>
                  <a:tcPr marL="73152" marR="73152" marT="27432" marB="27432" anchor="ctr">
                    <a:solidFill>
                      <a:srgbClr val="DCEBF5"/>
                    </a:solidFill>
                  </a:tcPr>
                </a:tc>
                <a:tc>
                  <a:txBody>
                    <a:bodyPr wrap="square"/>
                    <a:lstStyle/>
                    <a:p>
                      <a:pPr algn="ctr"/>
                      <a:r>
                        <a:rPr sz="2200" b="1">
                          <a:solidFill>
                            <a:srgbClr val="1F2A44"/>
                          </a:solidFill>
                          <a:latin typeface="Calibri"/>
                        </a:rPr>
                        <a:t/>
                      </a:r>
                    </a:p>
                  </a:txBody>
                  <a:tcPr marL="73152" marR="73152" marT="27432" marB="27432" anchor="ctr">
                    <a:solidFill>
                      <a:srgbClr val="DCEBF5"/>
                    </a:solidFill>
                  </a:tcPr>
                </a:tc>
                <a:tc>
                  <a:txBody>
                    <a:bodyPr wrap="square"/>
                    <a:lstStyle/>
                    <a:p>
                      <a:pPr algn="ctr"/>
                      <a:r>
                        <a:rPr sz="2200" b="1">
                          <a:solidFill>
                            <a:srgbClr val="1F2A44"/>
                          </a:solidFill>
                          <a:latin typeface="Calibri"/>
                        </a:rPr>
                        <a:t/>
                      </a:r>
                    </a:p>
                  </a:txBody>
                  <a:tcPr marL="73152" marR="73152" marT="27432" marB="27432" anchor="ctr">
                    <a:solidFill>
                      <a:srgbClr val="DCEBF5"/>
                    </a:solidFill>
                  </a:tcPr>
                </a:tc>
                <a:tc>
                  <a:txBody>
                    <a:bodyPr wrap="square"/>
                    <a:lstStyle/>
                    <a:p>
                      <a:pPr algn="ctr"/>
                      <a:r>
                        <a:rPr sz="2200" b="1">
                          <a:solidFill>
                            <a:srgbClr val="1F2A44"/>
                          </a:solidFill>
                          <a:latin typeface="Calibri"/>
                        </a:rPr>
                        <a:t/>
                      </a:r>
                    </a:p>
                  </a:txBody>
                  <a:tcPr marL="73152" marR="73152" marT="27432" marB="27432" anchor="ctr">
                    <a:solidFill>
                      <a:srgbClr val="DCEBF5"/>
                    </a:solidFill>
                  </a:tcPr>
                </a:tc>
                <a:tc>
                  <a:txBody>
                    <a:bodyPr wrap="square"/>
                    <a:lstStyle/>
                    <a:p>
                      <a:pPr algn="ctr"/>
                      <a:r>
                        <a:rPr sz="2200" b="1">
                          <a:solidFill>
                            <a:srgbClr val="1F2A44"/>
                          </a:solidFill>
                          <a:latin typeface="Calibri"/>
                        </a:rPr>
                        <a:t/>
                      </a:r>
                    </a:p>
                  </a:txBody>
                  <a:tcPr marL="73152" marR="73152" marT="27432" marB="27432" anchor="ctr">
                    <a:solidFill>
                      <a:srgbClr val="DCEBF5"/>
                    </a:solidFill>
                  </a:tcPr>
                </a:tc>
              </a:tr>
            </a:tbl>
          </a:graphicData>
        </a:graphic>
      </p:graphicFrame>
      <p:sp>
        <p:nvSpPr>
          <p:cNvPr id="10252" name="Rectangle 10251"/>
          <p:cNvSpPr/>
          <p:nvPr/>
        </p:nvSpPr>
        <p:spPr>
          <a:xfrm>
            <a:off x="12801600" y="6400800"/>
            <a:ext cx="6309360" cy="393192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r>
              <a:rPr sz="2200" b="1" i="0">
                <a:solidFill>
                  <a:srgbClr val="1F2A44"/>
                </a:solidFill>
                <a:latin typeface="Calibri"/>
              </a:rPr>
              <a:t>Inference: </a:t>
            </a:r>
            <a:r>
              <a:rPr sz="2200" b="0" i="0">
                <a:solidFill>
                  <a:srgbClr val="1F2A44"/>
                </a:solidFill>
                <a:latin typeface="Calibri"/>
              </a:rPr>
              <a:t>moving-block bootstrap (block 14); Newey–West Diebold–Mariano; Holm across all pre-specified comparisons; model confidence set [24]–[27].</a:t>
            </a:r>
          </a:p>
          <a:p>
            <a:pPr algn="l"/>
            <a:r>
              <a:rPr sz="2200" b="1" i="0">
                <a:solidFill>
                  <a:srgbClr val="1F2A44"/>
                </a:solidFill>
                <a:latin typeface="Calibri"/>
              </a:rPr>
              <a:t>Pre-specified: </a:t>
            </a:r>
            <a:r>
              <a:rPr sz="2200" b="0" i="0">
                <a:solidFill>
                  <a:srgbClr val="1F2A44"/>
                </a:solidFill>
                <a:latin typeface="Calibri"/>
              </a:rPr>
              <a:t>model ladder, 12 paired comparisons, silence tests and leakage protocol were fixed before tuned results were seen.</a:t>
            </a:r>
          </a:p>
        </p:txBody>
      </p:sp>
    </p:spTree>
    <p:extLst>
      <p:ext uri="{BB962C8B-B14F-4D97-AF65-F5344CB8AC3E}">
        <p14:creationId xmlns:p14="http://schemas.microsoft.com/office/powerpoint/2010/main" val="17690171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Results and Validation: Decision Quality</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9</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906" name="Content Guidance"/>
          <p:cNvSpPr txBox="1"/>
          <p:nvPr/>
        </p:nvSpPr>
        <p:spPr>
          <a:xfrm>
            <a:off x="1005840" y="1737360"/>
            <a:ext cx="18105120" cy="1828800"/>
          </a:xfrm>
          <a:prstGeom prst="rect">
            <a:avLst/>
          </a:prstGeom>
          <a:noFill/>
        </p:spPr>
        <p:txBody>
          <a:bodyPr wrap="square" lIns="0" tIns="0" rIns="0" bIns="0">
            <a:normAutofit/>
          </a:bodyPr>
          <a:lstStyle/>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Result: </a:t>
            </a:r>
            <a:r>
              <a:rPr lang="en-US" sz="2500" dirty="0">
                <a:solidFill>
                  <a:srgbClr val="1F2A44"/>
                </a:solidFill>
                <a:latin typeface="Calibri" panose="020F0502020204030204" charset="0"/>
                <a:cs typeface="Calibri" panose="020F0502020204030204" charset="0"/>
              </a:rPr>
              <a:t>models trained on realised revenue earn the most in every crop; the oracle bounds what is possible.</a:t>
            </a:r>
          </a:p>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Why: </a:t>
            </a:r>
            <a:r>
              <a:rPr lang="en-US" sz="2500" dirty="0">
                <a:solidFill>
                  <a:srgbClr val="1F2A44"/>
                </a:solidFill>
                <a:latin typeface="Calibri" panose="020F0502020204030204" charset="0"/>
                <a:cs typeface="Calibri" panose="020F0502020204030204" charset="0"/>
              </a:rPr>
              <a:t>observed-price models send 12–43% of trips to a silent market; realised-label models cut that to 5–21%.</a:t>
            </a:r>
          </a:p>
        </p:txBody>
      </p:sp>
      <p:graphicFrame>
        <p:nvGraphicFramePr>
          <p:cNvPr id="10251" name="Chart 10250"/>
          <p:cNvGraphicFramePr>
            <a:graphicFrameLocks noGrp="1"/>
          </p:cNvGraphicFramePr>
          <p:nvPr/>
        </p:nvGraphicFramePr>
        <p:xfrm>
          <a:off x="1005840" y="3200400"/>
          <a:ext cx="12984480" cy="6949440"/>
        </p:xfrm>
        <a:graphic>
          <a:graphicData uri="http://schemas.openxmlformats.org/drawingml/2006/chart">
            <c:chart xmlns:c="http://schemas.openxmlformats.org/drawingml/2006/chart" r:id="rId3"/>
          </a:graphicData>
        </a:graphic>
      </p:graphicFrame>
      <p:sp>
        <p:nvSpPr>
          <p:cNvPr id="10252" name="Rectangle 10251"/>
          <p:cNvSpPr/>
          <p:nvPr/>
        </p:nvSpPr>
        <p:spPr>
          <a:xfrm>
            <a:off x="14447520" y="3200400"/>
            <a:ext cx="4663440" cy="1106424"/>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73152" rIns="73152" tIns="36576" bIns="36576"/>
          <a:lstStyle/>
          <a:p>
            <a:pPr algn="ctr"/>
            <a:r>
              <a:rPr sz="4900" b="1" i="0">
                <a:solidFill>
                  <a:srgbClr val="1F4E79"/>
                </a:solidFill>
                <a:latin typeface="Calibri"/>
              </a:rPr>
              <a:t>Rs 2,156</a:t>
            </a:r>
          </a:p>
        </p:txBody>
      </p:sp>
      <p:sp>
        <p:nvSpPr>
          <p:cNvPr id="10253" name="Rectangle 10252"/>
          <p:cNvSpPr/>
          <p:nvPr/>
        </p:nvSpPr>
        <p:spPr>
          <a:xfrm>
            <a:off x="14447520" y="4306824"/>
            <a:ext cx="4663440" cy="905256"/>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r>
              <a:rPr sz="2000" b="0" i="0">
                <a:solidFill>
                  <a:srgbClr val="5F6B7A"/>
                </a:solidFill>
                <a:latin typeface="Calibri"/>
              </a:rPr>
              <a:t>tomato, realised-label model (oracle 2,570)</a:t>
            </a:r>
          </a:p>
        </p:txBody>
      </p:sp>
      <p:sp>
        <p:nvSpPr>
          <p:cNvPr id="10254" name="Rectangle 10253"/>
          <p:cNvSpPr/>
          <p:nvPr/>
        </p:nvSpPr>
        <p:spPr>
          <a:xfrm>
            <a:off x="14447520" y="5486400"/>
            <a:ext cx="4663440" cy="1106424"/>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73152" rIns="73152" tIns="36576" bIns="36576"/>
          <a:lstStyle/>
          <a:p>
            <a:pPr algn="ctr"/>
            <a:r>
              <a:rPr sz="4900" b="1" i="0">
                <a:solidFill>
                  <a:srgbClr val="2E8B57"/>
                </a:solidFill>
                <a:latin typeface="Calibri"/>
              </a:rPr>
              <a:t>+Rs 556</a:t>
            </a:r>
          </a:p>
        </p:txBody>
      </p:sp>
      <p:sp>
        <p:nvSpPr>
          <p:cNvPr id="10255" name="Rectangle 10254"/>
          <p:cNvSpPr/>
          <p:nvPr/>
        </p:nvSpPr>
        <p:spPr>
          <a:xfrm>
            <a:off x="14447520" y="6592824"/>
            <a:ext cx="4663440" cy="905256"/>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r>
              <a:rPr sz="2000" b="0" i="0">
                <a:solidFill>
                  <a:srgbClr val="5F6B7A"/>
                </a:solidFill>
                <a:latin typeface="Calibri"/>
              </a:rPr>
              <a:t>over nearest mandi, tomato (1,600 → 2,156)</a:t>
            </a:r>
          </a:p>
        </p:txBody>
      </p:sp>
      <p:sp>
        <p:nvSpPr>
          <p:cNvPr id="10256" name="Rectangle 10255"/>
          <p:cNvSpPr/>
          <p:nvPr/>
        </p:nvSpPr>
        <p:spPr>
          <a:xfrm>
            <a:off x="14447520" y="7772400"/>
            <a:ext cx="4663440" cy="130759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73152" rIns="73152" tIns="36576" bIns="36576"/>
          <a:lstStyle/>
          <a:p>
            <a:pPr algn="ctr"/>
            <a:r>
              <a:rPr sz="4900" b="1" i="0">
                <a:solidFill>
                  <a:srgbClr val="D9822B"/>
                </a:solidFill>
                <a:latin typeface="Calibri"/>
              </a:rPr>
              <a:t>Holm p &lt; 0.002</a:t>
            </a:r>
          </a:p>
        </p:txBody>
      </p:sp>
      <p:sp>
        <p:nvSpPr>
          <p:cNvPr id="10257" name="Rectangle 10256"/>
          <p:cNvSpPr/>
          <p:nvPr/>
        </p:nvSpPr>
        <p:spPr>
          <a:xfrm>
            <a:off x="14447520" y="9079992"/>
            <a:ext cx="4663440" cy="1069848"/>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r>
              <a:rPr sz="2000" b="0" i="0">
                <a:solidFill>
                  <a:srgbClr val="5F6B7A"/>
                </a:solidFill>
                <a:latin typeface="Calibri"/>
              </a:rPr>
              <a:t>labels effect in all four crops</a:t>
            </a:r>
          </a:p>
        </p:txBody>
      </p:sp>
    </p:spTree>
    <p:extLst>
      <p:ext uri="{BB962C8B-B14F-4D97-AF65-F5344CB8AC3E}">
        <p14:creationId xmlns:p14="http://schemas.microsoft.com/office/powerpoint/2010/main" val="17690171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Comparative Benchmarking</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10</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907" name="Content Guidance"/>
          <p:cNvSpPr txBox="1"/>
          <p:nvPr/>
        </p:nvSpPr>
        <p:spPr>
          <a:xfrm>
            <a:off x="1005840" y="1737360"/>
            <a:ext cx="18105120" cy="3474720"/>
          </a:xfrm>
          <a:prstGeom prst="rect">
            <a:avLst/>
          </a:prstGeom>
          <a:noFill/>
        </p:spPr>
        <p:txBody>
          <a:bodyPr wrap="square" lIns="0" tIns="0" rIns="0" bIns="0">
            <a:normAutofit/>
          </a:bodyPr>
          <a:lstStyle/>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Same split, same metric, all retrained: </a:t>
            </a:r>
            <a:r>
              <a:rPr lang="en-US" sz="2500" dirty="0">
                <a:solidFill>
                  <a:srgbClr val="1F2A44"/>
                </a:solidFill>
                <a:latin typeface="Calibri" panose="020F0502020204030204" charset="0"/>
                <a:cs typeface="Calibri" panose="020F0502020204030204" charset="0"/>
              </a:rPr>
              <a:t>no published study scores mandi choice by regret on real reporting-gap data, so baselines are the heuristics farmers use and the standard predict-then-optimise models.</a:t>
            </a:r>
          </a:p>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Where we win: </a:t>
            </a:r>
            <a:r>
              <a:rPr lang="en-US" sz="2500" dirty="0">
                <a:solidFill>
                  <a:srgbClr val="1F2A44"/>
                </a:solidFill>
                <a:latin typeface="Calibri" panose="020F0502020204030204" charset="0"/>
                <a:cs typeface="Calibri" panose="020F0502020204030204" charset="0"/>
              </a:rPr>
              <a:t>all four crops vs every heuristic and every observed-price model. Where we do not:</a:t>
            </a:r>
          </a:p>
          <a:p>
            <a:pPr marL="514350" indent="-514350">
              <a:lnSpc>
                <a:spcPct val="115000"/>
              </a:lnSpc>
              <a:spcAft>
                <a:spcPts val="600"/>
              </a:spcAft>
              <a:buFont typeface="Arial" panose="020B0604020202020204" pitchFamily="34" charset="0"/>
              <a:buChar char="•"/>
            </a:pPr>
            <a:r>
              <a:rPr lang="en-US" sz="2500" dirty="0">
                <a:solidFill>
                  <a:srgbClr val="1F2A44"/>
                </a:solidFill>
                <a:latin typeface="Calibri" panose="020F0502020204030204" charset="0"/>
                <a:cs typeface="Calibri" panose="020F0502020204030204" charset="0"/>
              </a:rPr>
              <a:t>potato back-test gain is not distinguishable from the best heuristic, and SPO+ ties the squared-error loss.</a:t>
            </a:r>
          </a:p>
        </p:txBody>
      </p:sp>
      <p:graphicFrame>
        <p:nvGraphicFramePr>
          <p:cNvPr id="10251" name="Table 10250"/>
          <p:cNvGraphicFramePr>
            <a:graphicFrameLocks noGrp="1"/>
          </p:cNvGraphicFramePr>
          <p:nvPr/>
        </p:nvGraphicFramePr>
        <p:xfrm>
          <a:off x="1005840" y="5394960"/>
          <a:ext cx="18105118" cy="4498848"/>
        </p:xfrm>
        <a:graphic>
          <a:graphicData uri="http://schemas.openxmlformats.org/drawingml/2006/table">
            <a:tbl>
              <a:tblPr firstRow="1" bandRow="1">
                <a:tableStyleId>{5C22544A-7EE6-4342-B048-85BDC9FD1C3A}</a:tableStyleId>
              </a:tblPr>
              <a:tblGrid>
                <a:gridCol w="6167678"/>
                <a:gridCol w="2984360"/>
                <a:gridCol w="2984360"/>
                <a:gridCol w="2984360"/>
                <a:gridCol w="2984360"/>
              </a:tblGrid>
              <a:tr h="749808">
                <a:tc>
                  <a:txBody>
                    <a:bodyPr wrap="square"/>
                    <a:lstStyle/>
                    <a:p>
                      <a:pPr algn="ctr"/>
                      <a:r>
                        <a:rPr sz="2100" b="1">
                          <a:solidFill>
                            <a:srgbClr val="FFFFFF"/>
                          </a:solidFill>
                          <a:latin typeface="Calibri"/>
                        </a:rPr>
                        <a:t>Gap closed (nearest → oracle) / silent-market trips</a:t>
                      </a:r>
                    </a:p>
                  </a:txBody>
                  <a:tcPr marL="73152" marR="73152" marT="27432" marB="27432" anchor="ctr">
                    <a:solidFill>
                      <a:srgbClr val="1F4E79"/>
                    </a:solidFill>
                  </a:tcPr>
                </a:tc>
                <a:tc>
                  <a:txBody>
                    <a:bodyPr wrap="square"/>
                    <a:lstStyle/>
                    <a:p>
                      <a:pPr algn="ctr"/>
                      <a:r>
                        <a:rPr sz="2100" b="1">
                          <a:solidFill>
                            <a:srgbClr val="FFFFFF"/>
                          </a:solidFill>
                          <a:latin typeface="Calibri"/>
                        </a:rPr>
                        <a:t>Tomato</a:t>
                      </a:r>
                    </a:p>
                  </a:txBody>
                  <a:tcPr marL="73152" marR="73152" marT="27432" marB="27432" anchor="ctr">
                    <a:solidFill>
                      <a:srgbClr val="1F4E79"/>
                    </a:solidFill>
                  </a:tcPr>
                </a:tc>
                <a:tc>
                  <a:txBody>
                    <a:bodyPr wrap="square"/>
                    <a:lstStyle/>
                    <a:p>
                      <a:pPr algn="ctr"/>
                      <a:r>
                        <a:rPr sz="2100" b="1">
                          <a:solidFill>
                            <a:srgbClr val="FFFFFF"/>
                          </a:solidFill>
                          <a:latin typeface="Calibri"/>
                        </a:rPr>
                        <a:t>Onion</a:t>
                      </a:r>
                    </a:p>
                  </a:txBody>
                  <a:tcPr marL="73152" marR="73152" marT="27432" marB="27432" anchor="ctr">
                    <a:solidFill>
                      <a:srgbClr val="1F4E79"/>
                    </a:solidFill>
                  </a:tcPr>
                </a:tc>
                <a:tc>
                  <a:txBody>
                    <a:bodyPr wrap="square"/>
                    <a:lstStyle/>
                    <a:p>
                      <a:pPr algn="ctr"/>
                      <a:r>
                        <a:rPr sz="2100" b="1">
                          <a:solidFill>
                            <a:srgbClr val="FFFFFF"/>
                          </a:solidFill>
                          <a:latin typeface="Calibri"/>
                        </a:rPr>
                        <a:t>Potato</a:t>
                      </a:r>
                    </a:p>
                  </a:txBody>
                  <a:tcPr marL="73152" marR="73152" marT="27432" marB="27432" anchor="ctr">
                    <a:solidFill>
                      <a:srgbClr val="1F4E79"/>
                    </a:solidFill>
                  </a:tcPr>
                </a:tc>
                <a:tc>
                  <a:txBody>
                    <a:bodyPr wrap="square"/>
                    <a:lstStyle/>
                    <a:p>
                      <a:pPr algn="ctr"/>
                      <a:r>
                        <a:rPr sz="2100" b="1">
                          <a:solidFill>
                            <a:srgbClr val="FFFFFF"/>
                          </a:solidFill>
                          <a:latin typeface="Calibri"/>
                        </a:rPr>
                        <a:t>Ginger</a:t>
                      </a:r>
                    </a:p>
                  </a:txBody>
                  <a:tcPr marL="73152" marR="73152" marT="27432" marB="27432" anchor="ctr">
                    <a:solidFill>
                      <a:srgbClr val="1F4E79"/>
                    </a:solidFill>
                  </a:tcPr>
                </a:tc>
              </a:tr>
              <a:tr h="749808">
                <a:tc>
                  <a:txBody>
                    <a:bodyPr wrap="square"/>
                    <a:lstStyle/>
                    <a:p>
                      <a:pPr algn="l"/>
                      <a:r>
                        <a:rPr sz="2300" b="0">
                          <a:solidFill>
                            <a:srgbClr val="1F2A44"/>
                          </a:solidFill>
                          <a:latin typeface="Calibri"/>
                        </a:rPr>
                        <a:t>Nearest mandi, sell today</a:t>
                      </a:r>
                    </a:p>
                  </a:txBody>
                  <a:tcPr marL="73152" marR="73152" marT="27432" marB="27432" anchor="ctr">
                    <a:solidFill>
                      <a:srgbClr val="FFFFFF"/>
                    </a:solidFill>
                  </a:tcPr>
                </a:tc>
                <a:tc>
                  <a:txBody>
                    <a:bodyPr wrap="square"/>
                    <a:lstStyle/>
                    <a:p>
                      <a:pPr algn="ctr"/>
                      <a:r>
                        <a:rPr sz="2300" b="0">
                          <a:solidFill>
                            <a:srgbClr val="1F2A44"/>
                          </a:solidFill>
                          <a:latin typeface="Calibri"/>
                        </a:rPr>
                        <a:t>0.00 / 34%</a:t>
                      </a:r>
                    </a:p>
                  </a:txBody>
                  <a:tcPr marL="73152" marR="73152" marT="27432" marB="27432" anchor="ctr">
                    <a:solidFill>
                      <a:srgbClr val="FFFFFF"/>
                    </a:solidFill>
                  </a:tcPr>
                </a:tc>
                <a:tc>
                  <a:txBody>
                    <a:bodyPr wrap="square"/>
                    <a:lstStyle/>
                    <a:p>
                      <a:pPr algn="ctr"/>
                      <a:r>
                        <a:rPr sz="2300" b="0">
                          <a:solidFill>
                            <a:srgbClr val="1F2A44"/>
                          </a:solidFill>
                          <a:latin typeface="Calibri"/>
                        </a:rPr>
                        <a:t>0.00 / 34%</a:t>
                      </a:r>
                    </a:p>
                  </a:txBody>
                  <a:tcPr marL="73152" marR="73152" marT="27432" marB="27432" anchor="ctr">
                    <a:solidFill>
                      <a:srgbClr val="FFFFFF"/>
                    </a:solidFill>
                  </a:tcPr>
                </a:tc>
                <a:tc>
                  <a:txBody>
                    <a:bodyPr wrap="square"/>
                    <a:lstStyle/>
                    <a:p>
                      <a:pPr algn="ctr"/>
                      <a:r>
                        <a:rPr sz="2300" b="0">
                          <a:solidFill>
                            <a:srgbClr val="1F2A44"/>
                          </a:solidFill>
                          <a:latin typeface="Calibri"/>
                        </a:rPr>
                        <a:t>0.00 / 34%</a:t>
                      </a:r>
                    </a:p>
                  </a:txBody>
                  <a:tcPr marL="73152" marR="73152" marT="27432" marB="27432" anchor="ctr">
                    <a:solidFill>
                      <a:srgbClr val="FFFFFF"/>
                    </a:solidFill>
                  </a:tcPr>
                </a:tc>
                <a:tc>
                  <a:txBody>
                    <a:bodyPr wrap="square"/>
                    <a:lstStyle/>
                    <a:p>
                      <a:pPr algn="ctr"/>
                      <a:r>
                        <a:rPr sz="2300" b="0">
                          <a:solidFill>
                            <a:srgbClr val="1F2A44"/>
                          </a:solidFill>
                          <a:latin typeface="Calibri"/>
                        </a:rPr>
                        <a:t>0.00 / 24%</a:t>
                      </a:r>
                    </a:p>
                  </a:txBody>
                  <a:tcPr marL="73152" marR="73152" marT="27432" marB="27432" anchor="ctr">
                    <a:solidFill>
                      <a:srgbClr val="FFFFFF"/>
                    </a:solidFill>
                  </a:tcPr>
                </a:tc>
              </a:tr>
              <a:tr h="749808">
                <a:tc>
                  <a:txBody>
                    <a:bodyPr wrap="square"/>
                    <a:lstStyle/>
                    <a:p>
                      <a:pPr algn="l"/>
                      <a:r>
                        <a:rPr sz="2300" b="0">
                          <a:solidFill>
                            <a:srgbClr val="1F2A44"/>
                          </a:solidFill>
                          <a:latin typeface="Calibri"/>
                        </a:rPr>
                        <a:t>Highest price yesterday</a:t>
                      </a:r>
                    </a:p>
                  </a:txBody>
                  <a:tcPr marL="73152" marR="73152" marT="27432" marB="27432" anchor="ctr">
                    <a:solidFill>
                      <a:srgbClr val="F1F7FB"/>
                    </a:solidFill>
                  </a:tcPr>
                </a:tc>
                <a:tc>
                  <a:txBody>
                    <a:bodyPr wrap="square"/>
                    <a:lstStyle/>
                    <a:p>
                      <a:pPr algn="ctr"/>
                      <a:r>
                        <a:rPr sz="2300" b="0">
                          <a:solidFill>
                            <a:srgbClr val="1F2A44"/>
                          </a:solidFill>
                          <a:latin typeface="Calibri"/>
                        </a:rPr>
                        <a:t>0.43 / 28%</a:t>
                      </a:r>
                    </a:p>
                  </a:txBody>
                  <a:tcPr marL="73152" marR="73152" marT="27432" marB="27432" anchor="ctr">
                    <a:solidFill>
                      <a:srgbClr val="F1F7FB"/>
                    </a:solidFill>
                  </a:tcPr>
                </a:tc>
                <a:tc>
                  <a:txBody>
                    <a:bodyPr wrap="square"/>
                    <a:lstStyle/>
                    <a:p>
                      <a:pPr algn="ctr"/>
                      <a:r>
                        <a:rPr sz="2300" b="0">
                          <a:solidFill>
                            <a:srgbClr val="1F2A44"/>
                          </a:solidFill>
                          <a:latin typeface="Calibri"/>
                        </a:rPr>
                        <a:t>0.26 / 43%</a:t>
                      </a:r>
                    </a:p>
                  </a:txBody>
                  <a:tcPr marL="73152" marR="73152" marT="27432" marB="27432" anchor="ctr">
                    <a:solidFill>
                      <a:srgbClr val="F1F7FB"/>
                    </a:solidFill>
                  </a:tcPr>
                </a:tc>
                <a:tc>
                  <a:txBody>
                    <a:bodyPr wrap="square"/>
                    <a:lstStyle/>
                    <a:p>
                      <a:pPr algn="ctr"/>
                      <a:r>
                        <a:rPr sz="2300" b="0">
                          <a:solidFill>
                            <a:srgbClr val="1F2A44"/>
                          </a:solidFill>
                          <a:latin typeface="Calibri"/>
                        </a:rPr>
                        <a:t>0.17 / 35%</a:t>
                      </a:r>
                    </a:p>
                  </a:txBody>
                  <a:tcPr marL="73152" marR="73152" marT="27432" marB="27432" anchor="ctr">
                    <a:solidFill>
                      <a:srgbClr val="F1F7FB"/>
                    </a:solidFill>
                  </a:tcPr>
                </a:tc>
                <a:tc>
                  <a:txBody>
                    <a:bodyPr wrap="square"/>
                    <a:lstStyle/>
                    <a:p>
                      <a:pPr algn="ctr"/>
                      <a:r>
                        <a:rPr sz="2300" b="0">
                          <a:solidFill>
                            <a:srgbClr val="1F2A44"/>
                          </a:solidFill>
                          <a:latin typeface="Calibri"/>
                        </a:rPr>
                        <a:t>0.69 / 11%</a:t>
                      </a:r>
                    </a:p>
                  </a:txBody>
                  <a:tcPr marL="73152" marR="73152" marT="27432" marB="27432" anchor="ctr">
                    <a:solidFill>
                      <a:srgbClr val="F1F7FB"/>
                    </a:solidFill>
                  </a:tcPr>
                </a:tc>
              </a:tr>
              <a:tr h="749808">
                <a:tc>
                  <a:txBody>
                    <a:bodyPr wrap="square"/>
                    <a:lstStyle/>
                    <a:p>
                      <a:pPr algn="l"/>
                      <a:r>
                        <a:rPr sz="2300" b="0">
                          <a:solidFill>
                            <a:srgbClr val="1F2A44"/>
                          </a:solidFill>
                          <a:latin typeface="Calibri"/>
                        </a:rPr>
                        <a:t>LightGBM, observed prices</a:t>
                      </a:r>
                    </a:p>
                  </a:txBody>
                  <a:tcPr marL="73152" marR="73152" marT="27432" marB="27432" anchor="ctr">
                    <a:solidFill>
                      <a:srgbClr val="FFFFFF"/>
                    </a:solidFill>
                  </a:tcPr>
                </a:tc>
                <a:tc>
                  <a:txBody>
                    <a:bodyPr wrap="square"/>
                    <a:lstStyle/>
                    <a:p>
                      <a:pPr algn="ctr"/>
                      <a:r>
                        <a:rPr sz="2300" b="0">
                          <a:solidFill>
                            <a:srgbClr val="1F2A44"/>
                          </a:solidFill>
                          <a:latin typeface="Calibri"/>
                        </a:rPr>
                        <a:t>0.43 / 29%</a:t>
                      </a:r>
                    </a:p>
                  </a:txBody>
                  <a:tcPr marL="73152" marR="73152" marT="27432" marB="27432" anchor="ctr">
                    <a:solidFill>
                      <a:srgbClr val="FFFFFF"/>
                    </a:solidFill>
                  </a:tcPr>
                </a:tc>
                <a:tc>
                  <a:txBody>
                    <a:bodyPr wrap="square"/>
                    <a:lstStyle/>
                    <a:p>
                      <a:pPr algn="ctr"/>
                      <a:r>
                        <a:rPr sz="2300" b="0">
                          <a:solidFill>
                            <a:srgbClr val="1F2A44"/>
                          </a:solidFill>
                          <a:latin typeface="Calibri"/>
                        </a:rPr>
                        <a:t>0.24 / 43%</a:t>
                      </a:r>
                    </a:p>
                  </a:txBody>
                  <a:tcPr marL="73152" marR="73152" marT="27432" marB="27432" anchor="ctr">
                    <a:solidFill>
                      <a:srgbClr val="FFFFFF"/>
                    </a:solidFill>
                  </a:tcPr>
                </a:tc>
                <a:tc>
                  <a:txBody>
                    <a:bodyPr wrap="square"/>
                    <a:lstStyle/>
                    <a:p>
                      <a:pPr algn="ctr"/>
                      <a:r>
                        <a:rPr sz="2300" b="0">
                          <a:solidFill>
                            <a:srgbClr val="1F2A44"/>
                          </a:solidFill>
                          <a:latin typeface="Calibri"/>
                        </a:rPr>
                        <a:t>0.12 / 34%</a:t>
                      </a:r>
                    </a:p>
                  </a:txBody>
                  <a:tcPr marL="73152" marR="73152" marT="27432" marB="27432" anchor="ctr">
                    <a:solidFill>
                      <a:srgbClr val="FFFFFF"/>
                    </a:solidFill>
                  </a:tcPr>
                </a:tc>
                <a:tc>
                  <a:txBody>
                    <a:bodyPr wrap="square"/>
                    <a:lstStyle/>
                    <a:p>
                      <a:pPr algn="ctr"/>
                      <a:r>
                        <a:rPr sz="2300" b="0">
                          <a:solidFill>
                            <a:srgbClr val="1F2A44"/>
                          </a:solidFill>
                          <a:latin typeface="Calibri"/>
                        </a:rPr>
                        <a:t>0.69 / 12%</a:t>
                      </a:r>
                    </a:p>
                  </a:txBody>
                  <a:tcPr marL="73152" marR="73152" marT="27432" marB="27432" anchor="ctr">
                    <a:solidFill>
                      <a:srgbClr val="FFFFFF"/>
                    </a:solidFill>
                  </a:tcPr>
                </a:tc>
              </a:tr>
              <a:tr h="749808">
                <a:tc>
                  <a:txBody>
                    <a:bodyPr wrap="square"/>
                    <a:lstStyle/>
                    <a:p>
                      <a:pPr algn="l"/>
                      <a:r>
                        <a:rPr sz="2300" b="1">
                          <a:solidFill>
                            <a:srgbClr val="1F2A44"/>
                          </a:solidFill>
                          <a:latin typeface="Calibri"/>
                        </a:rPr>
                        <a:t>LightGBM, realised outcomes (ours)</a:t>
                      </a:r>
                    </a:p>
                  </a:txBody>
                  <a:tcPr marL="73152" marR="73152" marT="27432" marB="27432" anchor="ctr">
                    <a:solidFill>
                      <a:srgbClr val="DCEBF5"/>
                    </a:solidFill>
                  </a:tcPr>
                </a:tc>
                <a:tc>
                  <a:txBody>
                    <a:bodyPr wrap="square"/>
                    <a:lstStyle/>
                    <a:p>
                      <a:pPr algn="ctr"/>
                      <a:r>
                        <a:rPr sz="2300" b="1">
                          <a:solidFill>
                            <a:srgbClr val="1F2A44"/>
                          </a:solidFill>
                          <a:latin typeface="Calibri"/>
                        </a:rPr>
                        <a:t>0.57 / 12%</a:t>
                      </a:r>
                    </a:p>
                  </a:txBody>
                  <a:tcPr marL="73152" marR="73152" marT="27432" marB="27432" anchor="ctr">
                    <a:solidFill>
                      <a:srgbClr val="DCEBF5"/>
                    </a:solidFill>
                  </a:tcPr>
                </a:tc>
                <a:tc>
                  <a:txBody>
                    <a:bodyPr wrap="square"/>
                    <a:lstStyle/>
                    <a:p>
                      <a:pPr algn="ctr"/>
                      <a:r>
                        <a:rPr sz="2300" b="1">
                          <a:solidFill>
                            <a:srgbClr val="1F2A44"/>
                          </a:solidFill>
                          <a:latin typeface="Calibri"/>
                        </a:rPr>
                        <a:t>0.48 / 18%</a:t>
                      </a:r>
                    </a:p>
                  </a:txBody>
                  <a:tcPr marL="73152" marR="73152" marT="27432" marB="27432" anchor="ctr">
                    <a:solidFill>
                      <a:srgbClr val="DCEBF5"/>
                    </a:solidFill>
                  </a:tcPr>
                </a:tc>
                <a:tc>
                  <a:txBody>
                    <a:bodyPr wrap="square"/>
                    <a:lstStyle/>
                    <a:p>
                      <a:pPr algn="ctr"/>
                      <a:r>
                        <a:rPr sz="2300" b="1">
                          <a:solidFill>
                            <a:srgbClr val="1F2A44"/>
                          </a:solidFill>
                          <a:latin typeface="Calibri"/>
                        </a:rPr>
                        <a:t>0.31 / 21%</a:t>
                      </a:r>
                    </a:p>
                  </a:txBody>
                  <a:tcPr marL="73152" marR="73152" marT="27432" marB="27432" anchor="ctr">
                    <a:solidFill>
                      <a:srgbClr val="DCEBF5"/>
                    </a:solidFill>
                  </a:tcPr>
                </a:tc>
                <a:tc>
                  <a:txBody>
                    <a:bodyPr wrap="square"/>
                    <a:lstStyle/>
                    <a:p>
                      <a:pPr algn="ctr"/>
                      <a:r>
                        <a:rPr sz="2300" b="1">
                          <a:solidFill>
                            <a:srgbClr val="1F2A44"/>
                          </a:solidFill>
                          <a:latin typeface="Calibri"/>
                        </a:rPr>
                        <a:t>0.76 / 5%</a:t>
                      </a:r>
                    </a:p>
                  </a:txBody>
                  <a:tcPr marL="73152" marR="73152" marT="27432" marB="27432" anchor="ctr">
                    <a:solidFill>
                      <a:srgbClr val="DCEBF5"/>
                    </a:solidFill>
                  </a:tcPr>
                </a:tc>
              </a:tr>
              <a:tr h="749808">
                <a:tc>
                  <a:txBody>
                    <a:bodyPr wrap="square"/>
                    <a:lstStyle/>
                    <a:p>
                      <a:pPr algn="l"/>
                      <a:r>
                        <a:rPr sz="2300" b="1">
                          <a:solidFill>
                            <a:srgbClr val="1F2A44"/>
                          </a:solidFill>
                          <a:latin typeface="Calibri"/>
                        </a:rPr>
                        <a:t>Neural SPO+, realised outcomes (ours)</a:t>
                      </a:r>
                    </a:p>
                  </a:txBody>
                  <a:tcPr marL="73152" marR="73152" marT="27432" marB="27432" anchor="ctr">
                    <a:solidFill>
                      <a:srgbClr val="DCEBF5"/>
                    </a:solidFill>
                  </a:tcPr>
                </a:tc>
                <a:tc>
                  <a:txBody>
                    <a:bodyPr wrap="square"/>
                    <a:lstStyle/>
                    <a:p>
                      <a:pPr algn="ctr"/>
                      <a:r>
                        <a:rPr sz="2300" b="1">
                          <a:solidFill>
                            <a:srgbClr val="1F2A44"/>
                          </a:solidFill>
                          <a:latin typeface="Calibri"/>
                        </a:rPr>
                        <a:t>0.58 / 12%</a:t>
                      </a:r>
                    </a:p>
                  </a:txBody>
                  <a:tcPr marL="73152" marR="73152" marT="27432" marB="27432" anchor="ctr">
                    <a:solidFill>
                      <a:srgbClr val="DCEBF5"/>
                    </a:solidFill>
                  </a:tcPr>
                </a:tc>
                <a:tc>
                  <a:txBody>
                    <a:bodyPr wrap="square"/>
                    <a:lstStyle/>
                    <a:p>
                      <a:pPr algn="ctr"/>
                      <a:r>
                        <a:rPr sz="2300" b="1">
                          <a:solidFill>
                            <a:srgbClr val="1F2A44"/>
                          </a:solidFill>
                          <a:latin typeface="Calibri"/>
                        </a:rPr>
                        <a:t>0.50 / 20%</a:t>
                      </a:r>
                    </a:p>
                  </a:txBody>
                  <a:tcPr marL="73152" marR="73152" marT="27432" marB="27432" anchor="ctr">
                    <a:solidFill>
                      <a:srgbClr val="DCEBF5"/>
                    </a:solidFill>
                  </a:tcPr>
                </a:tc>
                <a:tc>
                  <a:txBody>
                    <a:bodyPr wrap="square"/>
                    <a:lstStyle/>
                    <a:p>
                      <a:pPr algn="ctr"/>
                      <a:r>
                        <a:rPr sz="2300" b="1">
                          <a:solidFill>
                            <a:srgbClr val="1F2A44"/>
                          </a:solidFill>
                          <a:latin typeface="Calibri"/>
                        </a:rPr>
                        <a:t>0.28 / 17%</a:t>
                      </a:r>
                    </a:p>
                  </a:txBody>
                  <a:tcPr marL="73152" marR="73152" marT="27432" marB="27432" anchor="ctr">
                    <a:solidFill>
                      <a:srgbClr val="DCEBF5"/>
                    </a:solidFill>
                  </a:tcPr>
                </a:tc>
                <a:tc>
                  <a:txBody>
                    <a:bodyPr wrap="square"/>
                    <a:lstStyle/>
                    <a:p>
                      <a:pPr algn="ctr"/>
                      <a:r>
                        <a:rPr sz="2300" b="1">
                          <a:solidFill>
                            <a:srgbClr val="1F2A44"/>
                          </a:solidFill>
                          <a:latin typeface="Calibri"/>
                        </a:rPr>
                        <a:t>0.76 / 5%</a:t>
                      </a:r>
                    </a:p>
                  </a:txBody>
                  <a:tcPr marL="73152" marR="73152" marT="27432" marB="27432" anchor="ctr">
                    <a:solidFill>
                      <a:srgbClr val="DCEBF5"/>
                    </a:solidFill>
                  </a:tcPr>
                </a:tc>
              </a:tr>
            </a:tbl>
          </a:graphicData>
        </a:graphic>
      </p:graphicFrame>
    </p:spTree>
    <p:extLst>
      <p:ext uri="{BB962C8B-B14F-4D97-AF65-F5344CB8AC3E}">
        <p14:creationId xmlns:p14="http://schemas.microsoft.com/office/powerpoint/2010/main" val="17690171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Novelty and Research Contribution</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11</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908" name="Content Guidance"/>
          <p:cNvSpPr txBox="1"/>
          <p:nvPr/>
        </p:nvSpPr>
        <p:spPr>
          <a:xfrm>
            <a:off x="1005840" y="1737360"/>
            <a:ext cx="18105120" cy="1463040"/>
          </a:xfrm>
          <a:prstGeom prst="rect">
            <a:avLst/>
          </a:prstGeom>
          <a:noFill/>
        </p:spPr>
        <p:txBody>
          <a:bodyPr wrap="square" lIns="0" tIns="0" rIns="0" bIns="0">
            <a:normAutofit/>
          </a:bodyPr>
          <a:lstStyle/>
          <a:p>
            <a:pPr marL="514350" indent="-514350">
              <a:lnSpc>
                <a:spcPct val="115000"/>
              </a:lnSpc>
              <a:spcAft>
                <a:spcPts val="600"/>
              </a:spcAft>
              <a:buFont typeface="Arial" panose="020B0604020202020204" pitchFamily="34" charset="0"/>
              <a:buChar char="•"/>
            </a:pPr>
            <a:r>
              <a:rPr lang="en-US" sz="2400" dirty="0" b="1">
                <a:solidFill>
                  <a:srgbClr val="1F2A44"/>
                </a:solidFill>
                <a:latin typeface="Calibri" panose="020F0502020204030204" charset="0"/>
                <a:cs typeface="Calibri" panose="020F0502020204030204" charset="0"/>
              </a:rPr>
              <a:t>In one sentence: </a:t>
            </a:r>
            <a:r>
              <a:rPr lang="en-US" sz="2400" dirty="0">
                <a:solidFill>
                  <a:srgbClr val="1F2A44"/>
                </a:solidFill>
                <a:latin typeface="Calibri" panose="020F0502020204030204" charset="0"/>
                <a:cs typeface="Calibri" panose="020F0502020204030204" charset="0"/>
              </a:rPr>
              <a:t>supervise market choice on realised, silence-aware revenue, certify it with delayed-feedback conformal floors, and audit the leakage in published hybrids.</a:t>
            </a:r>
          </a:p>
        </p:txBody>
      </p:sp>
      <p:sp>
        <p:nvSpPr>
          <p:cNvPr id="10251" name="Rectangle 10250"/>
          <p:cNvSpPr/>
          <p:nvPr/>
        </p:nvSpPr>
        <p:spPr>
          <a:xfrm>
            <a:off x="1005840" y="3291840"/>
            <a:ext cx="5760720" cy="566928"/>
          </a:xfrm>
          <a:prstGeom prst="rect">
            <a:avLst/>
          </a:prstGeom>
          <a:solidFill>
            <a:srgbClr val="5F6B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2400" b="1" i="0">
                <a:solidFill>
                  <a:srgbClr val="FFFFFF"/>
                </a:solidFill>
                <a:latin typeface="Calibri"/>
              </a:rPr>
              <a:t>Already exists</a:t>
            </a:r>
          </a:p>
        </p:txBody>
      </p:sp>
      <p:sp>
        <p:nvSpPr>
          <p:cNvPr id="10252" name="Rectangle 10251"/>
          <p:cNvSpPr/>
          <p:nvPr/>
        </p:nvSpPr>
        <p:spPr>
          <a:xfrm>
            <a:off x="1005840" y="3858768"/>
            <a:ext cx="5760720" cy="455371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r>
              <a:rPr sz="2700" b="0" i="0">
                <a:solidFill>
                  <a:srgbClr val="1F2A44"/>
                </a:solidFill>
                <a:latin typeface="Calibri"/>
              </a:rPr>
              <a:t>Forecasters of agricultural prices [9]–[14]</a:t>
            </a:r>
          </a:p>
          <a:p>
            <a:pPr algn="l"/>
            <a:r>
              <a:rPr sz="2700" b="0" i="0">
                <a:solidFill>
                  <a:srgbClr val="1F2A44"/>
                </a:solidFill>
                <a:latin typeface="Calibri"/>
              </a:rPr>
              <a:t>SPO+ and decision-focused learning [21], [22]</a:t>
            </a:r>
          </a:p>
          <a:p>
            <a:pPr algn="l"/>
            <a:r>
              <a:rPr sz="2700" b="0" i="0">
                <a:solidFill>
                  <a:srgbClr val="1F2A44"/>
                </a:solidFill>
                <a:latin typeface="Calibri"/>
              </a:rPr>
              <a:t>Adaptive conformal inference [25]–[28]</a:t>
            </a:r>
          </a:p>
        </p:txBody>
      </p:sp>
      <p:sp>
        <p:nvSpPr>
          <p:cNvPr id="10253" name="Rectangle 10252"/>
          <p:cNvSpPr/>
          <p:nvPr/>
        </p:nvSpPr>
        <p:spPr>
          <a:xfrm>
            <a:off x="7178040" y="3291840"/>
            <a:ext cx="5760720" cy="566928"/>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2400" b="1" i="0">
                <a:solidFill>
                  <a:srgbClr val="FFFFFF"/>
                </a:solidFill>
                <a:latin typeface="Calibri"/>
              </a:rPr>
              <a:t>New here</a:t>
            </a:r>
          </a:p>
        </p:txBody>
      </p:sp>
      <p:sp>
        <p:nvSpPr>
          <p:cNvPr id="10254" name="Rectangle 10253"/>
          <p:cNvSpPr/>
          <p:nvPr/>
        </p:nvSpPr>
        <p:spPr>
          <a:xfrm>
            <a:off x="7178040" y="3858768"/>
            <a:ext cx="5760720" cy="455371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r>
              <a:rPr sz="2700" b="0" i="0">
                <a:solidFill>
                  <a:srgbClr val="1F2A44"/>
                </a:solidFill>
                <a:latin typeface="Calibri"/>
              </a:rPr>
              <a:t>Revenue labels that include silent markets, on real mandi data</a:t>
            </a:r>
          </a:p>
          <a:p>
            <a:pPr algn="l"/>
            <a:r>
              <a:rPr sz="2700" b="0" i="0">
                <a:solidFill>
                  <a:srgbClr val="1F2A44"/>
                </a:solidFill>
                <a:latin typeface="Calibri"/>
              </a:rPr>
              <a:t>Floors for selected actions whose outcome resolves k days later</a:t>
            </a:r>
          </a:p>
          <a:p>
            <a:pPr algn="l"/>
            <a:r>
              <a:rPr sz="2700" b="0" i="0">
                <a:solidFill>
                  <a:srgbClr val="1F2A44"/>
                </a:solidFill>
                <a:latin typeface="Calibri"/>
              </a:rPr>
              <a:t>Measured size of look-ahead leakage in STL/VMD hybrids</a:t>
            </a:r>
          </a:p>
          <a:p>
            <a:pPr algn="l"/>
            <a:r>
              <a:rPr sz="2700" b="0" i="0">
                <a:solidFill>
                  <a:srgbClr val="1F2A44"/>
                </a:solidFill>
                <a:latin typeface="Calibri"/>
              </a:rPr>
              <a:t>Verified language briefs and a withheld-by-default spillover engine</a:t>
            </a:r>
          </a:p>
        </p:txBody>
      </p:sp>
      <p:sp>
        <p:nvSpPr>
          <p:cNvPr id="10255" name="Rectangle 10254"/>
          <p:cNvSpPr/>
          <p:nvPr/>
        </p:nvSpPr>
        <p:spPr>
          <a:xfrm>
            <a:off x="13350240" y="3291840"/>
            <a:ext cx="5760720" cy="5669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2400" b="1" i="0">
                <a:solidFill>
                  <a:srgbClr val="FFFFFF"/>
                </a:solidFill>
                <a:latin typeface="Calibri"/>
              </a:rPr>
              <a:t>Ours vs adapted</a:t>
            </a:r>
          </a:p>
        </p:txBody>
      </p:sp>
      <p:sp>
        <p:nvSpPr>
          <p:cNvPr id="10256" name="Rectangle 10255"/>
          <p:cNvSpPr/>
          <p:nvPr/>
        </p:nvSpPr>
        <p:spPr>
          <a:xfrm>
            <a:off x="13350240" y="3858768"/>
            <a:ext cx="5760720" cy="455371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r>
              <a:rPr sz="2700" b="0" i="0">
                <a:solidFill>
                  <a:srgbClr val="1F2A44"/>
                </a:solidFill>
                <a:latin typeface="Calibri"/>
              </a:rPr>
              <a:t>Ours: formulation, pipeline, leakage protocol, grounding verifier, engines, app</a:t>
            </a:r>
          </a:p>
          <a:p>
            <a:pPr algn="l"/>
            <a:r>
              <a:rPr sz="2700" b="0" i="0">
                <a:solidFill>
                  <a:srgbClr val="1F2A44"/>
                </a:solidFill>
                <a:latin typeface="Calibri"/>
              </a:rPr>
              <a:t>Adapted: SPO+ [21], ACI [26], DeepSets [29], Optuna [20], Chronos [17]</a:t>
            </a:r>
          </a:p>
        </p:txBody>
      </p:sp>
      <p:sp>
        <p:nvSpPr>
          <p:cNvPr id="10257" name="Rectangle 10256"/>
          <p:cNvSpPr/>
          <p:nvPr/>
        </p:nvSpPr>
        <p:spPr>
          <a:xfrm>
            <a:off x="1005840" y="8778240"/>
            <a:ext cx="18105120" cy="128016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36576" bIns="36576"/>
          <a:lstStyle/>
          <a:p>
            <a:pPr algn="l"/>
            <a:r>
              <a:rPr sz="2400" b="0" i="0">
                <a:solidFill>
                  <a:srgbClr val="1F2A44"/>
                </a:solidFill>
                <a:latin typeface="Calibri"/>
              </a:rPr>
              <a:t>Honest scope: the positive contribution that survived testing is the label effect, the floor validity and the audit; the loss, reporting head, silence features, council and spillover are bounded negative results.</a:t>
            </a:r>
          </a:p>
        </p:txBody>
      </p:sp>
    </p:spTree>
    <p:extLst>
      <p:ext uri="{BB962C8B-B14F-4D97-AF65-F5344CB8AC3E}">
        <p14:creationId xmlns:p14="http://schemas.microsoft.com/office/powerpoint/2010/main" val="17690171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Optimization and Ablation Study</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12</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909" name="Content Guidance"/>
          <p:cNvSpPr txBox="1"/>
          <p:nvPr/>
        </p:nvSpPr>
        <p:spPr>
          <a:xfrm>
            <a:off x="1005840" y="1737360"/>
            <a:ext cx="18105120" cy="2103120"/>
          </a:xfrm>
          <a:prstGeom prst="rect">
            <a:avLst/>
          </a:prstGeom>
          <a:noFill/>
        </p:spPr>
        <p:txBody>
          <a:bodyPr wrap="square" lIns="0" tIns="0" rIns="0" bIns="0">
            <a:normAutofit/>
          </a:bodyPr>
          <a:lstStyle/>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Tuning: </a:t>
            </a:r>
            <a:r>
              <a:rPr lang="en-US" sz="2500" dirty="0">
                <a:solidFill>
                  <a:srgbClr val="1F2A44"/>
                </a:solidFill>
                <a:latin typeface="Calibri" panose="020F0502020204030204" charset="0"/>
                <a:cs typeface="Calibri" panose="020F0502020204030204" charset="0"/>
              </a:rPr>
              <a:t>Optuna TPE per fold on each method's native criterion; same budget for all. Tuning on forecast loss instead of regret: no reliable change.</a:t>
            </a:r>
          </a:p>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Cost: </a:t>
            </a:r>
            <a:r>
              <a:rPr lang="en-US" sz="2500" dirty="0">
                <a:solidFill>
                  <a:srgbClr val="1F2A44"/>
                </a:solidFill>
                <a:latin typeface="Calibri" panose="020F0502020204030204" charset="0"/>
                <a:cs typeface="Calibri" panose="020F0502020204030204" charset="0"/>
              </a:rPr>
              <a:t>served boosting model chosen over the neural one: equal decisions, far cheaper to train, run and explain.</a:t>
            </a:r>
          </a:p>
        </p:txBody>
      </p:sp>
      <p:graphicFrame>
        <p:nvGraphicFramePr>
          <p:cNvPr id="10251" name="Table 10250"/>
          <p:cNvGraphicFramePr>
            <a:graphicFrameLocks noGrp="1"/>
          </p:cNvGraphicFramePr>
          <p:nvPr/>
        </p:nvGraphicFramePr>
        <p:xfrm>
          <a:off x="1005840" y="4206240"/>
          <a:ext cx="18105120" cy="2926080"/>
        </p:xfrm>
        <a:graphic>
          <a:graphicData uri="http://schemas.openxmlformats.org/drawingml/2006/table">
            <a:tbl>
              <a:tblPr firstRow="1" bandRow="1">
                <a:tableStyleId>{5C22544A-7EE6-4342-B048-85BDC9FD1C3A}</a:tableStyleId>
              </a:tblPr>
              <a:tblGrid>
                <a:gridCol w="6839712"/>
                <a:gridCol w="5230368"/>
                <a:gridCol w="1810512"/>
                <a:gridCol w="4224528"/>
              </a:tblGrid>
              <a:tr h="731520">
                <a:tc>
                  <a:txBody>
                    <a:bodyPr wrap="square"/>
                    <a:lstStyle/>
                    <a:p>
                      <a:pPr algn="ctr"/>
                      <a:r>
                        <a:rPr sz="2300" b="1">
                          <a:solidFill>
                            <a:srgbClr val="FFFFFF"/>
                          </a:solidFill>
                          <a:latin typeface="Calibri"/>
                        </a:rPr>
                        <a:t>One change at a time</a:t>
                      </a:r>
                    </a:p>
                  </a:txBody>
                  <a:tcPr marL="73152" marR="73152" marT="27432" marB="27432" anchor="ctr">
                    <a:solidFill>
                      <a:srgbClr val="1F4E79"/>
                    </a:solidFill>
                  </a:tcPr>
                </a:tc>
                <a:tc>
                  <a:txBody>
                    <a:bodyPr wrap="square"/>
                    <a:lstStyle/>
                    <a:p>
                      <a:pPr algn="ctr"/>
                      <a:r>
                        <a:rPr sz="2300" b="1">
                          <a:solidFill>
                            <a:srgbClr val="FFFFFF"/>
                          </a:solidFill>
                          <a:latin typeface="Calibri"/>
                        </a:rPr>
                        <a:t>Δ regret, Rs/q (95% CI)</a:t>
                      </a:r>
                    </a:p>
                  </a:txBody>
                  <a:tcPr marL="73152" marR="73152" marT="27432" marB="27432" anchor="ctr">
                    <a:solidFill>
                      <a:srgbClr val="1F4E79"/>
                    </a:solidFill>
                  </a:tcPr>
                </a:tc>
                <a:tc>
                  <a:txBody>
                    <a:bodyPr wrap="square"/>
                    <a:lstStyle/>
                    <a:p>
                      <a:pPr algn="ctr"/>
                      <a:r>
                        <a:rPr sz="2300" b="1">
                          <a:solidFill>
                            <a:srgbClr val="FFFFFF"/>
                          </a:solidFill>
                          <a:latin typeface="Calibri"/>
                        </a:rPr>
                        <a:t>Holm p</a:t>
                      </a:r>
                    </a:p>
                  </a:txBody>
                  <a:tcPr marL="73152" marR="73152" marT="27432" marB="27432" anchor="ctr">
                    <a:solidFill>
                      <a:srgbClr val="1F4E79"/>
                    </a:solidFill>
                  </a:tcPr>
                </a:tc>
                <a:tc>
                  <a:txBody>
                    <a:bodyPr wrap="square"/>
                    <a:lstStyle/>
                    <a:p>
                      <a:pPr algn="ctr"/>
                      <a:r>
                        <a:rPr sz="2300" b="1">
                          <a:solidFill>
                            <a:srgbClr val="FFFFFF"/>
                          </a:solidFill>
                          <a:latin typeface="Calibri"/>
                        </a:rPr>
                        <a:t>Verdict</a:t>
                      </a:r>
                    </a:p>
                  </a:txBody>
                  <a:tcPr marL="73152" marR="73152" marT="27432" marB="27432" anchor="ctr">
                    <a:solidFill>
                      <a:srgbClr val="1F4E79"/>
                    </a:solidFill>
                  </a:tcPr>
                </a:tc>
              </a:tr>
              <a:tr h="731520">
                <a:tc>
                  <a:txBody>
                    <a:bodyPr wrap="square"/>
                    <a:lstStyle/>
                    <a:p>
                      <a:pPr algn="l"/>
                      <a:r>
                        <a:rPr sz="2300" b="0">
                          <a:solidFill>
                            <a:srgbClr val="1F2A44"/>
                          </a:solidFill>
                          <a:latin typeface="Calibri"/>
                        </a:rPr>
                        <a:t>SPO+ loss instead of squared error</a:t>
                      </a:r>
                    </a:p>
                  </a:txBody>
                  <a:tcPr marL="73152" marR="73152" marT="27432" marB="27432" anchor="ctr">
                    <a:solidFill>
                      <a:srgbClr val="FFFFFF"/>
                    </a:solidFill>
                  </a:tcPr>
                </a:tc>
                <a:tc>
                  <a:txBody>
                    <a:bodyPr wrap="square"/>
                    <a:lstStyle/>
                    <a:p>
                      <a:pPr algn="ctr"/>
                      <a:r>
                        <a:rPr sz="2300" b="0">
                          <a:solidFill>
                            <a:srgbClr val="1F2A44"/>
                          </a:solidFill>
                          <a:latin typeface="Calibri"/>
                        </a:rPr>
                        <a:t>−25  [−53, +3]</a:t>
                      </a:r>
                    </a:p>
                  </a:txBody>
                  <a:tcPr marL="73152" marR="73152" marT="27432" marB="27432" anchor="ctr">
                    <a:solidFill>
                      <a:srgbClr val="FFFFFF"/>
                    </a:solidFill>
                  </a:tcPr>
                </a:tc>
                <a:tc>
                  <a:txBody>
                    <a:bodyPr wrap="square"/>
                    <a:lstStyle/>
                    <a:p>
                      <a:pPr algn="ctr"/>
                      <a:r>
                        <a:rPr sz="2300" b="0">
                          <a:solidFill>
                            <a:srgbClr val="1F2A44"/>
                          </a:solidFill>
                          <a:latin typeface="Calibri"/>
                        </a:rPr>
                        <a:t>0.505</a:t>
                      </a:r>
                    </a:p>
                  </a:txBody>
                  <a:tcPr marL="73152" marR="73152" marT="27432" marB="27432" anchor="ctr">
                    <a:solidFill>
                      <a:srgbClr val="FFFFFF"/>
                    </a:solidFill>
                  </a:tcPr>
                </a:tc>
                <a:tc>
                  <a:txBody>
                    <a:bodyPr wrap="square"/>
                    <a:lstStyle/>
                    <a:p>
                      <a:pPr algn="l"/>
                      <a:r>
                        <a:rPr sz="2300" b="0">
                          <a:solidFill>
                            <a:srgbClr val="5F6B7A"/>
                          </a:solidFill>
                          <a:latin typeface="Calibri"/>
                        </a:rPr>
                        <a:t>no reliable difference</a:t>
                      </a:r>
                    </a:p>
                  </a:txBody>
                  <a:tcPr marL="73152" marR="73152" marT="27432" marB="27432" anchor="ctr">
                    <a:solidFill>
                      <a:srgbClr val="FFFFFF"/>
                    </a:solidFill>
                  </a:tcPr>
                </a:tc>
              </a:tr>
              <a:tr h="731520">
                <a:tc>
                  <a:txBody>
                    <a:bodyPr wrap="square"/>
                    <a:lstStyle/>
                    <a:p>
                      <a:pPr algn="l"/>
                      <a:r>
                        <a:rPr sz="2300" b="0">
                          <a:solidFill>
                            <a:srgbClr val="1F2A44"/>
                          </a:solidFill>
                          <a:latin typeface="Calibri"/>
                        </a:rPr>
                        <a:t>Add reporting head (SPO+)</a:t>
                      </a:r>
                    </a:p>
                  </a:txBody>
                  <a:tcPr marL="73152" marR="73152" marT="27432" marB="27432" anchor="ctr">
                    <a:solidFill>
                      <a:srgbClr val="F1F7FB"/>
                    </a:solidFill>
                  </a:tcPr>
                </a:tc>
                <a:tc>
                  <a:txBody>
                    <a:bodyPr wrap="square"/>
                    <a:lstStyle/>
                    <a:p>
                      <a:pPr algn="ctr"/>
                      <a:r>
                        <a:rPr sz="2300" b="0">
                          <a:solidFill>
                            <a:srgbClr val="1F2A44"/>
                          </a:solidFill>
                          <a:latin typeface="Calibri"/>
                        </a:rPr>
                        <a:t>+23  [+8, +36]</a:t>
                      </a:r>
                    </a:p>
                  </a:txBody>
                  <a:tcPr marL="73152" marR="73152" marT="27432" marB="27432" anchor="ctr">
                    <a:solidFill>
                      <a:srgbClr val="F1F7FB"/>
                    </a:solidFill>
                  </a:tcPr>
                </a:tc>
                <a:tc>
                  <a:txBody>
                    <a:bodyPr wrap="square"/>
                    <a:lstStyle/>
                    <a:p>
                      <a:pPr algn="ctr"/>
                      <a:r>
                        <a:rPr sz="2300" b="0">
                          <a:solidFill>
                            <a:srgbClr val="1F2A44"/>
                          </a:solidFill>
                          <a:latin typeface="Calibri"/>
                        </a:rPr>
                        <a:t>0.012</a:t>
                      </a:r>
                    </a:p>
                  </a:txBody>
                  <a:tcPr marL="73152" marR="73152" marT="27432" marB="27432" anchor="ctr">
                    <a:solidFill>
                      <a:srgbClr val="F1F7FB"/>
                    </a:solidFill>
                  </a:tcPr>
                </a:tc>
                <a:tc>
                  <a:txBody>
                    <a:bodyPr wrap="square"/>
                    <a:lstStyle/>
                    <a:p>
                      <a:pPr algn="l"/>
                      <a:r>
                        <a:rPr sz="2300" b="0">
                          <a:solidFill>
                            <a:srgbClr val="C0392B"/>
                          </a:solidFill>
                          <a:latin typeface="Calibri"/>
                        </a:rPr>
                        <a:t>worse</a:t>
                      </a:r>
                    </a:p>
                  </a:txBody>
                  <a:tcPr marL="73152" marR="73152" marT="27432" marB="27432" anchor="ctr">
                    <a:solidFill>
                      <a:srgbClr val="F1F7FB"/>
                    </a:solidFill>
                  </a:tcPr>
                </a:tc>
              </a:tr>
              <a:tr h="731520">
                <a:tc>
                  <a:txBody>
                    <a:bodyPr wrap="square"/>
                    <a:lstStyle/>
                    <a:p>
                      <a:pPr algn="l"/>
                      <a:r>
                        <a:rPr sz="2300" b="0">
                          <a:solidFill>
                            <a:srgbClr val="1F2A44"/>
                          </a:solidFill>
                          <a:latin typeface="Calibri"/>
                        </a:rPr>
                        <a:t>Add network-silence features (GBM)</a:t>
                      </a:r>
                    </a:p>
                  </a:txBody>
                  <a:tcPr marL="73152" marR="73152" marT="27432" marB="27432" anchor="ctr">
                    <a:solidFill>
                      <a:srgbClr val="FFFFFF"/>
                    </a:solidFill>
                  </a:tcPr>
                </a:tc>
                <a:tc>
                  <a:txBody>
                    <a:bodyPr wrap="square"/>
                    <a:lstStyle/>
                    <a:p>
                      <a:pPr algn="ctr"/>
                      <a:r>
                        <a:rPr sz="2300" b="0">
                          <a:solidFill>
                            <a:srgbClr val="1F2A44"/>
                          </a:solidFill>
                          <a:latin typeface="Calibri"/>
                        </a:rPr>
                        <a:t>−12  [−31, +3]</a:t>
                      </a:r>
                    </a:p>
                  </a:txBody>
                  <a:tcPr marL="73152" marR="73152" marT="27432" marB="27432" anchor="ctr">
                    <a:solidFill>
                      <a:srgbClr val="FFFFFF"/>
                    </a:solidFill>
                  </a:tcPr>
                </a:tc>
                <a:tc>
                  <a:txBody>
                    <a:bodyPr wrap="square"/>
                    <a:lstStyle/>
                    <a:p>
                      <a:pPr algn="ctr"/>
                      <a:r>
                        <a:rPr sz="2300" b="0">
                          <a:solidFill>
                            <a:srgbClr val="1F2A44"/>
                          </a:solidFill>
                          <a:latin typeface="Calibri"/>
                        </a:rPr>
                        <a:t>0.695</a:t>
                      </a:r>
                    </a:p>
                  </a:txBody>
                  <a:tcPr marL="73152" marR="73152" marT="27432" marB="27432" anchor="ctr">
                    <a:solidFill>
                      <a:srgbClr val="FFFFFF"/>
                    </a:solidFill>
                  </a:tcPr>
                </a:tc>
                <a:tc>
                  <a:txBody>
                    <a:bodyPr wrap="square"/>
                    <a:lstStyle/>
                    <a:p>
                      <a:pPr algn="l"/>
                      <a:r>
                        <a:rPr sz="2300" b="0">
                          <a:solidFill>
                            <a:srgbClr val="5F6B7A"/>
                          </a:solidFill>
                          <a:latin typeface="Calibri"/>
                        </a:rPr>
                        <a:t>no reliable difference</a:t>
                      </a:r>
                    </a:p>
                  </a:txBody>
                  <a:tcPr marL="73152" marR="73152" marT="27432" marB="27432" anchor="ctr">
                    <a:solidFill>
                      <a:srgbClr val="FFFFFF"/>
                    </a:solidFill>
                  </a:tcPr>
                </a:tc>
              </a:tr>
            </a:tbl>
          </a:graphicData>
        </a:graphic>
      </p:graphicFrame>
      <p:sp>
        <p:nvSpPr>
          <p:cNvPr id="10252" name="Rectangle 10251"/>
          <p:cNvSpPr/>
          <p:nvPr/>
        </p:nvSpPr>
        <p:spPr>
          <a:xfrm>
            <a:off x="1005840" y="8229600"/>
            <a:ext cx="18105120" cy="182880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36576" bIns="36576"/>
          <a:lstStyle/>
          <a:p>
            <a:pPr algn="l"/>
            <a:r>
              <a:rPr sz="2300" b="1" i="0">
                <a:solidFill>
                  <a:srgbClr val="1F2A44"/>
                </a:solidFill>
                <a:latin typeface="Calibri"/>
              </a:rPr>
              <a:t>Tried and did not work: </a:t>
            </a:r>
            <a:r>
              <a:rPr sz="2300" b="0" i="0">
                <a:solidFill>
                  <a:srgbClr val="1F2A44"/>
                </a:solidFill>
                <a:latin typeface="Calibri"/>
              </a:rPr>
              <a:t>reporting head (worse, p = 0.012), silence features, decision-regret tuning, unconstrained council weights (summed 2.4–3.1, significantly worse), SPO+ over squared error. Ablations shown for tomato; the other crops agree.</a:t>
            </a:r>
          </a:p>
        </p:txBody>
      </p:sp>
    </p:spTree>
    <p:extLst>
      <p:ext uri="{BB962C8B-B14F-4D97-AF65-F5344CB8AC3E}">
        <p14:creationId xmlns:p14="http://schemas.microsoft.com/office/powerpoint/2010/main" val="17690171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Project Planning: WBS and Critical Path</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13</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graphicFrame>
        <p:nvGraphicFramePr>
          <p:cNvPr id="10251" name="Table 10250"/>
          <p:cNvGraphicFramePr>
            <a:graphicFrameLocks noGrp="1"/>
          </p:cNvGraphicFramePr>
          <p:nvPr/>
        </p:nvGraphicFramePr>
        <p:xfrm>
          <a:off x="1005840" y="1737360"/>
          <a:ext cx="8046720" cy="4224528"/>
        </p:xfrm>
        <a:graphic>
          <a:graphicData uri="http://schemas.openxmlformats.org/drawingml/2006/table">
            <a:tbl>
              <a:tblPr firstRow="1" bandRow="1">
                <a:tableStyleId>{5C22544A-7EE6-4342-B048-85BDC9FD1C3A}</a:tableStyleId>
              </a:tblPr>
              <a:tblGrid>
                <a:gridCol w="4206240"/>
                <a:gridCol w="1280160"/>
                <a:gridCol w="2560320"/>
              </a:tblGrid>
              <a:tr h="603504">
                <a:tc>
                  <a:txBody>
                    <a:bodyPr wrap="square"/>
                    <a:lstStyle/>
                    <a:p>
                      <a:pPr algn="ctr"/>
                      <a:r>
                        <a:rPr sz="2100" b="1">
                          <a:solidFill>
                            <a:srgbClr val="FFFFFF"/>
                          </a:solidFill>
                          <a:latin typeface="Calibri"/>
                        </a:rPr>
                        <a:t>WBS package</a:t>
                      </a:r>
                    </a:p>
                  </a:txBody>
                  <a:tcPr marL="73152" marR="73152" marT="27432" marB="27432" anchor="ctr">
                    <a:solidFill>
                      <a:srgbClr val="1F4E79"/>
                    </a:solidFill>
                  </a:tcPr>
                </a:tc>
                <a:tc>
                  <a:txBody>
                    <a:bodyPr wrap="square"/>
                    <a:lstStyle/>
                    <a:p>
                      <a:pPr algn="ctr"/>
                      <a:r>
                        <a:rPr sz="2100" b="1">
                          <a:solidFill>
                            <a:srgbClr val="FFFFFF"/>
                          </a:solidFill>
                          <a:latin typeface="Calibri"/>
                        </a:rPr>
                        <a:t>Hours</a:t>
                      </a:r>
                    </a:p>
                  </a:txBody>
                  <a:tcPr marL="73152" marR="73152" marT="27432" marB="27432" anchor="ctr">
                    <a:solidFill>
                      <a:srgbClr val="1F4E79"/>
                    </a:solidFill>
                  </a:tcPr>
                </a:tc>
                <a:tc>
                  <a:txBody>
                    <a:bodyPr wrap="square"/>
                    <a:lstStyle/>
                    <a:p>
                      <a:pPr algn="ctr"/>
                      <a:r>
                        <a:rPr sz="2100" b="1">
                          <a:solidFill>
                            <a:srgbClr val="FFFFFF"/>
                          </a:solidFill>
                          <a:latin typeface="Calibri"/>
                        </a:rPr>
                        <a:t>Primary owner</a:t>
                      </a:r>
                    </a:p>
                  </a:txBody>
                  <a:tcPr marL="73152" marR="73152" marT="27432" marB="27432" anchor="ctr">
                    <a:solidFill>
                      <a:srgbClr val="1F4E79"/>
                    </a:solidFill>
                  </a:tcPr>
                </a:tc>
              </a:tr>
              <a:tr h="603504">
                <a:tc>
                  <a:txBody>
                    <a:bodyPr wrap="square"/>
                    <a:lstStyle/>
                    <a:p>
                      <a:pPr algn="l"/>
                      <a:r>
                        <a:rPr sz="2100" b="0">
                          <a:solidFill>
                            <a:srgbClr val="1F2A44"/>
                          </a:solidFill>
                          <a:latin typeface="Calibri"/>
                        </a:rPr>
                        <a:t>1 Management &amp; documentation</a:t>
                      </a:r>
                    </a:p>
                  </a:txBody>
                  <a:tcPr marL="73152" marR="73152" marT="27432" marB="27432" anchor="ctr">
                    <a:solidFill>
                      <a:srgbClr val="FFFFFF"/>
                    </a:solidFill>
                  </a:tcPr>
                </a:tc>
                <a:tc>
                  <a:txBody>
                    <a:bodyPr wrap="square"/>
                    <a:lstStyle/>
                    <a:p>
                      <a:pPr algn="ctr"/>
                      <a:r>
                        <a:rPr sz="2100" b="0">
                          <a:solidFill>
                            <a:srgbClr val="1F2A44"/>
                          </a:solidFill>
                          <a:latin typeface="Calibri"/>
                        </a:rPr>
                        <a:t>130 h</a:t>
                      </a:r>
                    </a:p>
                  </a:txBody>
                  <a:tcPr marL="73152" marR="73152" marT="27432" marB="27432" anchor="ctr">
                    <a:solidFill>
                      <a:srgbClr val="FFFFFF"/>
                    </a:solidFill>
                  </a:tcPr>
                </a:tc>
                <a:tc>
                  <a:txBody>
                    <a:bodyPr wrap="square"/>
                    <a:lstStyle/>
                    <a:p>
                      <a:pPr algn="l"/>
                      <a:r>
                        <a:rPr sz="2100" b="0">
                          <a:solidFill>
                            <a:srgbClr val="1F2A44"/>
                          </a:solidFill>
                          <a:latin typeface="Calibri"/>
                        </a:rPr>
                        <a:t>Shreejith</a:t>
                      </a:r>
                    </a:p>
                  </a:txBody>
                  <a:tcPr marL="73152" marR="73152" marT="27432" marB="27432" anchor="ctr">
                    <a:solidFill>
                      <a:srgbClr val="FFFFFF"/>
                    </a:solidFill>
                  </a:tcPr>
                </a:tc>
              </a:tr>
              <a:tr h="603504">
                <a:tc>
                  <a:txBody>
                    <a:bodyPr wrap="square"/>
                    <a:lstStyle/>
                    <a:p>
                      <a:pPr algn="l"/>
                      <a:r>
                        <a:rPr sz="2100" b="0">
                          <a:solidFill>
                            <a:srgbClr val="1F2A44"/>
                          </a:solidFill>
                          <a:latin typeface="Calibri"/>
                        </a:rPr>
                        <a:t>2 Data</a:t>
                      </a:r>
                    </a:p>
                  </a:txBody>
                  <a:tcPr marL="73152" marR="73152" marT="27432" marB="27432" anchor="ctr">
                    <a:solidFill>
                      <a:srgbClr val="F1F7FB"/>
                    </a:solidFill>
                  </a:tcPr>
                </a:tc>
                <a:tc>
                  <a:txBody>
                    <a:bodyPr wrap="square"/>
                    <a:lstStyle/>
                    <a:p>
                      <a:pPr algn="ctr"/>
                      <a:r>
                        <a:rPr sz="2100" b="0">
                          <a:solidFill>
                            <a:srgbClr val="1F2A44"/>
                          </a:solidFill>
                          <a:latin typeface="Calibri"/>
                        </a:rPr>
                        <a:t>100 h</a:t>
                      </a:r>
                    </a:p>
                  </a:txBody>
                  <a:tcPr marL="73152" marR="73152" marT="27432" marB="27432" anchor="ctr">
                    <a:solidFill>
                      <a:srgbClr val="F1F7FB"/>
                    </a:solidFill>
                  </a:tcPr>
                </a:tc>
                <a:tc>
                  <a:txBody>
                    <a:bodyPr wrap="square"/>
                    <a:lstStyle/>
                    <a:p>
                      <a:pPr algn="l"/>
                      <a:r>
                        <a:rPr sz="2100" b="0">
                          <a:solidFill>
                            <a:srgbClr val="1F2A44"/>
                          </a:solidFill>
                          <a:latin typeface="Calibri"/>
                        </a:rPr>
                        <a:t>Manohara</a:t>
                      </a:r>
                    </a:p>
                  </a:txBody>
                  <a:tcPr marL="73152" marR="73152" marT="27432" marB="27432" anchor="ctr">
                    <a:solidFill>
                      <a:srgbClr val="F1F7FB"/>
                    </a:solidFill>
                  </a:tcPr>
                </a:tc>
              </a:tr>
              <a:tr h="603504">
                <a:tc>
                  <a:txBody>
                    <a:bodyPr wrap="square"/>
                    <a:lstStyle/>
                    <a:p>
                      <a:pPr algn="l"/>
                      <a:r>
                        <a:rPr sz="2100" b="0">
                          <a:solidFill>
                            <a:srgbClr val="1F2A44"/>
                          </a:solidFill>
                          <a:latin typeface="Calibri"/>
                        </a:rPr>
                        <a:t>3 Models &amp; research</a:t>
                      </a:r>
                    </a:p>
                  </a:txBody>
                  <a:tcPr marL="73152" marR="73152" marT="27432" marB="27432" anchor="ctr">
                    <a:solidFill>
                      <a:srgbClr val="FFFFFF"/>
                    </a:solidFill>
                  </a:tcPr>
                </a:tc>
                <a:tc>
                  <a:txBody>
                    <a:bodyPr wrap="square"/>
                    <a:lstStyle/>
                    <a:p>
                      <a:pPr algn="ctr"/>
                      <a:r>
                        <a:rPr sz="2100" b="0">
                          <a:solidFill>
                            <a:srgbClr val="1F2A44"/>
                          </a:solidFill>
                          <a:latin typeface="Calibri"/>
                        </a:rPr>
                        <a:t>290 h</a:t>
                      </a:r>
                    </a:p>
                  </a:txBody>
                  <a:tcPr marL="73152" marR="73152" marT="27432" marB="27432" anchor="ctr">
                    <a:solidFill>
                      <a:srgbClr val="FFFFFF"/>
                    </a:solidFill>
                  </a:tcPr>
                </a:tc>
                <a:tc>
                  <a:txBody>
                    <a:bodyPr wrap="square"/>
                    <a:lstStyle/>
                    <a:p>
                      <a:pPr algn="l"/>
                      <a:r>
                        <a:rPr sz="2100" b="0">
                          <a:solidFill>
                            <a:srgbClr val="1F2A44"/>
                          </a:solidFill>
                          <a:latin typeface="Calibri"/>
                        </a:rPr>
                        <a:t>Manohara</a:t>
                      </a:r>
                    </a:p>
                  </a:txBody>
                  <a:tcPr marL="73152" marR="73152" marT="27432" marB="27432" anchor="ctr">
                    <a:solidFill>
                      <a:srgbClr val="FFFFFF"/>
                    </a:solidFill>
                  </a:tcPr>
                </a:tc>
              </a:tr>
              <a:tr h="603504">
                <a:tc>
                  <a:txBody>
                    <a:bodyPr wrap="square"/>
                    <a:lstStyle/>
                    <a:p>
                      <a:pPr algn="l"/>
                      <a:r>
                        <a:rPr sz="2100" b="0">
                          <a:solidFill>
                            <a:srgbClr val="1F2A44"/>
                          </a:solidFill>
                          <a:latin typeface="Calibri"/>
                        </a:rPr>
                        <a:t>4 Application</a:t>
                      </a:r>
                    </a:p>
                  </a:txBody>
                  <a:tcPr marL="73152" marR="73152" marT="27432" marB="27432" anchor="ctr">
                    <a:solidFill>
                      <a:srgbClr val="F1F7FB"/>
                    </a:solidFill>
                  </a:tcPr>
                </a:tc>
                <a:tc>
                  <a:txBody>
                    <a:bodyPr wrap="square"/>
                    <a:lstStyle/>
                    <a:p>
                      <a:pPr algn="ctr"/>
                      <a:r>
                        <a:rPr sz="2100" b="0">
                          <a:solidFill>
                            <a:srgbClr val="1F2A44"/>
                          </a:solidFill>
                          <a:latin typeface="Calibri"/>
                        </a:rPr>
                        <a:t>360 h</a:t>
                      </a:r>
                    </a:p>
                  </a:txBody>
                  <a:tcPr marL="73152" marR="73152" marT="27432" marB="27432" anchor="ctr">
                    <a:solidFill>
                      <a:srgbClr val="F1F7FB"/>
                    </a:solidFill>
                  </a:tcPr>
                </a:tc>
                <a:tc>
                  <a:txBody>
                    <a:bodyPr wrap="square"/>
                    <a:lstStyle/>
                    <a:p>
                      <a:pPr algn="l"/>
                      <a:r>
                        <a:rPr sz="2100" b="0">
                          <a:solidFill>
                            <a:srgbClr val="1F2A44"/>
                          </a:solidFill>
                          <a:latin typeface="Calibri"/>
                        </a:rPr>
                        <a:t>Srijan</a:t>
                      </a:r>
                    </a:p>
                  </a:txBody>
                  <a:tcPr marL="73152" marR="73152" marT="27432" marB="27432" anchor="ctr">
                    <a:solidFill>
                      <a:srgbClr val="F1F7FB"/>
                    </a:solidFill>
                  </a:tcPr>
                </a:tc>
              </a:tr>
              <a:tr h="603504">
                <a:tc>
                  <a:txBody>
                    <a:bodyPr wrap="square"/>
                    <a:lstStyle/>
                    <a:p>
                      <a:pPr algn="l"/>
                      <a:r>
                        <a:rPr sz="2100" b="0">
                          <a:solidFill>
                            <a:srgbClr val="1F2A44"/>
                          </a:solidFill>
                          <a:latin typeface="Calibri"/>
                        </a:rPr>
                        <a:t>5 Verification</a:t>
                      </a:r>
                    </a:p>
                  </a:txBody>
                  <a:tcPr marL="73152" marR="73152" marT="27432" marB="27432" anchor="ctr">
                    <a:solidFill>
                      <a:srgbClr val="FFFFFF"/>
                    </a:solidFill>
                  </a:tcPr>
                </a:tc>
                <a:tc>
                  <a:txBody>
                    <a:bodyPr wrap="square"/>
                    <a:lstStyle/>
                    <a:p>
                      <a:pPr algn="ctr"/>
                      <a:r>
                        <a:rPr sz="2100" b="0">
                          <a:solidFill>
                            <a:srgbClr val="1F2A44"/>
                          </a:solidFill>
                          <a:latin typeface="Calibri"/>
                        </a:rPr>
                        <a:t>90 h</a:t>
                      </a:r>
                    </a:p>
                  </a:txBody>
                  <a:tcPr marL="73152" marR="73152" marT="27432" marB="27432" anchor="ctr">
                    <a:solidFill>
                      <a:srgbClr val="FFFFFF"/>
                    </a:solidFill>
                  </a:tcPr>
                </a:tc>
                <a:tc>
                  <a:txBody>
                    <a:bodyPr wrap="square"/>
                    <a:lstStyle/>
                    <a:p>
                      <a:pPr algn="l"/>
                      <a:r>
                        <a:rPr sz="2100" b="0">
                          <a:solidFill>
                            <a:srgbClr val="1F2A44"/>
                          </a:solidFill>
                          <a:latin typeface="Calibri"/>
                        </a:rPr>
                        <a:t>Shreejith / Manohara</a:t>
                      </a:r>
                    </a:p>
                  </a:txBody>
                  <a:tcPr marL="73152" marR="73152" marT="27432" marB="27432" anchor="ctr">
                    <a:solidFill>
                      <a:srgbClr val="FFFFFF"/>
                    </a:solidFill>
                  </a:tcPr>
                </a:tc>
              </a:tr>
              <a:tr h="603504">
                <a:tc>
                  <a:txBody>
                    <a:bodyPr wrap="square"/>
                    <a:lstStyle/>
                    <a:p>
                      <a:pPr algn="l"/>
                      <a:r>
                        <a:rPr sz="2100" b="1">
                          <a:solidFill>
                            <a:srgbClr val="1F2A44"/>
                          </a:solidFill>
                          <a:latin typeface="Calibri"/>
                        </a:rPr>
                        <a:t>Total</a:t>
                      </a:r>
                    </a:p>
                  </a:txBody>
                  <a:tcPr marL="73152" marR="73152" marT="27432" marB="27432" anchor="ctr">
                    <a:solidFill>
                      <a:srgbClr val="DCEBF5"/>
                    </a:solidFill>
                  </a:tcPr>
                </a:tc>
                <a:tc>
                  <a:txBody>
                    <a:bodyPr wrap="square"/>
                    <a:lstStyle/>
                    <a:p>
                      <a:pPr algn="ctr"/>
                      <a:r>
                        <a:rPr sz="2100" b="1">
                          <a:solidFill>
                            <a:srgbClr val="1F2A44"/>
                          </a:solidFill>
                          <a:latin typeface="Calibri"/>
                        </a:rPr>
                        <a:t>970 h</a:t>
                      </a:r>
                    </a:p>
                  </a:txBody>
                  <a:tcPr marL="73152" marR="73152" marT="27432" marB="27432" anchor="ctr">
                    <a:solidFill>
                      <a:srgbClr val="DCEBF5"/>
                    </a:solidFill>
                  </a:tcPr>
                </a:tc>
                <a:tc>
                  <a:txBody>
                    <a:bodyPr wrap="square"/>
                    <a:lstStyle/>
                    <a:p>
                      <a:pPr algn="l"/>
                      <a:r>
                        <a:rPr sz="2100" b="1">
                          <a:solidFill>
                            <a:srgbClr val="1F2A44"/>
                          </a:solidFill>
                          <a:latin typeface="Calibri"/>
                        </a:rPr>
                        <a:t/>
                      </a:r>
                    </a:p>
                  </a:txBody>
                  <a:tcPr marL="73152" marR="73152" marT="27432" marB="27432" anchor="ctr">
                    <a:solidFill>
                      <a:srgbClr val="DCEBF5"/>
                    </a:solidFill>
                  </a:tcPr>
                </a:tc>
              </a:tr>
            </a:tbl>
          </a:graphicData>
        </a:graphic>
      </p:graphicFrame>
      <p:sp>
        <p:nvSpPr>
          <p:cNvPr id="10252" name="TextBox 10251"/>
          <p:cNvSpPr txBox="1"/>
          <p:nvPr/>
        </p:nvSpPr>
        <p:spPr>
          <a:xfrm>
            <a:off x="1005840" y="6355080"/>
            <a:ext cx="8046720" cy="731520"/>
          </a:xfrm>
          <a:prstGeom prst="rect">
            <a:avLst/>
          </a:prstGeom>
          <a:noFill/>
        </p:spPr>
        <p:txBody>
          <a:bodyPr wrap="square" anchor="t" lIns="73152" rIns="73152" tIns="36576" bIns="36576">
            <a:spAutoFit/>
          </a:bodyPr>
          <a:lstStyle/>
          <a:p>
            <a:pPr algn="l"/>
            <a:r>
              <a:rPr sz="1700" b="0" i="1">
                <a:solidFill>
                  <a:srgbClr val="5F6B7A"/>
                </a:solidFill>
                <a:latin typeface="Calibri"/>
              </a:rPr>
              <a:t>Hours are team estimates, not logged time. Each leaf task has one owner; children sum to parents.</a:t>
            </a:r>
          </a:p>
        </p:txBody>
      </p:sp>
      <p:sp>
        <p:nvSpPr>
          <p:cNvPr id="10253" name="Rounded Rectangle 10252"/>
          <p:cNvSpPr/>
          <p:nvPr/>
        </p:nvSpPr>
        <p:spPr>
          <a:xfrm>
            <a:off x="9418320" y="1737360"/>
            <a:ext cx="1737360" cy="1371600"/>
          </a:xfrm>
          <a:prstGeom prst="roundRect">
            <a:avLst/>
          </a:prstGeom>
          <a:solidFill>
            <a:srgbClr val="F8D9D5"/>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700" b="1" i="0">
                <a:solidFill>
                  <a:srgbClr val="1F2A44"/>
                </a:solidFill>
                <a:latin typeface="Calibri"/>
              </a:rPr>
              <a:t>A</a:t>
            </a:r>
          </a:p>
          <a:p>
            <a:pPr algn="ctr"/>
            <a:r>
              <a:rPr sz="1700" b="0" i="0">
                <a:solidFill>
                  <a:srgbClr val="1F2A44"/>
                </a:solidFill>
                <a:latin typeface="Calibri"/>
              </a:rPr>
              <a:t>Requirements</a:t>
            </a:r>
          </a:p>
          <a:p>
            <a:pPr algn="ctr"/>
            <a:r>
              <a:rPr sz="1700" b="0" i="0">
                <a:solidFill>
                  <a:srgbClr val="1F2A44"/>
                </a:solidFill>
                <a:latin typeface="Calibri"/>
              </a:rPr>
              <a:t>2 wk</a:t>
            </a:r>
          </a:p>
        </p:txBody>
      </p:sp>
      <p:sp>
        <p:nvSpPr>
          <p:cNvPr id="10254" name="Rounded Rectangle 10253"/>
          <p:cNvSpPr/>
          <p:nvPr/>
        </p:nvSpPr>
        <p:spPr>
          <a:xfrm>
            <a:off x="11356848" y="1737360"/>
            <a:ext cx="1737360" cy="1371600"/>
          </a:xfrm>
          <a:prstGeom prst="roundRect">
            <a:avLst/>
          </a:prstGeom>
          <a:solidFill>
            <a:srgbClr val="F8D9D5"/>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700" b="1" i="0">
                <a:solidFill>
                  <a:srgbClr val="1F2A44"/>
                </a:solidFill>
                <a:latin typeface="Calibri"/>
              </a:rPr>
              <a:t>B</a:t>
            </a:r>
          </a:p>
          <a:p>
            <a:pPr algn="ctr"/>
            <a:r>
              <a:rPr sz="1700" b="0" i="0">
                <a:solidFill>
                  <a:srgbClr val="1F2A44"/>
                </a:solidFill>
                <a:latin typeface="Calibri"/>
              </a:rPr>
              <a:t>Data</a:t>
            </a:r>
          </a:p>
          <a:p>
            <a:pPr algn="ctr"/>
            <a:r>
              <a:rPr sz="1700" b="0" i="0">
                <a:solidFill>
                  <a:srgbClr val="1F2A44"/>
                </a:solidFill>
                <a:latin typeface="Calibri"/>
              </a:rPr>
              <a:t>3 wk</a:t>
            </a:r>
          </a:p>
        </p:txBody>
      </p:sp>
      <p:sp>
        <p:nvSpPr>
          <p:cNvPr id="10255" name="Rounded Rectangle 10254"/>
          <p:cNvSpPr/>
          <p:nvPr/>
        </p:nvSpPr>
        <p:spPr>
          <a:xfrm>
            <a:off x="13295376" y="1737360"/>
            <a:ext cx="1737360" cy="1371600"/>
          </a:xfrm>
          <a:prstGeom prst="roundRect">
            <a:avLst/>
          </a:prstGeom>
          <a:solidFill>
            <a:srgbClr val="F8D9D5"/>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700" b="1" i="0">
                <a:solidFill>
                  <a:srgbClr val="1F2A44"/>
                </a:solidFill>
                <a:latin typeface="Calibri"/>
              </a:rPr>
              <a:t>C</a:t>
            </a:r>
          </a:p>
          <a:p>
            <a:pPr algn="ctr"/>
            <a:r>
              <a:rPr sz="1700" b="0" i="0">
                <a:solidFill>
                  <a:srgbClr val="1F2A44"/>
                </a:solidFill>
                <a:latin typeface="Calibri"/>
              </a:rPr>
              <a:t>Market choice</a:t>
            </a:r>
          </a:p>
          <a:p>
            <a:pPr algn="ctr"/>
            <a:r>
              <a:rPr sz="1700" b="0" i="0">
                <a:solidFill>
                  <a:srgbClr val="1F2A44"/>
                </a:solidFill>
                <a:latin typeface="Calibri"/>
              </a:rPr>
              <a:t>4 wk</a:t>
            </a:r>
          </a:p>
        </p:txBody>
      </p:sp>
      <p:sp>
        <p:nvSpPr>
          <p:cNvPr id="10256" name="Rounded Rectangle 10255"/>
          <p:cNvSpPr/>
          <p:nvPr/>
        </p:nvSpPr>
        <p:spPr>
          <a:xfrm>
            <a:off x="15233904" y="1737360"/>
            <a:ext cx="1737360" cy="1371600"/>
          </a:xfrm>
          <a:prstGeom prst="roundRect">
            <a:avLst/>
          </a:prstGeom>
          <a:solidFill>
            <a:srgbClr val="F8D9D5"/>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700" b="1" i="0">
                <a:solidFill>
                  <a:srgbClr val="1F2A44"/>
                </a:solidFill>
                <a:latin typeface="Calibri"/>
              </a:rPr>
              <a:t>F</a:t>
            </a:r>
          </a:p>
          <a:p>
            <a:pPr algn="ctr"/>
            <a:r>
              <a:rPr sz="1700" b="0" i="0">
                <a:solidFill>
                  <a:srgbClr val="1F2A44"/>
                </a:solidFill>
                <a:latin typeface="Calibri"/>
              </a:rPr>
              <a:t>Forecasters</a:t>
            </a:r>
          </a:p>
          <a:p>
            <a:pPr algn="ctr"/>
            <a:r>
              <a:rPr sz="1700" b="0" i="0">
                <a:solidFill>
                  <a:srgbClr val="1F2A44"/>
                </a:solidFill>
                <a:latin typeface="Calibri"/>
              </a:rPr>
              <a:t>3 wk</a:t>
            </a:r>
          </a:p>
        </p:txBody>
      </p:sp>
      <p:sp>
        <p:nvSpPr>
          <p:cNvPr id="10257" name="Rounded Rectangle 10256"/>
          <p:cNvSpPr/>
          <p:nvPr/>
        </p:nvSpPr>
        <p:spPr>
          <a:xfrm>
            <a:off x="17172432" y="1737360"/>
            <a:ext cx="1737360" cy="1371600"/>
          </a:xfrm>
          <a:prstGeom prst="roundRect">
            <a:avLst/>
          </a:prstGeom>
          <a:solidFill>
            <a:srgbClr val="F8D9D5"/>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700" b="1" i="0">
                <a:solidFill>
                  <a:srgbClr val="1F2A44"/>
                </a:solidFill>
                <a:latin typeface="Calibri"/>
              </a:rPr>
              <a:t>G</a:t>
            </a:r>
          </a:p>
          <a:p>
            <a:pPr algn="ctr"/>
            <a:r>
              <a:rPr sz="1700" b="0" i="0">
                <a:solidFill>
                  <a:srgbClr val="1F2A44"/>
                </a:solidFill>
                <a:latin typeface="Calibri"/>
              </a:rPr>
              <a:t>Experiments</a:t>
            </a:r>
          </a:p>
          <a:p>
            <a:pPr algn="ctr"/>
            <a:r>
              <a:rPr sz="1700" b="0" i="0">
                <a:solidFill>
                  <a:srgbClr val="1F2A44"/>
                </a:solidFill>
                <a:latin typeface="Calibri"/>
              </a:rPr>
              <a:t>4 wk</a:t>
            </a:r>
          </a:p>
        </p:txBody>
      </p:sp>
      <p:sp>
        <p:nvSpPr>
          <p:cNvPr id="10258" name="Rounded Rectangle 10257"/>
          <p:cNvSpPr/>
          <p:nvPr/>
        </p:nvSpPr>
        <p:spPr>
          <a:xfrm>
            <a:off x="17172432" y="3657600"/>
            <a:ext cx="1737360" cy="1371600"/>
          </a:xfrm>
          <a:prstGeom prst="roundRect">
            <a:avLst/>
          </a:prstGeom>
          <a:solidFill>
            <a:srgbClr val="F8D9D5"/>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700" b="1" i="0">
                <a:solidFill>
                  <a:srgbClr val="1F2A44"/>
                </a:solidFill>
                <a:latin typeface="Calibri"/>
              </a:rPr>
              <a:t>I</a:t>
            </a:r>
          </a:p>
          <a:p>
            <a:pPr algn="ctr"/>
            <a:r>
              <a:rPr sz="1700" b="0" i="0">
                <a:solidFill>
                  <a:srgbClr val="1F2A44"/>
                </a:solidFill>
                <a:latin typeface="Calibri"/>
              </a:rPr>
              <a:t>Testing</a:t>
            </a:r>
          </a:p>
          <a:p>
            <a:pPr algn="ctr"/>
            <a:r>
              <a:rPr sz="1700" b="0" i="0">
                <a:solidFill>
                  <a:srgbClr val="1F2A44"/>
                </a:solidFill>
                <a:latin typeface="Calibri"/>
              </a:rPr>
              <a:t>3 wk</a:t>
            </a:r>
          </a:p>
        </p:txBody>
      </p:sp>
      <p:sp>
        <p:nvSpPr>
          <p:cNvPr id="10259" name="Rounded Rectangle 10258"/>
          <p:cNvSpPr/>
          <p:nvPr/>
        </p:nvSpPr>
        <p:spPr>
          <a:xfrm>
            <a:off x="15233904" y="3657600"/>
            <a:ext cx="1737360" cy="1371600"/>
          </a:xfrm>
          <a:prstGeom prst="roundRect">
            <a:avLst/>
          </a:prstGeom>
          <a:solidFill>
            <a:srgbClr val="F8D9D5"/>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700" b="1" i="0">
                <a:solidFill>
                  <a:srgbClr val="1F2A44"/>
                </a:solidFill>
                <a:latin typeface="Calibri"/>
              </a:rPr>
              <a:t>J</a:t>
            </a:r>
          </a:p>
          <a:p>
            <a:pPr algn="ctr"/>
            <a:r>
              <a:rPr sz="1700" b="0" i="0">
                <a:solidFill>
                  <a:srgbClr val="1F2A44"/>
                </a:solidFill>
                <a:latin typeface="Calibri"/>
              </a:rPr>
              <a:t>Integration</a:t>
            </a:r>
          </a:p>
          <a:p>
            <a:pPr algn="ctr"/>
            <a:r>
              <a:rPr sz="1700" b="0" i="0">
                <a:solidFill>
                  <a:srgbClr val="1F2A44"/>
                </a:solidFill>
                <a:latin typeface="Calibri"/>
              </a:rPr>
              <a:t>2 wk</a:t>
            </a:r>
          </a:p>
        </p:txBody>
      </p:sp>
      <p:sp>
        <p:nvSpPr>
          <p:cNvPr id="10260" name="Rounded Rectangle 10259"/>
          <p:cNvSpPr/>
          <p:nvPr/>
        </p:nvSpPr>
        <p:spPr>
          <a:xfrm>
            <a:off x="13295376" y="3657600"/>
            <a:ext cx="1737360" cy="1371600"/>
          </a:xfrm>
          <a:prstGeom prst="roundRect">
            <a:avLst/>
          </a:prstGeom>
          <a:solidFill>
            <a:srgbClr val="F8D9D5"/>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700" b="1" i="0">
                <a:solidFill>
                  <a:srgbClr val="1F2A44"/>
                </a:solidFill>
                <a:latin typeface="Calibri"/>
              </a:rPr>
              <a:t>K</a:t>
            </a:r>
          </a:p>
          <a:p>
            <a:pPr algn="ctr"/>
            <a:r>
              <a:rPr sz="1700" b="0" i="0">
                <a:solidFill>
                  <a:srgbClr val="1F2A44"/>
                </a:solidFill>
                <a:latin typeface="Calibri"/>
              </a:rPr>
              <a:t>Report</a:t>
            </a:r>
          </a:p>
          <a:p>
            <a:pPr algn="ctr"/>
            <a:r>
              <a:rPr sz="1700" b="0" i="0">
                <a:solidFill>
                  <a:srgbClr val="1F2A44"/>
                </a:solidFill>
                <a:latin typeface="Calibri"/>
              </a:rPr>
              <a:t>3 wk</a:t>
            </a:r>
          </a:p>
        </p:txBody>
      </p:sp>
      <p:sp>
        <p:nvSpPr>
          <p:cNvPr id="10261" name="Rounded Rectangle 10260"/>
          <p:cNvSpPr/>
          <p:nvPr/>
        </p:nvSpPr>
        <p:spPr>
          <a:xfrm>
            <a:off x="9418320" y="5486400"/>
            <a:ext cx="1737360" cy="137160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700" b="1" i="0">
                <a:solidFill>
                  <a:srgbClr val="1F2A44"/>
                </a:solidFill>
                <a:latin typeface="Calibri"/>
              </a:rPr>
              <a:t>D</a:t>
            </a:r>
          </a:p>
          <a:p>
            <a:pPr algn="ctr"/>
            <a:r>
              <a:rPr sz="1700" b="0" i="0">
                <a:solidFill>
                  <a:srgbClr val="1F2A44"/>
                </a:solidFill>
                <a:latin typeface="Calibri"/>
              </a:rPr>
              <a:t>Backend</a:t>
            </a:r>
          </a:p>
          <a:p>
            <a:pPr algn="ctr"/>
            <a:r>
              <a:rPr sz="1700" b="0" i="0">
                <a:solidFill>
                  <a:srgbClr val="1F2A44"/>
                </a:solidFill>
                <a:latin typeface="Calibri"/>
              </a:rPr>
              <a:t>4 wk</a:t>
            </a:r>
          </a:p>
        </p:txBody>
      </p:sp>
      <p:sp>
        <p:nvSpPr>
          <p:cNvPr id="10262" name="Rounded Rectangle 10261"/>
          <p:cNvSpPr/>
          <p:nvPr/>
        </p:nvSpPr>
        <p:spPr>
          <a:xfrm>
            <a:off x="11356848" y="5486400"/>
            <a:ext cx="1737360" cy="137160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700" b="1" i="0">
                <a:solidFill>
                  <a:srgbClr val="1F2A44"/>
                </a:solidFill>
                <a:latin typeface="Calibri"/>
              </a:rPr>
              <a:t>E</a:t>
            </a:r>
          </a:p>
          <a:p>
            <a:pPr algn="ctr"/>
            <a:r>
              <a:rPr sz="1700" b="0" i="0">
                <a:solidFill>
                  <a:srgbClr val="1F2A44"/>
                </a:solidFill>
                <a:latin typeface="Calibri"/>
              </a:rPr>
              <a:t>Web app</a:t>
            </a:r>
          </a:p>
          <a:p>
            <a:pPr algn="ctr"/>
            <a:r>
              <a:rPr sz="1700" b="0" i="0">
                <a:solidFill>
                  <a:srgbClr val="1F2A44"/>
                </a:solidFill>
                <a:latin typeface="Calibri"/>
              </a:rPr>
              <a:t>5 wk</a:t>
            </a:r>
          </a:p>
        </p:txBody>
      </p:sp>
      <p:sp>
        <p:nvSpPr>
          <p:cNvPr id="10263" name="Rounded Rectangle 10262"/>
          <p:cNvSpPr/>
          <p:nvPr/>
        </p:nvSpPr>
        <p:spPr>
          <a:xfrm>
            <a:off x="13295376" y="5486400"/>
            <a:ext cx="1737360" cy="137160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700" b="1" i="0">
                <a:solidFill>
                  <a:srgbClr val="1F2A44"/>
                </a:solidFill>
                <a:latin typeface="Calibri"/>
              </a:rPr>
              <a:t>H</a:t>
            </a:r>
          </a:p>
          <a:p>
            <a:pPr algn="ctr"/>
            <a:r>
              <a:rPr sz="1700" b="0" i="0">
                <a:solidFill>
                  <a:srgbClr val="1F2A44"/>
                </a:solidFill>
                <a:latin typeface="Calibri"/>
              </a:rPr>
              <a:t>LLM layer</a:t>
            </a:r>
          </a:p>
          <a:p>
            <a:pPr algn="ctr"/>
            <a:r>
              <a:rPr sz="1700" b="0" i="0">
                <a:solidFill>
                  <a:srgbClr val="1F2A44"/>
                </a:solidFill>
                <a:latin typeface="Calibri"/>
              </a:rPr>
              <a:t>3 wk</a:t>
            </a:r>
          </a:p>
        </p:txBody>
      </p:sp>
      <p:cxnSp>
        <p:nvCxnSpPr>
          <p:cNvPr id="10264" name="Connector 10263"/>
          <p:cNvCxnSpPr/>
          <p:nvPr/>
        </p:nvCxnSpPr>
        <p:spPr>
          <a:xfrm>
            <a:off x="11155680" y="2423160"/>
            <a:ext cx="201168" cy="0"/>
          </a:xfrm>
          <a:prstGeom prst="line">
            <a:avLst/>
          </a:prstGeom>
          <a:ln w="31750">
            <a:solidFill>
              <a:srgbClr val="C0392B"/>
            </a:solidFill>
            <a:tailEnd type="triangle"/>
          </a:ln>
        </p:spPr>
        <p:style>
          <a:lnRef idx="2">
            <a:schemeClr val="accent1"/>
          </a:lnRef>
          <a:fillRef idx="0">
            <a:schemeClr val="accent1"/>
          </a:fillRef>
          <a:effectRef idx="1">
            <a:schemeClr val="accent1"/>
          </a:effectRef>
          <a:fontRef idx="minor">
            <a:schemeClr val="tx1"/>
          </a:fontRef>
        </p:style>
      </p:cxnSp>
      <p:cxnSp>
        <p:nvCxnSpPr>
          <p:cNvPr id="10265" name="Connector 10264"/>
          <p:cNvCxnSpPr/>
          <p:nvPr/>
        </p:nvCxnSpPr>
        <p:spPr>
          <a:xfrm>
            <a:off x="13094208" y="2423160"/>
            <a:ext cx="201168" cy="0"/>
          </a:xfrm>
          <a:prstGeom prst="line">
            <a:avLst/>
          </a:prstGeom>
          <a:ln w="31750">
            <a:solidFill>
              <a:srgbClr val="C0392B"/>
            </a:solidFill>
            <a:tailEnd type="triangle"/>
          </a:ln>
        </p:spPr>
        <p:style>
          <a:lnRef idx="2">
            <a:schemeClr val="accent1"/>
          </a:lnRef>
          <a:fillRef idx="0">
            <a:schemeClr val="accent1"/>
          </a:fillRef>
          <a:effectRef idx="1">
            <a:schemeClr val="accent1"/>
          </a:effectRef>
          <a:fontRef idx="minor">
            <a:schemeClr val="tx1"/>
          </a:fontRef>
        </p:style>
      </p:cxnSp>
      <p:cxnSp>
        <p:nvCxnSpPr>
          <p:cNvPr id="10266" name="Connector 10265"/>
          <p:cNvCxnSpPr/>
          <p:nvPr/>
        </p:nvCxnSpPr>
        <p:spPr>
          <a:xfrm>
            <a:off x="15032736" y="2423160"/>
            <a:ext cx="201168" cy="0"/>
          </a:xfrm>
          <a:prstGeom prst="line">
            <a:avLst/>
          </a:prstGeom>
          <a:ln w="31750">
            <a:solidFill>
              <a:srgbClr val="C0392B"/>
            </a:solidFill>
            <a:tailEnd type="triangle"/>
          </a:ln>
        </p:spPr>
        <p:style>
          <a:lnRef idx="2">
            <a:schemeClr val="accent1"/>
          </a:lnRef>
          <a:fillRef idx="0">
            <a:schemeClr val="accent1"/>
          </a:fillRef>
          <a:effectRef idx="1">
            <a:schemeClr val="accent1"/>
          </a:effectRef>
          <a:fontRef idx="minor">
            <a:schemeClr val="tx1"/>
          </a:fontRef>
        </p:style>
      </p:cxnSp>
      <p:cxnSp>
        <p:nvCxnSpPr>
          <p:cNvPr id="10267" name="Connector 10266"/>
          <p:cNvCxnSpPr/>
          <p:nvPr/>
        </p:nvCxnSpPr>
        <p:spPr>
          <a:xfrm>
            <a:off x="16971264" y="2423160"/>
            <a:ext cx="201168" cy="0"/>
          </a:xfrm>
          <a:prstGeom prst="line">
            <a:avLst/>
          </a:prstGeom>
          <a:ln w="31750">
            <a:solidFill>
              <a:srgbClr val="C0392B"/>
            </a:solidFill>
            <a:tailEnd type="triangle"/>
          </a:ln>
        </p:spPr>
        <p:style>
          <a:lnRef idx="2">
            <a:schemeClr val="accent1"/>
          </a:lnRef>
          <a:fillRef idx="0">
            <a:schemeClr val="accent1"/>
          </a:fillRef>
          <a:effectRef idx="1">
            <a:schemeClr val="accent1"/>
          </a:effectRef>
          <a:fontRef idx="minor">
            <a:schemeClr val="tx1"/>
          </a:fontRef>
        </p:style>
      </p:cxnSp>
      <p:cxnSp>
        <p:nvCxnSpPr>
          <p:cNvPr id="10268" name="Connector 10267"/>
          <p:cNvCxnSpPr/>
          <p:nvPr/>
        </p:nvCxnSpPr>
        <p:spPr>
          <a:xfrm>
            <a:off x="18041112" y="3108960"/>
            <a:ext cx="0" cy="548640"/>
          </a:xfrm>
          <a:prstGeom prst="line">
            <a:avLst/>
          </a:prstGeom>
          <a:ln w="31750">
            <a:solidFill>
              <a:srgbClr val="C0392B"/>
            </a:solidFill>
            <a:tailEnd type="triangle"/>
          </a:ln>
        </p:spPr>
        <p:style>
          <a:lnRef idx="2">
            <a:schemeClr val="accent1"/>
          </a:lnRef>
          <a:fillRef idx="0">
            <a:schemeClr val="accent1"/>
          </a:fillRef>
          <a:effectRef idx="1">
            <a:schemeClr val="accent1"/>
          </a:effectRef>
          <a:fontRef idx="minor">
            <a:schemeClr val="tx1"/>
          </a:fontRef>
        </p:style>
      </p:cxnSp>
      <p:cxnSp>
        <p:nvCxnSpPr>
          <p:cNvPr id="10269" name="Connector 10268"/>
          <p:cNvCxnSpPr/>
          <p:nvPr/>
        </p:nvCxnSpPr>
        <p:spPr>
          <a:xfrm flipH="1">
            <a:off x="16971264" y="4343400"/>
            <a:ext cx="201168" cy="0"/>
          </a:xfrm>
          <a:prstGeom prst="line">
            <a:avLst/>
          </a:prstGeom>
          <a:ln w="31750">
            <a:solidFill>
              <a:srgbClr val="C0392B"/>
            </a:solidFill>
            <a:tailEnd type="triangle"/>
          </a:ln>
        </p:spPr>
        <p:style>
          <a:lnRef idx="2">
            <a:schemeClr val="accent1"/>
          </a:lnRef>
          <a:fillRef idx="0">
            <a:schemeClr val="accent1"/>
          </a:fillRef>
          <a:effectRef idx="1">
            <a:schemeClr val="accent1"/>
          </a:effectRef>
          <a:fontRef idx="minor">
            <a:schemeClr val="tx1"/>
          </a:fontRef>
        </p:style>
      </p:cxnSp>
      <p:cxnSp>
        <p:nvCxnSpPr>
          <p:cNvPr id="10270" name="Connector 10269"/>
          <p:cNvCxnSpPr/>
          <p:nvPr/>
        </p:nvCxnSpPr>
        <p:spPr>
          <a:xfrm flipH="1">
            <a:off x="15032736" y="4343400"/>
            <a:ext cx="201168" cy="0"/>
          </a:xfrm>
          <a:prstGeom prst="line">
            <a:avLst/>
          </a:prstGeom>
          <a:ln w="31750">
            <a:solidFill>
              <a:srgbClr val="C0392B"/>
            </a:solidFill>
            <a:tailEnd type="triangle"/>
          </a:ln>
        </p:spPr>
        <p:style>
          <a:lnRef idx="2">
            <a:schemeClr val="accent1"/>
          </a:lnRef>
          <a:fillRef idx="0">
            <a:schemeClr val="accent1"/>
          </a:fillRef>
          <a:effectRef idx="1">
            <a:schemeClr val="accent1"/>
          </a:effectRef>
          <a:fontRef idx="minor">
            <a:schemeClr val="tx1"/>
          </a:fontRef>
        </p:style>
      </p:cxnSp>
      <p:cxnSp>
        <p:nvCxnSpPr>
          <p:cNvPr id="10271" name="Connector 10270"/>
          <p:cNvCxnSpPr/>
          <p:nvPr/>
        </p:nvCxnSpPr>
        <p:spPr>
          <a:xfrm>
            <a:off x="10287000" y="3108960"/>
            <a:ext cx="0" cy="2377440"/>
          </a:xfrm>
          <a:prstGeom prst="line">
            <a:avLst/>
          </a:prstGeom>
          <a:ln w="25400">
            <a:solidFill>
              <a:srgbClr val="2E75B6"/>
            </a:solidFill>
            <a:tailEnd type="triangle"/>
          </a:ln>
        </p:spPr>
        <p:style>
          <a:lnRef idx="2">
            <a:schemeClr val="accent1"/>
          </a:lnRef>
          <a:fillRef idx="0">
            <a:schemeClr val="accent1"/>
          </a:fillRef>
          <a:effectRef idx="1">
            <a:schemeClr val="accent1"/>
          </a:effectRef>
          <a:fontRef idx="minor">
            <a:schemeClr val="tx1"/>
          </a:fontRef>
        </p:style>
      </p:cxnSp>
      <p:cxnSp>
        <p:nvCxnSpPr>
          <p:cNvPr id="10272" name="Connector 10271"/>
          <p:cNvCxnSpPr/>
          <p:nvPr/>
        </p:nvCxnSpPr>
        <p:spPr>
          <a:xfrm>
            <a:off x="11155680" y="6172200"/>
            <a:ext cx="201168" cy="0"/>
          </a:xfrm>
          <a:prstGeom prst="line">
            <a:avLst/>
          </a:prstGeom>
          <a:ln w="25400">
            <a:solidFill>
              <a:srgbClr val="2E75B6"/>
            </a:solidFill>
            <a:tailEnd type="triangle"/>
          </a:ln>
        </p:spPr>
        <p:style>
          <a:lnRef idx="2">
            <a:schemeClr val="accent1"/>
          </a:lnRef>
          <a:fillRef idx="0">
            <a:schemeClr val="accent1"/>
          </a:fillRef>
          <a:effectRef idx="1">
            <a:schemeClr val="accent1"/>
          </a:effectRef>
          <a:fontRef idx="minor">
            <a:schemeClr val="tx1"/>
          </a:fontRef>
        </p:style>
      </p:cxnSp>
      <p:sp>
        <p:nvSpPr>
          <p:cNvPr id="10273" name="TextBox 10272"/>
          <p:cNvSpPr txBox="1"/>
          <p:nvPr/>
        </p:nvSpPr>
        <p:spPr>
          <a:xfrm>
            <a:off x="15142463" y="5394960"/>
            <a:ext cx="4206240" cy="1554480"/>
          </a:xfrm>
          <a:prstGeom prst="rect">
            <a:avLst/>
          </a:prstGeom>
          <a:noFill/>
        </p:spPr>
        <p:txBody>
          <a:bodyPr wrap="square" anchor="t" lIns="73152" rIns="73152" tIns="36576" bIns="36576">
            <a:spAutoFit/>
          </a:bodyPr>
          <a:lstStyle/>
          <a:p>
            <a:pPr algn="l"/>
            <a:r>
              <a:rPr sz="1800" b="1" i="0">
                <a:solidFill>
                  <a:srgbClr val="C0392B"/>
                </a:solidFill>
                <a:latin typeface="Calibri"/>
              </a:rPr>
              <a:t>Critical path (red):</a:t>
            </a:r>
          </a:p>
          <a:p>
            <a:pPr algn="l"/>
            <a:r>
              <a:rPr sz="1800" b="1" i="0">
                <a:solidFill>
                  <a:srgbClr val="C0392B"/>
                </a:solidFill>
                <a:latin typeface="Calibri"/>
              </a:rPr>
              <a:t>A→B→C→F→G→I→J→K</a:t>
            </a:r>
          </a:p>
          <a:p>
            <a:pPr algn="l"/>
            <a:r>
              <a:rPr sz="1800" b="1" i="0">
                <a:solidFill>
                  <a:srgbClr val="C0392B"/>
                </a:solidFill>
                <a:latin typeface="Calibri"/>
              </a:rPr>
              <a:t>2+3+4+3+4+3+2+3 = 24 weeks</a:t>
            </a:r>
          </a:p>
          <a:p>
            <a:pPr algn="l"/>
            <a:r>
              <a:rPr sz="1800" b="1" i="0">
                <a:solidFill>
                  <a:srgbClr val="C0392B"/>
                </a:solidFill>
                <a:latin typeface="Calibri"/>
              </a:rPr>
              <a:t>D, E, H have slack</a:t>
            </a:r>
          </a:p>
        </p:txBody>
      </p:sp>
      <p:sp>
        <p:nvSpPr>
          <p:cNvPr id="10274" name="Rectangle 10273"/>
          <p:cNvSpPr/>
          <p:nvPr/>
        </p:nvSpPr>
        <p:spPr>
          <a:xfrm>
            <a:off x="1005840" y="7223760"/>
            <a:ext cx="18105120" cy="301752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36576" bIns="36576"/>
          <a:lstStyle/>
          <a:p>
            <a:pPr algn="l"/>
            <a:r>
              <a:rPr sz="2300" b="1" i="0">
                <a:solidFill>
                  <a:srgbClr val="1F2A44"/>
                </a:solidFill>
                <a:latin typeface="Calibri"/>
              </a:rPr>
              <a:t>Worked slack, activity E: </a:t>
            </a:r>
            <a:r>
              <a:rPr sz="2300" b="0" i="0">
                <a:solidFill>
                  <a:srgbClr val="1F2A44"/>
                </a:solidFill>
                <a:latin typeface="Calibri"/>
              </a:rPr>
              <a:t>LF(E) = LS(I) = 16 weeks, so LS(E) = 16 − 5 = 11; ES(E) = 6; slack = 11 − 6 = 5 weeks. </a:t>
            </a:r>
            <a:r>
              <a:rPr sz="2300" b="1" i="0">
                <a:solidFill>
                  <a:srgbClr val="1F2A44"/>
                </a:solidFill>
                <a:latin typeface="Calibri"/>
              </a:rPr>
              <a:t>For H: </a:t>
            </a:r>
            <a:r>
              <a:rPr sz="2300" b="0" i="0">
                <a:solidFill>
                  <a:srgbClr val="1F2A44"/>
                </a:solidFill>
                <a:latin typeface="Calibri"/>
              </a:rPr>
              <a:t>LS = 16 − 3 = 13, ES = 6, slack = 7. </a:t>
            </a:r>
            <a:r>
              <a:rPr sz="2300" b="1" i="0">
                <a:solidFill>
                  <a:srgbClr val="1F2A44"/>
                </a:solidFill>
                <a:latin typeface="Calibri"/>
              </a:rPr>
              <a:t>For D: </a:t>
            </a:r>
            <a:r>
              <a:rPr sz="2300" b="0" i="0">
                <a:solidFill>
                  <a:srgbClr val="1F2A44"/>
                </a:solidFill>
                <a:latin typeface="Calibri"/>
              </a:rPr>
              <a:t>LF = min(LS(E), LS(H)) = 11, LS = 7, ES = 2, slack = 5.</a:t>
            </a:r>
          </a:p>
          <a:p>
            <a:pPr algn="l"/>
            <a:r>
              <a:rPr sz="2300" b="1" i="0">
                <a:solidFill>
                  <a:srgbClr val="1F2A44"/>
                </a:solidFill>
                <a:latin typeface="Calibri"/>
              </a:rPr>
              <a:t>RAM: </a:t>
            </a:r>
            <a:r>
              <a:rPr sz="2300" b="0" i="0">
                <a:solidFill>
                  <a:srgbClr val="1F2A44"/>
                </a:solidFill>
                <a:latin typeface="Calibri"/>
              </a:rPr>
              <a:t>every work package has one primary owner (R) and the guide is accountable (A); Manohara 430 h, Srijan 360 h, Shreejith 180 h.</a:t>
            </a:r>
          </a:p>
        </p:txBody>
      </p:sp>
    </p:spTree>
    <p:extLst>
      <p:ext uri="{BB962C8B-B14F-4D97-AF65-F5344CB8AC3E}">
        <p14:creationId xmlns:p14="http://schemas.microsoft.com/office/powerpoint/2010/main" val="17690171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Schedule Tracking and Risk Management</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14</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10251" name="TextBox 10250"/>
          <p:cNvSpPr txBox="1"/>
          <p:nvPr/>
        </p:nvSpPr>
        <p:spPr>
          <a:xfrm>
            <a:off x="3657600" y="1627632"/>
            <a:ext cx="548640" cy="365760"/>
          </a:xfrm>
          <a:prstGeom prst="rect">
            <a:avLst/>
          </a:prstGeom>
          <a:noFill/>
        </p:spPr>
        <p:txBody>
          <a:bodyPr wrap="square" anchor="t" lIns="0" rIns="0" tIns="36576" bIns="36576">
            <a:spAutoFit/>
          </a:bodyPr>
          <a:lstStyle/>
          <a:p>
            <a:pPr algn="ctr"/>
            <a:r>
              <a:rPr sz="1600" b="0" i="0">
                <a:solidFill>
                  <a:srgbClr val="5F6B7A"/>
                </a:solidFill>
                <a:latin typeface="Calibri"/>
              </a:rPr>
              <a:t>0</a:t>
            </a:r>
          </a:p>
        </p:txBody>
      </p:sp>
      <p:cxnSp>
        <p:nvCxnSpPr>
          <p:cNvPr id="10252" name="Connector 10251"/>
          <p:cNvCxnSpPr/>
          <p:nvPr/>
        </p:nvCxnSpPr>
        <p:spPr>
          <a:xfrm>
            <a:off x="3931920" y="2148840"/>
            <a:ext cx="0" cy="4517135"/>
          </a:xfrm>
          <a:prstGeom prst="line">
            <a:avLst/>
          </a:prstGeom>
          <a:ln w="9525">
            <a:solidFill>
              <a:srgbClr val="D5DBE3"/>
            </a:solidFill>
          </a:ln>
        </p:spPr>
        <p:style>
          <a:lnRef idx="2">
            <a:schemeClr val="accent1"/>
          </a:lnRef>
          <a:fillRef idx="0">
            <a:schemeClr val="accent1"/>
          </a:fillRef>
          <a:effectRef idx="1">
            <a:schemeClr val="accent1"/>
          </a:effectRef>
          <a:fontRef idx="minor">
            <a:schemeClr val="tx1"/>
          </a:fontRef>
        </p:style>
      </p:cxnSp>
      <p:sp>
        <p:nvSpPr>
          <p:cNvPr id="10253" name="TextBox 10252"/>
          <p:cNvSpPr txBox="1"/>
          <p:nvPr/>
        </p:nvSpPr>
        <p:spPr>
          <a:xfrm>
            <a:off x="4702628" y="1627632"/>
            <a:ext cx="548640" cy="365760"/>
          </a:xfrm>
          <a:prstGeom prst="rect">
            <a:avLst/>
          </a:prstGeom>
          <a:noFill/>
        </p:spPr>
        <p:txBody>
          <a:bodyPr wrap="square" anchor="t" lIns="0" rIns="0" tIns="36576" bIns="36576">
            <a:spAutoFit/>
          </a:bodyPr>
          <a:lstStyle/>
          <a:p>
            <a:pPr algn="ctr"/>
            <a:r>
              <a:rPr sz="1600" b="0" i="0">
                <a:solidFill>
                  <a:srgbClr val="5F6B7A"/>
                </a:solidFill>
                <a:latin typeface="Calibri"/>
              </a:rPr>
              <a:t>4</a:t>
            </a:r>
          </a:p>
        </p:txBody>
      </p:sp>
      <p:cxnSp>
        <p:nvCxnSpPr>
          <p:cNvPr id="10254" name="Connector 10253"/>
          <p:cNvCxnSpPr/>
          <p:nvPr/>
        </p:nvCxnSpPr>
        <p:spPr>
          <a:xfrm>
            <a:off x="4976948" y="2148840"/>
            <a:ext cx="0" cy="4517135"/>
          </a:xfrm>
          <a:prstGeom prst="line">
            <a:avLst/>
          </a:prstGeom>
          <a:ln w="9525">
            <a:solidFill>
              <a:srgbClr val="D5DBE3"/>
            </a:solidFill>
          </a:ln>
        </p:spPr>
        <p:style>
          <a:lnRef idx="2">
            <a:schemeClr val="accent1"/>
          </a:lnRef>
          <a:fillRef idx="0">
            <a:schemeClr val="accent1"/>
          </a:fillRef>
          <a:effectRef idx="1">
            <a:schemeClr val="accent1"/>
          </a:effectRef>
          <a:fontRef idx="minor">
            <a:schemeClr val="tx1"/>
          </a:fontRef>
        </p:style>
      </p:cxnSp>
      <p:sp>
        <p:nvSpPr>
          <p:cNvPr id="10255" name="TextBox 10254"/>
          <p:cNvSpPr txBox="1"/>
          <p:nvPr/>
        </p:nvSpPr>
        <p:spPr>
          <a:xfrm>
            <a:off x="5747657" y="1627632"/>
            <a:ext cx="548640" cy="365760"/>
          </a:xfrm>
          <a:prstGeom prst="rect">
            <a:avLst/>
          </a:prstGeom>
          <a:noFill/>
        </p:spPr>
        <p:txBody>
          <a:bodyPr wrap="square" anchor="t" lIns="0" rIns="0" tIns="36576" bIns="36576">
            <a:spAutoFit/>
          </a:bodyPr>
          <a:lstStyle/>
          <a:p>
            <a:pPr algn="ctr"/>
            <a:r>
              <a:rPr sz="1600" b="0" i="0">
                <a:solidFill>
                  <a:srgbClr val="5F6B7A"/>
                </a:solidFill>
                <a:latin typeface="Calibri"/>
              </a:rPr>
              <a:t>8</a:t>
            </a:r>
          </a:p>
        </p:txBody>
      </p:sp>
      <p:cxnSp>
        <p:nvCxnSpPr>
          <p:cNvPr id="10256" name="Connector 10255"/>
          <p:cNvCxnSpPr/>
          <p:nvPr/>
        </p:nvCxnSpPr>
        <p:spPr>
          <a:xfrm>
            <a:off x="6021977" y="2148840"/>
            <a:ext cx="0" cy="4517135"/>
          </a:xfrm>
          <a:prstGeom prst="line">
            <a:avLst/>
          </a:prstGeom>
          <a:ln w="9525">
            <a:solidFill>
              <a:srgbClr val="D5DBE3"/>
            </a:solidFill>
          </a:ln>
        </p:spPr>
        <p:style>
          <a:lnRef idx="2">
            <a:schemeClr val="accent1"/>
          </a:lnRef>
          <a:fillRef idx="0">
            <a:schemeClr val="accent1"/>
          </a:fillRef>
          <a:effectRef idx="1">
            <a:schemeClr val="accent1"/>
          </a:effectRef>
          <a:fontRef idx="minor">
            <a:schemeClr val="tx1"/>
          </a:fontRef>
        </p:style>
      </p:cxnSp>
      <p:sp>
        <p:nvSpPr>
          <p:cNvPr id="10257" name="TextBox 10256"/>
          <p:cNvSpPr txBox="1"/>
          <p:nvPr/>
        </p:nvSpPr>
        <p:spPr>
          <a:xfrm>
            <a:off x="6792685" y="1627632"/>
            <a:ext cx="548640" cy="365760"/>
          </a:xfrm>
          <a:prstGeom prst="rect">
            <a:avLst/>
          </a:prstGeom>
          <a:noFill/>
        </p:spPr>
        <p:txBody>
          <a:bodyPr wrap="square" anchor="t" lIns="0" rIns="0" tIns="36576" bIns="36576">
            <a:spAutoFit/>
          </a:bodyPr>
          <a:lstStyle/>
          <a:p>
            <a:pPr algn="ctr"/>
            <a:r>
              <a:rPr sz="1600" b="0" i="0">
                <a:solidFill>
                  <a:srgbClr val="5F6B7A"/>
                </a:solidFill>
                <a:latin typeface="Calibri"/>
              </a:rPr>
              <a:t>12</a:t>
            </a:r>
          </a:p>
        </p:txBody>
      </p:sp>
      <p:cxnSp>
        <p:nvCxnSpPr>
          <p:cNvPr id="10258" name="Connector 10257"/>
          <p:cNvCxnSpPr/>
          <p:nvPr/>
        </p:nvCxnSpPr>
        <p:spPr>
          <a:xfrm>
            <a:off x="7067005" y="2148840"/>
            <a:ext cx="0" cy="4517135"/>
          </a:xfrm>
          <a:prstGeom prst="line">
            <a:avLst/>
          </a:prstGeom>
          <a:ln w="9525">
            <a:solidFill>
              <a:srgbClr val="D5DBE3"/>
            </a:solidFill>
          </a:ln>
        </p:spPr>
        <p:style>
          <a:lnRef idx="2">
            <a:schemeClr val="accent1"/>
          </a:lnRef>
          <a:fillRef idx="0">
            <a:schemeClr val="accent1"/>
          </a:fillRef>
          <a:effectRef idx="1">
            <a:schemeClr val="accent1"/>
          </a:effectRef>
          <a:fontRef idx="minor">
            <a:schemeClr val="tx1"/>
          </a:fontRef>
        </p:style>
      </p:cxnSp>
      <p:sp>
        <p:nvSpPr>
          <p:cNvPr id="10259" name="TextBox 10258"/>
          <p:cNvSpPr txBox="1"/>
          <p:nvPr/>
        </p:nvSpPr>
        <p:spPr>
          <a:xfrm>
            <a:off x="7837714" y="1627632"/>
            <a:ext cx="548640" cy="365760"/>
          </a:xfrm>
          <a:prstGeom prst="rect">
            <a:avLst/>
          </a:prstGeom>
          <a:noFill/>
        </p:spPr>
        <p:txBody>
          <a:bodyPr wrap="square" anchor="t" lIns="0" rIns="0" tIns="36576" bIns="36576">
            <a:spAutoFit/>
          </a:bodyPr>
          <a:lstStyle/>
          <a:p>
            <a:pPr algn="ctr"/>
            <a:r>
              <a:rPr sz="1600" b="0" i="0">
                <a:solidFill>
                  <a:srgbClr val="5F6B7A"/>
                </a:solidFill>
                <a:latin typeface="Calibri"/>
              </a:rPr>
              <a:t>16</a:t>
            </a:r>
          </a:p>
        </p:txBody>
      </p:sp>
      <p:cxnSp>
        <p:nvCxnSpPr>
          <p:cNvPr id="10260" name="Connector 10259"/>
          <p:cNvCxnSpPr/>
          <p:nvPr/>
        </p:nvCxnSpPr>
        <p:spPr>
          <a:xfrm>
            <a:off x="8112034" y="2148840"/>
            <a:ext cx="0" cy="4517135"/>
          </a:xfrm>
          <a:prstGeom prst="line">
            <a:avLst/>
          </a:prstGeom>
          <a:ln w="9525">
            <a:solidFill>
              <a:srgbClr val="D5DBE3"/>
            </a:solidFill>
          </a:ln>
        </p:spPr>
        <p:style>
          <a:lnRef idx="2">
            <a:schemeClr val="accent1"/>
          </a:lnRef>
          <a:fillRef idx="0">
            <a:schemeClr val="accent1"/>
          </a:fillRef>
          <a:effectRef idx="1">
            <a:schemeClr val="accent1"/>
          </a:effectRef>
          <a:fontRef idx="minor">
            <a:schemeClr val="tx1"/>
          </a:fontRef>
        </p:style>
      </p:cxnSp>
      <p:sp>
        <p:nvSpPr>
          <p:cNvPr id="10261" name="TextBox 10260"/>
          <p:cNvSpPr txBox="1"/>
          <p:nvPr/>
        </p:nvSpPr>
        <p:spPr>
          <a:xfrm>
            <a:off x="8882742" y="1627632"/>
            <a:ext cx="548640" cy="365760"/>
          </a:xfrm>
          <a:prstGeom prst="rect">
            <a:avLst/>
          </a:prstGeom>
          <a:noFill/>
        </p:spPr>
        <p:txBody>
          <a:bodyPr wrap="square" anchor="t" lIns="0" rIns="0" tIns="36576" bIns="36576">
            <a:spAutoFit/>
          </a:bodyPr>
          <a:lstStyle/>
          <a:p>
            <a:pPr algn="ctr"/>
            <a:r>
              <a:rPr sz="1600" b="0" i="0">
                <a:solidFill>
                  <a:srgbClr val="5F6B7A"/>
                </a:solidFill>
                <a:latin typeface="Calibri"/>
              </a:rPr>
              <a:t>20</a:t>
            </a:r>
          </a:p>
        </p:txBody>
      </p:sp>
      <p:cxnSp>
        <p:nvCxnSpPr>
          <p:cNvPr id="10262" name="Connector 10261"/>
          <p:cNvCxnSpPr/>
          <p:nvPr/>
        </p:nvCxnSpPr>
        <p:spPr>
          <a:xfrm>
            <a:off x="9157062" y="2148840"/>
            <a:ext cx="0" cy="4517135"/>
          </a:xfrm>
          <a:prstGeom prst="line">
            <a:avLst/>
          </a:prstGeom>
          <a:ln w="9525">
            <a:solidFill>
              <a:srgbClr val="D5DBE3"/>
            </a:solidFill>
          </a:ln>
        </p:spPr>
        <p:style>
          <a:lnRef idx="2">
            <a:schemeClr val="accent1"/>
          </a:lnRef>
          <a:fillRef idx="0">
            <a:schemeClr val="accent1"/>
          </a:fillRef>
          <a:effectRef idx="1">
            <a:schemeClr val="accent1"/>
          </a:effectRef>
          <a:fontRef idx="minor">
            <a:schemeClr val="tx1"/>
          </a:fontRef>
        </p:style>
      </p:cxnSp>
      <p:sp>
        <p:nvSpPr>
          <p:cNvPr id="10263" name="TextBox 10262"/>
          <p:cNvSpPr txBox="1"/>
          <p:nvPr/>
        </p:nvSpPr>
        <p:spPr>
          <a:xfrm>
            <a:off x="9927771" y="1627632"/>
            <a:ext cx="548640" cy="365760"/>
          </a:xfrm>
          <a:prstGeom prst="rect">
            <a:avLst/>
          </a:prstGeom>
          <a:noFill/>
        </p:spPr>
        <p:txBody>
          <a:bodyPr wrap="square" anchor="t" lIns="0" rIns="0" tIns="36576" bIns="36576">
            <a:spAutoFit/>
          </a:bodyPr>
          <a:lstStyle/>
          <a:p>
            <a:pPr algn="ctr"/>
            <a:r>
              <a:rPr sz="1600" b="0" i="0">
                <a:solidFill>
                  <a:srgbClr val="5F6B7A"/>
                </a:solidFill>
                <a:latin typeface="Calibri"/>
              </a:rPr>
              <a:t>24</a:t>
            </a:r>
          </a:p>
        </p:txBody>
      </p:sp>
      <p:cxnSp>
        <p:nvCxnSpPr>
          <p:cNvPr id="10264" name="Connector 10263"/>
          <p:cNvCxnSpPr/>
          <p:nvPr/>
        </p:nvCxnSpPr>
        <p:spPr>
          <a:xfrm>
            <a:off x="10202091" y="2148840"/>
            <a:ext cx="0" cy="4517135"/>
          </a:xfrm>
          <a:prstGeom prst="line">
            <a:avLst/>
          </a:prstGeom>
          <a:ln w="9525">
            <a:solidFill>
              <a:srgbClr val="D5DBE3"/>
            </a:solidFill>
          </a:ln>
        </p:spPr>
        <p:style>
          <a:lnRef idx="2">
            <a:schemeClr val="accent1"/>
          </a:lnRef>
          <a:fillRef idx="0">
            <a:schemeClr val="accent1"/>
          </a:fillRef>
          <a:effectRef idx="1">
            <a:schemeClr val="accent1"/>
          </a:effectRef>
          <a:fontRef idx="minor">
            <a:schemeClr val="tx1"/>
          </a:fontRef>
        </p:style>
      </p:cxnSp>
      <p:sp>
        <p:nvSpPr>
          <p:cNvPr id="10265" name="TextBox 10264"/>
          <p:cNvSpPr txBox="1"/>
          <p:nvPr/>
        </p:nvSpPr>
        <p:spPr>
          <a:xfrm>
            <a:off x="10972800" y="1627632"/>
            <a:ext cx="548640" cy="365760"/>
          </a:xfrm>
          <a:prstGeom prst="rect">
            <a:avLst/>
          </a:prstGeom>
          <a:noFill/>
        </p:spPr>
        <p:txBody>
          <a:bodyPr wrap="square" anchor="t" lIns="0" rIns="0" tIns="36576" bIns="36576">
            <a:spAutoFit/>
          </a:bodyPr>
          <a:lstStyle/>
          <a:p>
            <a:pPr algn="ctr"/>
            <a:r>
              <a:rPr sz="1600" b="0" i="0">
                <a:solidFill>
                  <a:srgbClr val="5F6B7A"/>
                </a:solidFill>
                <a:latin typeface="Calibri"/>
              </a:rPr>
              <a:t>28</a:t>
            </a:r>
          </a:p>
        </p:txBody>
      </p:sp>
      <p:cxnSp>
        <p:nvCxnSpPr>
          <p:cNvPr id="10266" name="Connector 10265"/>
          <p:cNvCxnSpPr/>
          <p:nvPr/>
        </p:nvCxnSpPr>
        <p:spPr>
          <a:xfrm>
            <a:off x="11247120" y="2148840"/>
            <a:ext cx="0" cy="4517135"/>
          </a:xfrm>
          <a:prstGeom prst="line">
            <a:avLst/>
          </a:prstGeom>
          <a:ln w="9525">
            <a:solidFill>
              <a:srgbClr val="D5DBE3"/>
            </a:solidFill>
          </a:ln>
        </p:spPr>
        <p:style>
          <a:lnRef idx="2">
            <a:schemeClr val="accent1"/>
          </a:lnRef>
          <a:fillRef idx="0">
            <a:schemeClr val="accent1"/>
          </a:fillRef>
          <a:effectRef idx="1">
            <a:schemeClr val="accent1"/>
          </a:effectRef>
          <a:fontRef idx="minor">
            <a:schemeClr val="tx1"/>
          </a:fontRef>
        </p:style>
      </p:cxnSp>
      <p:sp>
        <p:nvSpPr>
          <p:cNvPr id="10267" name="TextBox 10266"/>
          <p:cNvSpPr txBox="1"/>
          <p:nvPr/>
        </p:nvSpPr>
        <p:spPr>
          <a:xfrm>
            <a:off x="1005840" y="2148840"/>
            <a:ext cx="2834640" cy="402336"/>
          </a:xfrm>
          <a:prstGeom prst="rect">
            <a:avLst/>
          </a:prstGeom>
          <a:noFill/>
        </p:spPr>
        <p:txBody>
          <a:bodyPr wrap="square" anchor="ctr" lIns="36576" rIns="36576" tIns="36576" bIns="36576">
            <a:spAutoFit/>
          </a:bodyPr>
          <a:lstStyle/>
          <a:p>
            <a:pPr algn="r"/>
            <a:r>
              <a:rPr sz="1700" b="0" i="0">
                <a:solidFill>
                  <a:srgbClr val="1F2A44"/>
                </a:solidFill>
                <a:latin typeface="Calibri"/>
              </a:rPr>
              <a:t>A Requirements</a:t>
            </a:r>
          </a:p>
        </p:txBody>
      </p:sp>
      <p:sp>
        <p:nvSpPr>
          <p:cNvPr id="10268" name="Rectangle 10267"/>
          <p:cNvSpPr/>
          <p:nvPr/>
        </p:nvSpPr>
        <p:spPr>
          <a:xfrm>
            <a:off x="3931920" y="2167128"/>
            <a:ext cx="522514" cy="155448"/>
          </a:xfrm>
          <a:prstGeom prst="rect">
            <a:avLst/>
          </a:prstGeom>
          <a:solidFill>
            <a:srgbClr val="9DB9D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69" name="Rectangle 10268"/>
          <p:cNvSpPr/>
          <p:nvPr/>
        </p:nvSpPr>
        <p:spPr>
          <a:xfrm>
            <a:off x="3931920" y="2340864"/>
            <a:ext cx="783771" cy="155448"/>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70" name="TextBox 10269"/>
          <p:cNvSpPr txBox="1"/>
          <p:nvPr/>
        </p:nvSpPr>
        <p:spPr>
          <a:xfrm>
            <a:off x="1005840" y="2551176"/>
            <a:ext cx="2834640" cy="402336"/>
          </a:xfrm>
          <a:prstGeom prst="rect">
            <a:avLst/>
          </a:prstGeom>
          <a:noFill/>
        </p:spPr>
        <p:txBody>
          <a:bodyPr wrap="square" anchor="ctr" lIns="36576" rIns="36576" tIns="36576" bIns="36576">
            <a:spAutoFit/>
          </a:bodyPr>
          <a:lstStyle/>
          <a:p>
            <a:pPr algn="r"/>
            <a:r>
              <a:rPr sz="1700" b="0" i="0">
                <a:solidFill>
                  <a:srgbClr val="1F2A44"/>
                </a:solidFill>
                <a:latin typeface="Calibri"/>
              </a:rPr>
              <a:t>B Data</a:t>
            </a:r>
          </a:p>
        </p:txBody>
      </p:sp>
      <p:sp>
        <p:nvSpPr>
          <p:cNvPr id="10271" name="Rectangle 10270"/>
          <p:cNvSpPr/>
          <p:nvPr/>
        </p:nvSpPr>
        <p:spPr>
          <a:xfrm>
            <a:off x="4454434" y="2569464"/>
            <a:ext cx="783771" cy="155448"/>
          </a:xfrm>
          <a:prstGeom prst="rect">
            <a:avLst/>
          </a:prstGeom>
          <a:solidFill>
            <a:srgbClr val="9DB9D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72" name="Rectangle 10271"/>
          <p:cNvSpPr/>
          <p:nvPr/>
        </p:nvSpPr>
        <p:spPr>
          <a:xfrm>
            <a:off x="4715691" y="2743200"/>
            <a:ext cx="5486400" cy="155448"/>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73" name="TextBox 10272"/>
          <p:cNvSpPr txBox="1"/>
          <p:nvPr/>
        </p:nvSpPr>
        <p:spPr>
          <a:xfrm>
            <a:off x="1005840" y="2953512"/>
            <a:ext cx="2834640" cy="402336"/>
          </a:xfrm>
          <a:prstGeom prst="rect">
            <a:avLst/>
          </a:prstGeom>
          <a:noFill/>
        </p:spPr>
        <p:txBody>
          <a:bodyPr wrap="square" anchor="ctr" lIns="36576" rIns="36576" tIns="36576" bIns="36576">
            <a:spAutoFit/>
          </a:bodyPr>
          <a:lstStyle/>
          <a:p>
            <a:pPr algn="r"/>
            <a:r>
              <a:rPr sz="1700" b="0" i="0">
                <a:solidFill>
                  <a:srgbClr val="1F2A44"/>
                </a:solidFill>
                <a:latin typeface="Calibri"/>
              </a:rPr>
              <a:t>C Market choice</a:t>
            </a:r>
          </a:p>
        </p:txBody>
      </p:sp>
      <p:sp>
        <p:nvSpPr>
          <p:cNvPr id="10274" name="Rectangle 10273"/>
          <p:cNvSpPr/>
          <p:nvPr/>
        </p:nvSpPr>
        <p:spPr>
          <a:xfrm>
            <a:off x="5238205" y="2971800"/>
            <a:ext cx="1045028" cy="155448"/>
          </a:xfrm>
          <a:prstGeom prst="rect">
            <a:avLst/>
          </a:prstGeom>
          <a:solidFill>
            <a:srgbClr val="9DB9D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75" name="Rectangle 10274"/>
          <p:cNvSpPr/>
          <p:nvPr/>
        </p:nvSpPr>
        <p:spPr>
          <a:xfrm>
            <a:off x="5499462" y="3145536"/>
            <a:ext cx="5225142" cy="155448"/>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76" name="TextBox 10275"/>
          <p:cNvSpPr txBox="1"/>
          <p:nvPr/>
        </p:nvSpPr>
        <p:spPr>
          <a:xfrm>
            <a:off x="1005840" y="3355848"/>
            <a:ext cx="2834640" cy="402336"/>
          </a:xfrm>
          <a:prstGeom prst="rect">
            <a:avLst/>
          </a:prstGeom>
          <a:noFill/>
        </p:spPr>
        <p:txBody>
          <a:bodyPr wrap="square" anchor="ctr" lIns="36576" rIns="36576" tIns="36576" bIns="36576">
            <a:spAutoFit/>
          </a:bodyPr>
          <a:lstStyle/>
          <a:p>
            <a:pPr algn="r"/>
            <a:r>
              <a:rPr sz="1700" b="0" i="0">
                <a:solidFill>
                  <a:srgbClr val="1F2A44"/>
                </a:solidFill>
                <a:latin typeface="Calibri"/>
              </a:rPr>
              <a:t>D Backend API</a:t>
            </a:r>
          </a:p>
        </p:txBody>
      </p:sp>
      <p:sp>
        <p:nvSpPr>
          <p:cNvPr id="10277" name="Rectangle 10276"/>
          <p:cNvSpPr/>
          <p:nvPr/>
        </p:nvSpPr>
        <p:spPr>
          <a:xfrm>
            <a:off x="4454434" y="3374136"/>
            <a:ext cx="1045028" cy="155448"/>
          </a:xfrm>
          <a:prstGeom prst="rect">
            <a:avLst/>
          </a:prstGeom>
          <a:solidFill>
            <a:srgbClr val="9DB9D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78" name="Rectangle 10277"/>
          <p:cNvSpPr/>
          <p:nvPr/>
        </p:nvSpPr>
        <p:spPr>
          <a:xfrm>
            <a:off x="4193177" y="3547872"/>
            <a:ext cx="5747657" cy="155448"/>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79" name="TextBox 10278"/>
          <p:cNvSpPr txBox="1"/>
          <p:nvPr/>
        </p:nvSpPr>
        <p:spPr>
          <a:xfrm>
            <a:off x="1005840" y="3758184"/>
            <a:ext cx="2834640" cy="402336"/>
          </a:xfrm>
          <a:prstGeom prst="rect">
            <a:avLst/>
          </a:prstGeom>
          <a:noFill/>
        </p:spPr>
        <p:txBody>
          <a:bodyPr wrap="square" anchor="ctr" lIns="36576" rIns="36576" tIns="36576" bIns="36576">
            <a:spAutoFit/>
          </a:bodyPr>
          <a:lstStyle/>
          <a:p>
            <a:pPr algn="r"/>
            <a:r>
              <a:rPr sz="1700" b="0" i="0">
                <a:solidFill>
                  <a:srgbClr val="1F2A44"/>
                </a:solidFill>
                <a:latin typeface="Calibri"/>
              </a:rPr>
              <a:t>E Web application</a:t>
            </a:r>
          </a:p>
        </p:txBody>
      </p:sp>
      <p:sp>
        <p:nvSpPr>
          <p:cNvPr id="10280" name="Rectangle 10279"/>
          <p:cNvSpPr/>
          <p:nvPr/>
        </p:nvSpPr>
        <p:spPr>
          <a:xfrm>
            <a:off x="5499462" y="3776472"/>
            <a:ext cx="1306285" cy="155448"/>
          </a:xfrm>
          <a:prstGeom prst="rect">
            <a:avLst/>
          </a:prstGeom>
          <a:solidFill>
            <a:srgbClr val="9DB9D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81" name="Rectangle 10280"/>
          <p:cNvSpPr/>
          <p:nvPr/>
        </p:nvSpPr>
        <p:spPr>
          <a:xfrm>
            <a:off x="5499462" y="3950208"/>
            <a:ext cx="4702628" cy="155448"/>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82" name="TextBox 10281"/>
          <p:cNvSpPr txBox="1"/>
          <p:nvPr/>
        </p:nvSpPr>
        <p:spPr>
          <a:xfrm>
            <a:off x="1005840" y="4160520"/>
            <a:ext cx="2834640" cy="402336"/>
          </a:xfrm>
          <a:prstGeom prst="rect">
            <a:avLst/>
          </a:prstGeom>
          <a:noFill/>
        </p:spPr>
        <p:txBody>
          <a:bodyPr wrap="square" anchor="ctr" lIns="36576" rIns="36576" tIns="36576" bIns="36576">
            <a:spAutoFit/>
          </a:bodyPr>
          <a:lstStyle/>
          <a:p>
            <a:pPr algn="r"/>
            <a:r>
              <a:rPr sz="1700" b="0" i="0">
                <a:solidFill>
                  <a:srgbClr val="1F2A44"/>
                </a:solidFill>
                <a:latin typeface="Calibri"/>
              </a:rPr>
              <a:t>F Forecasters</a:t>
            </a:r>
          </a:p>
        </p:txBody>
      </p:sp>
      <p:sp>
        <p:nvSpPr>
          <p:cNvPr id="10283" name="Rectangle 10282"/>
          <p:cNvSpPr/>
          <p:nvPr/>
        </p:nvSpPr>
        <p:spPr>
          <a:xfrm>
            <a:off x="6283234" y="4178808"/>
            <a:ext cx="783771" cy="155448"/>
          </a:xfrm>
          <a:prstGeom prst="rect">
            <a:avLst/>
          </a:prstGeom>
          <a:solidFill>
            <a:srgbClr val="9DB9D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84" name="Rectangle 10283"/>
          <p:cNvSpPr/>
          <p:nvPr/>
        </p:nvSpPr>
        <p:spPr>
          <a:xfrm>
            <a:off x="9679577" y="4352544"/>
            <a:ext cx="1045028" cy="155448"/>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85" name="TextBox 10284"/>
          <p:cNvSpPr txBox="1"/>
          <p:nvPr/>
        </p:nvSpPr>
        <p:spPr>
          <a:xfrm>
            <a:off x="1005840" y="4562856"/>
            <a:ext cx="2834640" cy="402336"/>
          </a:xfrm>
          <a:prstGeom prst="rect">
            <a:avLst/>
          </a:prstGeom>
          <a:noFill/>
        </p:spPr>
        <p:txBody>
          <a:bodyPr wrap="square" anchor="ctr" lIns="36576" rIns="36576" tIns="36576" bIns="36576">
            <a:spAutoFit/>
          </a:bodyPr>
          <a:lstStyle/>
          <a:p>
            <a:pPr algn="r"/>
            <a:r>
              <a:rPr sz="1700" b="0" i="0">
                <a:solidFill>
                  <a:srgbClr val="1F2A44"/>
                </a:solidFill>
                <a:latin typeface="Calibri"/>
              </a:rPr>
              <a:t>G Experiments</a:t>
            </a:r>
          </a:p>
        </p:txBody>
      </p:sp>
      <p:sp>
        <p:nvSpPr>
          <p:cNvPr id="10286" name="Rectangle 10285"/>
          <p:cNvSpPr/>
          <p:nvPr/>
        </p:nvSpPr>
        <p:spPr>
          <a:xfrm>
            <a:off x="7067005" y="4581144"/>
            <a:ext cx="1045028" cy="155448"/>
          </a:xfrm>
          <a:prstGeom prst="rect">
            <a:avLst/>
          </a:prstGeom>
          <a:solidFill>
            <a:srgbClr val="9DB9D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87" name="Rectangle 10286"/>
          <p:cNvSpPr/>
          <p:nvPr/>
        </p:nvSpPr>
        <p:spPr>
          <a:xfrm>
            <a:off x="10202091" y="4754880"/>
            <a:ext cx="783771" cy="155448"/>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88" name="TextBox 10287"/>
          <p:cNvSpPr txBox="1"/>
          <p:nvPr/>
        </p:nvSpPr>
        <p:spPr>
          <a:xfrm>
            <a:off x="1005840" y="4965192"/>
            <a:ext cx="2834640" cy="402336"/>
          </a:xfrm>
          <a:prstGeom prst="rect">
            <a:avLst/>
          </a:prstGeom>
          <a:noFill/>
        </p:spPr>
        <p:txBody>
          <a:bodyPr wrap="square" anchor="ctr" lIns="36576" rIns="36576" tIns="36576" bIns="36576">
            <a:spAutoFit/>
          </a:bodyPr>
          <a:lstStyle/>
          <a:p>
            <a:pPr algn="r"/>
            <a:r>
              <a:rPr sz="1700" b="0" i="0">
                <a:solidFill>
                  <a:srgbClr val="1F2A44"/>
                </a:solidFill>
                <a:latin typeface="Calibri"/>
              </a:rPr>
              <a:t>H LLM layer</a:t>
            </a:r>
          </a:p>
        </p:txBody>
      </p:sp>
      <p:sp>
        <p:nvSpPr>
          <p:cNvPr id="10289" name="Rectangle 10288"/>
          <p:cNvSpPr/>
          <p:nvPr/>
        </p:nvSpPr>
        <p:spPr>
          <a:xfrm>
            <a:off x="5499462" y="4983479"/>
            <a:ext cx="783771" cy="155448"/>
          </a:xfrm>
          <a:prstGeom prst="rect">
            <a:avLst/>
          </a:prstGeom>
          <a:solidFill>
            <a:srgbClr val="9DB9D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90" name="Rectangle 10289"/>
          <p:cNvSpPr/>
          <p:nvPr/>
        </p:nvSpPr>
        <p:spPr>
          <a:xfrm>
            <a:off x="9679577" y="5157216"/>
            <a:ext cx="522514" cy="155448"/>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91" name="TextBox 10290"/>
          <p:cNvSpPr txBox="1"/>
          <p:nvPr/>
        </p:nvSpPr>
        <p:spPr>
          <a:xfrm>
            <a:off x="1005840" y="5367528"/>
            <a:ext cx="2834640" cy="402336"/>
          </a:xfrm>
          <a:prstGeom prst="rect">
            <a:avLst/>
          </a:prstGeom>
          <a:noFill/>
        </p:spPr>
        <p:txBody>
          <a:bodyPr wrap="square" anchor="ctr" lIns="36576" rIns="36576" tIns="36576" bIns="36576">
            <a:spAutoFit/>
          </a:bodyPr>
          <a:lstStyle/>
          <a:p>
            <a:pPr algn="r"/>
            <a:r>
              <a:rPr sz="1700" b="0" i="0">
                <a:solidFill>
                  <a:srgbClr val="1F2A44"/>
                </a:solidFill>
                <a:latin typeface="Calibri"/>
              </a:rPr>
              <a:t>I Testing</a:t>
            </a:r>
          </a:p>
        </p:txBody>
      </p:sp>
      <p:sp>
        <p:nvSpPr>
          <p:cNvPr id="10292" name="Rectangle 10291"/>
          <p:cNvSpPr/>
          <p:nvPr/>
        </p:nvSpPr>
        <p:spPr>
          <a:xfrm>
            <a:off x="8112034" y="5385816"/>
            <a:ext cx="783771" cy="155448"/>
          </a:xfrm>
          <a:prstGeom prst="rect">
            <a:avLst/>
          </a:prstGeom>
          <a:solidFill>
            <a:srgbClr val="9DB9D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93" name="Rectangle 10292"/>
          <p:cNvSpPr/>
          <p:nvPr/>
        </p:nvSpPr>
        <p:spPr>
          <a:xfrm>
            <a:off x="9679577" y="5559552"/>
            <a:ext cx="1306285" cy="155448"/>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94" name="TextBox 10293"/>
          <p:cNvSpPr txBox="1"/>
          <p:nvPr/>
        </p:nvSpPr>
        <p:spPr>
          <a:xfrm>
            <a:off x="1005840" y="5769864"/>
            <a:ext cx="2834640" cy="402336"/>
          </a:xfrm>
          <a:prstGeom prst="rect">
            <a:avLst/>
          </a:prstGeom>
          <a:noFill/>
        </p:spPr>
        <p:txBody>
          <a:bodyPr wrap="square" anchor="ctr" lIns="36576" rIns="36576" tIns="36576" bIns="36576">
            <a:spAutoFit/>
          </a:bodyPr>
          <a:lstStyle/>
          <a:p>
            <a:pPr algn="r"/>
            <a:r>
              <a:rPr sz="1700" b="0" i="0">
                <a:solidFill>
                  <a:srgbClr val="1F2A44"/>
                </a:solidFill>
                <a:latin typeface="Calibri"/>
              </a:rPr>
              <a:t>J Integration</a:t>
            </a:r>
          </a:p>
        </p:txBody>
      </p:sp>
      <p:sp>
        <p:nvSpPr>
          <p:cNvPr id="10295" name="Rectangle 10294"/>
          <p:cNvSpPr/>
          <p:nvPr/>
        </p:nvSpPr>
        <p:spPr>
          <a:xfrm>
            <a:off x="8895805" y="5788152"/>
            <a:ext cx="522514" cy="155448"/>
          </a:xfrm>
          <a:prstGeom prst="rect">
            <a:avLst/>
          </a:prstGeom>
          <a:solidFill>
            <a:srgbClr val="9DB9D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96" name="Rectangle 10295"/>
          <p:cNvSpPr/>
          <p:nvPr/>
        </p:nvSpPr>
        <p:spPr>
          <a:xfrm>
            <a:off x="10463348" y="5961888"/>
            <a:ext cx="522514" cy="155448"/>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97" name="TextBox 10296"/>
          <p:cNvSpPr txBox="1"/>
          <p:nvPr/>
        </p:nvSpPr>
        <p:spPr>
          <a:xfrm>
            <a:off x="1005840" y="6172200"/>
            <a:ext cx="2834640" cy="402336"/>
          </a:xfrm>
          <a:prstGeom prst="rect">
            <a:avLst/>
          </a:prstGeom>
          <a:noFill/>
        </p:spPr>
        <p:txBody>
          <a:bodyPr wrap="square" anchor="ctr" lIns="36576" rIns="36576" tIns="36576" bIns="36576">
            <a:spAutoFit/>
          </a:bodyPr>
          <a:lstStyle/>
          <a:p>
            <a:pPr algn="r"/>
            <a:r>
              <a:rPr sz="1700" b="0" i="0">
                <a:solidFill>
                  <a:srgbClr val="1F2A44"/>
                </a:solidFill>
                <a:latin typeface="Calibri"/>
              </a:rPr>
              <a:t>K Report</a:t>
            </a:r>
          </a:p>
        </p:txBody>
      </p:sp>
      <p:sp>
        <p:nvSpPr>
          <p:cNvPr id="10298" name="Rectangle 10297"/>
          <p:cNvSpPr/>
          <p:nvPr/>
        </p:nvSpPr>
        <p:spPr>
          <a:xfrm>
            <a:off x="9418320" y="6190488"/>
            <a:ext cx="783771" cy="155448"/>
          </a:xfrm>
          <a:prstGeom prst="rect">
            <a:avLst/>
          </a:prstGeom>
          <a:solidFill>
            <a:srgbClr val="9DB9D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99" name="Rectangle 10298"/>
          <p:cNvSpPr/>
          <p:nvPr/>
        </p:nvSpPr>
        <p:spPr>
          <a:xfrm>
            <a:off x="10463348" y="6364224"/>
            <a:ext cx="600891" cy="155448"/>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300" name="TextBox 10299"/>
          <p:cNvSpPr txBox="1"/>
          <p:nvPr/>
        </p:nvSpPr>
        <p:spPr>
          <a:xfrm>
            <a:off x="3931920" y="6711696"/>
            <a:ext cx="1371600" cy="274320"/>
          </a:xfrm>
          <a:prstGeom prst="rect">
            <a:avLst/>
          </a:prstGeom>
          <a:noFill/>
        </p:spPr>
        <p:txBody>
          <a:bodyPr wrap="square" anchor="t" lIns="0" rIns="0" tIns="36576" bIns="36576">
            <a:spAutoFit/>
          </a:bodyPr>
          <a:lstStyle/>
          <a:p>
            <a:pPr algn="l"/>
            <a:r>
              <a:rPr sz="1600" b="0" i="0">
                <a:solidFill>
                  <a:srgbClr val="6A8FB8"/>
                </a:solidFill>
                <a:latin typeface="Calibri"/>
              </a:rPr>
              <a:t>baseline</a:t>
            </a:r>
          </a:p>
        </p:txBody>
      </p:sp>
      <p:sp>
        <p:nvSpPr>
          <p:cNvPr id="10301" name="TextBox 10300"/>
          <p:cNvSpPr txBox="1"/>
          <p:nvPr/>
        </p:nvSpPr>
        <p:spPr>
          <a:xfrm>
            <a:off x="5577840" y="6711696"/>
            <a:ext cx="1371600" cy="274320"/>
          </a:xfrm>
          <a:prstGeom prst="rect">
            <a:avLst/>
          </a:prstGeom>
          <a:noFill/>
        </p:spPr>
        <p:txBody>
          <a:bodyPr wrap="square" anchor="t" lIns="0" rIns="0" tIns="36576" bIns="36576">
            <a:spAutoFit/>
          </a:bodyPr>
          <a:lstStyle/>
          <a:p>
            <a:pPr algn="l"/>
            <a:r>
              <a:rPr sz="1600" b="0" i="0">
                <a:solidFill>
                  <a:srgbClr val="D9822B"/>
                </a:solidFill>
                <a:latin typeface="Calibri"/>
              </a:rPr>
              <a:t>actual</a:t>
            </a:r>
          </a:p>
        </p:txBody>
      </p:sp>
      <p:sp>
        <p:nvSpPr>
          <p:cNvPr id="10302" name="Rectangle 10301"/>
          <p:cNvSpPr/>
          <p:nvPr/>
        </p:nvSpPr>
        <p:spPr>
          <a:xfrm>
            <a:off x="1005840" y="6949440"/>
            <a:ext cx="10058400" cy="310896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r>
              <a:rPr sz="2100" b="1" i="0">
                <a:solidFill>
                  <a:srgbClr val="1F2A44"/>
                </a:solidFill>
                <a:latin typeface="Calibri"/>
              </a:rPr>
              <a:t>Slip: </a:t>
            </a:r>
            <a:r>
              <a:rPr sz="2100" b="0" i="0">
                <a:solidFill>
                  <a:srgbClr val="1F2A44"/>
                </a:solidFill>
                <a:latin typeface="Calibri"/>
              </a:rPr>
              <a:t>24 weeks planned, about 27 actual (+3.3 weeks, 14%). Data (B) was reopened after the first dataset proved synthetic, which pushed C and G on the critical path; D, E and H sat on slack and absorbed their delay.</a:t>
            </a:r>
          </a:p>
          <a:p>
            <a:pPr algn="l"/>
            <a:r>
              <a:rPr sz="2100" b="1" i="0">
                <a:solidFill>
                  <a:srgbClr val="1F2A44"/>
                </a:solidFill>
                <a:latin typeface="Calibri"/>
              </a:rPr>
              <a:t>Milestones: </a:t>
            </a:r>
            <a:r>
              <a:rPr sz="2100" b="0" i="0">
                <a:solidFill>
                  <a:srgbClr val="1F2A44"/>
                </a:solidFill>
                <a:latin typeface="Calibri"/>
              </a:rPr>
              <a:t>M1 requirements (wk 3), M2 first deployed prototype 9 Jun, M3 farmer suite 30 Sep, M4 research results 29 Oct, M5 report (wk 27).</a:t>
            </a:r>
          </a:p>
        </p:txBody>
      </p:sp>
      <p:graphicFrame>
        <p:nvGraphicFramePr>
          <p:cNvPr id="10303" name="Table 10302"/>
          <p:cNvGraphicFramePr>
            <a:graphicFrameLocks noGrp="1"/>
          </p:cNvGraphicFramePr>
          <p:nvPr/>
        </p:nvGraphicFramePr>
        <p:xfrm>
          <a:off x="11430000" y="1645920"/>
          <a:ext cx="7680958" cy="6400800"/>
        </p:xfrm>
        <a:graphic>
          <a:graphicData uri="http://schemas.openxmlformats.org/drawingml/2006/table">
            <a:tbl>
              <a:tblPr firstRow="1" bandRow="1">
                <a:tableStyleId>{5C22544A-7EE6-4342-B048-85BDC9FD1C3A}</a:tableStyleId>
              </a:tblPr>
              <a:tblGrid>
                <a:gridCol w="2684607"/>
                <a:gridCol w="596579"/>
                <a:gridCol w="3281186"/>
                <a:gridCol w="1118586"/>
              </a:tblGrid>
              <a:tr h="640080">
                <a:tc>
                  <a:txBody>
                    <a:bodyPr wrap="square"/>
                    <a:lstStyle/>
                    <a:p>
                      <a:pPr algn="ctr"/>
                      <a:r>
                        <a:rPr sz="1700" b="1">
                          <a:solidFill>
                            <a:srgbClr val="FFFFFF"/>
                          </a:solidFill>
                          <a:latin typeface="Calibri"/>
                        </a:rPr>
                        <a:t>Risk</a:t>
                      </a:r>
                    </a:p>
                  </a:txBody>
                  <a:tcPr marL="73152" marR="73152" marT="27432" marB="27432" anchor="ctr">
                    <a:solidFill>
                      <a:srgbClr val="1F4E79"/>
                    </a:solidFill>
                  </a:tcPr>
                </a:tc>
                <a:tc>
                  <a:txBody>
                    <a:bodyPr wrap="square"/>
                    <a:lstStyle/>
                    <a:p>
                      <a:pPr algn="ctr"/>
                      <a:r>
                        <a:rPr sz="1700" b="1">
                          <a:solidFill>
                            <a:srgbClr val="FFFFFF"/>
                          </a:solidFill>
                          <a:latin typeface="Calibri"/>
                        </a:rPr>
                        <a:t>P×I</a:t>
                      </a:r>
                    </a:p>
                  </a:txBody>
                  <a:tcPr marL="73152" marR="73152" marT="27432" marB="27432" anchor="ctr">
                    <a:solidFill>
                      <a:srgbClr val="1F4E79"/>
                    </a:solidFill>
                  </a:tcPr>
                </a:tc>
                <a:tc>
                  <a:txBody>
                    <a:bodyPr wrap="square"/>
                    <a:lstStyle/>
                    <a:p>
                      <a:pPr algn="ctr"/>
                      <a:r>
                        <a:rPr sz="1700" b="1">
                          <a:solidFill>
                            <a:srgbClr val="FFFFFF"/>
                          </a:solidFill>
                          <a:latin typeface="Calibri"/>
                        </a:rPr>
                        <a:t>Response</a:t>
                      </a:r>
                    </a:p>
                  </a:txBody>
                  <a:tcPr marL="73152" marR="73152" marT="27432" marB="27432" anchor="ctr">
                    <a:solidFill>
                      <a:srgbClr val="1F4E79"/>
                    </a:solidFill>
                  </a:tcPr>
                </a:tc>
                <a:tc>
                  <a:txBody>
                    <a:bodyPr wrap="square"/>
                    <a:lstStyle/>
                    <a:p>
                      <a:pPr algn="ctr"/>
                      <a:r>
                        <a:rPr sz="1700" b="1">
                          <a:solidFill>
                            <a:srgbClr val="FFFFFF"/>
                          </a:solidFill>
                          <a:latin typeface="Calibri"/>
                        </a:rPr>
                        <a:t>Status</a:t>
                      </a:r>
                    </a:p>
                  </a:txBody>
                  <a:tcPr marL="73152" marR="73152" marT="27432" marB="27432" anchor="ctr">
                    <a:solidFill>
                      <a:srgbClr val="1F4E79"/>
                    </a:solidFill>
                  </a:tcPr>
                </a:tc>
              </a:tr>
              <a:tr h="640080">
                <a:tc>
                  <a:txBody>
                    <a:bodyPr wrap="square"/>
                    <a:lstStyle/>
                    <a:p>
                      <a:pPr algn="l"/>
                      <a:r>
                        <a:rPr sz="1700" b="0">
                          <a:solidFill>
                            <a:srgbClr val="1F2A44"/>
                          </a:solidFill>
                          <a:latin typeface="Calibri"/>
                        </a:rPr>
                        <a:t>R1 Source data synthetic</a:t>
                      </a:r>
                    </a:p>
                  </a:txBody>
                  <a:tcPr marL="73152" marR="73152" marT="27432" marB="27432" anchor="ctr">
                    <a:solidFill>
                      <a:srgbClr val="FFFFFF"/>
                    </a:solidFill>
                  </a:tcPr>
                </a:tc>
                <a:tc>
                  <a:txBody>
                    <a:bodyPr wrap="square"/>
                    <a:lstStyle/>
                    <a:p>
                      <a:pPr algn="ctr"/>
                      <a:r>
                        <a:rPr sz="1700" b="0">
                          <a:solidFill>
                            <a:srgbClr val="1F2A44"/>
                          </a:solidFill>
                          <a:latin typeface="Calibri"/>
                        </a:rPr>
                        <a:t>15</a:t>
                      </a:r>
                    </a:p>
                  </a:txBody>
                  <a:tcPr marL="73152" marR="73152" marT="27432" marB="27432" anchor="ctr">
                    <a:solidFill>
                      <a:srgbClr val="FFFFFF"/>
                    </a:solidFill>
                  </a:tcPr>
                </a:tc>
                <a:tc>
                  <a:txBody>
                    <a:bodyPr wrap="square"/>
                    <a:lstStyle/>
                    <a:p>
                      <a:pPr algn="l"/>
                      <a:r>
                        <a:rPr sz="1700" b="0">
                          <a:solidFill>
                            <a:srgbClr val="1F2A44"/>
                          </a:solidFill>
                          <a:latin typeface="Calibri"/>
                        </a:rPr>
                        <a:t>Re-acquired Agmarknet exports, integrity check, removed synthetic</a:t>
                      </a:r>
                    </a:p>
                  </a:txBody>
                  <a:tcPr marL="73152" marR="73152" marT="27432" marB="27432" anchor="ctr">
                    <a:solidFill>
                      <a:srgbClr val="FFFFFF"/>
                    </a:solidFill>
                  </a:tcPr>
                </a:tc>
                <a:tc>
                  <a:txBody>
                    <a:bodyPr wrap="square"/>
                    <a:lstStyle/>
                    <a:p>
                      <a:pPr algn="ctr"/>
                      <a:r>
                        <a:rPr sz="1700" b="0">
                          <a:solidFill>
                            <a:srgbClr val="C0392B"/>
                          </a:solidFill>
                          <a:latin typeface="Calibri"/>
                        </a:rPr>
                        <a:t>Occurred</a:t>
                      </a:r>
                    </a:p>
                  </a:txBody>
                  <a:tcPr marL="73152" marR="73152" marT="27432" marB="27432" anchor="ctr">
                    <a:solidFill>
                      <a:srgbClr val="FFFFFF"/>
                    </a:solidFill>
                  </a:tcPr>
                </a:tc>
              </a:tr>
              <a:tr h="640080">
                <a:tc>
                  <a:txBody>
                    <a:bodyPr wrap="square"/>
                    <a:lstStyle/>
                    <a:p>
                      <a:pPr algn="l"/>
                      <a:r>
                        <a:rPr sz="1700" b="0">
                          <a:solidFill>
                            <a:srgbClr val="1F2A44"/>
                          </a:solidFill>
                          <a:latin typeface="Calibri"/>
                        </a:rPr>
                        <a:t>R2 Look-ahead leakage</a:t>
                      </a:r>
                    </a:p>
                  </a:txBody>
                  <a:tcPr marL="73152" marR="73152" marT="27432" marB="27432" anchor="ctr">
                    <a:solidFill>
                      <a:srgbClr val="F1F7FB"/>
                    </a:solidFill>
                  </a:tcPr>
                </a:tc>
                <a:tc>
                  <a:txBody>
                    <a:bodyPr wrap="square"/>
                    <a:lstStyle/>
                    <a:p>
                      <a:pPr algn="ctr"/>
                      <a:r>
                        <a:rPr sz="1700" b="0">
                          <a:solidFill>
                            <a:srgbClr val="1F2A44"/>
                          </a:solidFill>
                          <a:latin typeface="Calibri"/>
                        </a:rPr>
                        <a:t>20</a:t>
                      </a:r>
                    </a:p>
                  </a:txBody>
                  <a:tcPr marL="73152" marR="73152" marT="27432" marB="27432" anchor="ctr">
                    <a:solidFill>
                      <a:srgbClr val="F1F7FB"/>
                    </a:solidFill>
                  </a:tcPr>
                </a:tc>
                <a:tc>
                  <a:txBody>
                    <a:bodyPr wrap="square"/>
                    <a:lstStyle/>
                    <a:p>
                      <a:pPr algn="l"/>
                      <a:r>
                        <a:rPr sz="1700" b="0">
                          <a:solidFill>
                            <a:srgbClr val="1F2A44"/>
                          </a:solidFill>
                          <a:latin typeface="Calibri"/>
                        </a:rPr>
                        <a:t>Leakage unit tests; caught 2 whole-series-centred features</a:t>
                      </a:r>
                    </a:p>
                  </a:txBody>
                  <a:tcPr marL="73152" marR="73152" marT="27432" marB="27432" anchor="ctr">
                    <a:solidFill>
                      <a:srgbClr val="F1F7FB"/>
                    </a:solidFill>
                  </a:tcPr>
                </a:tc>
                <a:tc>
                  <a:txBody>
                    <a:bodyPr wrap="square"/>
                    <a:lstStyle/>
                    <a:p>
                      <a:pPr algn="ctr"/>
                      <a:r>
                        <a:rPr sz="1700" b="0">
                          <a:solidFill>
                            <a:srgbClr val="C0392B"/>
                          </a:solidFill>
                          <a:latin typeface="Calibri"/>
                        </a:rPr>
                        <a:t>Occurred</a:t>
                      </a:r>
                    </a:p>
                  </a:txBody>
                  <a:tcPr marL="73152" marR="73152" marT="27432" marB="27432" anchor="ctr">
                    <a:solidFill>
                      <a:srgbClr val="F1F7FB"/>
                    </a:solidFill>
                  </a:tcPr>
                </a:tc>
              </a:tr>
              <a:tr h="640080">
                <a:tc>
                  <a:txBody>
                    <a:bodyPr wrap="square"/>
                    <a:lstStyle/>
                    <a:p>
                      <a:pPr algn="l"/>
                      <a:r>
                        <a:rPr sz="1700" b="0">
                          <a:solidFill>
                            <a:srgbClr val="1F2A44"/>
                          </a:solidFill>
                          <a:latin typeface="Calibri"/>
                        </a:rPr>
                        <a:t>R3 Hard deletion broke trader pages</a:t>
                      </a:r>
                    </a:p>
                  </a:txBody>
                  <a:tcPr marL="73152" marR="73152" marT="27432" marB="27432" anchor="ctr">
                    <a:solidFill>
                      <a:srgbClr val="FFFFFF"/>
                    </a:solidFill>
                  </a:tcPr>
                </a:tc>
                <a:tc>
                  <a:txBody>
                    <a:bodyPr wrap="square"/>
                    <a:lstStyle/>
                    <a:p>
                      <a:pPr algn="ctr"/>
                      <a:r>
                        <a:rPr sz="1700" b="0">
                          <a:solidFill>
                            <a:srgbClr val="1F2A44"/>
                          </a:solidFill>
                          <a:latin typeface="Calibri"/>
                        </a:rPr>
                        <a:t>9</a:t>
                      </a:r>
                    </a:p>
                  </a:txBody>
                  <a:tcPr marL="73152" marR="73152" marT="27432" marB="27432" anchor="ctr">
                    <a:solidFill>
                      <a:srgbClr val="FFFFFF"/>
                    </a:solidFill>
                  </a:tcPr>
                </a:tc>
                <a:tc>
                  <a:txBody>
                    <a:bodyPr wrap="square"/>
                    <a:lstStyle/>
                    <a:p>
                      <a:pPr algn="l"/>
                      <a:r>
                        <a:rPr sz="1700" b="0">
                          <a:solidFill>
                            <a:srgbClr val="1F2A44"/>
                          </a:solidFill>
                          <a:latin typeface="Calibri"/>
                        </a:rPr>
                        <a:t>Soft delete, re-seeding, id aliasing</a:t>
                      </a:r>
                    </a:p>
                  </a:txBody>
                  <a:tcPr marL="73152" marR="73152" marT="27432" marB="27432" anchor="ctr">
                    <a:solidFill>
                      <a:srgbClr val="FFFFFF"/>
                    </a:solidFill>
                  </a:tcPr>
                </a:tc>
                <a:tc>
                  <a:txBody>
                    <a:bodyPr wrap="square"/>
                    <a:lstStyle/>
                    <a:p>
                      <a:pPr algn="ctr"/>
                      <a:r>
                        <a:rPr sz="1700" b="0">
                          <a:solidFill>
                            <a:srgbClr val="C0392B"/>
                          </a:solidFill>
                          <a:latin typeface="Calibri"/>
                        </a:rPr>
                        <a:t>Occurred</a:t>
                      </a:r>
                    </a:p>
                  </a:txBody>
                  <a:tcPr marL="73152" marR="73152" marT="27432" marB="27432" anchor="ctr">
                    <a:solidFill>
                      <a:srgbClr val="FFFFFF"/>
                    </a:solidFill>
                  </a:tcPr>
                </a:tc>
              </a:tr>
              <a:tr h="640080">
                <a:tc>
                  <a:txBody>
                    <a:bodyPr wrap="square"/>
                    <a:lstStyle/>
                    <a:p>
                      <a:pPr algn="l"/>
                      <a:r>
                        <a:rPr sz="1700" b="0">
                          <a:solidFill>
                            <a:srgbClr val="1F2A44"/>
                          </a:solidFill>
                          <a:latin typeface="Calibri"/>
                        </a:rPr>
                        <a:t>R4 NumPy 2 broke pandas</a:t>
                      </a:r>
                    </a:p>
                  </a:txBody>
                  <a:tcPr marL="73152" marR="73152" marT="27432" marB="27432" anchor="ctr">
                    <a:solidFill>
                      <a:srgbClr val="F1F7FB"/>
                    </a:solidFill>
                  </a:tcPr>
                </a:tc>
                <a:tc>
                  <a:txBody>
                    <a:bodyPr wrap="square"/>
                    <a:lstStyle/>
                    <a:p>
                      <a:pPr algn="ctr"/>
                      <a:r>
                        <a:rPr sz="1700" b="0">
                          <a:solidFill>
                            <a:srgbClr val="1F2A44"/>
                          </a:solidFill>
                          <a:latin typeface="Calibri"/>
                        </a:rPr>
                        <a:t>9</a:t>
                      </a:r>
                    </a:p>
                  </a:txBody>
                  <a:tcPr marL="73152" marR="73152" marT="27432" marB="27432" anchor="ctr">
                    <a:solidFill>
                      <a:srgbClr val="F1F7FB"/>
                    </a:solidFill>
                  </a:tcPr>
                </a:tc>
                <a:tc>
                  <a:txBody>
                    <a:bodyPr wrap="square"/>
                    <a:lstStyle/>
                    <a:p>
                      <a:pPr algn="l"/>
                      <a:r>
                        <a:rPr sz="1700" b="0">
                          <a:solidFill>
                            <a:srgbClr val="1F2A44"/>
                          </a:solidFill>
                          <a:latin typeface="Calibri"/>
                        </a:rPr>
                        <a:t>Pinned 1.26.4; lock file</a:t>
                      </a:r>
                    </a:p>
                  </a:txBody>
                  <a:tcPr marL="73152" marR="73152" marT="27432" marB="27432" anchor="ctr">
                    <a:solidFill>
                      <a:srgbClr val="F1F7FB"/>
                    </a:solidFill>
                  </a:tcPr>
                </a:tc>
                <a:tc>
                  <a:txBody>
                    <a:bodyPr wrap="square"/>
                    <a:lstStyle/>
                    <a:p>
                      <a:pPr algn="ctr"/>
                      <a:r>
                        <a:rPr sz="1700" b="0">
                          <a:solidFill>
                            <a:srgbClr val="C0392B"/>
                          </a:solidFill>
                          <a:latin typeface="Calibri"/>
                        </a:rPr>
                        <a:t>Occurred</a:t>
                      </a:r>
                    </a:p>
                  </a:txBody>
                  <a:tcPr marL="73152" marR="73152" marT="27432" marB="27432" anchor="ctr">
                    <a:solidFill>
                      <a:srgbClr val="F1F7FB"/>
                    </a:solidFill>
                  </a:tcPr>
                </a:tc>
              </a:tr>
              <a:tr h="640080">
                <a:tc>
                  <a:txBody>
                    <a:bodyPr wrap="square"/>
                    <a:lstStyle/>
                    <a:p>
                      <a:pPr algn="l"/>
                      <a:r>
                        <a:rPr sz="1700" b="0">
                          <a:solidFill>
                            <a:srgbClr val="1F2A44"/>
                          </a:solidFill>
                          <a:latin typeface="Calibri"/>
                        </a:rPr>
                        <a:t>R5 LLM rate limit 8k tokens/min</a:t>
                      </a:r>
                    </a:p>
                  </a:txBody>
                  <a:tcPr marL="73152" marR="73152" marT="27432" marB="27432" anchor="ctr">
                    <a:solidFill>
                      <a:srgbClr val="FFFFFF"/>
                    </a:solidFill>
                  </a:tcPr>
                </a:tc>
                <a:tc>
                  <a:txBody>
                    <a:bodyPr wrap="square"/>
                    <a:lstStyle/>
                    <a:p>
                      <a:pPr algn="ctr"/>
                      <a:r>
                        <a:rPr sz="1700" b="0">
                          <a:solidFill>
                            <a:srgbClr val="1F2A44"/>
                          </a:solidFill>
                          <a:latin typeface="Calibri"/>
                        </a:rPr>
                        <a:t>8</a:t>
                      </a:r>
                    </a:p>
                  </a:txBody>
                  <a:tcPr marL="73152" marR="73152" marT="27432" marB="27432" anchor="ctr">
                    <a:solidFill>
                      <a:srgbClr val="FFFFFF"/>
                    </a:solidFill>
                  </a:tcPr>
                </a:tc>
                <a:tc>
                  <a:txBody>
                    <a:bodyPr wrap="square"/>
                    <a:lstStyle/>
                    <a:p>
                      <a:pPr algn="l"/>
                      <a:r>
                        <a:rPr sz="1700" b="0">
                          <a:solidFill>
                            <a:srgbClr val="1F2A44"/>
                          </a:solidFill>
                          <a:latin typeface="Calibri"/>
                        </a:rPr>
                        <a:t>Throttling, small evaluation set</a:t>
                      </a:r>
                    </a:p>
                  </a:txBody>
                  <a:tcPr marL="73152" marR="73152" marT="27432" marB="27432" anchor="ctr">
                    <a:solidFill>
                      <a:srgbClr val="FFFFFF"/>
                    </a:solidFill>
                  </a:tcPr>
                </a:tc>
                <a:tc>
                  <a:txBody>
                    <a:bodyPr wrap="square"/>
                    <a:lstStyle/>
                    <a:p>
                      <a:pPr algn="ctr"/>
                      <a:r>
                        <a:rPr sz="1700" b="0">
                          <a:solidFill>
                            <a:srgbClr val="C0392B"/>
                          </a:solidFill>
                          <a:latin typeface="Calibri"/>
                        </a:rPr>
                        <a:t>Occurred</a:t>
                      </a:r>
                    </a:p>
                  </a:txBody>
                  <a:tcPr marL="73152" marR="73152" marT="27432" marB="27432" anchor="ctr">
                    <a:solidFill>
                      <a:srgbClr val="FFFFFF"/>
                    </a:solidFill>
                  </a:tcPr>
                </a:tc>
              </a:tr>
              <a:tr h="640080">
                <a:tc>
                  <a:txBody>
                    <a:bodyPr wrap="square"/>
                    <a:lstStyle/>
                    <a:p>
                      <a:pPr algn="l"/>
                      <a:r>
                        <a:rPr sz="1700" b="0">
                          <a:solidFill>
                            <a:srgbClr val="1F2A44"/>
                          </a:solidFill>
                          <a:latin typeface="Calibri"/>
                        </a:rPr>
                        <a:t>R6 Uneven team contribution</a:t>
                      </a:r>
                    </a:p>
                  </a:txBody>
                  <a:tcPr marL="73152" marR="73152" marT="27432" marB="27432" anchor="ctr">
                    <a:solidFill>
                      <a:srgbClr val="F1F7FB"/>
                    </a:solidFill>
                  </a:tcPr>
                </a:tc>
                <a:tc>
                  <a:txBody>
                    <a:bodyPr wrap="square"/>
                    <a:lstStyle/>
                    <a:p>
                      <a:pPr algn="ctr"/>
                      <a:r>
                        <a:rPr sz="1700" b="0">
                          <a:solidFill>
                            <a:srgbClr val="1F2A44"/>
                          </a:solidFill>
                          <a:latin typeface="Calibri"/>
                        </a:rPr>
                        <a:t>12</a:t>
                      </a:r>
                    </a:p>
                  </a:txBody>
                  <a:tcPr marL="73152" marR="73152" marT="27432" marB="27432" anchor="ctr">
                    <a:solidFill>
                      <a:srgbClr val="F1F7FB"/>
                    </a:solidFill>
                  </a:tcPr>
                </a:tc>
                <a:tc>
                  <a:txBody>
                    <a:bodyPr wrap="square"/>
                    <a:lstStyle/>
                    <a:p>
                      <a:pPr algn="l"/>
                      <a:r>
                        <a:rPr sz="1700" b="0">
                          <a:solidFill>
                            <a:srgbClr val="1F2A44"/>
                          </a:solidFill>
                          <a:latin typeface="Calibri"/>
                        </a:rPr>
                        <a:t>Contribution record; owner split</a:t>
                      </a:r>
                    </a:p>
                  </a:txBody>
                  <a:tcPr marL="73152" marR="73152" marT="27432" marB="27432" anchor="ctr">
                    <a:solidFill>
                      <a:srgbClr val="F1F7FB"/>
                    </a:solidFill>
                  </a:tcPr>
                </a:tc>
                <a:tc>
                  <a:txBody>
                    <a:bodyPr wrap="square"/>
                    <a:lstStyle/>
                    <a:p>
                      <a:pPr algn="ctr"/>
                      <a:r>
                        <a:rPr sz="1700" b="0">
                          <a:solidFill>
                            <a:srgbClr val="D9822B"/>
                          </a:solidFill>
                          <a:latin typeface="Calibri"/>
                        </a:rPr>
                        <a:t>Open</a:t>
                      </a:r>
                    </a:p>
                  </a:txBody>
                  <a:tcPr marL="73152" marR="73152" marT="27432" marB="27432" anchor="ctr">
                    <a:solidFill>
                      <a:srgbClr val="F1F7FB"/>
                    </a:solidFill>
                  </a:tcPr>
                </a:tc>
              </a:tr>
              <a:tr h="640080">
                <a:tc>
                  <a:txBody>
                    <a:bodyPr wrap="square"/>
                    <a:lstStyle/>
                    <a:p>
                      <a:pPr algn="l"/>
                      <a:r>
                        <a:rPr sz="1700" b="0">
                          <a:solidFill>
                            <a:srgbClr val="1F2A44"/>
                          </a:solidFill>
                          <a:latin typeface="Calibri"/>
                        </a:rPr>
                        <a:t>R7 Deployment unverified</a:t>
                      </a:r>
                    </a:p>
                  </a:txBody>
                  <a:tcPr marL="73152" marR="73152" marT="27432" marB="27432" anchor="ctr">
                    <a:solidFill>
                      <a:srgbClr val="FFFFFF"/>
                    </a:solidFill>
                  </a:tcPr>
                </a:tc>
                <a:tc>
                  <a:txBody>
                    <a:bodyPr wrap="square"/>
                    <a:lstStyle/>
                    <a:p>
                      <a:pPr algn="ctr"/>
                      <a:r>
                        <a:rPr sz="1700" b="0">
                          <a:solidFill>
                            <a:srgbClr val="1F2A44"/>
                          </a:solidFill>
                          <a:latin typeface="Calibri"/>
                        </a:rPr>
                        <a:t>9</a:t>
                      </a:r>
                    </a:p>
                  </a:txBody>
                  <a:tcPr marL="73152" marR="73152" marT="27432" marB="27432" anchor="ctr">
                    <a:solidFill>
                      <a:srgbClr val="FFFFFF"/>
                    </a:solidFill>
                  </a:tcPr>
                </a:tc>
                <a:tc>
                  <a:txBody>
                    <a:bodyPr wrap="square"/>
                    <a:lstStyle/>
                    <a:p>
                      <a:pPr algn="l"/>
                      <a:r>
                        <a:rPr sz="1700" b="0">
                          <a:solidFill>
                            <a:srgbClr val="1F2A44"/>
                          </a:solidFill>
                          <a:latin typeface="Calibri"/>
                        </a:rPr>
                        <a:t>Docker + Render files; to verify</a:t>
                      </a:r>
                    </a:p>
                  </a:txBody>
                  <a:tcPr marL="73152" marR="73152" marT="27432" marB="27432" anchor="ctr">
                    <a:solidFill>
                      <a:srgbClr val="FFFFFF"/>
                    </a:solidFill>
                  </a:tcPr>
                </a:tc>
                <a:tc>
                  <a:txBody>
                    <a:bodyPr wrap="square"/>
                    <a:lstStyle/>
                    <a:p>
                      <a:pPr algn="ctr"/>
                      <a:r>
                        <a:rPr sz="1700" b="0">
                          <a:solidFill>
                            <a:srgbClr val="D9822B"/>
                          </a:solidFill>
                          <a:latin typeface="Calibri"/>
                        </a:rPr>
                        <a:t>Open</a:t>
                      </a:r>
                    </a:p>
                  </a:txBody>
                  <a:tcPr marL="73152" marR="73152" marT="27432" marB="27432" anchor="ctr">
                    <a:solidFill>
                      <a:srgbClr val="FFFFFF"/>
                    </a:solidFill>
                  </a:tcPr>
                </a:tc>
              </a:tr>
              <a:tr h="640080">
                <a:tc>
                  <a:txBody>
                    <a:bodyPr wrap="square"/>
                    <a:lstStyle/>
                    <a:p>
                      <a:pPr algn="l"/>
                      <a:r>
                        <a:rPr sz="1700" b="0">
                          <a:solidFill>
                            <a:srgbClr val="1F2A44"/>
                          </a:solidFill>
                          <a:latin typeface="Calibri"/>
                        </a:rPr>
                        <a:t>R8 No field trial</a:t>
                      </a:r>
                    </a:p>
                  </a:txBody>
                  <a:tcPr marL="73152" marR="73152" marT="27432" marB="27432" anchor="ctr">
                    <a:solidFill>
                      <a:srgbClr val="F1F7FB"/>
                    </a:solidFill>
                  </a:tcPr>
                </a:tc>
                <a:tc>
                  <a:txBody>
                    <a:bodyPr wrap="square"/>
                    <a:lstStyle/>
                    <a:p>
                      <a:pPr algn="ctr"/>
                      <a:r>
                        <a:rPr sz="1700" b="0">
                          <a:solidFill>
                            <a:srgbClr val="1F2A44"/>
                          </a:solidFill>
                          <a:latin typeface="Calibri"/>
                        </a:rPr>
                        <a:t>12</a:t>
                      </a:r>
                    </a:p>
                  </a:txBody>
                  <a:tcPr marL="73152" marR="73152" marT="27432" marB="27432" anchor="ctr">
                    <a:solidFill>
                      <a:srgbClr val="F1F7FB"/>
                    </a:solidFill>
                  </a:tcPr>
                </a:tc>
                <a:tc>
                  <a:txBody>
                    <a:bodyPr wrap="square"/>
                    <a:lstStyle/>
                    <a:p>
                      <a:pPr algn="l"/>
                      <a:r>
                        <a:rPr sz="1700" b="0">
                          <a:solidFill>
                            <a:srgbClr val="1F2A44"/>
                          </a:solidFill>
                          <a:latin typeface="Calibri"/>
                        </a:rPr>
                        <a:t>Stated limitation; survey ready</a:t>
                      </a:r>
                    </a:p>
                  </a:txBody>
                  <a:tcPr marL="73152" marR="73152" marT="27432" marB="27432" anchor="ctr">
                    <a:solidFill>
                      <a:srgbClr val="F1F7FB"/>
                    </a:solidFill>
                  </a:tcPr>
                </a:tc>
                <a:tc>
                  <a:txBody>
                    <a:bodyPr wrap="square"/>
                    <a:lstStyle/>
                    <a:p>
                      <a:pPr algn="ctr"/>
                      <a:r>
                        <a:rPr sz="1700" b="0">
                          <a:solidFill>
                            <a:srgbClr val="D9822B"/>
                          </a:solidFill>
                          <a:latin typeface="Calibri"/>
                        </a:rPr>
                        <a:t>Open</a:t>
                      </a:r>
                    </a:p>
                  </a:txBody>
                  <a:tcPr marL="73152" marR="73152" marT="27432" marB="27432" anchor="ctr">
                    <a:solidFill>
                      <a:srgbClr val="F1F7FB"/>
                    </a:solidFill>
                  </a:tcPr>
                </a:tc>
              </a:tr>
              <a:tr h="640080">
                <a:tc>
                  <a:txBody>
                    <a:bodyPr wrap="square"/>
                    <a:lstStyle/>
                    <a:p>
                      <a:pPr algn="l"/>
                      <a:r>
                        <a:rPr sz="1700" b="0">
                          <a:solidFill>
                            <a:srgbClr val="1F2A44"/>
                          </a:solidFill>
                          <a:latin typeface="Calibri"/>
                        </a:rPr>
                        <a:t>R10 Stale server served old code</a:t>
                      </a:r>
                    </a:p>
                  </a:txBody>
                  <a:tcPr marL="73152" marR="73152" marT="27432" marB="27432" anchor="ctr">
                    <a:solidFill>
                      <a:srgbClr val="FFFFFF"/>
                    </a:solidFill>
                  </a:tcPr>
                </a:tc>
                <a:tc>
                  <a:txBody>
                    <a:bodyPr wrap="square"/>
                    <a:lstStyle/>
                    <a:p>
                      <a:pPr algn="ctr"/>
                      <a:r>
                        <a:rPr sz="1700" b="0">
                          <a:solidFill>
                            <a:srgbClr val="1F2A44"/>
                          </a:solidFill>
                          <a:latin typeface="Calibri"/>
                        </a:rPr>
                        <a:t>6</a:t>
                      </a:r>
                    </a:p>
                  </a:txBody>
                  <a:tcPr marL="73152" marR="73152" marT="27432" marB="27432" anchor="ctr">
                    <a:solidFill>
                      <a:srgbClr val="FFFFFF"/>
                    </a:solidFill>
                  </a:tcPr>
                </a:tc>
                <a:tc>
                  <a:txBody>
                    <a:bodyPr wrap="square"/>
                    <a:lstStyle/>
                    <a:p>
                      <a:pPr algn="l"/>
                      <a:r>
                        <a:rPr sz="1700" b="0">
                          <a:solidFill>
                            <a:srgbClr val="1F2A44"/>
                          </a:solidFill>
                          <a:latin typeface="Calibri"/>
                        </a:rPr>
                        <a:t>Restart; smoke test lists every endpoint</a:t>
                      </a:r>
                    </a:p>
                  </a:txBody>
                  <a:tcPr marL="73152" marR="73152" marT="27432" marB="27432" anchor="ctr">
                    <a:solidFill>
                      <a:srgbClr val="FFFFFF"/>
                    </a:solidFill>
                  </a:tcPr>
                </a:tc>
                <a:tc>
                  <a:txBody>
                    <a:bodyPr wrap="square"/>
                    <a:lstStyle/>
                    <a:p>
                      <a:pPr algn="ctr"/>
                      <a:r>
                        <a:rPr sz="1700" b="0">
                          <a:solidFill>
                            <a:srgbClr val="C0392B"/>
                          </a:solidFill>
                          <a:latin typeface="Calibri"/>
                        </a:rPr>
                        <a:t>Occurred</a:t>
                      </a:r>
                    </a:p>
                  </a:txBody>
                  <a:tcPr marL="73152" marR="73152" marT="27432" marB="27432" anchor="ctr">
                    <a:solidFill>
                      <a:srgbClr val="FFFFFF"/>
                    </a:solidFill>
                  </a:tcPr>
                </a:tc>
              </a:tr>
            </a:tbl>
          </a:graphicData>
        </a:graphic>
      </p:graphicFrame>
      <p:sp>
        <p:nvSpPr>
          <p:cNvPr id="10304" name="Rectangle 10303"/>
          <p:cNvSpPr/>
          <p:nvPr/>
        </p:nvSpPr>
        <p:spPr>
          <a:xfrm>
            <a:off x="11430000" y="8412480"/>
            <a:ext cx="7680960" cy="1737360"/>
          </a:xfrm>
          <a:prstGeom prst="rect">
            <a:avLst/>
          </a:prstGeom>
          <a:solidFill>
            <a:srgbClr val="DCE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r>
              <a:rPr sz="2000" b="1" i="0">
                <a:solidFill>
                  <a:srgbClr val="1F2A44"/>
                </a:solidFill>
                <a:latin typeface="Calibri"/>
              </a:rPr>
              <a:t>Materialised: R1. </a:t>
            </a:r>
            <a:r>
              <a:rPr sz="2000" b="0" i="0">
                <a:solidFill>
                  <a:srgbClr val="1F2A44"/>
                </a:solidFill>
                <a:latin typeface="Calibri"/>
              </a:rPr>
              <a:t>Trigger: results that looked too clean. Action: discard, rebuild from portal exports, re-run every experiment (see report Ch. 4).</a:t>
            </a:r>
          </a:p>
        </p:txBody>
      </p:sp>
    </p:spTree>
    <p:extLst>
      <p:ext uri="{BB962C8B-B14F-4D97-AF65-F5344CB8AC3E}">
        <p14:creationId xmlns:p14="http://schemas.microsoft.com/office/powerpoint/2010/main" val="17690171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Project Report and Documentation Status</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15</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912" name="Content Guidance"/>
          <p:cNvSpPr txBox="1"/>
          <p:nvPr/>
        </p:nvSpPr>
        <p:spPr>
          <a:xfrm>
            <a:off x="1005840" y="1737360"/>
            <a:ext cx="18105120" cy="3291840"/>
          </a:xfrm>
          <a:prstGeom prst="rect">
            <a:avLst/>
          </a:prstGeom>
          <a:noFill/>
        </p:spPr>
        <p:txBody>
          <a:bodyPr wrap="square" lIns="0" tIns="0" rIns="0" bIns="0">
            <a:normAutofit/>
          </a:bodyPr>
          <a:lstStyle/>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Report: </a:t>
            </a:r>
            <a:r>
              <a:rPr lang="en-US" sz="2500" dirty="0">
                <a:solidFill>
                  <a:srgbClr val="1F2A44"/>
                </a:solidFill>
                <a:latin typeface="Calibri" panose="020F0502020204030204" charset="0"/>
                <a:cs typeface="Calibri" panose="020F0502020204030204" charset="0"/>
              </a:rPr>
              <a:t>BMSCE thesis template, 83 pages, compiled in LaTeX; Chapters 1–7 written, now including the insight features and the digest; every table generated from experiment artefacts.</a:t>
            </a:r>
          </a:p>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Appendices: </a:t>
            </a:r>
            <a:r>
              <a:rPr lang="en-US" sz="2500" dirty="0">
                <a:solidFill>
                  <a:srgbClr val="1F2A44"/>
                </a:solidFill>
                <a:latin typeface="Calibri" panose="020F0502020204030204" charset="0"/>
                <a:cs typeface="Calibri" panose="020F0502020204030204" charset="0"/>
              </a:rPr>
              <a:t>A code (read from source), B survey instrument, C per-fold evaluation, D dataset, E PO and SDG mapping, F similarity record.</a:t>
            </a:r>
          </a:p>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Remaining: </a:t>
            </a:r>
            <a:r>
              <a:rPr lang="en-US" sz="2500" dirty="0">
                <a:solidFill>
                  <a:srgbClr val="1F2A44"/>
                </a:solidFill>
                <a:latin typeface="Calibri" panose="020F0502020204030204" charset="0"/>
                <a:cs typeface="Calibri" panose="020F0502020204030204" charset="0"/>
              </a:rPr>
              <a:t>official Drillbit report, CO–PO matrix from the course file, declaration date, supervisor corrections.</a:t>
            </a:r>
          </a:p>
        </p:txBody>
      </p:sp>
      <p:graphicFrame>
        <p:nvGraphicFramePr>
          <p:cNvPr id="10251" name="Table 10250"/>
          <p:cNvGraphicFramePr>
            <a:graphicFrameLocks noGrp="1"/>
          </p:cNvGraphicFramePr>
          <p:nvPr/>
        </p:nvGraphicFramePr>
        <p:xfrm>
          <a:off x="1005840" y="4572000"/>
          <a:ext cx="10972799" cy="4389120"/>
        </p:xfrm>
        <a:graphic>
          <a:graphicData uri="http://schemas.openxmlformats.org/drawingml/2006/table">
            <a:tbl>
              <a:tblPr firstRow="1" bandRow="1">
                <a:tableStyleId>{5C22544A-7EE6-4342-B048-85BDC9FD1C3A}</a:tableStyleId>
              </a:tblPr>
              <a:tblGrid>
                <a:gridCol w="4023360"/>
                <a:gridCol w="6949439"/>
              </a:tblGrid>
              <a:tr h="731520">
                <a:tc>
                  <a:txBody>
                    <a:bodyPr wrap="square"/>
                    <a:lstStyle/>
                    <a:p>
                      <a:pPr algn="ctr"/>
                      <a:r>
                        <a:rPr sz="2300" b="1">
                          <a:solidFill>
                            <a:srgbClr val="FFFFFF"/>
                          </a:solidFill>
                          <a:latin typeface="Calibri"/>
                        </a:rPr>
                        <a:t>Item</a:t>
                      </a:r>
                    </a:p>
                  </a:txBody>
                  <a:tcPr marL="73152" marR="73152" marT="27432" marB="27432" anchor="ctr">
                    <a:solidFill>
                      <a:srgbClr val="1F4E79"/>
                    </a:solidFill>
                  </a:tcPr>
                </a:tc>
                <a:tc>
                  <a:txBody>
                    <a:bodyPr wrap="square"/>
                    <a:lstStyle/>
                    <a:p>
                      <a:pPr algn="ctr"/>
                      <a:r>
                        <a:rPr sz="2300" b="1">
                          <a:solidFill>
                            <a:srgbClr val="FFFFFF"/>
                          </a:solidFill>
                          <a:latin typeface="Calibri"/>
                        </a:rPr>
                        <a:t>State</a:t>
                      </a:r>
                    </a:p>
                  </a:txBody>
                  <a:tcPr marL="73152" marR="73152" marT="27432" marB="27432" anchor="ctr">
                    <a:solidFill>
                      <a:srgbClr val="1F4E79"/>
                    </a:solidFill>
                  </a:tcPr>
                </a:tc>
              </a:tr>
              <a:tr h="731520">
                <a:tc>
                  <a:txBody>
                    <a:bodyPr wrap="square"/>
                    <a:lstStyle/>
                    <a:p>
                      <a:pPr algn="l"/>
                      <a:r>
                        <a:rPr sz="2300" b="0">
                          <a:solidFill>
                            <a:srgbClr val="1F2A44"/>
                          </a:solidFill>
                          <a:latin typeface="Calibri"/>
                        </a:rPr>
                        <a:t>Chapters 1–7</a:t>
                      </a:r>
                    </a:p>
                  </a:txBody>
                  <a:tcPr marL="73152" marR="73152" marT="27432" marB="27432" anchor="ctr">
                    <a:solidFill>
                      <a:srgbClr val="FFFFFF"/>
                    </a:solidFill>
                  </a:tcPr>
                </a:tc>
                <a:tc>
                  <a:txBody>
                    <a:bodyPr wrap="square"/>
                    <a:lstStyle/>
                    <a:p>
                      <a:pPr algn="l"/>
                      <a:r>
                        <a:rPr sz="2300" b="0">
                          <a:solidFill>
                            <a:srgbClr val="2E8B57"/>
                          </a:solidFill>
                          <a:latin typeface="Calibri"/>
                        </a:rPr>
                        <a:t>complete</a:t>
                      </a:r>
                    </a:p>
                  </a:txBody>
                  <a:tcPr marL="73152" marR="73152" marT="27432" marB="27432" anchor="ctr">
                    <a:solidFill>
                      <a:srgbClr val="FFFFFF"/>
                    </a:solidFill>
                  </a:tcPr>
                </a:tc>
              </a:tr>
              <a:tr h="731520">
                <a:tc>
                  <a:txBody>
                    <a:bodyPr wrap="square"/>
                    <a:lstStyle/>
                    <a:p>
                      <a:pPr algn="l"/>
                      <a:r>
                        <a:rPr sz="2300" b="0">
                          <a:solidFill>
                            <a:srgbClr val="1F2A44"/>
                          </a:solidFill>
                          <a:latin typeface="Calibri"/>
                        </a:rPr>
                        <a:t>Appendices A–E</a:t>
                      </a:r>
                    </a:p>
                  </a:txBody>
                  <a:tcPr marL="73152" marR="73152" marT="27432" marB="27432" anchor="ctr">
                    <a:solidFill>
                      <a:srgbClr val="F1F7FB"/>
                    </a:solidFill>
                  </a:tcPr>
                </a:tc>
                <a:tc>
                  <a:txBody>
                    <a:bodyPr wrap="square"/>
                    <a:lstStyle/>
                    <a:p>
                      <a:pPr algn="l"/>
                      <a:r>
                        <a:rPr sz="2300" b="0">
                          <a:solidFill>
                            <a:srgbClr val="D9822B"/>
                          </a:solidFill>
                          <a:latin typeface="Calibri"/>
                        </a:rPr>
                        <a:t>complete (E: CO–PO table to be inserted)</a:t>
                      </a:r>
                    </a:p>
                  </a:txBody>
                  <a:tcPr marL="73152" marR="73152" marT="27432" marB="27432" anchor="ctr">
                    <a:solidFill>
                      <a:srgbClr val="F1F7FB"/>
                    </a:solidFill>
                  </a:tcPr>
                </a:tc>
              </a:tr>
              <a:tr h="731520">
                <a:tc>
                  <a:txBody>
                    <a:bodyPr wrap="square"/>
                    <a:lstStyle/>
                    <a:p>
                      <a:pPr algn="l"/>
                      <a:r>
                        <a:rPr sz="2300" b="0">
                          <a:solidFill>
                            <a:srgbClr val="1F2A44"/>
                          </a:solidFill>
                          <a:latin typeface="Calibri"/>
                        </a:rPr>
                        <a:t>Appendix F similarity record</a:t>
                      </a:r>
                    </a:p>
                  </a:txBody>
                  <a:tcPr marL="73152" marR="73152" marT="27432" marB="27432" anchor="ctr">
                    <a:solidFill>
                      <a:srgbClr val="FFFFFF"/>
                    </a:solidFill>
                  </a:tcPr>
                </a:tc>
                <a:tc>
                  <a:txBody>
                    <a:bodyPr wrap="square"/>
                    <a:lstStyle/>
                    <a:p>
                      <a:pPr algn="l"/>
                      <a:r>
                        <a:rPr sz="2300" b="0">
                          <a:solidFill>
                            <a:srgbClr val="C0392B"/>
                          </a:solidFill>
                          <a:latin typeface="Calibri"/>
                        </a:rPr>
                        <a:t>pending: Drillbit not yet run</a:t>
                      </a:r>
                    </a:p>
                  </a:txBody>
                  <a:tcPr marL="73152" marR="73152" marT="27432" marB="27432" anchor="ctr">
                    <a:solidFill>
                      <a:srgbClr val="FFFFFF"/>
                    </a:solidFill>
                  </a:tcPr>
                </a:tc>
              </a:tr>
              <a:tr h="731520">
                <a:tc>
                  <a:txBody>
                    <a:bodyPr wrap="square"/>
                    <a:lstStyle/>
                    <a:p>
                      <a:pPr algn="l"/>
                      <a:r>
                        <a:rPr sz="2300" b="0">
                          <a:solidFill>
                            <a:srgbClr val="1F2A44"/>
                          </a:solidFill>
                          <a:latin typeface="Calibri"/>
                        </a:rPr>
                        <a:t>Figures and tables</a:t>
                      </a:r>
                    </a:p>
                  </a:txBody>
                  <a:tcPr marL="73152" marR="73152" marT="27432" marB="27432" anchor="ctr">
                    <a:solidFill>
                      <a:srgbClr val="F1F7FB"/>
                    </a:solidFill>
                  </a:tcPr>
                </a:tc>
                <a:tc>
                  <a:txBody>
                    <a:bodyPr wrap="square"/>
                    <a:lstStyle/>
                    <a:p>
                      <a:pPr algn="l"/>
                      <a:r>
                        <a:rPr sz="2300" b="0">
                          <a:solidFill>
                            <a:srgbClr val="2E8B57"/>
                          </a:solidFill>
                          <a:latin typeface="Calibri"/>
                        </a:rPr>
                        <a:t>numbered, captioned, referenced</a:t>
                      </a:r>
                    </a:p>
                  </a:txBody>
                  <a:tcPr marL="73152" marR="73152" marT="27432" marB="27432" anchor="ctr">
                    <a:solidFill>
                      <a:srgbClr val="F1F7FB"/>
                    </a:solidFill>
                  </a:tcPr>
                </a:tc>
              </a:tr>
              <a:tr h="731520">
                <a:tc>
                  <a:txBody>
                    <a:bodyPr wrap="square"/>
                    <a:lstStyle/>
                    <a:p>
                      <a:pPr algn="l"/>
                      <a:r>
                        <a:rPr sz="2300" b="0">
                          <a:solidFill>
                            <a:srgbClr val="1F2A44"/>
                          </a:solidFill>
                          <a:latin typeface="Calibri"/>
                        </a:rPr>
                        <a:t>Citations</a:t>
                      </a:r>
                    </a:p>
                  </a:txBody>
                  <a:tcPr marL="73152" marR="73152" marT="27432" marB="27432" anchor="ctr">
                    <a:solidFill>
                      <a:srgbClr val="FFFFFF"/>
                    </a:solidFill>
                  </a:tcPr>
                </a:tc>
                <a:tc>
                  <a:txBody>
                    <a:bodyPr wrap="square"/>
                    <a:lstStyle/>
                    <a:p>
                      <a:pPr algn="l"/>
                      <a:r>
                        <a:rPr sz="2300" b="0">
                          <a:solidFill>
                            <a:srgbClr val="2E8B57"/>
                          </a:solidFill>
                          <a:latin typeface="Calibri"/>
                        </a:rPr>
                        <a:t>40 IEEE-style entries, all cited</a:t>
                      </a:r>
                    </a:p>
                  </a:txBody>
                  <a:tcPr marL="73152" marR="73152" marT="27432" marB="27432" anchor="ctr">
                    <a:solidFill>
                      <a:srgbClr val="FFFFFF"/>
                    </a:solidFill>
                  </a:tcPr>
                </a:tc>
              </a:tr>
            </a:tbl>
          </a:graphicData>
        </a:graphic>
      </p:graphicFrame>
      <p:sp>
        <p:nvSpPr>
          <p:cNvPr id="10252" name="Rectangle 10251"/>
          <p:cNvSpPr/>
          <p:nvPr/>
        </p:nvSpPr>
        <p:spPr>
          <a:xfrm>
            <a:off x="12527280" y="4572000"/>
            <a:ext cx="6583680" cy="438912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36576" bIns="36576"/>
          <a:lstStyle/>
          <a:p>
            <a:pPr algn="l"/>
            <a:r>
              <a:rPr sz="2300" b="1" i="0">
                <a:solidFill>
                  <a:srgbClr val="1F2A44"/>
                </a:solidFill>
                <a:latin typeface="Calibri"/>
              </a:rPr>
              <a:t>Similarity: </a:t>
            </a:r>
            <a:r>
              <a:rPr sz="2300" b="0" i="0">
                <a:solidFill>
                  <a:srgbClr val="1F2A44"/>
                </a:solidFill>
                <a:latin typeface="Calibri"/>
              </a:rPr>
              <a:t>target ≤ 20% with Drillbit, references excluded. The official check has not been run yet; no percentage is claimed. A self-check of the conference draft found no verbatim web matches, which is not a substitute.</a:t>
            </a:r>
          </a:p>
        </p:txBody>
      </p:sp>
    </p:spTree>
    <p:extLst>
      <p:ext uri="{BB962C8B-B14F-4D97-AF65-F5344CB8AC3E}">
        <p14:creationId xmlns:p14="http://schemas.microsoft.com/office/powerpoint/2010/main" val="17690171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SDG Mapping and Societal Impact</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16</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913" name="Content Guidance"/>
          <p:cNvSpPr txBox="1"/>
          <p:nvPr/>
        </p:nvSpPr>
        <p:spPr>
          <a:xfrm>
            <a:off x="1005840" y="1737360"/>
            <a:ext cx="18105120" cy="1645920"/>
          </a:xfrm>
          <a:prstGeom prst="rect">
            <a:avLst/>
          </a:prstGeom>
          <a:noFill/>
        </p:spPr>
        <p:txBody>
          <a:bodyPr wrap="square" lIns="0" tIns="0" rIns="0" bIns="0">
            <a:normAutofit/>
          </a:bodyPr>
          <a:lstStyle/>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Stakeholders: </a:t>
            </a:r>
            <a:r>
              <a:rPr lang="en-US" sz="2500" dirty="0">
                <a:solidFill>
                  <a:srgbClr val="1F2A44"/>
                </a:solidFill>
                <a:latin typeface="Calibri" panose="020F0502020204030204" charset="0"/>
                <a:cs typeface="Calibri" panose="020F0502020204030204" charset="0"/>
              </a:rPr>
              <a:t>smallholder farmers (need a plain answer and a floor), traders (need evidence tiers and arrivals), mandi officials and policy makers (need transparent data use).</a:t>
            </a:r>
          </a:p>
        </p:txBody>
      </p:sp>
      <p:graphicFrame>
        <p:nvGraphicFramePr>
          <p:cNvPr id="10251" name="Table 10250"/>
          <p:cNvGraphicFramePr>
            <a:graphicFrameLocks noGrp="1"/>
          </p:cNvGraphicFramePr>
          <p:nvPr/>
        </p:nvGraphicFramePr>
        <p:xfrm>
          <a:off x="1005840" y="3566160"/>
          <a:ext cx="18105118" cy="5029200"/>
        </p:xfrm>
        <a:graphic>
          <a:graphicData uri="http://schemas.openxmlformats.org/drawingml/2006/table">
            <a:tbl>
              <a:tblPr firstRow="1" bandRow="1">
                <a:tableStyleId>{5C22544A-7EE6-4342-B048-85BDC9FD1C3A}</a:tableStyleId>
              </a:tblPr>
              <a:tblGrid>
                <a:gridCol w="1917012"/>
                <a:gridCol w="5538036"/>
                <a:gridCol w="7881052"/>
                <a:gridCol w="2769018"/>
              </a:tblGrid>
              <a:tr h="1005840">
                <a:tc>
                  <a:txBody>
                    <a:bodyPr wrap="square"/>
                    <a:lstStyle/>
                    <a:p>
                      <a:pPr algn="ctr"/>
                      <a:r>
                        <a:rPr sz="2300" b="1">
                          <a:solidFill>
                            <a:srgbClr val="FFFFFF"/>
                          </a:solidFill>
                          <a:latin typeface="Calibri"/>
                        </a:rPr>
                        <a:t>SDG / target</a:t>
                      </a:r>
                    </a:p>
                  </a:txBody>
                  <a:tcPr marL="73152" marR="73152" marT="27432" marB="27432" anchor="ctr">
                    <a:solidFill>
                      <a:srgbClr val="1F4E79"/>
                    </a:solidFill>
                  </a:tcPr>
                </a:tc>
                <a:tc>
                  <a:txBody>
                    <a:bodyPr wrap="square"/>
                    <a:lstStyle/>
                    <a:p>
                      <a:pPr algn="ctr"/>
                      <a:r>
                        <a:rPr sz="2300" b="1">
                          <a:solidFill>
                            <a:srgbClr val="FFFFFF"/>
                          </a:solidFill>
                          <a:latin typeface="Calibri"/>
                        </a:rPr>
                        <a:t>Link</a:t>
                      </a:r>
                    </a:p>
                  </a:txBody>
                  <a:tcPr marL="73152" marR="73152" marT="27432" marB="27432" anchor="ctr">
                    <a:solidFill>
                      <a:srgbClr val="1F4E79"/>
                    </a:solidFill>
                  </a:tcPr>
                </a:tc>
                <a:tc>
                  <a:txBody>
                    <a:bodyPr wrap="square"/>
                    <a:lstStyle/>
                    <a:p>
                      <a:pPr algn="ctr"/>
                      <a:r>
                        <a:rPr sz="2300" b="1">
                          <a:solidFill>
                            <a:srgbClr val="FFFFFF"/>
                          </a:solidFill>
                          <a:latin typeface="Calibri"/>
                        </a:rPr>
                        <a:t>Support in our results</a:t>
                      </a:r>
                    </a:p>
                  </a:txBody>
                  <a:tcPr marL="73152" marR="73152" marT="27432" marB="27432" anchor="ctr">
                    <a:solidFill>
                      <a:srgbClr val="1F4E79"/>
                    </a:solidFill>
                  </a:tcPr>
                </a:tc>
                <a:tc>
                  <a:txBody>
                    <a:bodyPr wrap="square"/>
                    <a:lstStyle/>
                    <a:p>
                      <a:pPr algn="ctr"/>
                      <a:r>
                        <a:rPr sz="2300" b="1">
                          <a:solidFill>
                            <a:srgbClr val="FFFFFF"/>
                          </a:solidFill>
                          <a:latin typeface="Calibri"/>
                        </a:rPr>
                        <a:t>Status</a:t>
                      </a:r>
                    </a:p>
                  </a:txBody>
                  <a:tcPr marL="73152" marR="73152" marT="27432" marB="27432" anchor="ctr">
                    <a:solidFill>
                      <a:srgbClr val="1F4E79"/>
                    </a:solidFill>
                  </a:tcPr>
                </a:tc>
              </a:tr>
              <a:tr h="1005840">
                <a:tc>
                  <a:txBody>
                    <a:bodyPr wrap="square"/>
                    <a:lstStyle/>
                    <a:p>
                      <a:pPr algn="l"/>
                      <a:r>
                        <a:rPr sz="2300" b="1">
                          <a:solidFill>
                            <a:srgbClr val="1F2A44"/>
                          </a:solidFill>
                          <a:latin typeface="Calibri"/>
                        </a:rPr>
                        <a:t>2 / 2.3</a:t>
                      </a:r>
                    </a:p>
                  </a:txBody>
                  <a:tcPr marL="73152" marR="73152" marT="27432" marB="27432" anchor="ctr">
                    <a:solidFill>
                      <a:srgbClr val="FFFFFF"/>
                    </a:solidFill>
                  </a:tcPr>
                </a:tc>
                <a:tc>
                  <a:txBody>
                    <a:bodyPr wrap="square"/>
                    <a:lstStyle/>
                    <a:p>
                      <a:pPr algn="l"/>
                      <a:r>
                        <a:rPr sz="2300" b="0">
                          <a:solidFill>
                            <a:srgbClr val="1F2A44"/>
                          </a:solidFill>
                          <a:latin typeface="Calibri"/>
                        </a:rPr>
                        <a:t>income of small-scale producers through market information</a:t>
                      </a:r>
                    </a:p>
                  </a:txBody>
                  <a:tcPr marL="73152" marR="73152" marT="27432" marB="27432" anchor="ctr">
                    <a:solidFill>
                      <a:srgbClr val="FFFFFF"/>
                    </a:solidFill>
                  </a:tcPr>
                </a:tc>
                <a:tc>
                  <a:txBody>
                    <a:bodyPr wrap="square"/>
                    <a:lstStyle/>
                    <a:p>
                      <a:pPr algn="l"/>
                      <a:r>
                        <a:rPr sz="2300" b="0">
                          <a:solidFill>
                            <a:srgbClr val="1F2A44"/>
                          </a:solidFill>
                          <a:latin typeface="Calibri"/>
                        </a:rPr>
                        <a:t>back-test gains Rs 60–202 per quintal over the best simple rule in 3 of 4 crops; morning digest on a free channel (untested with farmers)</a:t>
                      </a:r>
                    </a:p>
                  </a:txBody>
                  <a:tcPr marL="73152" marR="73152" marT="27432" marB="27432" anchor="ctr">
                    <a:solidFill>
                      <a:srgbClr val="FFFFFF"/>
                    </a:solidFill>
                  </a:tcPr>
                </a:tc>
                <a:tc>
                  <a:txBody>
                    <a:bodyPr wrap="square"/>
                    <a:lstStyle/>
                    <a:p>
                      <a:pPr algn="l"/>
                      <a:r>
                        <a:rPr sz="2300" b="0">
                          <a:solidFill>
                            <a:srgbClr val="2E8B57"/>
                          </a:solidFill>
                          <a:latin typeface="Calibri"/>
                        </a:rPr>
                        <a:t>Measured offline</a:t>
                      </a:r>
                    </a:p>
                  </a:txBody>
                  <a:tcPr marL="73152" marR="73152" marT="27432" marB="27432" anchor="ctr">
                    <a:solidFill>
                      <a:srgbClr val="FFFFFF"/>
                    </a:solidFill>
                  </a:tcPr>
                </a:tc>
              </a:tr>
              <a:tr h="1005840">
                <a:tc>
                  <a:txBody>
                    <a:bodyPr wrap="square"/>
                    <a:lstStyle/>
                    <a:p>
                      <a:pPr algn="l"/>
                      <a:r>
                        <a:rPr sz="2300" b="1">
                          <a:solidFill>
                            <a:srgbClr val="1F2A44"/>
                          </a:solidFill>
                          <a:latin typeface="Calibri"/>
                        </a:rPr>
                        <a:t>1 / 1.4</a:t>
                      </a:r>
                    </a:p>
                  </a:txBody>
                  <a:tcPr marL="73152" marR="73152" marT="27432" marB="27432" anchor="ctr">
                    <a:solidFill>
                      <a:srgbClr val="F1F7FB"/>
                    </a:solidFill>
                  </a:tcPr>
                </a:tc>
                <a:tc>
                  <a:txBody>
                    <a:bodyPr wrap="square"/>
                    <a:lstStyle/>
                    <a:p>
                      <a:pPr algn="l"/>
                      <a:r>
                        <a:rPr sz="2300" b="0">
                          <a:solidFill>
                            <a:srgbClr val="1F2A44"/>
                          </a:solidFill>
                          <a:latin typeface="Calibri"/>
                        </a:rPr>
                        <a:t>access to economic services</a:t>
                      </a:r>
                    </a:p>
                  </a:txBody>
                  <a:tcPr marL="73152" marR="73152" marT="27432" marB="27432" anchor="ctr">
                    <a:solidFill>
                      <a:srgbClr val="F1F7FB"/>
                    </a:solidFill>
                  </a:tcPr>
                </a:tc>
                <a:tc>
                  <a:txBody>
                    <a:bodyPr wrap="square"/>
                    <a:lstStyle/>
                    <a:p>
                      <a:pPr algn="l"/>
                      <a:r>
                        <a:rPr sz="2300" b="0">
                          <a:solidFill>
                            <a:srgbClr val="1F2A44"/>
                          </a:solidFill>
                          <a:latin typeface="Calibri"/>
                        </a:rPr>
                        <a:t>free trilingual tool for small sellers</a:t>
                      </a:r>
                    </a:p>
                  </a:txBody>
                  <a:tcPr marL="73152" marR="73152" marT="27432" marB="27432" anchor="ctr">
                    <a:solidFill>
                      <a:srgbClr val="F1F7FB"/>
                    </a:solidFill>
                  </a:tcPr>
                </a:tc>
                <a:tc>
                  <a:txBody>
                    <a:bodyPr wrap="square"/>
                    <a:lstStyle/>
                    <a:p>
                      <a:pPr algn="l"/>
                      <a:r>
                        <a:rPr sz="2300" b="0">
                          <a:solidFill>
                            <a:srgbClr val="D9822B"/>
                          </a:solidFill>
                          <a:latin typeface="Calibri"/>
                        </a:rPr>
                        <a:t>Not measured</a:t>
                      </a:r>
                    </a:p>
                  </a:txBody>
                  <a:tcPr marL="73152" marR="73152" marT="27432" marB="27432" anchor="ctr">
                    <a:solidFill>
                      <a:srgbClr val="F1F7FB"/>
                    </a:solidFill>
                  </a:tcPr>
                </a:tc>
              </a:tr>
              <a:tr h="1005840">
                <a:tc>
                  <a:txBody>
                    <a:bodyPr wrap="square"/>
                    <a:lstStyle/>
                    <a:p>
                      <a:pPr algn="l"/>
                      <a:r>
                        <a:rPr sz="2300" b="1">
                          <a:solidFill>
                            <a:srgbClr val="1F2A44"/>
                          </a:solidFill>
                          <a:latin typeface="Calibri"/>
                        </a:rPr>
                        <a:t>12 / 12.3</a:t>
                      </a:r>
                    </a:p>
                  </a:txBody>
                  <a:tcPr marL="73152" marR="73152" marT="27432" marB="27432" anchor="ctr">
                    <a:solidFill>
                      <a:srgbClr val="FFFFFF"/>
                    </a:solidFill>
                  </a:tcPr>
                </a:tc>
                <a:tc>
                  <a:txBody>
                    <a:bodyPr wrap="square"/>
                    <a:lstStyle/>
                    <a:p>
                      <a:pPr algn="l"/>
                      <a:r>
                        <a:rPr sz="2300" b="0">
                          <a:solidFill>
                            <a:srgbClr val="1F2A44"/>
                          </a:solidFill>
                          <a:latin typeface="Calibri"/>
                        </a:rPr>
                        <a:t>reduce food loss along supply chains</a:t>
                      </a:r>
                    </a:p>
                  </a:txBody>
                  <a:tcPr marL="73152" marR="73152" marT="27432" marB="27432" anchor="ctr">
                    <a:solidFill>
                      <a:srgbClr val="FFFFFF"/>
                    </a:solidFill>
                  </a:tcPr>
                </a:tc>
                <a:tc>
                  <a:txBody>
                    <a:bodyPr wrap="square"/>
                    <a:lstStyle/>
                    <a:p>
                      <a:pPr algn="l"/>
                      <a:r>
                        <a:rPr sz="2300" b="0">
                          <a:solidFill>
                            <a:srgbClr val="1F2A44"/>
                          </a:solidFill>
                          <a:latin typeface="Calibri"/>
                        </a:rPr>
                        <a:t>spoilage built into advice; kg avoided not measured</a:t>
                      </a:r>
                    </a:p>
                  </a:txBody>
                  <a:tcPr marL="73152" marR="73152" marT="27432" marB="27432" anchor="ctr">
                    <a:solidFill>
                      <a:srgbClr val="FFFFFF"/>
                    </a:solidFill>
                  </a:tcPr>
                </a:tc>
                <a:tc>
                  <a:txBody>
                    <a:bodyPr wrap="square"/>
                    <a:lstStyle/>
                    <a:p>
                      <a:pPr algn="l"/>
                      <a:r>
                        <a:rPr sz="2300" b="0">
                          <a:solidFill>
                            <a:srgbClr val="D9822B"/>
                          </a:solidFill>
                          <a:latin typeface="Calibri"/>
                        </a:rPr>
                        <a:t>Potential</a:t>
                      </a:r>
                    </a:p>
                  </a:txBody>
                  <a:tcPr marL="73152" marR="73152" marT="27432" marB="27432" anchor="ctr">
                    <a:solidFill>
                      <a:srgbClr val="FFFFFF"/>
                    </a:solidFill>
                  </a:tcPr>
                </a:tc>
              </a:tr>
              <a:tr h="1005840">
                <a:tc>
                  <a:txBody>
                    <a:bodyPr wrap="square"/>
                    <a:lstStyle/>
                    <a:p>
                      <a:pPr algn="l"/>
                      <a:r>
                        <a:rPr sz="2300" b="1">
                          <a:solidFill>
                            <a:srgbClr val="1F2A44"/>
                          </a:solidFill>
                          <a:latin typeface="Calibri"/>
                        </a:rPr>
                        <a:t>9 / 9.c</a:t>
                      </a:r>
                    </a:p>
                  </a:txBody>
                  <a:tcPr marL="73152" marR="73152" marT="27432" marB="27432" anchor="ctr">
                    <a:solidFill>
                      <a:srgbClr val="F1F7FB"/>
                    </a:solidFill>
                  </a:tcPr>
                </a:tc>
                <a:tc>
                  <a:txBody>
                    <a:bodyPr wrap="square"/>
                    <a:lstStyle/>
                    <a:p>
                      <a:pPr algn="l"/>
                      <a:r>
                        <a:rPr sz="2300" b="0">
                          <a:solidFill>
                            <a:srgbClr val="1F2A44"/>
                          </a:solidFill>
                          <a:latin typeface="Calibri"/>
                        </a:rPr>
                        <a:t>access to information technology</a:t>
                      </a:r>
                    </a:p>
                  </a:txBody>
                  <a:tcPr marL="73152" marR="73152" marT="27432" marB="27432" anchor="ctr">
                    <a:solidFill>
                      <a:srgbClr val="F1F7FB"/>
                    </a:solidFill>
                  </a:tcPr>
                </a:tc>
                <a:tc>
                  <a:txBody>
                    <a:bodyPr wrap="square"/>
                    <a:lstStyle/>
                    <a:p>
                      <a:pPr algn="l"/>
                      <a:r>
                        <a:rPr sz="2300" b="0">
                          <a:solidFill>
                            <a:srgbClr val="1F2A44"/>
                          </a:solidFill>
                          <a:latin typeface="Calibri"/>
                        </a:rPr>
                        <a:t>open pipeline on a public data feed</a:t>
                      </a:r>
                    </a:p>
                  </a:txBody>
                  <a:tcPr marL="73152" marR="73152" marT="27432" marB="27432" anchor="ctr">
                    <a:solidFill>
                      <a:srgbClr val="F1F7FB"/>
                    </a:solidFill>
                  </a:tcPr>
                </a:tc>
                <a:tc>
                  <a:txBody>
                    <a:bodyPr wrap="square"/>
                    <a:lstStyle/>
                    <a:p>
                      <a:pPr algn="l"/>
                      <a:r>
                        <a:rPr sz="2300" b="0">
                          <a:solidFill>
                            <a:srgbClr val="5F6B7A"/>
                          </a:solidFill>
                          <a:latin typeface="Calibri"/>
                        </a:rPr>
                        <a:t>Engineering</a:t>
                      </a:r>
                    </a:p>
                  </a:txBody>
                  <a:tcPr marL="73152" marR="73152" marT="27432" marB="27432" anchor="ctr">
                    <a:solidFill>
                      <a:srgbClr val="F1F7FB"/>
                    </a:solidFill>
                  </a:tcPr>
                </a:tc>
              </a:tr>
            </a:tbl>
          </a:graphicData>
        </a:graphic>
      </p:graphicFrame>
      <p:sp>
        <p:nvSpPr>
          <p:cNvPr id="10252" name="TextBox 10251"/>
          <p:cNvSpPr txBox="1"/>
          <p:nvPr/>
        </p:nvSpPr>
        <p:spPr>
          <a:xfrm>
            <a:off x="1005840" y="9509760"/>
            <a:ext cx="18105120" cy="822960"/>
          </a:xfrm>
          <a:prstGeom prst="rect">
            <a:avLst/>
          </a:prstGeom>
          <a:noFill/>
        </p:spPr>
        <p:txBody>
          <a:bodyPr wrap="square" anchor="t" lIns="73152" rIns="73152" tIns="36576" bIns="36576">
            <a:spAutoFit/>
          </a:bodyPr>
          <a:lstStyle/>
          <a:p>
            <a:pPr algn="l"/>
            <a:r>
              <a:rPr sz="2300" b="0" i="1">
                <a:solidFill>
                  <a:srgbClr val="5F6B7A"/>
                </a:solidFill>
                <a:latin typeface="Calibri"/>
              </a:rPr>
              <a:t>Impact is claimed only where held-out numbers support it; the benefit to farmers' real income needs a field trial.</a:t>
            </a:r>
          </a:p>
        </p:txBody>
      </p:sp>
    </p:spTree>
    <p:extLst>
      <p:ext uri="{BB962C8B-B14F-4D97-AF65-F5344CB8AC3E}">
        <p14:creationId xmlns:p14="http://schemas.microsoft.com/office/powerpoint/2010/main" val="17690171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Research Paper Status</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17</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914" name="Content Guidance"/>
          <p:cNvSpPr txBox="1"/>
          <p:nvPr/>
        </p:nvSpPr>
        <p:spPr>
          <a:xfrm>
            <a:off x="1005840" y="1737360"/>
            <a:ext cx="18105120" cy="2377440"/>
          </a:xfrm>
          <a:prstGeom prst="rect">
            <a:avLst/>
          </a:prstGeom>
          <a:noFill/>
        </p:spPr>
        <p:txBody>
          <a:bodyPr wrap="square" lIns="0" tIns="0" rIns="0" bIns="0">
            <a:normAutofit/>
          </a:bodyPr>
          <a:lstStyle/>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Primary target: </a:t>
            </a:r>
            <a:r>
              <a:rPr lang="en-US" sz="2500" dirty="0">
                <a:solidFill>
                  <a:srgbClr val="1F2A44"/>
                </a:solidFill>
                <a:latin typeface="Calibri" panose="020F0502020204030204" charset="0"/>
                <a:cs typeface="Calibri" panose="020F0502020204030204" charset="0"/>
              </a:rPr>
              <a:t>IEEE Access, a broad applied-engineering journal that accepts long empirical papers with negative results.</a:t>
            </a:r>
          </a:p>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Status: </a:t>
            </a:r>
            <a:r>
              <a:rPr lang="en-US" sz="2500" dirty="0">
                <a:solidFill>
                  <a:srgbClr val="1F2A44"/>
                </a:solidFill>
                <a:latin typeface="Calibri" panose="020F0502020204030204" charset="0"/>
                <a:cs typeface="Calibri" panose="020F0502020204030204" charset="0"/>
              </a:rPr>
              <a:t>manuscripts drafted; none submitted yet, so there is no acknowledgement, review or acceptance to show.</a:t>
            </a:r>
          </a:p>
        </p:txBody>
      </p:sp>
      <p:graphicFrame>
        <p:nvGraphicFramePr>
          <p:cNvPr id="10251" name="Table 10250"/>
          <p:cNvGraphicFramePr>
            <a:graphicFrameLocks noGrp="1"/>
          </p:cNvGraphicFramePr>
          <p:nvPr/>
        </p:nvGraphicFramePr>
        <p:xfrm>
          <a:off x="1005840" y="4114800"/>
          <a:ext cx="18105119" cy="4937760"/>
        </p:xfrm>
        <a:graphic>
          <a:graphicData uri="http://schemas.openxmlformats.org/drawingml/2006/table">
            <a:tbl>
              <a:tblPr firstRow="1" bandRow="1">
                <a:tableStyleId>{5C22544A-7EE6-4342-B048-85BDC9FD1C3A}</a:tableStyleId>
              </a:tblPr>
              <a:tblGrid>
                <a:gridCol w="9350996"/>
                <a:gridCol w="4178104"/>
                <a:gridCol w="1193744"/>
                <a:gridCol w="3382275"/>
              </a:tblGrid>
              <a:tr h="1234440">
                <a:tc>
                  <a:txBody>
                    <a:bodyPr wrap="square"/>
                    <a:lstStyle/>
                    <a:p>
                      <a:pPr algn="ctr"/>
                      <a:r>
                        <a:rPr sz="2200" b="1">
                          <a:solidFill>
                            <a:srgbClr val="FFFFFF"/>
                          </a:solidFill>
                          <a:latin typeface="Calibri"/>
                        </a:rPr>
                        <a:t>Manuscript</a:t>
                      </a:r>
                    </a:p>
                  </a:txBody>
                  <a:tcPr marL="73152" marR="73152" marT="27432" marB="27432" anchor="ctr">
                    <a:solidFill>
                      <a:srgbClr val="1F4E79"/>
                    </a:solidFill>
                  </a:tcPr>
                </a:tc>
                <a:tc>
                  <a:txBody>
                    <a:bodyPr wrap="square"/>
                    <a:lstStyle/>
                    <a:p>
                      <a:pPr algn="ctr"/>
                      <a:r>
                        <a:rPr sz="2200" b="1">
                          <a:solidFill>
                            <a:srgbClr val="FFFFFF"/>
                          </a:solidFill>
                          <a:latin typeface="Calibri"/>
                        </a:rPr>
                        <a:t>Venue</a:t>
                      </a:r>
                    </a:p>
                  </a:txBody>
                  <a:tcPr marL="73152" marR="73152" marT="27432" marB="27432" anchor="ctr">
                    <a:solidFill>
                      <a:srgbClr val="1F4E79"/>
                    </a:solidFill>
                  </a:tcPr>
                </a:tc>
                <a:tc>
                  <a:txBody>
                    <a:bodyPr wrap="square"/>
                    <a:lstStyle/>
                    <a:p>
                      <a:pPr algn="ctr"/>
                      <a:r>
                        <a:rPr sz="2200" b="1">
                          <a:solidFill>
                            <a:srgbClr val="FFFFFF"/>
                          </a:solidFill>
                          <a:latin typeface="Calibri"/>
                        </a:rPr>
                        <a:t>Pages</a:t>
                      </a:r>
                    </a:p>
                  </a:txBody>
                  <a:tcPr marL="73152" marR="73152" marT="27432" marB="27432" anchor="ctr">
                    <a:solidFill>
                      <a:srgbClr val="1F4E79"/>
                    </a:solidFill>
                  </a:tcPr>
                </a:tc>
                <a:tc>
                  <a:txBody>
                    <a:bodyPr wrap="square"/>
                    <a:lstStyle/>
                    <a:p>
                      <a:pPr algn="ctr"/>
                      <a:r>
                        <a:rPr sz="2200" b="1">
                          <a:solidFill>
                            <a:srgbClr val="FFFFFF"/>
                          </a:solidFill>
                          <a:latin typeface="Calibri"/>
                        </a:rPr>
                        <a:t>Status</a:t>
                      </a:r>
                    </a:p>
                  </a:txBody>
                  <a:tcPr marL="73152" marR="73152" marT="27432" marB="27432" anchor="ctr">
                    <a:solidFill>
                      <a:srgbClr val="1F4E79"/>
                    </a:solidFill>
                  </a:tcPr>
                </a:tc>
              </a:tr>
              <a:tr h="1234440">
                <a:tc>
                  <a:txBody>
                    <a:bodyPr wrap="square"/>
                    <a:lstStyle/>
                    <a:p>
                      <a:pPr algn="l"/>
                      <a:r>
                        <a:rPr sz="2200" b="0">
                          <a:solidFill>
                            <a:srgbClr val="1F2A44"/>
                          </a:solidFill>
                          <a:latin typeface="Calibri"/>
                        </a:rPr>
                        <a:t>Where and When to Sell: Outcome-Supervised Market Choice with Conformal Revenue Floors, and a Look-Ahead Audit of Decomposition Forecasters</a:t>
                      </a:r>
                    </a:p>
                  </a:txBody>
                  <a:tcPr marL="73152" marR="73152" marT="27432" marB="27432" anchor="ctr">
                    <a:solidFill>
                      <a:srgbClr val="FFFFFF"/>
                    </a:solidFill>
                  </a:tcPr>
                </a:tc>
                <a:tc>
                  <a:txBody>
                    <a:bodyPr wrap="square"/>
                    <a:lstStyle/>
                    <a:p>
                      <a:pPr algn="l"/>
                      <a:r>
                        <a:rPr sz="2200" b="0">
                          <a:solidFill>
                            <a:srgbClr val="1F2A44"/>
                          </a:solidFill>
                          <a:latin typeface="Calibri"/>
                        </a:rPr>
                        <a:t>IEEE Access</a:t>
                      </a:r>
                    </a:p>
                  </a:txBody>
                  <a:tcPr marL="73152" marR="73152" marT="27432" marB="27432" anchor="ctr">
                    <a:solidFill>
                      <a:srgbClr val="FFFFFF"/>
                    </a:solidFill>
                  </a:tcPr>
                </a:tc>
                <a:tc>
                  <a:txBody>
                    <a:bodyPr wrap="square"/>
                    <a:lstStyle/>
                    <a:p>
                      <a:pPr algn="ctr"/>
                      <a:r>
                        <a:rPr sz="2200" b="0">
                          <a:solidFill>
                            <a:srgbClr val="1F2A44"/>
                          </a:solidFill>
                          <a:latin typeface="Calibri"/>
                        </a:rPr>
                        <a:t>14</a:t>
                      </a:r>
                    </a:p>
                  </a:txBody>
                  <a:tcPr marL="73152" marR="73152" marT="27432" marB="27432" anchor="ctr">
                    <a:solidFill>
                      <a:srgbClr val="FFFFFF"/>
                    </a:solidFill>
                  </a:tcPr>
                </a:tc>
                <a:tc>
                  <a:txBody>
                    <a:bodyPr wrap="square"/>
                    <a:lstStyle/>
                    <a:p>
                      <a:pPr algn="l"/>
                      <a:r>
                        <a:rPr sz="2200" b="0">
                          <a:solidFill>
                            <a:srgbClr val="D9822B"/>
                          </a:solidFill>
                          <a:latin typeface="Calibri"/>
                        </a:rPr>
                        <a:t>Drafted, not submitted</a:t>
                      </a:r>
                    </a:p>
                  </a:txBody>
                  <a:tcPr marL="73152" marR="73152" marT="27432" marB="27432" anchor="ctr">
                    <a:solidFill>
                      <a:srgbClr val="FFFFFF"/>
                    </a:solidFill>
                  </a:tcPr>
                </a:tc>
              </a:tr>
              <a:tr h="1234440">
                <a:tc>
                  <a:txBody>
                    <a:bodyPr wrap="square"/>
                    <a:lstStyle/>
                    <a:p>
                      <a:pPr algn="l"/>
                      <a:r>
                        <a:rPr sz="2200" b="0">
                          <a:solidFill>
                            <a:srgbClr val="1F2A44"/>
                          </a:solidFill>
                          <a:latin typeface="Calibri"/>
                        </a:rPr>
                        <a:t>Fusing Specialist Agents and Market Signals into Calibrated Price Ranges: A Pre-Registered Evaluation on Indian Agricultural Mandis</a:t>
                      </a:r>
                    </a:p>
                  </a:txBody>
                  <a:tcPr marL="73152" marR="73152" marT="27432" marB="27432" anchor="ctr">
                    <a:solidFill>
                      <a:srgbClr val="F1F7FB"/>
                    </a:solidFill>
                  </a:tcPr>
                </a:tc>
                <a:tc>
                  <a:txBody>
                    <a:bodyPr wrap="square"/>
                    <a:lstStyle/>
                    <a:p>
                      <a:pPr algn="l"/>
                      <a:r>
                        <a:rPr sz="2200" b="0">
                          <a:solidFill>
                            <a:srgbClr val="1F2A44"/>
                          </a:solidFill>
                          <a:latin typeface="Calibri"/>
                        </a:rPr>
                        <a:t>CICPS 2027 (Springer LNNS)</a:t>
                      </a:r>
                    </a:p>
                  </a:txBody>
                  <a:tcPr marL="73152" marR="73152" marT="27432" marB="27432" anchor="ctr">
                    <a:solidFill>
                      <a:srgbClr val="F1F7FB"/>
                    </a:solidFill>
                  </a:tcPr>
                </a:tc>
                <a:tc>
                  <a:txBody>
                    <a:bodyPr wrap="square"/>
                    <a:lstStyle/>
                    <a:p>
                      <a:pPr algn="ctr"/>
                      <a:r>
                        <a:rPr sz="2200" b="0">
                          <a:solidFill>
                            <a:srgbClr val="1F2A44"/>
                          </a:solidFill>
                          <a:latin typeface="Calibri"/>
                        </a:rPr>
                        <a:t>12</a:t>
                      </a:r>
                    </a:p>
                  </a:txBody>
                  <a:tcPr marL="73152" marR="73152" marT="27432" marB="27432" anchor="ctr">
                    <a:solidFill>
                      <a:srgbClr val="F1F7FB"/>
                    </a:solidFill>
                  </a:tcPr>
                </a:tc>
                <a:tc>
                  <a:txBody>
                    <a:bodyPr wrap="square"/>
                    <a:lstStyle/>
                    <a:p>
                      <a:pPr algn="l"/>
                      <a:r>
                        <a:rPr sz="2200" b="0">
                          <a:solidFill>
                            <a:srgbClr val="D9822B"/>
                          </a:solidFill>
                          <a:latin typeface="Calibri"/>
                        </a:rPr>
                        <a:t>Drafted, not submitted</a:t>
                      </a:r>
                    </a:p>
                  </a:txBody>
                  <a:tcPr marL="73152" marR="73152" marT="27432" marB="27432" anchor="ctr">
                    <a:solidFill>
                      <a:srgbClr val="F1F7FB"/>
                    </a:solidFill>
                  </a:tcPr>
                </a:tc>
              </a:tr>
              <a:tr h="1234440">
                <a:tc>
                  <a:txBody>
                    <a:bodyPr wrap="square"/>
                    <a:lstStyle/>
                    <a:p>
                      <a:pPr algn="l"/>
                      <a:r>
                        <a:rPr sz="2200" b="0">
                          <a:solidFill>
                            <a:srgbClr val="1F2A44"/>
                          </a:solidFill>
                          <a:latin typeface="Calibri"/>
                        </a:rPr>
                        <a:t>MandiSense project proposal</a:t>
                      </a:r>
                    </a:p>
                  </a:txBody>
                  <a:tcPr marL="73152" marR="73152" marT="27432" marB="27432" anchor="ctr">
                    <a:solidFill>
                      <a:srgbClr val="FFFFFF"/>
                    </a:solidFill>
                  </a:tcPr>
                </a:tc>
                <a:tc>
                  <a:txBody>
                    <a:bodyPr wrap="square"/>
                    <a:lstStyle/>
                    <a:p>
                      <a:pPr algn="l"/>
                      <a:r>
                        <a:rPr sz="2200" b="0">
                          <a:solidFill>
                            <a:srgbClr val="1F2A44"/>
                          </a:solidFill>
                          <a:latin typeface="Calibri"/>
                        </a:rPr>
                        <a:t>KSCST SPP 50th series</a:t>
                      </a:r>
                    </a:p>
                  </a:txBody>
                  <a:tcPr marL="73152" marR="73152" marT="27432" marB="27432" anchor="ctr">
                    <a:solidFill>
                      <a:srgbClr val="FFFFFF"/>
                    </a:solidFill>
                  </a:tcPr>
                </a:tc>
                <a:tc>
                  <a:txBody>
                    <a:bodyPr wrap="square"/>
                    <a:lstStyle/>
                    <a:p>
                      <a:pPr algn="ctr"/>
                      <a:r>
                        <a:rPr sz="2200" b="0">
                          <a:solidFill>
                            <a:srgbClr val="1F2A44"/>
                          </a:solidFill>
                          <a:latin typeface="Calibri"/>
                        </a:rPr>
                        <a:t>14</a:t>
                      </a:r>
                    </a:p>
                  </a:txBody>
                  <a:tcPr marL="73152" marR="73152" marT="27432" marB="27432" anchor="ctr">
                    <a:solidFill>
                      <a:srgbClr val="FFFFFF"/>
                    </a:solidFill>
                  </a:tcPr>
                </a:tc>
                <a:tc>
                  <a:txBody>
                    <a:bodyPr wrap="square"/>
                    <a:lstStyle/>
                    <a:p>
                      <a:pPr algn="l"/>
                      <a:r>
                        <a:rPr sz="2200" b="0">
                          <a:solidFill>
                            <a:srgbClr val="D9822B"/>
                          </a:solidFill>
                          <a:latin typeface="Calibri"/>
                        </a:rPr>
                        <a:t>Proposal drafted</a:t>
                      </a:r>
                    </a:p>
                  </a:txBody>
                  <a:tcPr marL="73152" marR="73152" marT="27432" marB="27432" anchor="ctr">
                    <a:solidFill>
                      <a:srgbClr val="FFFFFF"/>
                    </a:solidFill>
                  </a:tcPr>
                </a:tc>
              </a:tr>
            </a:tbl>
          </a:graphicData>
        </a:graphic>
      </p:graphicFrame>
      <p:sp>
        <p:nvSpPr>
          <p:cNvPr id="10252" name="TextBox 10251"/>
          <p:cNvSpPr txBox="1"/>
          <p:nvPr/>
        </p:nvSpPr>
        <p:spPr>
          <a:xfrm>
            <a:off x="1005840" y="9144000"/>
            <a:ext cx="18105120" cy="1097280"/>
          </a:xfrm>
          <a:prstGeom prst="rect">
            <a:avLst/>
          </a:prstGeom>
          <a:noFill/>
        </p:spPr>
        <p:txBody>
          <a:bodyPr wrap="square" anchor="t" lIns="73152" rIns="73152" tIns="36576" bIns="36576">
            <a:spAutoFit/>
          </a:bodyPr>
          <a:lstStyle/>
          <a:p>
            <a:pPr algn="l"/>
            <a:r>
              <a:rPr sz="2200" b="0" i="1">
                <a:solidFill>
                  <a:srgbClr val="5F6B7A"/>
                </a:solidFill>
                <a:latin typeface="Calibri"/>
              </a:rPr>
              <a:t>Similarity: only a self-conducted check exists for the conference draft (no verbatim web matches). Official Drillbit percentages will be added at submission.</a:t>
            </a:r>
          </a:p>
        </p:txBody>
      </p:sp>
    </p:spTree>
    <p:extLst>
      <p:ext uri="{BB962C8B-B14F-4D97-AF65-F5344CB8AC3E}">
        <p14:creationId xmlns:p14="http://schemas.microsoft.com/office/powerpoint/2010/main" val="17690171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Conclusion and Future Work</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18</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915" name="Content Guidance"/>
          <p:cNvSpPr txBox="1"/>
          <p:nvPr/>
        </p:nvSpPr>
        <p:spPr>
          <a:xfrm>
            <a:off x="1005840" y="1737360"/>
            <a:ext cx="18105120" cy="2743200"/>
          </a:xfrm>
          <a:prstGeom prst="rect">
            <a:avLst/>
          </a:prstGeom>
          <a:noFill/>
        </p:spPr>
        <p:txBody>
          <a:bodyPr wrap="square" lIns="0" tIns="0" rIns="0" bIns="0">
            <a:normAutofit/>
          </a:bodyPr>
          <a:lstStyle/>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Key outcome: </a:t>
            </a:r>
            <a:r>
              <a:rPr lang="en-US" sz="2500" dirty="0">
                <a:solidFill>
                  <a:srgbClr val="1F2A44"/>
                </a:solidFill>
                <a:latin typeface="Calibri" panose="020F0502020204030204" charset="0"/>
                <a:cs typeface="Calibri" panose="020F0502020204030204" charset="0"/>
              </a:rPr>
              <a:t>advice trained on realised revenue beats the best simple rule by Rs 170 per quintal for tomato and Rs 202 for ginger, with floors that hold their level.</a:t>
            </a:r>
          </a:p>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Against objectives: </a:t>
            </a:r>
            <a:r>
              <a:rPr lang="en-US" sz="2500" dirty="0">
                <a:solidFill>
                  <a:srgbClr val="1F2A44"/>
                </a:solidFill>
                <a:latin typeface="Calibri" panose="020F0502020204030204" charset="0"/>
                <a:cs typeface="Calibri" panose="020F0502020204030204" charset="0"/>
              </a:rPr>
              <a:t>7 met, 1 partly met, 1 null result, 1 built and tested (the digest); negative results reported.</a:t>
            </a:r>
          </a:p>
        </p:txBody>
      </p:sp>
      <p:sp>
        <p:nvSpPr>
          <p:cNvPr id="10251" name="Rectangle 10250"/>
          <p:cNvSpPr/>
          <p:nvPr/>
        </p:nvSpPr>
        <p:spPr>
          <a:xfrm>
            <a:off x="1005840" y="4114800"/>
            <a:ext cx="8869680" cy="56692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2400" b="1" i="0">
                <a:solidFill>
                  <a:srgbClr val="FFFFFF"/>
                </a:solidFill>
                <a:latin typeface="Calibri"/>
              </a:rPr>
              <a:t>Limitations</a:t>
            </a:r>
          </a:p>
        </p:txBody>
      </p:sp>
      <p:sp>
        <p:nvSpPr>
          <p:cNvPr id="10252" name="Rectangle 10251"/>
          <p:cNvSpPr/>
          <p:nvPr/>
        </p:nvSpPr>
        <p:spPr>
          <a:xfrm>
            <a:off x="1005840" y="4681728"/>
            <a:ext cx="8869680" cy="528523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r>
              <a:rPr sz="3000" b="0" i="0">
                <a:solidFill>
                  <a:srgbClr val="1F2A44"/>
                </a:solidFill>
                <a:latin typeface="Calibri"/>
              </a:rPr>
              <a:t>One region, one source, 5.8 years</a:t>
            </a:r>
          </a:p>
          <a:p>
            <a:pPr algn="l"/>
            <a:r>
              <a:rPr sz="3000" b="0" i="0">
                <a:solidFill>
                  <a:srgbClr val="1F2A44"/>
                </a:solidFill>
                <a:latin typeface="Calibri"/>
              </a:rPr>
              <a:t>Offline only; no farmer acted on the advice; digest not piloted</a:t>
            </a:r>
          </a:p>
          <a:p>
            <a:pPr algn="l"/>
            <a:r>
              <a:rPr sz="3000" b="0" i="0">
                <a:solidFill>
                  <a:srgbClr val="1F2A44"/>
                </a:solidFill>
                <a:latin typeface="Calibri"/>
              </a:rPr>
              <a:t>Revenue and crowd parameters are scenarios; replayed floors held 84–92% (aim 90%)</a:t>
            </a:r>
          </a:p>
          <a:p>
            <a:pPr algn="l"/>
            <a:r>
              <a:rPr sz="3000" b="0" i="0">
                <a:solidFill>
                  <a:srgbClr val="1F2A44"/>
                </a:solidFill>
                <a:latin typeface="Calibri"/>
              </a:rPr>
              <a:t>Briefs checked for traceability, not user-tested</a:t>
            </a:r>
          </a:p>
          <a:p>
            <a:pPr algn="l"/>
            <a:r>
              <a:rPr sz="3000" b="0" i="0">
                <a:solidFill>
                  <a:srgbClr val="1F2A44"/>
                </a:solidFill>
                <a:latin typeface="Calibri"/>
              </a:rPr>
              <a:t>Spillover found no episodes; deployment unverified</a:t>
            </a:r>
          </a:p>
        </p:txBody>
      </p:sp>
      <p:sp>
        <p:nvSpPr>
          <p:cNvPr id="10253" name="Rectangle 10252"/>
          <p:cNvSpPr/>
          <p:nvPr/>
        </p:nvSpPr>
        <p:spPr>
          <a:xfrm>
            <a:off x="10241280" y="4114800"/>
            <a:ext cx="8869680" cy="566928"/>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2400" b="1" i="0">
                <a:solidFill>
                  <a:srgbClr val="FFFFFF"/>
                </a:solidFill>
                <a:latin typeface="Calibri"/>
              </a:rPr>
              <a:t>Future work (from those limits)</a:t>
            </a:r>
          </a:p>
        </p:txBody>
      </p:sp>
      <p:sp>
        <p:nvSpPr>
          <p:cNvPr id="10254" name="Rectangle 10253"/>
          <p:cNvSpPr/>
          <p:nvPr/>
        </p:nvSpPr>
        <p:spPr>
          <a:xfrm>
            <a:off x="10241280" y="4681728"/>
            <a:ext cx="8869680" cy="528523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r>
              <a:rPr sz="3000" b="0" i="0">
                <a:solidFill>
                  <a:srgbClr val="1F2A44"/>
                </a:solidFill>
                <a:latin typeface="Calibri"/>
              </a:rPr>
              <a:t>Field pilot through the bot, with an outcome form and the survey</a:t>
            </a:r>
          </a:p>
          <a:p>
            <a:pPr algn="l"/>
            <a:r>
              <a:rPr sz="3000" b="0" i="0">
                <a:solidFill>
                  <a:srgbClr val="1F2A44"/>
                </a:solidFill>
                <a:latin typeface="Calibri"/>
              </a:rPr>
              <a:t>Estimate transport, spoilage and silence from data</a:t>
            </a:r>
          </a:p>
          <a:p>
            <a:pPr algn="l"/>
            <a:r>
              <a:rPr sz="3000" b="0" i="0">
                <a:solidFill>
                  <a:srgbClr val="1F2A44"/>
                </a:solidFill>
                <a:latin typeface="Calibri"/>
              </a:rPr>
              <a:t>Diagnose the spillover labelling; define episodes from arrivals</a:t>
            </a:r>
          </a:p>
          <a:p>
            <a:pPr algn="l"/>
            <a:r>
              <a:rPr sz="3000" b="0" i="0">
                <a:solidFill>
                  <a:srgbClr val="1F2A44"/>
                </a:solidFill>
                <a:latin typeface="Calibri"/>
              </a:rPr>
              <a:t>User test of briefs; native-speaker review of KN/HI</a:t>
            </a:r>
          </a:p>
          <a:p>
            <a:pPr algn="l"/>
            <a:r>
              <a:rPr sz="3000" b="0" i="0">
                <a:solidFill>
                  <a:srgbClr val="1F2A44"/>
                </a:solidFill>
                <a:latin typeface="Calibri"/>
              </a:rPr>
              <a:t>Verify deployment and monitor live floor violations</a:t>
            </a:r>
          </a:p>
        </p:txBody>
      </p:sp>
    </p:spTree>
    <p:extLst>
      <p:ext uri="{BB962C8B-B14F-4D97-AF65-F5344CB8AC3E}">
        <p14:creationId xmlns:p14="http://schemas.microsoft.com/office/powerpoint/2010/main" val="17690171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References</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19</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916" name="Content Guidance"/>
          <p:cNvSpPr txBox="1"/>
          <p:nvPr/>
        </p:nvSpPr>
        <p:spPr>
          <a:xfrm>
            <a:off x="1005840" y="1737360"/>
            <a:ext cx="8961120" cy="8412480"/>
          </a:xfrm>
          <a:prstGeom prst="rect">
            <a:avLst/>
          </a:prstGeom>
          <a:noFill/>
        </p:spPr>
        <p:txBody>
          <a:bodyPr wrap="square" lIns="0" tIns="0" rIns="0" bIns="0">
            <a:normAutofit/>
          </a:bodyPr>
          <a:lstStyle/>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[1] P. Birthal et al., J. Agribusiness Develop. Emerg. Econ., 2019</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[2] AGMARKNET, Directorate of Marketing and Inspection, Govt. of India</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[3] R. Jensen, Quart. J. Econ., 122(3), 2007</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[4] J. Aker, AEJ: Appl. Econ., 2(3), 2010</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[5] S. Ray et al., Appl. Soft Comput., 149, 2023</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[6] K. Meena, B. Chaitra, IEEE Access, 12, 2024</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[7] G. Jha, K. Sinha, Neural Comput. Appl., 24, 2014</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[8] Wu et al., Expert Syst., 2026</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[9] R. Cleveland et al., J. Official Statist., 6(1), 1990</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[10] Hyndman, Athanasopoulos, Forecasting: Principles and Practice, 3e, 2021</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[11] A. Sathe et al., Results Eng., 27, 2025</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[12] B. Celik, S. Celik, Borsa Istanbul Rev., 2025</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[13] K. Dragomiretskiy, D. Zosso, IEEE TSP, 62(3), 2014</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[14] Bergmeir, Benítez, Inf. Sci., 191, 2012</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[15] Cerqueira et al., Mach. Learn., 109, 2020</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[16] Bundak et al., IEEE Access, 13, 2025</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[17] Ansari et al., Chronos, TMLR, 2024</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[18] Wang, Zhang, arXiv:2601.06371, 2026</a:t>
            </a:r>
          </a:p>
        </p:txBody>
      </p:sp>
      <p:sp>
        <p:nvSpPr>
          <p:cNvPr id="916" name="Content Guidance"/>
          <p:cNvSpPr txBox="1"/>
          <p:nvPr/>
        </p:nvSpPr>
        <p:spPr>
          <a:xfrm>
            <a:off x="10241280" y="1737360"/>
            <a:ext cx="8961120" cy="8412480"/>
          </a:xfrm>
          <a:prstGeom prst="rect">
            <a:avLst/>
          </a:prstGeom>
          <a:noFill/>
        </p:spPr>
        <p:txBody>
          <a:bodyPr wrap="square" lIns="0" tIns="0" rIns="0" bIns="0">
            <a:normAutofit/>
          </a:bodyPr>
          <a:lstStyle/>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[19] Grinsztajn et al., NeurIPS D&amp;B, 2022</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[20] Akiba et al., Optuna, KDD, 2019</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[21] Elmachtoub, Grigas, Manage. Sci., 68(1), 2022</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[22] Mandi et al., J. Artif. Intell. Res., 80, 2024</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[23] Chen, Guestrin, XGBoost, KDD, 2016; Ke et al., LightGBM, NeurIPS, 2017</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[24] Diebold, Mariano, JBES, 13(3), 1995</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[25] Newey, West, Econometrica, 55(3), 1987</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[26] Gibbs, Candès, NeurIPS, 2021</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[27] Hansen, Lunde, Nason, Econometrica, 79(2), 2011</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[28] Vovk et al., Algorithmic Learning in a Random World, 2005; Angelopoulos, Bates, 2023</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[29] Zaheer et al., Deep Sets, NeurIPS, 2017</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[30] Holm, Scand. J. Statist., 6(2), 1979</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[31] Künsch, Ann. Statist., 17(3), 1989</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[32] Romano et al., CQR, NeurIPS, 2019</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[33] Rubin, Biometrika, 63(3), 1976</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[34] Che et al., Sci. Rep., 8, 2018</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Full 40-entry list with all details is in the thesis bibliography.</a:t>
            </a:r>
          </a:p>
        </p:txBody>
      </p:sp>
    </p:spTree>
    <p:extLst>
      <p:ext uri="{BB962C8B-B14F-4D97-AF65-F5344CB8AC3E}">
        <p14:creationId xmlns:p14="http://schemas.microsoft.com/office/powerpoint/2010/main" val="17690171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0" y="0"/>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6894008" y="4686301"/>
            <a:ext cx="12963380" cy="1120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12065" rIns="0" bIns="0">
            <a:sp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r>
              <a:rPr lang="en-US" altLang="en-US" sz="7200" dirty="0">
                <a:solidFill>
                  <a:srgbClr val="002060"/>
                </a:solidFill>
                <a:latin typeface="Forte" panose="03060902040502070203" pitchFamily="66" charset="0"/>
                <a:cs typeface="Times New Roman" panose="02020603050405020304" pitchFamily="18" charset="0"/>
              </a:rPr>
              <a:t>T</a:t>
            </a:r>
            <a:r>
              <a:rPr lang="en-IN" altLang="en-US" sz="7200" dirty="0">
                <a:solidFill>
                  <a:srgbClr val="002060"/>
                </a:solidFill>
                <a:latin typeface="Forte" panose="03060902040502070203" pitchFamily="66" charset="0"/>
                <a:cs typeface="Times New Roman" panose="02020603050405020304" pitchFamily="18" charset="0"/>
              </a:rPr>
              <a:t>HANK YOU</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20</a:t>
            </a:fld>
            <a:endParaRPr lang="en-US" altLang="en-US">
              <a:solidFill>
                <a:srgbClr val="898989"/>
              </a:solidFill>
            </a:endParaRPr>
          </a:p>
        </p:txBody>
      </p:sp>
      <p:pic>
        <p:nvPicPr>
          <p:cNvPr id="13" name="Picture 12">
            <a:extLst>
              <a:ext uri="{FF2B5EF4-FFF2-40B4-BE49-F238E27FC236}">
                <a16:creationId xmlns:a16="http://schemas.microsoft.com/office/drawing/2014/main" id="{661981A2-D64C-4E9C-92C3-CCB759219B5A}"/>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CE96DF61-0004-4796-BA3B-2487D712B085}"/>
              </a:ext>
            </a:extLst>
          </p:cNvPr>
          <p:cNvSpPr txBox="1"/>
          <p:nvPr/>
        </p:nvSpPr>
        <p:spPr>
          <a:xfrm>
            <a:off x="6068436" y="10546485"/>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Tree>
    <p:extLst>
      <p:ext uri="{BB962C8B-B14F-4D97-AF65-F5344CB8AC3E}">
        <p14:creationId xmlns:p14="http://schemas.microsoft.com/office/powerpoint/2010/main" val="4017000412"/>
      </p:ext>
    </p:extLst>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Key Formulation: Revenue, Loss and Verified Floor</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5</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10251" name="TextBox 10250"/>
          <p:cNvSpPr txBox="1"/>
          <p:nvPr/>
        </p:nvSpPr>
        <p:spPr>
          <a:xfrm>
            <a:off x="1005840" y="1645920"/>
            <a:ext cx="11338560" cy="457200"/>
          </a:xfrm>
          <a:prstGeom prst="rect">
            <a:avLst/>
          </a:prstGeom>
          <a:noFill/>
        </p:spPr>
        <p:txBody>
          <a:bodyPr wrap="square" anchor="t" lIns="73152" rIns="73152" tIns="36576" bIns="36576">
            <a:spAutoFit/>
          </a:bodyPr>
          <a:lstStyle/>
          <a:p>
            <a:pPr algn="l"/>
            <a:r>
              <a:rPr sz="2300" b="1" i="0">
                <a:solidFill>
                  <a:srgbClr val="1F4E79"/>
                </a:solidFill>
                <a:latin typeface="Calibri"/>
              </a:rPr>
              <a:t>Net revenue of action (m, k) from origin ℓ</a:t>
            </a:r>
          </a:p>
        </p:txBody>
      </p:sp>
      <p:sp>
        <p:nvSpPr>
          <p:cNvPr id="10252" name="Rectangle 10251"/>
          <p:cNvSpPr/>
          <p:nvPr/>
        </p:nvSpPr>
        <p:spPr>
          <a:xfrm>
            <a:off x="1005840" y="2103120"/>
            <a:ext cx="11338560" cy="77724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r>
              <a:rPr sz="2900" b="1" i="0">
                <a:solidFill>
                  <a:srgbClr val="1F2A44"/>
                </a:solidFill>
                <a:latin typeface="Cambria Math"/>
              </a:rPr>
              <a:t>R(m,k | ℓ) = (1 − f)(1 − δ)ᵏ · P̃(m, t+k) − τ·ρ·d(ℓ,m) − c₀</a:t>
            </a:r>
          </a:p>
        </p:txBody>
      </p:sp>
      <p:sp>
        <p:nvSpPr>
          <p:cNvPr id="10253" name="TextBox 10252"/>
          <p:cNvSpPr txBox="1"/>
          <p:nvPr/>
        </p:nvSpPr>
        <p:spPr>
          <a:xfrm>
            <a:off x="1005840" y="2926080"/>
            <a:ext cx="11338560" cy="822960"/>
          </a:xfrm>
          <a:prstGeom prst="rect">
            <a:avLst/>
          </a:prstGeom>
          <a:noFill/>
        </p:spPr>
        <p:txBody>
          <a:bodyPr wrap="square" anchor="t" lIns="73152" rIns="73152" tIns="36576" bIns="36576">
            <a:spAutoFit/>
          </a:bodyPr>
          <a:lstStyle/>
          <a:p>
            <a:pPr algn="l"/>
            <a:r>
              <a:rPr sz="2100" b="0" i="0">
                <a:solidFill>
                  <a:srgbClr val="5F6B7A"/>
                </a:solidFill>
                <a:latin typeface="Calibri"/>
              </a:rPr>
              <a:t>P̃ = P if market m reported on day t+k, else φ · P̄(t+k) (wasted trip); farm gate pays φ_g · P̄(t)</a:t>
            </a:r>
          </a:p>
        </p:txBody>
      </p:sp>
      <p:sp>
        <p:nvSpPr>
          <p:cNvPr id="10254" name="TextBox 10253"/>
          <p:cNvSpPr txBox="1"/>
          <p:nvPr/>
        </p:nvSpPr>
        <p:spPr>
          <a:xfrm>
            <a:off x="1005840" y="4297680"/>
            <a:ext cx="11338560" cy="457200"/>
          </a:xfrm>
          <a:prstGeom prst="rect">
            <a:avLst/>
          </a:prstGeom>
          <a:noFill/>
        </p:spPr>
        <p:txBody>
          <a:bodyPr wrap="square" anchor="t" lIns="73152" rIns="73152" tIns="36576" bIns="36576">
            <a:spAutoFit/>
          </a:bodyPr>
          <a:lstStyle/>
          <a:p>
            <a:pPr algn="l"/>
            <a:r>
              <a:rPr sz="2300" b="1" i="0">
                <a:solidFill>
                  <a:srgbClr val="1F4E79"/>
                </a:solidFill>
                <a:latin typeface="Calibri"/>
              </a:rPr>
              <a:t>Decision-focused loss (SPO+)</a:t>
            </a:r>
          </a:p>
        </p:txBody>
      </p:sp>
      <p:sp>
        <p:nvSpPr>
          <p:cNvPr id="10255" name="Rectangle 10254"/>
          <p:cNvSpPr/>
          <p:nvPr/>
        </p:nvSpPr>
        <p:spPr>
          <a:xfrm>
            <a:off x="1005840" y="4754880"/>
            <a:ext cx="11338560" cy="77724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r>
              <a:rPr sz="2900" b="1" i="0">
                <a:solidFill>
                  <a:srgbClr val="1F2A44"/>
                </a:solidFill>
                <a:latin typeface="Cambria Math"/>
              </a:rPr>
              <a:t>L(r̂, r) = max_a (2r̂ₐ − rₐ) − 2r̂ₐ* + rₐ*</a:t>
            </a:r>
          </a:p>
        </p:txBody>
      </p:sp>
      <p:sp>
        <p:nvSpPr>
          <p:cNvPr id="10256" name="TextBox 10255"/>
          <p:cNvSpPr txBox="1"/>
          <p:nvPr/>
        </p:nvSpPr>
        <p:spPr>
          <a:xfrm>
            <a:off x="1005840" y="5577840"/>
            <a:ext cx="11338560" cy="822960"/>
          </a:xfrm>
          <a:prstGeom prst="rect">
            <a:avLst/>
          </a:prstGeom>
          <a:noFill/>
        </p:spPr>
        <p:txBody>
          <a:bodyPr wrap="square" anchor="t" lIns="73152" rIns="73152" tIns="36576" bIns="36576">
            <a:spAutoFit/>
          </a:bodyPr>
          <a:lstStyle/>
          <a:p>
            <a:pPr algn="l"/>
            <a:r>
              <a:rPr sz="2100" b="0" i="0">
                <a:solidFill>
                  <a:srgbClr val="5F6B7A"/>
                </a:solidFill>
                <a:latin typeface="Calibri"/>
              </a:rPr>
              <a:t>non-negative, zero at the truth, upper-bounds regret; tested against squared error</a:t>
            </a:r>
          </a:p>
        </p:txBody>
      </p:sp>
      <p:sp>
        <p:nvSpPr>
          <p:cNvPr id="10257" name="TextBox 10256"/>
          <p:cNvSpPr txBox="1"/>
          <p:nvPr/>
        </p:nvSpPr>
        <p:spPr>
          <a:xfrm>
            <a:off x="1005840" y="6949440"/>
            <a:ext cx="11338560" cy="457200"/>
          </a:xfrm>
          <a:prstGeom prst="rect">
            <a:avLst/>
          </a:prstGeom>
          <a:noFill/>
        </p:spPr>
        <p:txBody>
          <a:bodyPr wrap="square" anchor="t" lIns="73152" rIns="73152" tIns="36576" bIns="36576">
            <a:spAutoFit/>
          </a:bodyPr>
          <a:lstStyle/>
          <a:p>
            <a:pPr algn="l"/>
            <a:r>
              <a:rPr sz="2300" b="1" i="0">
                <a:solidFill>
                  <a:srgbClr val="1F4E79"/>
                </a:solidFill>
                <a:latin typeface="Calibri"/>
              </a:rPr>
              <a:t>Guaranteed floor and adaptive level</a:t>
            </a:r>
          </a:p>
        </p:txBody>
      </p:sp>
      <p:sp>
        <p:nvSpPr>
          <p:cNvPr id="10258" name="Rectangle 10257"/>
          <p:cNvSpPr/>
          <p:nvPr/>
        </p:nvSpPr>
        <p:spPr>
          <a:xfrm>
            <a:off x="1005840" y="7406640"/>
            <a:ext cx="11338560" cy="77724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r>
              <a:rPr sz="2900" b="1" i="0">
                <a:solidFill>
                  <a:srgbClr val="1F2A44"/>
                </a:solidFill>
                <a:latin typeface="Cambria Math"/>
              </a:rPr>
              <a:t>L = r̂ − q·σ̂ ;   αₜ₊₁ = αₜ + γ (α − 1[R &lt; L])</a:t>
            </a:r>
          </a:p>
        </p:txBody>
      </p:sp>
      <p:sp>
        <p:nvSpPr>
          <p:cNvPr id="10259" name="TextBox 10258"/>
          <p:cNvSpPr txBox="1"/>
          <p:nvPr/>
        </p:nvSpPr>
        <p:spPr>
          <a:xfrm>
            <a:off x="1005840" y="8229600"/>
            <a:ext cx="11338560" cy="822960"/>
          </a:xfrm>
          <a:prstGeom prst="rect">
            <a:avLst/>
          </a:prstGeom>
          <a:noFill/>
        </p:spPr>
        <p:txBody>
          <a:bodyPr wrap="square" anchor="t" lIns="73152" rIns="73152" tIns="36576" bIns="36576">
            <a:spAutoFit/>
          </a:bodyPr>
          <a:lstStyle/>
          <a:p>
            <a:pPr algn="l"/>
            <a:r>
              <a:rPr sz="2100" b="0" i="0">
                <a:solidFill>
                  <a:srgbClr val="5F6B7A"/>
                </a:solidFill>
                <a:latin typeface="Calibri"/>
              </a:rPr>
              <a:t>q = (1 − αₜ) quantile of past normalised scores; outcomes of a k-day hold are released only after the sale date</a:t>
            </a:r>
          </a:p>
        </p:txBody>
      </p:sp>
      <p:graphicFrame>
        <p:nvGraphicFramePr>
          <p:cNvPr id="10260" name="Table 10259"/>
          <p:cNvGraphicFramePr>
            <a:graphicFrameLocks noGrp="1"/>
          </p:cNvGraphicFramePr>
          <p:nvPr/>
        </p:nvGraphicFramePr>
        <p:xfrm>
          <a:off x="12801600" y="1737360"/>
          <a:ext cx="6309358" cy="5102352"/>
        </p:xfrm>
        <a:graphic>
          <a:graphicData uri="http://schemas.openxmlformats.org/drawingml/2006/table">
            <a:tbl>
              <a:tblPr firstRow="1" bandRow="1">
                <a:tableStyleId>{5C22544A-7EE6-4342-B048-85BDC9FD1C3A}</a:tableStyleId>
              </a:tblPr>
              <a:tblGrid>
                <a:gridCol w="941695"/>
                <a:gridCol w="3578442"/>
                <a:gridCol w="1789221"/>
              </a:tblGrid>
              <a:tr h="566928">
                <a:tc>
                  <a:txBody>
                    <a:bodyPr wrap="square"/>
                    <a:lstStyle/>
                    <a:p>
                      <a:pPr algn="ctr"/>
                      <a:r>
                        <a:rPr sz="2100" b="1">
                          <a:solidFill>
                            <a:srgbClr val="FFFFFF"/>
                          </a:solidFill>
                          <a:latin typeface="Calibri"/>
                        </a:rPr>
                        <a:t>Sym.</a:t>
                      </a:r>
                    </a:p>
                  </a:txBody>
                  <a:tcPr marL="73152" marR="73152" marT="27432" marB="27432" anchor="ctr">
                    <a:solidFill>
                      <a:srgbClr val="1F4E79"/>
                    </a:solidFill>
                  </a:tcPr>
                </a:tc>
                <a:tc>
                  <a:txBody>
                    <a:bodyPr wrap="square"/>
                    <a:lstStyle/>
                    <a:p>
                      <a:pPr algn="ctr"/>
                      <a:r>
                        <a:rPr sz="2100" b="1">
                          <a:solidFill>
                            <a:srgbClr val="FFFFFF"/>
                          </a:solidFill>
                          <a:latin typeface="Calibri"/>
                        </a:rPr>
                        <a:t>Meaning</a:t>
                      </a:r>
                    </a:p>
                  </a:txBody>
                  <a:tcPr marL="73152" marR="73152" marT="27432" marB="27432" anchor="ctr">
                    <a:solidFill>
                      <a:srgbClr val="1F4E79"/>
                    </a:solidFill>
                  </a:tcPr>
                </a:tc>
                <a:tc>
                  <a:txBody>
                    <a:bodyPr wrap="square"/>
                    <a:lstStyle/>
                    <a:p>
                      <a:pPr algn="ctr"/>
                      <a:r>
                        <a:rPr sz="2100" b="1">
                          <a:solidFill>
                            <a:srgbClr val="FFFFFF"/>
                          </a:solidFill>
                          <a:latin typeface="Calibri"/>
                        </a:rPr>
                        <a:t>Default</a:t>
                      </a:r>
                    </a:p>
                  </a:txBody>
                  <a:tcPr marL="73152" marR="73152" marT="27432" marB="27432" anchor="ctr">
                    <a:solidFill>
                      <a:srgbClr val="1F4E79"/>
                    </a:solidFill>
                  </a:tcPr>
                </a:tc>
              </a:tr>
              <a:tr h="566928">
                <a:tc>
                  <a:txBody>
                    <a:bodyPr wrap="square"/>
                    <a:lstStyle/>
                    <a:p>
                      <a:pPr algn="ctr"/>
                      <a:r>
                        <a:rPr sz="2100" b="0">
                          <a:solidFill>
                            <a:srgbClr val="1F2A44"/>
                          </a:solidFill>
                          <a:latin typeface="Calibri"/>
                        </a:rPr>
                        <a:t>f</a:t>
                      </a:r>
                    </a:p>
                  </a:txBody>
                  <a:tcPr marL="73152" marR="73152" marT="27432" marB="27432" anchor="ctr">
                    <a:solidFill>
                      <a:srgbClr val="FFFFFF"/>
                    </a:solidFill>
                  </a:tcPr>
                </a:tc>
                <a:tc>
                  <a:txBody>
                    <a:bodyPr wrap="square"/>
                    <a:lstStyle/>
                    <a:p>
                      <a:pPr algn="l"/>
                      <a:r>
                        <a:rPr sz="2100" b="0">
                          <a:solidFill>
                            <a:srgbClr val="1F2A44"/>
                          </a:solidFill>
                          <a:latin typeface="Calibri"/>
                        </a:rPr>
                        <a:t>market fee + commission</a:t>
                      </a:r>
                    </a:p>
                  </a:txBody>
                  <a:tcPr marL="73152" marR="73152" marT="27432" marB="27432" anchor="ctr">
                    <a:solidFill>
                      <a:srgbClr val="FFFFFF"/>
                    </a:solidFill>
                  </a:tcPr>
                </a:tc>
                <a:tc>
                  <a:txBody>
                    <a:bodyPr wrap="square"/>
                    <a:lstStyle/>
                    <a:p>
                      <a:pPr algn="ctr"/>
                      <a:r>
                        <a:rPr sz="2100" b="0">
                          <a:solidFill>
                            <a:srgbClr val="1F2A44"/>
                          </a:solidFill>
                          <a:latin typeface="Calibri"/>
                        </a:rPr>
                        <a:t>4 %</a:t>
                      </a:r>
                    </a:p>
                  </a:txBody>
                  <a:tcPr marL="73152" marR="73152" marT="27432" marB="27432" anchor="ctr">
                    <a:solidFill>
                      <a:srgbClr val="FFFFFF"/>
                    </a:solidFill>
                  </a:tcPr>
                </a:tc>
              </a:tr>
              <a:tr h="566928">
                <a:tc>
                  <a:txBody>
                    <a:bodyPr wrap="square"/>
                    <a:lstStyle/>
                    <a:p>
                      <a:pPr algn="ctr"/>
                      <a:r>
                        <a:rPr sz="2100" b="0">
                          <a:solidFill>
                            <a:srgbClr val="1F2A44"/>
                          </a:solidFill>
                          <a:latin typeface="Calibri"/>
                        </a:rPr>
                        <a:t>c₀</a:t>
                      </a:r>
                    </a:p>
                  </a:txBody>
                  <a:tcPr marL="73152" marR="73152" marT="27432" marB="27432" anchor="ctr">
                    <a:solidFill>
                      <a:srgbClr val="F1F7FB"/>
                    </a:solidFill>
                  </a:tcPr>
                </a:tc>
                <a:tc>
                  <a:txBody>
                    <a:bodyPr wrap="square"/>
                    <a:lstStyle/>
                    <a:p>
                      <a:pPr algn="l"/>
                      <a:r>
                        <a:rPr sz="2100" b="0">
                          <a:solidFill>
                            <a:srgbClr val="1F2A44"/>
                          </a:solidFill>
                          <a:latin typeface="Calibri"/>
                        </a:rPr>
                        <a:t>handling per trip</a:t>
                      </a:r>
                    </a:p>
                  </a:txBody>
                  <a:tcPr marL="73152" marR="73152" marT="27432" marB="27432" anchor="ctr">
                    <a:solidFill>
                      <a:srgbClr val="F1F7FB"/>
                    </a:solidFill>
                  </a:tcPr>
                </a:tc>
                <a:tc>
                  <a:txBody>
                    <a:bodyPr wrap="square"/>
                    <a:lstStyle/>
                    <a:p>
                      <a:pPr algn="ctr"/>
                      <a:r>
                        <a:rPr sz="2100" b="0">
                          <a:solidFill>
                            <a:srgbClr val="1F2A44"/>
                          </a:solidFill>
                          <a:latin typeface="Calibri"/>
                        </a:rPr>
                        <a:t>Rs 20</a:t>
                      </a:r>
                    </a:p>
                  </a:txBody>
                  <a:tcPr marL="73152" marR="73152" marT="27432" marB="27432" anchor="ctr">
                    <a:solidFill>
                      <a:srgbClr val="F1F7FB"/>
                    </a:solidFill>
                  </a:tcPr>
                </a:tc>
              </a:tr>
              <a:tr h="566928">
                <a:tc>
                  <a:txBody>
                    <a:bodyPr wrap="square"/>
                    <a:lstStyle/>
                    <a:p>
                      <a:pPr algn="ctr"/>
                      <a:r>
                        <a:rPr sz="2100" b="0">
                          <a:solidFill>
                            <a:srgbClr val="1F2A44"/>
                          </a:solidFill>
                          <a:latin typeface="Calibri"/>
                        </a:rPr>
                        <a:t>τ</a:t>
                      </a:r>
                    </a:p>
                  </a:txBody>
                  <a:tcPr marL="73152" marR="73152" marT="27432" marB="27432" anchor="ctr">
                    <a:solidFill>
                      <a:srgbClr val="FFFFFF"/>
                    </a:solidFill>
                  </a:tcPr>
                </a:tc>
                <a:tc>
                  <a:txBody>
                    <a:bodyPr wrap="square"/>
                    <a:lstStyle/>
                    <a:p>
                      <a:pPr algn="l"/>
                      <a:r>
                        <a:rPr sz="2100" b="0">
                          <a:solidFill>
                            <a:srgbClr val="1F2A44"/>
                          </a:solidFill>
                          <a:latin typeface="Calibri"/>
                        </a:rPr>
                        <a:t>transport, Rs per quintal-km</a:t>
                      </a:r>
                    </a:p>
                  </a:txBody>
                  <a:tcPr marL="73152" marR="73152" marT="27432" marB="27432" anchor="ctr">
                    <a:solidFill>
                      <a:srgbClr val="FFFFFF"/>
                    </a:solidFill>
                  </a:tcPr>
                </a:tc>
                <a:tc>
                  <a:txBody>
                    <a:bodyPr wrap="square"/>
                    <a:lstStyle/>
                    <a:p>
                      <a:pPr algn="ctr"/>
                      <a:r>
                        <a:rPr sz="2100" b="0">
                          <a:solidFill>
                            <a:srgbClr val="1F2A44"/>
                          </a:solidFill>
                          <a:latin typeface="Calibri"/>
                        </a:rPr>
                        <a:t>0.35</a:t>
                      </a:r>
                    </a:p>
                  </a:txBody>
                  <a:tcPr marL="73152" marR="73152" marT="27432" marB="27432" anchor="ctr">
                    <a:solidFill>
                      <a:srgbClr val="FFFFFF"/>
                    </a:solidFill>
                  </a:tcPr>
                </a:tc>
              </a:tr>
              <a:tr h="566928">
                <a:tc>
                  <a:txBody>
                    <a:bodyPr wrap="square"/>
                    <a:lstStyle/>
                    <a:p>
                      <a:pPr algn="ctr"/>
                      <a:r>
                        <a:rPr sz="2100" b="0">
                          <a:solidFill>
                            <a:srgbClr val="1F2A44"/>
                          </a:solidFill>
                          <a:latin typeface="Calibri"/>
                        </a:rPr>
                        <a:t>ρ</a:t>
                      </a:r>
                    </a:p>
                  </a:txBody>
                  <a:tcPr marL="73152" marR="73152" marT="27432" marB="27432" anchor="ctr">
                    <a:solidFill>
                      <a:srgbClr val="F1F7FB"/>
                    </a:solidFill>
                  </a:tcPr>
                </a:tc>
                <a:tc>
                  <a:txBody>
                    <a:bodyPr wrap="square"/>
                    <a:lstStyle/>
                    <a:p>
                      <a:pPr algn="l"/>
                      <a:r>
                        <a:rPr sz="2100" b="0">
                          <a:solidFill>
                            <a:srgbClr val="1F2A44"/>
                          </a:solidFill>
                          <a:latin typeface="Calibri"/>
                        </a:rPr>
                        <a:t>road / great-circle distance</a:t>
                      </a:r>
                    </a:p>
                  </a:txBody>
                  <a:tcPr marL="73152" marR="73152" marT="27432" marB="27432" anchor="ctr">
                    <a:solidFill>
                      <a:srgbClr val="F1F7FB"/>
                    </a:solidFill>
                  </a:tcPr>
                </a:tc>
                <a:tc>
                  <a:txBody>
                    <a:bodyPr wrap="square"/>
                    <a:lstStyle/>
                    <a:p>
                      <a:pPr algn="ctr"/>
                      <a:r>
                        <a:rPr sz="2100" b="0">
                          <a:solidFill>
                            <a:srgbClr val="1F2A44"/>
                          </a:solidFill>
                          <a:latin typeface="Calibri"/>
                        </a:rPr>
                        <a:t>1.3</a:t>
                      </a:r>
                    </a:p>
                  </a:txBody>
                  <a:tcPr marL="73152" marR="73152" marT="27432" marB="27432" anchor="ctr">
                    <a:solidFill>
                      <a:srgbClr val="F1F7FB"/>
                    </a:solidFill>
                  </a:tcPr>
                </a:tc>
              </a:tr>
              <a:tr h="566928">
                <a:tc>
                  <a:txBody>
                    <a:bodyPr wrap="square"/>
                    <a:lstStyle/>
                    <a:p>
                      <a:pPr algn="ctr"/>
                      <a:r>
                        <a:rPr sz="2100" b="0">
                          <a:solidFill>
                            <a:srgbClr val="1F2A44"/>
                          </a:solidFill>
                          <a:latin typeface="Calibri"/>
                        </a:rPr>
                        <a:t>δ</a:t>
                      </a:r>
                    </a:p>
                  </a:txBody>
                  <a:tcPr marL="73152" marR="73152" marT="27432" marB="27432" anchor="ctr">
                    <a:solidFill>
                      <a:srgbClr val="FFFFFF"/>
                    </a:solidFill>
                  </a:tcPr>
                </a:tc>
                <a:tc>
                  <a:txBody>
                    <a:bodyPr wrap="square"/>
                    <a:lstStyle/>
                    <a:p>
                      <a:pPr algn="l"/>
                      <a:r>
                        <a:rPr sz="2100" b="0">
                          <a:solidFill>
                            <a:srgbClr val="1F2A44"/>
                          </a:solidFill>
                          <a:latin typeface="Calibri"/>
                        </a:rPr>
                        <a:t>daily spoilage (tomato / onion / potato)</a:t>
                      </a:r>
                    </a:p>
                  </a:txBody>
                  <a:tcPr marL="73152" marR="73152" marT="27432" marB="27432" anchor="ctr">
                    <a:solidFill>
                      <a:srgbClr val="FFFFFF"/>
                    </a:solidFill>
                  </a:tcPr>
                </a:tc>
                <a:tc>
                  <a:txBody>
                    <a:bodyPr wrap="square"/>
                    <a:lstStyle/>
                    <a:p>
                      <a:pPr algn="ctr"/>
                      <a:r>
                        <a:rPr sz="2100" b="0">
                          <a:solidFill>
                            <a:srgbClr val="1F2A44"/>
                          </a:solidFill>
                          <a:latin typeface="Calibri"/>
                        </a:rPr>
                        <a:t>3 / 0.8 / 0.4 %</a:t>
                      </a:r>
                    </a:p>
                  </a:txBody>
                  <a:tcPr marL="73152" marR="73152" marT="27432" marB="27432" anchor="ctr">
                    <a:solidFill>
                      <a:srgbClr val="FFFFFF"/>
                    </a:solidFill>
                  </a:tcPr>
                </a:tc>
              </a:tr>
              <a:tr h="566928">
                <a:tc>
                  <a:txBody>
                    <a:bodyPr wrap="square"/>
                    <a:lstStyle/>
                    <a:p>
                      <a:pPr algn="ctr"/>
                      <a:r>
                        <a:rPr sz="2100" b="0">
                          <a:solidFill>
                            <a:srgbClr val="1F2A44"/>
                          </a:solidFill>
                          <a:latin typeface="Calibri"/>
                        </a:rPr>
                        <a:t>φ</a:t>
                      </a:r>
                    </a:p>
                  </a:txBody>
                  <a:tcPr marL="73152" marR="73152" marT="27432" marB="27432" anchor="ctr">
                    <a:solidFill>
                      <a:srgbClr val="F1F7FB"/>
                    </a:solidFill>
                  </a:tcPr>
                </a:tc>
                <a:tc>
                  <a:txBody>
                    <a:bodyPr wrap="square"/>
                    <a:lstStyle/>
                    <a:p>
                      <a:pPr algn="l"/>
                      <a:r>
                        <a:rPr sz="2100" b="0">
                          <a:solidFill>
                            <a:srgbClr val="1F2A44"/>
                          </a:solidFill>
                          <a:latin typeface="Calibri"/>
                        </a:rPr>
                        <a:t>price discount if mandi silent</a:t>
                      </a:r>
                    </a:p>
                  </a:txBody>
                  <a:tcPr marL="73152" marR="73152" marT="27432" marB="27432" anchor="ctr">
                    <a:solidFill>
                      <a:srgbClr val="F1F7FB"/>
                    </a:solidFill>
                  </a:tcPr>
                </a:tc>
                <a:tc>
                  <a:txBody>
                    <a:bodyPr wrap="square"/>
                    <a:lstStyle/>
                    <a:p>
                      <a:pPr algn="ctr"/>
                      <a:r>
                        <a:rPr sz="2100" b="0">
                          <a:solidFill>
                            <a:srgbClr val="1F2A44"/>
                          </a:solidFill>
                          <a:latin typeface="Calibri"/>
                        </a:rPr>
                        <a:t>0.85</a:t>
                      </a:r>
                    </a:p>
                  </a:txBody>
                  <a:tcPr marL="73152" marR="73152" marT="27432" marB="27432" anchor="ctr">
                    <a:solidFill>
                      <a:srgbClr val="F1F7FB"/>
                    </a:solidFill>
                  </a:tcPr>
                </a:tc>
              </a:tr>
              <a:tr h="566928">
                <a:tc>
                  <a:txBody>
                    <a:bodyPr wrap="square"/>
                    <a:lstStyle/>
                    <a:p>
                      <a:pPr algn="ctr"/>
                      <a:r>
                        <a:rPr sz="2100" b="0">
                          <a:solidFill>
                            <a:srgbClr val="1F2A44"/>
                          </a:solidFill>
                          <a:latin typeface="Calibri"/>
                        </a:rPr>
                        <a:t>φ_g</a:t>
                      </a:r>
                    </a:p>
                  </a:txBody>
                  <a:tcPr marL="73152" marR="73152" marT="27432" marB="27432" anchor="ctr">
                    <a:solidFill>
                      <a:srgbClr val="FFFFFF"/>
                    </a:solidFill>
                  </a:tcPr>
                </a:tc>
                <a:tc>
                  <a:txBody>
                    <a:bodyPr wrap="square"/>
                    <a:lstStyle/>
                    <a:p>
                      <a:pPr algn="l"/>
                      <a:r>
                        <a:rPr sz="2100" b="0">
                          <a:solidFill>
                            <a:srgbClr val="1F2A44"/>
                          </a:solidFill>
                          <a:latin typeface="Calibri"/>
                        </a:rPr>
                        <a:t>farm-gate discount</a:t>
                      </a:r>
                    </a:p>
                  </a:txBody>
                  <a:tcPr marL="73152" marR="73152" marT="27432" marB="27432" anchor="ctr">
                    <a:solidFill>
                      <a:srgbClr val="FFFFFF"/>
                    </a:solidFill>
                  </a:tcPr>
                </a:tc>
                <a:tc>
                  <a:txBody>
                    <a:bodyPr wrap="square"/>
                    <a:lstStyle/>
                    <a:p>
                      <a:pPr algn="ctr"/>
                      <a:r>
                        <a:rPr sz="2100" b="0">
                          <a:solidFill>
                            <a:srgbClr val="1F2A44"/>
                          </a:solidFill>
                          <a:latin typeface="Calibri"/>
                        </a:rPr>
                        <a:t>0.80</a:t>
                      </a:r>
                    </a:p>
                  </a:txBody>
                  <a:tcPr marL="73152" marR="73152" marT="27432" marB="27432" anchor="ctr">
                    <a:solidFill>
                      <a:srgbClr val="FFFFFF"/>
                    </a:solidFill>
                  </a:tcPr>
                </a:tc>
              </a:tr>
              <a:tr h="566928">
                <a:tc>
                  <a:txBody>
                    <a:bodyPr wrap="square"/>
                    <a:lstStyle/>
                    <a:p>
                      <a:pPr algn="ctr"/>
                      <a:r>
                        <a:rPr sz="2100" b="0">
                          <a:solidFill>
                            <a:srgbClr val="1F2A44"/>
                          </a:solidFill>
                          <a:latin typeface="Calibri"/>
                        </a:rPr>
                        <a:t>α, γ</a:t>
                      </a:r>
                    </a:p>
                  </a:txBody>
                  <a:tcPr marL="73152" marR="73152" marT="27432" marB="27432" anchor="ctr">
                    <a:solidFill>
                      <a:srgbClr val="F1F7FB"/>
                    </a:solidFill>
                  </a:tcPr>
                </a:tc>
                <a:tc>
                  <a:txBody>
                    <a:bodyPr wrap="square"/>
                    <a:lstStyle/>
                    <a:p>
                      <a:pPr algn="l"/>
                      <a:r>
                        <a:rPr sz="2100" b="0">
                          <a:solidFill>
                            <a:srgbClr val="1F2A44"/>
                          </a:solidFill>
                          <a:latin typeface="Calibri"/>
                        </a:rPr>
                        <a:t>floor level, ACI step</a:t>
                      </a:r>
                    </a:p>
                  </a:txBody>
                  <a:tcPr marL="73152" marR="73152" marT="27432" marB="27432" anchor="ctr">
                    <a:solidFill>
                      <a:srgbClr val="F1F7FB"/>
                    </a:solidFill>
                  </a:tcPr>
                </a:tc>
                <a:tc>
                  <a:txBody>
                    <a:bodyPr wrap="square"/>
                    <a:lstStyle/>
                    <a:p>
                      <a:pPr algn="ctr"/>
                      <a:r>
                        <a:rPr sz="2100" b="0">
                          <a:solidFill>
                            <a:srgbClr val="1F2A44"/>
                          </a:solidFill>
                          <a:latin typeface="Calibri"/>
                        </a:rPr>
                        <a:t>0.10, 0.01</a:t>
                      </a:r>
                    </a:p>
                  </a:txBody>
                  <a:tcPr marL="73152" marR="73152" marT="27432" marB="27432" anchor="ctr">
                    <a:solidFill>
                      <a:srgbClr val="F1F7FB"/>
                    </a:solidFill>
                  </a:tcPr>
                </a:tc>
              </a:tr>
            </a:tbl>
          </a:graphicData>
        </a:graphic>
      </p:graphicFrame>
      <p:sp>
        <p:nvSpPr>
          <p:cNvPr id="10261" name="Rectangle 10260"/>
          <p:cNvSpPr/>
          <p:nvPr/>
        </p:nvSpPr>
        <p:spPr>
          <a:xfrm>
            <a:off x="12801600" y="7040880"/>
            <a:ext cx="6309360" cy="265176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r>
              <a:rPr sz="2300" b="1" i="0">
                <a:solidFill>
                  <a:srgbClr val="1F2A44"/>
                </a:solidFill>
                <a:latin typeface="Calibri"/>
              </a:rPr>
              <a:t>Parameters are scenario assumptions, not estimates. </a:t>
            </a:r>
            <a:r>
              <a:rPr sz="2300" b="0" i="0">
                <a:solidFill>
                  <a:srgbClr val="1F2A44"/>
                </a:solidFill>
                <a:latin typeface="Calibri"/>
              </a:rPr>
              <a:t>τ, δ and φ are swept at evaluation time; conclusions hold across all 10 settings per crop.</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Decision Intelligence and Cross-Commodity Spillover</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5</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10251" name="Rectangle 10250"/>
          <p:cNvSpPr/>
          <p:nvPr/>
        </p:nvSpPr>
        <p:spPr>
          <a:xfrm>
            <a:off x="1005840" y="1737360"/>
            <a:ext cx="8869680" cy="5669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2400" b="1" i="0">
                <a:solidFill>
                  <a:srgbClr val="FFFFFF"/>
                </a:solidFill>
                <a:latin typeface="Calibri"/>
              </a:rPr>
              <a:t>Objective 7: grounded decision briefs</a:t>
            </a:r>
          </a:p>
        </p:txBody>
      </p:sp>
      <p:sp>
        <p:nvSpPr>
          <p:cNvPr id="10252" name="Rectangle 10251"/>
          <p:cNvSpPr/>
          <p:nvPr/>
        </p:nvSpPr>
        <p:spPr>
          <a:xfrm>
            <a:off x="1005840" y="2304288"/>
            <a:ext cx="8869680" cy="711403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r>
              <a:rPr sz="2800" b="1" i="0">
                <a:solidFill>
                  <a:srgbClr val="1F2A44"/>
                </a:solidFill>
                <a:latin typeface="Calibri"/>
              </a:rPr>
              <a:t>1. Evidence bundle: </a:t>
            </a:r>
            <a:r>
              <a:rPr sz="2800" b="0" i="0">
                <a:solidFill>
                  <a:srgbClr val="1F2A44"/>
                </a:solidFill>
                <a:latin typeface="Calibri"/>
              </a:rPr>
              <a:t>flat map of dotted keys (forecast.h5.point, market-choice, arrivals, spillover) + what was unavailable</a:t>
            </a:r>
          </a:p>
          <a:p>
            <a:pPr algn="l"/>
            <a:r>
              <a:rPr sz="2800" b="1" i="0">
                <a:solidFill>
                  <a:srgbClr val="1F2A44"/>
                </a:solidFill>
                <a:latin typeface="Calibri"/>
              </a:rPr>
              <a:t>2. Provider fills a fixed schema: </a:t>
            </a:r>
            <a:r>
              <a:rPr sz="2800" b="0" i="0">
                <a:solidFill>
                  <a:srgbClr val="1F2A44"/>
                </a:solidFill>
                <a:latin typeface="Calibri"/>
              </a:rPr>
              <a:t>action BUY/SELL/HOLD/WAIT, confidence (may be INSUFFICIENT_EVIDENCE), factors that each cite an evidence key</a:t>
            </a:r>
          </a:p>
          <a:p>
            <a:pPr algn="l"/>
            <a:r>
              <a:rPr sz="2800" b="1" i="0">
                <a:solidFill>
                  <a:srgbClr val="1F2A44"/>
                </a:solidFill>
                <a:latin typeface="Calibri"/>
              </a:rPr>
              <a:t>3. Grounding check: </a:t>
            </a:r>
            <a:r>
              <a:rPr sz="2800" b="0" i="0">
                <a:solidFill>
                  <a:srgbClr val="1F2A44"/>
                </a:solidFill>
                <a:latin typeface="Calibri"/>
              </a:rPr>
              <a:t>every figure within 1% of an evidence value, every key exists, no market named outside the evidence</a:t>
            </a:r>
          </a:p>
          <a:p>
            <a:pPr algn="l"/>
            <a:r>
              <a:rPr sz="2800" b="1" i="0">
                <a:solidFill>
                  <a:srgbClr val="1F2A44"/>
                </a:solidFill>
                <a:latin typeface="Calibri"/>
              </a:rPr>
              <a:t>4. Never fails silently: </a:t>
            </a:r>
            <a:r>
              <a:rPr sz="2800" b="0" i="0">
                <a:solidFill>
                  <a:srgbClr val="1F2A44"/>
                </a:solidFill>
                <a:latin typeface="Calibri"/>
              </a:rPr>
              <a:t>failing provider → deterministic fallback; ungrounded brief served as grounded:false with issues listed</a:t>
            </a:r>
          </a:p>
          <a:p>
            <a:pPr algn="l"/>
            <a:r>
              <a:rPr sz="2800" b="1" i="0">
                <a:solidFill>
                  <a:srgbClr val="1F2A44"/>
                </a:solidFill>
                <a:latin typeface="Calibri"/>
              </a:rPr>
              <a:t>Policy: </a:t>
            </a:r>
            <a:r>
              <a:rPr sz="2800" b="0" i="0">
                <a:solidFill>
                  <a:srgbClr val="1F2A44"/>
                </a:solidFill>
                <a:latin typeface="Calibri"/>
              </a:rPr>
              <a:t>a HOLD is overridden when spoilage outruns the expected gain</a:t>
            </a:r>
          </a:p>
        </p:txBody>
      </p:sp>
      <p:sp>
        <p:nvSpPr>
          <p:cNvPr id="10253" name="Rectangle 10252"/>
          <p:cNvSpPr/>
          <p:nvPr/>
        </p:nvSpPr>
        <p:spPr>
          <a:xfrm>
            <a:off x="10241280" y="1737360"/>
            <a:ext cx="8869680" cy="566928"/>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2400" b="1" i="0">
                <a:solidFill>
                  <a:srgbClr val="FFFFFF"/>
                </a:solidFill>
                <a:latin typeface="Calibri"/>
              </a:rPr>
              <a:t>Objective 8: spillover between crops</a:t>
            </a:r>
          </a:p>
        </p:txBody>
      </p:sp>
      <p:sp>
        <p:nvSpPr>
          <p:cNvPr id="10254" name="Rectangle 10253"/>
          <p:cNvSpPr/>
          <p:nvPr/>
        </p:nvSpPr>
        <p:spPr>
          <a:xfrm>
            <a:off x="10241280" y="2304288"/>
            <a:ext cx="8869680" cy="711403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r>
              <a:rPr sz="2800" b="1" i="0">
                <a:solidFill>
                  <a:srgbClr val="1F2A44"/>
                </a:solidFill>
                <a:latin typeface="Calibri"/>
              </a:rPr>
              <a:t>Panel: </a:t>
            </a:r>
            <a:r>
              <a:rPr sz="2800" b="0" i="0">
                <a:solidFill>
                  <a:srgbClr val="1F2A44"/>
                </a:solidFill>
                <a:latin typeface="Calibri"/>
              </a:rPr>
              <a:t>weekly returns of 5 crops, 232 weeks, one reference market each</a:t>
            </a:r>
          </a:p>
          <a:p>
            <a:pPr algn="l"/>
            <a:r>
              <a:rPr sz="2800" b="1" i="0">
                <a:solidFill>
                  <a:srgbClr val="1F2A44"/>
                </a:solidFill>
                <a:latin typeface="Calibri"/>
              </a:rPr>
              <a:t>Clean: </a:t>
            </a:r>
            <a:r>
              <a:rPr sz="2800" b="0" i="0">
                <a:solidFill>
                  <a:srgbClr val="1F2A44"/>
                </a:solidFill>
                <a:latin typeface="Calibri"/>
              </a:rPr>
              <a:t>remove first common factor (24.5% of variance) and calendar-month means so shared shocks are not read as transmission</a:t>
            </a:r>
          </a:p>
          <a:p>
            <a:pPr algn="l"/>
            <a:r>
              <a:rPr sz="2800" b="1" i="0">
                <a:solidFill>
                  <a:srgbClr val="1F2A44"/>
                </a:solidFill>
                <a:latin typeface="Calibri"/>
              </a:rPr>
              <a:t>Episodes: </a:t>
            </a:r>
            <a:r>
              <a:rPr sz="2800" b="0" i="0">
                <a:solidFill>
                  <a:srgbClr val="1F2A44"/>
                </a:solidFill>
                <a:latin typeface="Calibri"/>
              </a:rPr>
              <a:t>source crop in squeeze or glut; onsets &lt;4 weeks apart merged</a:t>
            </a:r>
          </a:p>
          <a:p>
            <a:pPr algn="l"/>
            <a:r>
              <a:rPr sz="2800" b="1" i="0">
                <a:solidFill>
                  <a:srgbClr val="1F2A44"/>
                </a:solidFill>
                <a:latin typeface="Calibri"/>
              </a:rPr>
              <a:t>Effect: </a:t>
            </a:r>
            <a:r>
              <a:rPr sz="2800" b="0" i="0">
                <a:solidFill>
                  <a:srgbClr val="1F2A44"/>
                </a:solidFill>
                <a:latin typeface="Calibri"/>
              </a:rPr>
              <a:t>mean response of target over h = 1–4 weeks minus its unconditional baseline</a:t>
            </a:r>
          </a:p>
          <a:p>
            <a:pPr algn="l"/>
            <a:r>
              <a:rPr sz="2800" b="1" i="0">
                <a:solidFill>
                  <a:srgbClr val="1F2A44"/>
                </a:solidFill>
                <a:latin typeface="Calibri"/>
              </a:rPr>
              <a:t>Inference: </a:t>
            </a:r>
            <a:r>
              <a:rPr sz="2800" b="0" i="0">
                <a:solidFill>
                  <a:srgbClr val="1F2A44"/>
                </a:solidFill>
                <a:latin typeface="Calibri"/>
              </a:rPr>
              <a:t>bootstrap over whole episodes (2,000 draws, 90%); Benjamini–Hochberg FDR 10% across 40 edges</a:t>
            </a:r>
          </a:p>
          <a:p>
            <a:pPr algn="l"/>
            <a:r>
              <a:rPr sz="2800" b="1" i="0">
                <a:solidFill>
                  <a:srgbClr val="1F2A44"/>
                </a:solidFill>
                <a:latin typeface="Calibri"/>
              </a:rPr>
              <a:t>Gates: </a:t>
            </a:r>
            <a:r>
              <a:rPr sz="2800" b="0" i="0">
                <a:solidFill>
                  <a:srgbClr val="1F2A44"/>
                </a:solidFill>
                <a:latin typeface="Calibri"/>
              </a:rPr>
              <a:t>≥8 episodes, CI excludes 0, |effect| ≥ 1%; otherwise INSUFFICIENT_EVIDENCE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Live Demonstration (1/2): Farmer Tool</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6</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graphicFrame>
        <p:nvGraphicFramePr>
          <p:cNvPr id="10251" name="Table 10250"/>
          <p:cNvGraphicFramePr>
            <a:graphicFrameLocks noGrp="1"/>
          </p:cNvGraphicFramePr>
          <p:nvPr/>
        </p:nvGraphicFramePr>
        <p:xfrm>
          <a:off x="1005840" y="1737360"/>
          <a:ext cx="18105120" cy="7360920"/>
        </p:xfrm>
        <a:graphic>
          <a:graphicData uri="http://schemas.openxmlformats.org/drawingml/2006/table">
            <a:tbl>
              <a:tblPr firstRow="1" bandRow="1">
                <a:tableStyleId>{5C22544A-7EE6-4342-B048-85BDC9FD1C3A}</a:tableStyleId>
              </a:tblPr>
              <a:tblGrid>
                <a:gridCol w="822960"/>
                <a:gridCol w="7498080"/>
                <a:gridCol w="9784080"/>
              </a:tblGrid>
              <a:tr h="1051560">
                <a:tc>
                  <a:txBody>
                    <a:bodyPr wrap="square"/>
                    <a:lstStyle/>
                    <a:p>
                      <a:pPr algn="ctr"/>
                      <a:r>
                        <a:rPr sz="2100" b="1">
                          <a:solidFill>
                            <a:srgbClr val="FFFFFF"/>
                          </a:solidFill>
                          <a:latin typeface="Calibri"/>
                        </a:rPr>
                        <a:t>Step</a:t>
                      </a:r>
                    </a:p>
                  </a:txBody>
                  <a:tcPr marL="73152" marR="73152" marT="27432" marB="27432" anchor="ctr">
                    <a:solidFill>
                      <a:srgbClr val="1F4E79"/>
                    </a:solidFill>
                  </a:tcPr>
                </a:tc>
                <a:tc>
                  <a:txBody>
                    <a:bodyPr wrap="square"/>
                    <a:lstStyle/>
                    <a:p>
                      <a:pPr algn="ctr"/>
                      <a:r>
                        <a:rPr sz="2100" b="1">
                          <a:solidFill>
                            <a:srgbClr val="FFFFFF"/>
                          </a:solidFill>
                          <a:latin typeface="Calibri"/>
                        </a:rPr>
                        <a:t>Do</a:t>
                      </a:r>
                    </a:p>
                  </a:txBody>
                  <a:tcPr marL="73152" marR="73152" marT="27432" marB="27432" anchor="ctr">
                    <a:solidFill>
                      <a:srgbClr val="1F4E79"/>
                    </a:solidFill>
                  </a:tcPr>
                </a:tc>
                <a:tc>
                  <a:txBody>
                    <a:bodyPr wrap="square"/>
                    <a:lstStyle/>
                    <a:p>
                      <a:pPr algn="ctr"/>
                      <a:r>
                        <a:rPr sz="2100" b="1">
                          <a:solidFill>
                            <a:srgbClr val="FFFFFF"/>
                          </a:solidFill>
                          <a:latin typeface="Calibri"/>
                        </a:rPr>
                        <a:t>You will see</a:t>
                      </a:r>
                    </a:p>
                  </a:txBody>
                  <a:tcPr marL="73152" marR="73152" marT="27432" marB="27432" anchor="ctr">
                    <a:solidFill>
                      <a:srgbClr val="1F4E79"/>
                    </a:solidFill>
                  </a:tcPr>
                </a:tc>
              </a:tr>
              <a:tr h="1051560">
                <a:tc>
                  <a:txBody>
                    <a:bodyPr wrap="square"/>
                    <a:lstStyle/>
                    <a:p>
                      <a:pPr algn="l"/>
                      <a:r>
                        <a:rPr sz="2100" b="1">
                          <a:solidFill>
                            <a:srgbClr val="1F2A44"/>
                          </a:solidFill>
                          <a:latin typeface="Calibri"/>
                        </a:rPr>
                        <a:t>A1</a:t>
                      </a:r>
                    </a:p>
                  </a:txBody>
                  <a:tcPr marL="73152" marR="73152" marT="27432" marB="27432" anchor="ctr">
                    <a:solidFill>
                      <a:srgbClr val="FFFFFF"/>
                    </a:solidFill>
                  </a:tcPr>
                </a:tc>
                <a:tc>
                  <a:txBody>
                    <a:bodyPr wrap="square"/>
                    <a:lstStyle/>
                    <a:p>
                      <a:pPr algn="l"/>
                      <a:r>
                        <a:rPr sz="2100" b="0">
                          <a:solidFill>
                            <a:srgbClr val="1F2A44"/>
                          </a:solidFill>
                          <a:latin typeface="Calibri"/>
                        </a:rPr>
                        <a:t>Tools → Best Place &amp; Day to Sell · Kolar, tomato, 10 q, tempo</a:t>
                      </a:r>
                    </a:p>
                  </a:txBody>
                  <a:tcPr marL="73152" marR="73152" marT="27432" marB="27432" anchor="ctr">
                    <a:solidFill>
                      <a:srgbClr val="FFFFFF"/>
                    </a:solidFill>
                  </a:tcPr>
                </a:tc>
                <a:tc>
                  <a:txBody>
                    <a:bodyPr wrap="square"/>
                    <a:lstStyle/>
                    <a:p>
                      <a:pPr algn="l"/>
                      <a:r>
                        <a:rPr sz="2100" b="0">
                          <a:solidFill>
                            <a:srgbClr val="1F2A44"/>
                          </a:solidFill>
                          <a:latin typeface="Calibri"/>
                        </a:rPr>
                        <a:t>Ramanagara, Wed 28 Oct, 103 km · ₹1,824 expected · ₹1,316 floor · ₹592 above nearest</a:t>
                      </a:r>
                    </a:p>
                  </a:txBody>
                  <a:tcPr marL="73152" marR="73152" marT="27432" marB="27432" anchor="ctr">
                    <a:solidFill>
                      <a:srgbClr val="FFFFFF"/>
                    </a:solidFill>
                  </a:tcPr>
                </a:tc>
              </a:tr>
              <a:tr h="1051560">
                <a:tc>
                  <a:txBody>
                    <a:bodyPr wrap="square"/>
                    <a:lstStyle/>
                    <a:p>
                      <a:pPr algn="l"/>
                      <a:r>
                        <a:rPr sz="2100" b="1">
                          <a:solidFill>
                            <a:srgbClr val="1F2A44"/>
                          </a:solidFill>
                          <a:latin typeface="Calibri"/>
                        </a:rPr>
                        <a:t>A2</a:t>
                      </a:r>
                    </a:p>
                  </a:txBody>
                  <a:tcPr marL="73152" marR="73152" marT="27432" marB="27432" anchor="ctr">
                    <a:solidFill>
                      <a:srgbClr val="F1F7FB"/>
                    </a:solidFill>
                  </a:tcPr>
                </a:tc>
                <a:tc>
                  <a:txBody>
                    <a:bodyPr wrap="square"/>
                    <a:lstStyle/>
                    <a:p>
                      <a:pPr algn="l"/>
                      <a:r>
                        <a:rPr sz="2100" b="0">
                          <a:solidFill>
                            <a:srgbClr val="1F2A44"/>
                          </a:solidFill>
                          <a:latin typeface="Calibri"/>
                        </a:rPr>
                        <a:t>Open “Why this mandi?”</a:t>
                      </a:r>
                    </a:p>
                  </a:txBody>
                  <a:tcPr marL="73152" marR="73152" marT="27432" marB="27432" anchor="ctr">
                    <a:solidFill>
                      <a:srgbClr val="F1F7FB"/>
                    </a:solidFill>
                  </a:tcPr>
                </a:tc>
                <a:tc>
                  <a:txBody>
                    <a:bodyPr wrap="square"/>
                    <a:lstStyle/>
                    <a:p>
                      <a:pPr algn="l"/>
                      <a:r>
                        <a:rPr sz="2100" b="0">
                          <a:solidFill>
                            <a:srgbClr val="1F2A44"/>
                          </a:solidFill>
                          <a:latin typeface="Calibri"/>
                        </a:rPr>
                        <a:t>2,081 − 83 − 60 − 94 − 20 = ₹1,824; nearest Kolar ₹1,233</a:t>
                      </a:r>
                    </a:p>
                  </a:txBody>
                  <a:tcPr marL="73152" marR="73152" marT="27432" marB="27432" anchor="ctr">
                    <a:solidFill>
                      <a:srgbClr val="F1F7FB"/>
                    </a:solidFill>
                  </a:tcPr>
                </a:tc>
              </a:tr>
              <a:tr h="1051560">
                <a:tc>
                  <a:txBody>
                    <a:bodyPr wrap="square"/>
                    <a:lstStyle/>
                    <a:p>
                      <a:pPr algn="l"/>
                      <a:r>
                        <a:rPr sz="2100" b="1">
                          <a:solidFill>
                            <a:srgbClr val="1F2A44"/>
                          </a:solidFill>
                          <a:latin typeface="Calibri"/>
                        </a:rPr>
                        <a:t>A3</a:t>
                      </a:r>
                    </a:p>
                  </a:txBody>
                  <a:tcPr marL="73152" marR="73152" marT="27432" marB="27432" anchor="ctr">
                    <a:solidFill>
                      <a:srgbClr val="FFFFFF"/>
                    </a:solidFill>
                  </a:tcPr>
                </a:tc>
                <a:tc>
                  <a:txBody>
                    <a:bodyPr wrap="square"/>
                    <a:lstStyle/>
                    <a:p>
                      <a:pPr algn="l"/>
                      <a:r>
                        <a:rPr sz="2100" b="0">
                          <a:solidFill>
                            <a:srgbClr val="1F2A44"/>
                          </a:solidFill>
                          <a:latin typeface="Calibri"/>
                        </a:rPr>
                        <a:t>What if: drag transport to ₹3.00</a:t>
                      </a:r>
                    </a:p>
                  </a:txBody>
                  <a:tcPr marL="73152" marR="73152" marT="27432" marB="27432" anchor="ctr">
                    <a:solidFill>
                      <a:srgbClr val="FFFFFF"/>
                    </a:solidFill>
                  </a:tcPr>
                </a:tc>
                <a:tc>
                  <a:txBody>
                    <a:bodyPr wrap="square"/>
                    <a:lstStyle/>
                    <a:p>
                      <a:pPr algn="l"/>
                      <a:r>
                        <a:rPr sz="2100" b="0">
                          <a:solidFill>
                            <a:srgbClr val="1F2A44"/>
                          </a:solidFill>
                          <a:latin typeface="Calibri"/>
                        </a:rPr>
                        <a:t>Same advice, net ₹1,515</a:t>
                      </a:r>
                    </a:p>
                  </a:txBody>
                  <a:tcPr marL="73152" marR="73152" marT="27432" marB="27432" anchor="ctr">
                    <a:solidFill>
                      <a:srgbClr val="FFFFFF"/>
                    </a:solidFill>
                  </a:tcPr>
                </a:tc>
              </a:tr>
              <a:tr h="1051560">
                <a:tc>
                  <a:txBody>
                    <a:bodyPr wrap="square"/>
                    <a:lstStyle/>
                    <a:p>
                      <a:pPr algn="l"/>
                      <a:r>
                        <a:rPr sz="2100" b="1">
                          <a:solidFill>
                            <a:srgbClr val="1F2A44"/>
                          </a:solidFill>
                          <a:latin typeface="Calibri"/>
                        </a:rPr>
                        <a:t>A4</a:t>
                      </a:r>
                    </a:p>
                  </a:txBody>
                  <a:tcPr marL="73152" marR="73152" marT="27432" marB="27432" anchor="ctr">
                    <a:solidFill>
                      <a:srgbClr val="F1F7FB"/>
                    </a:solidFill>
                  </a:tcPr>
                </a:tc>
                <a:tc>
                  <a:txBody>
                    <a:bodyPr wrap="square"/>
                    <a:lstStyle/>
                    <a:p>
                      <a:pPr algn="l"/>
                      <a:r>
                        <a:rPr sz="2100" b="0">
                          <a:solidFill>
                            <a:srgbClr val="1F2A44"/>
                          </a:solidFill>
                          <a:latin typeface="Calibri"/>
                        </a:rPr>
                        <a:t>What if: drag spoilage to 5%</a:t>
                      </a:r>
                    </a:p>
                  </a:txBody>
                  <a:tcPr marL="73152" marR="73152" marT="27432" marB="27432" anchor="ctr">
                    <a:solidFill>
                      <a:srgbClr val="F1F7FB"/>
                    </a:solidFill>
                  </a:tcPr>
                </a:tc>
                <a:tc>
                  <a:txBody>
                    <a:bodyPr wrap="square"/>
                    <a:lstStyle/>
                    <a:p>
                      <a:pPr algn="l"/>
                      <a:r>
                        <a:rPr sz="2100" b="0">
                          <a:solidFill>
                            <a:srgbClr val="1F2A44"/>
                          </a:solidFill>
                          <a:latin typeface="Calibri"/>
                        </a:rPr>
                        <a:t>Advice changes: Ramanagara today, ₹1,789</a:t>
                      </a:r>
                    </a:p>
                  </a:txBody>
                  <a:tcPr marL="73152" marR="73152" marT="27432" marB="27432" anchor="ctr">
                    <a:solidFill>
                      <a:srgbClr val="F1F7FB"/>
                    </a:solidFill>
                  </a:tcPr>
                </a:tc>
              </a:tr>
              <a:tr h="1051560">
                <a:tc>
                  <a:txBody>
                    <a:bodyPr wrap="square"/>
                    <a:lstStyle/>
                    <a:p>
                      <a:pPr algn="l"/>
                      <a:r>
                        <a:rPr sz="2100" b="1">
                          <a:solidFill>
                            <a:srgbClr val="1F2A44"/>
                          </a:solidFill>
                          <a:latin typeface="Calibri"/>
                        </a:rPr>
                        <a:t>A5</a:t>
                      </a:r>
                    </a:p>
                  </a:txBody>
                  <a:tcPr marL="73152" marR="73152" marT="27432" marB="27432" anchor="ctr">
                    <a:solidFill>
                      <a:srgbClr val="FFFFFF"/>
                    </a:solidFill>
                  </a:tcPr>
                </a:tc>
                <a:tc>
                  <a:txBody>
                    <a:bodyPr wrap="square"/>
                    <a:lstStyle/>
                    <a:p>
                      <a:pPr algn="l"/>
                      <a:r>
                        <a:rPr sz="2100" b="0">
                          <a:solidFill>
                            <a:srgbClr val="1F2A44"/>
                          </a:solidFill>
                          <a:latin typeface="Calibri"/>
                        </a:rPr>
                        <a:t>Open “Has this advice worked?”</a:t>
                      </a:r>
                    </a:p>
                  </a:txBody>
                  <a:tcPr marL="73152" marR="73152" marT="27432" marB="27432" anchor="ctr">
                    <a:solidFill>
                      <a:srgbClr val="FFFFFF"/>
                    </a:solidFill>
                  </a:tcPr>
                </a:tc>
                <a:tc>
                  <a:txBody>
                    <a:bodyPr wrap="square"/>
                    <a:lstStyle/>
                    <a:p>
                      <a:pPr algn="l"/>
                      <a:r>
                        <a:rPr sz="2100" b="0">
                          <a:solidFill>
                            <a:srgbClr val="1F2A44"/>
                          </a:solidFill>
                          <a:latin typeface="Calibri"/>
                        </a:rPr>
                        <a:t>93% better than nearest · floor held 84% (aim 90%)</a:t>
                      </a:r>
                    </a:p>
                  </a:txBody>
                  <a:tcPr marL="73152" marR="73152" marT="27432" marB="27432" anchor="ctr">
                    <a:solidFill>
                      <a:srgbClr val="FFFFFF"/>
                    </a:solidFill>
                  </a:tcPr>
                </a:tc>
              </a:tr>
              <a:tr h="1051560">
                <a:tc>
                  <a:txBody>
                    <a:bodyPr wrap="square"/>
                    <a:lstStyle/>
                    <a:p>
                      <a:pPr algn="l"/>
                      <a:r>
                        <a:rPr sz="2100" b="1">
                          <a:solidFill>
                            <a:srgbClr val="1F2A44"/>
                          </a:solidFill>
                          <a:latin typeface="Calibri"/>
                        </a:rPr>
                        <a:t>A6</a:t>
                      </a:r>
                    </a:p>
                  </a:txBody>
                  <a:tcPr marL="73152" marR="73152" marT="27432" marB="27432" anchor="ctr">
                    <a:solidFill>
                      <a:srgbClr val="F1F7FB"/>
                    </a:solidFill>
                  </a:tcPr>
                </a:tc>
                <a:tc>
                  <a:txBody>
                    <a:bodyPr wrap="square"/>
                    <a:lstStyle/>
                    <a:p>
                      <a:pPr algn="l"/>
                      <a:r>
                        <a:rPr sz="2100" b="0">
                          <a:solidFill>
                            <a:srgbClr val="1F2A44"/>
                          </a:solidFill>
                          <a:latin typeface="Calibri"/>
                        </a:rPr>
                        <a:t>Switch language to Kannada, then back</a:t>
                      </a:r>
                    </a:p>
                  </a:txBody>
                  <a:tcPr marL="73152" marR="73152" marT="27432" marB="27432" anchor="ctr">
                    <a:solidFill>
                      <a:srgbClr val="F1F7FB"/>
                    </a:solidFill>
                  </a:tcPr>
                </a:tc>
                <a:tc>
                  <a:txBody>
                    <a:bodyPr wrap="square"/>
                    <a:lstStyle/>
                    <a:p>
                      <a:pPr algn="l"/>
                      <a:r>
                        <a:rPr sz="2100" b="0">
                          <a:solidFill>
                            <a:srgbClr val="1F2A44"/>
                          </a:solidFill>
                          <a:latin typeface="Calibri"/>
                        </a:rPr>
                        <a:t>All panels in Kannada</a:t>
                      </a:r>
                    </a:p>
                  </a:txBody>
                  <a:tcPr marL="73152" marR="73152" marT="27432" marB="27432" anchor="ctr">
                    <a:solidFill>
                      <a:srgbClr val="F1F7FB"/>
                    </a:solidFill>
                  </a:tcPr>
                </a:tc>
              </a:tr>
            </a:tbl>
          </a:graphicData>
        </a:graphic>
      </p:graphicFrame>
      <p:sp>
        <p:nvSpPr>
          <p:cNvPr id="10252" name="TextBox 10251"/>
          <p:cNvSpPr txBox="1"/>
          <p:nvPr/>
        </p:nvSpPr>
        <p:spPr>
          <a:xfrm>
            <a:off x="1005840" y="9326880"/>
            <a:ext cx="18105120" cy="1005840"/>
          </a:xfrm>
          <a:prstGeom prst="rect">
            <a:avLst/>
          </a:prstGeom>
          <a:noFill/>
        </p:spPr>
        <p:txBody>
          <a:bodyPr wrap="square" anchor="t" lIns="73152" rIns="73152" tIns="36576" bIns="36576">
            <a:spAutoFit/>
          </a:bodyPr>
          <a:lstStyle/>
          <a:p>
            <a:pPr algn="l"/>
            <a:r>
              <a:rPr sz="2200" b="0" i="1">
                <a:solidFill>
                  <a:srgbClr val="5F6B7A"/>
                </a:solidFill>
                <a:latin typeface="Calibri"/>
              </a:rPr>
              <a:t>Live: the demonstration runs from the repository. Figures are from the data loaded on 29 October 2026 (prices to 26 October).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Statistical Validation: What Actually Improved Decisions</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9</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graphicFrame>
        <p:nvGraphicFramePr>
          <p:cNvPr id="10251" name="Table 10250"/>
          <p:cNvGraphicFramePr>
            <a:graphicFrameLocks noGrp="1"/>
          </p:cNvGraphicFramePr>
          <p:nvPr/>
        </p:nvGraphicFramePr>
        <p:xfrm>
          <a:off x="1005840" y="1737360"/>
          <a:ext cx="18105116" cy="4343400"/>
        </p:xfrm>
        <a:graphic>
          <a:graphicData uri="http://schemas.openxmlformats.org/drawingml/2006/table">
            <a:tbl>
              <a:tblPr firstRow="1" bandRow="1">
                <a:tableStyleId>{5C22544A-7EE6-4342-B048-85BDC9FD1C3A}</a:tableStyleId>
              </a:tblPr>
              <a:tblGrid>
                <a:gridCol w="1799266"/>
                <a:gridCol w="4048349"/>
                <a:gridCol w="3373624"/>
                <a:gridCol w="2024174"/>
                <a:gridCol w="5172891"/>
                <a:gridCol w="1686812"/>
              </a:tblGrid>
              <a:tr h="868680">
                <a:tc>
                  <a:txBody>
                    <a:bodyPr wrap="square"/>
                    <a:lstStyle/>
                    <a:p>
                      <a:pPr algn="ctr"/>
                      <a:r>
                        <a:rPr sz="2100" b="1">
                          <a:solidFill>
                            <a:srgbClr val="FFFFFF"/>
                          </a:solidFill>
                          <a:latin typeface="Calibri"/>
                        </a:rPr>
                        <a:t>Crop</a:t>
                      </a:r>
                    </a:p>
                  </a:txBody>
                  <a:tcPr marL="73152" marR="73152" marT="27432" marB="27432" anchor="ctr">
                    <a:solidFill>
                      <a:srgbClr val="1F4E79"/>
                    </a:solidFill>
                  </a:tcPr>
                </a:tc>
                <a:tc>
                  <a:txBody>
                    <a:bodyPr wrap="square"/>
                    <a:lstStyle/>
                    <a:p>
                      <a:pPr algn="ctr"/>
                      <a:r>
                        <a:rPr sz="2100" b="1">
                          <a:solidFill>
                            <a:srgbClr val="FFFFFF"/>
                          </a:solidFill>
                          <a:latin typeface="Calibri"/>
                        </a:rPr>
                        <a:t>Labels: realised vs observed
(Δ regret, Rs/q)</a:t>
                      </a:r>
                    </a:p>
                  </a:txBody>
                  <a:tcPr marL="73152" marR="73152" marT="27432" marB="27432" anchor="ctr">
                    <a:solidFill>
                      <a:srgbClr val="1F4E79"/>
                    </a:solidFill>
                  </a:tcPr>
                </a:tc>
                <a:tc>
                  <a:txBody>
                    <a:bodyPr wrap="square"/>
                    <a:lstStyle/>
                    <a:p>
                      <a:pPr algn="ctr"/>
                      <a:r>
                        <a:rPr sz="2100" b="1">
                          <a:solidFill>
                            <a:srgbClr val="FFFFFF"/>
                          </a:solidFill>
                          <a:latin typeface="Calibri"/>
                        </a:rPr>
                        <a:t>95% CI</a:t>
                      </a:r>
                    </a:p>
                  </a:txBody>
                  <a:tcPr marL="73152" marR="73152" marT="27432" marB="27432" anchor="ctr">
                    <a:solidFill>
                      <a:srgbClr val="1F4E79"/>
                    </a:solidFill>
                  </a:tcPr>
                </a:tc>
                <a:tc>
                  <a:txBody>
                    <a:bodyPr wrap="square"/>
                    <a:lstStyle/>
                    <a:p>
                      <a:pPr algn="ctr"/>
                      <a:r>
                        <a:rPr sz="2100" b="1">
                          <a:solidFill>
                            <a:srgbClr val="FFFFFF"/>
                          </a:solidFill>
                          <a:latin typeface="Calibri"/>
                        </a:rPr>
                        <a:t>Holm p</a:t>
                      </a:r>
                    </a:p>
                  </a:txBody>
                  <a:tcPr marL="73152" marR="73152" marT="27432" marB="27432" anchor="ctr">
                    <a:solidFill>
                      <a:srgbClr val="1F4E79"/>
                    </a:solidFill>
                  </a:tcPr>
                </a:tc>
                <a:tc>
                  <a:txBody>
                    <a:bodyPr wrap="square"/>
                    <a:lstStyle/>
                    <a:p>
                      <a:pPr algn="ctr"/>
                      <a:r>
                        <a:rPr sz="2100" b="1">
                          <a:solidFill>
                            <a:srgbClr val="FFFFFF"/>
                          </a:solidFill>
                          <a:latin typeface="Calibri"/>
                        </a:rPr>
                        <a:t>SPO+ vs squared error
(Δ regret, Rs/q)</a:t>
                      </a:r>
                    </a:p>
                  </a:txBody>
                  <a:tcPr marL="73152" marR="73152" marT="27432" marB="27432" anchor="ctr">
                    <a:solidFill>
                      <a:srgbClr val="1F4E79"/>
                    </a:solidFill>
                  </a:tcPr>
                </a:tc>
                <a:tc>
                  <a:txBody>
                    <a:bodyPr wrap="square"/>
                    <a:lstStyle/>
                    <a:p>
                      <a:pPr algn="ctr"/>
                      <a:r>
                        <a:rPr sz="2100" b="1">
                          <a:solidFill>
                            <a:srgbClr val="FFFFFF"/>
                          </a:solidFill>
                          <a:latin typeface="Calibri"/>
                        </a:rPr>
                        <a:t>Holm p</a:t>
                      </a:r>
                    </a:p>
                  </a:txBody>
                  <a:tcPr marL="73152" marR="73152" marT="27432" marB="27432" anchor="ctr">
                    <a:solidFill>
                      <a:srgbClr val="1F4E79"/>
                    </a:solidFill>
                  </a:tcPr>
                </a:tc>
              </a:tr>
              <a:tr h="868680">
                <a:tc>
                  <a:txBody>
                    <a:bodyPr wrap="square"/>
                    <a:lstStyle/>
                    <a:p>
                      <a:pPr algn="l"/>
                      <a:r>
                        <a:rPr sz="2300" b="0">
                          <a:solidFill>
                            <a:srgbClr val="1F2A44"/>
                          </a:solidFill>
                          <a:latin typeface="Calibri"/>
                        </a:rPr>
                        <a:t>Tomato</a:t>
                      </a:r>
                    </a:p>
                  </a:txBody>
                  <a:tcPr marL="73152" marR="73152" marT="27432" marB="27432" anchor="ctr">
                    <a:solidFill>
                      <a:srgbClr val="FFFFFF"/>
                    </a:solidFill>
                  </a:tcPr>
                </a:tc>
                <a:tc>
                  <a:txBody>
                    <a:bodyPr wrap="square"/>
                    <a:lstStyle/>
                    <a:p>
                      <a:pPr algn="ctr"/>
                      <a:r>
                        <a:rPr sz="2300" b="0">
                          <a:solidFill>
                            <a:srgbClr val="2E8B57"/>
                          </a:solidFill>
                          <a:latin typeface="Calibri"/>
                        </a:rPr>
                        <a:t>−140</a:t>
                      </a:r>
                    </a:p>
                  </a:txBody>
                  <a:tcPr marL="73152" marR="73152" marT="27432" marB="27432" anchor="ctr">
                    <a:solidFill>
                      <a:srgbClr val="FFFFFF"/>
                    </a:solidFill>
                  </a:tcPr>
                </a:tc>
                <a:tc>
                  <a:txBody>
                    <a:bodyPr wrap="square"/>
                    <a:lstStyle/>
                    <a:p>
                      <a:pPr algn="ctr"/>
                      <a:r>
                        <a:rPr sz="2300" b="0">
                          <a:solidFill>
                            <a:srgbClr val="1F2A44"/>
                          </a:solidFill>
                          <a:latin typeface="Calibri"/>
                        </a:rPr>
                        <a:t>[−181, −102]</a:t>
                      </a:r>
                    </a:p>
                  </a:txBody>
                  <a:tcPr marL="73152" marR="73152" marT="27432" marB="27432" anchor="ctr">
                    <a:solidFill>
                      <a:srgbClr val="FFFFFF"/>
                    </a:solidFill>
                  </a:tcPr>
                </a:tc>
                <a:tc>
                  <a:txBody>
                    <a:bodyPr wrap="square"/>
                    <a:lstStyle/>
                    <a:p>
                      <a:pPr algn="ctr"/>
                      <a:r>
                        <a:rPr sz="2300" b="0">
                          <a:solidFill>
                            <a:srgbClr val="1F2A44"/>
                          </a:solidFill>
                          <a:latin typeface="Calibri"/>
                        </a:rPr>
                        <a:t>&lt; 0.0001</a:t>
                      </a:r>
                    </a:p>
                  </a:txBody>
                  <a:tcPr marL="73152" marR="73152" marT="27432" marB="27432" anchor="ctr">
                    <a:solidFill>
                      <a:srgbClr val="FFFFFF"/>
                    </a:solidFill>
                  </a:tcPr>
                </a:tc>
                <a:tc>
                  <a:txBody>
                    <a:bodyPr wrap="square"/>
                    <a:lstStyle/>
                    <a:p>
                      <a:pPr algn="ctr"/>
                      <a:r>
                        <a:rPr sz="2300" b="0">
                          <a:solidFill>
                            <a:srgbClr val="5F6B7A"/>
                          </a:solidFill>
                          <a:latin typeface="Calibri"/>
                        </a:rPr>
                        <a:t>−25  [−53, +3]</a:t>
                      </a:r>
                    </a:p>
                  </a:txBody>
                  <a:tcPr marL="73152" marR="73152" marT="27432" marB="27432" anchor="ctr">
                    <a:solidFill>
                      <a:srgbClr val="FFFFFF"/>
                    </a:solidFill>
                  </a:tcPr>
                </a:tc>
                <a:tc>
                  <a:txBody>
                    <a:bodyPr wrap="square"/>
                    <a:lstStyle/>
                    <a:p>
                      <a:pPr algn="ctr"/>
                      <a:r>
                        <a:rPr sz="2300" b="0">
                          <a:solidFill>
                            <a:srgbClr val="1F2A44"/>
                          </a:solidFill>
                          <a:latin typeface="Calibri"/>
                        </a:rPr>
                        <a:t>0.51</a:t>
                      </a:r>
                    </a:p>
                  </a:txBody>
                  <a:tcPr marL="73152" marR="73152" marT="27432" marB="27432" anchor="ctr">
                    <a:solidFill>
                      <a:srgbClr val="FFFFFF"/>
                    </a:solidFill>
                  </a:tcPr>
                </a:tc>
              </a:tr>
              <a:tr h="868680">
                <a:tc>
                  <a:txBody>
                    <a:bodyPr wrap="square"/>
                    <a:lstStyle/>
                    <a:p>
                      <a:pPr algn="l"/>
                      <a:r>
                        <a:rPr sz="2300" b="0">
                          <a:solidFill>
                            <a:srgbClr val="1F2A44"/>
                          </a:solidFill>
                          <a:latin typeface="Calibri"/>
                        </a:rPr>
                        <a:t>Onion</a:t>
                      </a:r>
                    </a:p>
                  </a:txBody>
                  <a:tcPr marL="73152" marR="73152" marT="27432" marB="27432" anchor="ctr">
                    <a:solidFill>
                      <a:srgbClr val="F1F7FB"/>
                    </a:solidFill>
                  </a:tcPr>
                </a:tc>
                <a:tc>
                  <a:txBody>
                    <a:bodyPr wrap="square"/>
                    <a:lstStyle/>
                    <a:p>
                      <a:pPr algn="ctr"/>
                      <a:r>
                        <a:rPr sz="2300" b="0">
                          <a:solidFill>
                            <a:srgbClr val="2E8B57"/>
                          </a:solidFill>
                          <a:latin typeface="Calibri"/>
                        </a:rPr>
                        <a:t>−157</a:t>
                      </a:r>
                    </a:p>
                  </a:txBody>
                  <a:tcPr marL="73152" marR="73152" marT="27432" marB="27432" anchor="ctr">
                    <a:solidFill>
                      <a:srgbClr val="F1F7FB"/>
                    </a:solidFill>
                  </a:tcPr>
                </a:tc>
                <a:tc>
                  <a:txBody>
                    <a:bodyPr wrap="square"/>
                    <a:lstStyle/>
                    <a:p>
                      <a:pPr algn="ctr"/>
                      <a:r>
                        <a:rPr sz="2300" b="0">
                          <a:solidFill>
                            <a:srgbClr val="1F2A44"/>
                          </a:solidFill>
                          <a:latin typeface="Calibri"/>
                        </a:rPr>
                        <a:t>[−224, −89]</a:t>
                      </a:r>
                    </a:p>
                  </a:txBody>
                  <a:tcPr marL="73152" marR="73152" marT="27432" marB="27432" anchor="ctr">
                    <a:solidFill>
                      <a:srgbClr val="F1F7FB"/>
                    </a:solidFill>
                  </a:tcPr>
                </a:tc>
                <a:tc>
                  <a:txBody>
                    <a:bodyPr wrap="square"/>
                    <a:lstStyle/>
                    <a:p>
                      <a:pPr algn="ctr"/>
                      <a:r>
                        <a:rPr sz="2300" b="0">
                          <a:solidFill>
                            <a:srgbClr val="1F2A44"/>
                          </a:solidFill>
                          <a:latin typeface="Calibri"/>
                        </a:rPr>
                        <a:t>&lt; 0.0001</a:t>
                      </a:r>
                    </a:p>
                  </a:txBody>
                  <a:tcPr marL="73152" marR="73152" marT="27432" marB="27432" anchor="ctr">
                    <a:solidFill>
                      <a:srgbClr val="F1F7FB"/>
                    </a:solidFill>
                  </a:tcPr>
                </a:tc>
                <a:tc>
                  <a:txBody>
                    <a:bodyPr wrap="square"/>
                    <a:lstStyle/>
                    <a:p>
                      <a:pPr algn="ctr"/>
                      <a:r>
                        <a:rPr sz="2300" b="0">
                          <a:solidFill>
                            <a:srgbClr val="5F6B7A"/>
                          </a:solidFill>
                          <a:latin typeface="Calibri"/>
                        </a:rPr>
                        <a:t>−23  [−62, +11]</a:t>
                      </a:r>
                    </a:p>
                  </a:txBody>
                  <a:tcPr marL="73152" marR="73152" marT="27432" marB="27432" anchor="ctr">
                    <a:solidFill>
                      <a:srgbClr val="F1F7FB"/>
                    </a:solidFill>
                  </a:tcPr>
                </a:tc>
                <a:tc>
                  <a:txBody>
                    <a:bodyPr wrap="square"/>
                    <a:lstStyle/>
                    <a:p>
                      <a:pPr algn="ctr"/>
                      <a:r>
                        <a:rPr sz="2300" b="0">
                          <a:solidFill>
                            <a:srgbClr val="1F2A44"/>
                          </a:solidFill>
                          <a:latin typeface="Calibri"/>
                        </a:rPr>
                        <a:t>0.21</a:t>
                      </a:r>
                    </a:p>
                  </a:txBody>
                  <a:tcPr marL="73152" marR="73152" marT="27432" marB="27432" anchor="ctr">
                    <a:solidFill>
                      <a:srgbClr val="F1F7FB"/>
                    </a:solidFill>
                  </a:tcPr>
                </a:tc>
              </a:tr>
              <a:tr h="868680">
                <a:tc>
                  <a:txBody>
                    <a:bodyPr wrap="square"/>
                    <a:lstStyle/>
                    <a:p>
                      <a:pPr algn="l"/>
                      <a:r>
                        <a:rPr sz="2300" b="0">
                          <a:solidFill>
                            <a:srgbClr val="1F2A44"/>
                          </a:solidFill>
                          <a:latin typeface="Calibri"/>
                        </a:rPr>
                        <a:t>Potato</a:t>
                      </a:r>
                    </a:p>
                  </a:txBody>
                  <a:tcPr marL="73152" marR="73152" marT="27432" marB="27432" anchor="ctr">
                    <a:solidFill>
                      <a:srgbClr val="FFFFFF"/>
                    </a:solidFill>
                  </a:tcPr>
                </a:tc>
                <a:tc>
                  <a:txBody>
                    <a:bodyPr wrap="square"/>
                    <a:lstStyle/>
                    <a:p>
                      <a:pPr algn="ctr"/>
                      <a:r>
                        <a:rPr sz="2300" b="0">
                          <a:solidFill>
                            <a:srgbClr val="2E8B57"/>
                          </a:solidFill>
                          <a:latin typeface="Calibri"/>
                        </a:rPr>
                        <a:t>−87</a:t>
                      </a:r>
                    </a:p>
                  </a:txBody>
                  <a:tcPr marL="73152" marR="73152" marT="27432" marB="27432" anchor="ctr">
                    <a:solidFill>
                      <a:srgbClr val="FFFFFF"/>
                    </a:solidFill>
                  </a:tcPr>
                </a:tc>
                <a:tc>
                  <a:txBody>
                    <a:bodyPr wrap="square"/>
                    <a:lstStyle/>
                    <a:p>
                      <a:pPr algn="ctr"/>
                      <a:r>
                        <a:rPr sz="2300" b="0">
                          <a:solidFill>
                            <a:srgbClr val="1F2A44"/>
                          </a:solidFill>
                          <a:latin typeface="Calibri"/>
                        </a:rPr>
                        <a:t>[−142, −39]</a:t>
                      </a:r>
                    </a:p>
                  </a:txBody>
                  <a:tcPr marL="73152" marR="73152" marT="27432" marB="27432" anchor="ctr">
                    <a:solidFill>
                      <a:srgbClr val="FFFFFF"/>
                    </a:solidFill>
                  </a:tcPr>
                </a:tc>
                <a:tc>
                  <a:txBody>
                    <a:bodyPr wrap="square"/>
                    <a:lstStyle/>
                    <a:p>
                      <a:pPr algn="ctr"/>
                      <a:r>
                        <a:rPr sz="2300" b="0">
                          <a:solidFill>
                            <a:srgbClr val="1F2A44"/>
                          </a:solidFill>
                          <a:latin typeface="Calibri"/>
                        </a:rPr>
                        <a:t>0.002</a:t>
                      </a:r>
                    </a:p>
                  </a:txBody>
                  <a:tcPr marL="73152" marR="73152" marT="27432" marB="27432" anchor="ctr">
                    <a:solidFill>
                      <a:srgbClr val="FFFFFF"/>
                    </a:solidFill>
                  </a:tcPr>
                </a:tc>
                <a:tc>
                  <a:txBody>
                    <a:bodyPr wrap="square"/>
                    <a:lstStyle/>
                    <a:p>
                      <a:pPr algn="ctr"/>
                      <a:r>
                        <a:rPr sz="2300" b="0">
                          <a:solidFill>
                            <a:srgbClr val="5F6B7A"/>
                          </a:solidFill>
                          <a:latin typeface="Calibri"/>
                        </a:rPr>
                        <a:t>+1  [−27, +32]</a:t>
                      </a:r>
                    </a:p>
                  </a:txBody>
                  <a:tcPr marL="73152" marR="73152" marT="27432" marB="27432" anchor="ctr">
                    <a:solidFill>
                      <a:srgbClr val="FFFFFF"/>
                    </a:solidFill>
                  </a:tcPr>
                </a:tc>
                <a:tc>
                  <a:txBody>
                    <a:bodyPr wrap="square"/>
                    <a:lstStyle/>
                    <a:p>
                      <a:pPr algn="ctr"/>
                      <a:r>
                        <a:rPr sz="2300" b="0">
                          <a:solidFill>
                            <a:srgbClr val="1F2A44"/>
                          </a:solidFill>
                          <a:latin typeface="Calibri"/>
                        </a:rPr>
                        <a:t>0.95</a:t>
                      </a:r>
                    </a:p>
                  </a:txBody>
                  <a:tcPr marL="73152" marR="73152" marT="27432" marB="27432" anchor="ctr">
                    <a:solidFill>
                      <a:srgbClr val="FFFFFF"/>
                    </a:solidFill>
                  </a:tcPr>
                </a:tc>
              </a:tr>
              <a:tr h="868680">
                <a:tc>
                  <a:txBody>
                    <a:bodyPr wrap="square"/>
                    <a:lstStyle/>
                    <a:p>
                      <a:pPr algn="l"/>
                      <a:r>
                        <a:rPr sz="2300" b="0">
                          <a:solidFill>
                            <a:srgbClr val="1F2A44"/>
                          </a:solidFill>
                          <a:latin typeface="Calibri"/>
                        </a:rPr>
                        <a:t>Ginger</a:t>
                      </a:r>
                    </a:p>
                  </a:txBody>
                  <a:tcPr marL="73152" marR="73152" marT="27432" marB="27432" anchor="ctr">
                    <a:solidFill>
                      <a:srgbClr val="F1F7FB"/>
                    </a:solidFill>
                  </a:tcPr>
                </a:tc>
                <a:tc>
                  <a:txBody>
                    <a:bodyPr wrap="square"/>
                    <a:lstStyle/>
                    <a:p>
                      <a:pPr algn="ctr"/>
                      <a:r>
                        <a:rPr sz="2300" b="0">
                          <a:solidFill>
                            <a:srgbClr val="2E8B57"/>
                          </a:solidFill>
                          <a:latin typeface="Calibri"/>
                        </a:rPr>
                        <a:t>−149</a:t>
                      </a:r>
                    </a:p>
                  </a:txBody>
                  <a:tcPr marL="73152" marR="73152" marT="27432" marB="27432" anchor="ctr">
                    <a:solidFill>
                      <a:srgbClr val="F1F7FB"/>
                    </a:solidFill>
                  </a:tcPr>
                </a:tc>
                <a:tc>
                  <a:txBody>
                    <a:bodyPr wrap="square"/>
                    <a:lstStyle/>
                    <a:p>
                      <a:pPr algn="ctr"/>
                      <a:r>
                        <a:rPr sz="2300" b="0">
                          <a:solidFill>
                            <a:srgbClr val="1F2A44"/>
                          </a:solidFill>
                          <a:latin typeface="Calibri"/>
                        </a:rPr>
                        <a:t>[−232, −80]</a:t>
                      </a:r>
                    </a:p>
                  </a:txBody>
                  <a:tcPr marL="73152" marR="73152" marT="27432" marB="27432" anchor="ctr">
                    <a:solidFill>
                      <a:srgbClr val="F1F7FB"/>
                    </a:solidFill>
                  </a:tcPr>
                </a:tc>
                <a:tc>
                  <a:txBody>
                    <a:bodyPr wrap="square"/>
                    <a:lstStyle/>
                    <a:p>
                      <a:pPr algn="ctr"/>
                      <a:r>
                        <a:rPr sz="2300" b="0">
                          <a:solidFill>
                            <a:srgbClr val="1F2A44"/>
                          </a:solidFill>
                          <a:latin typeface="Calibri"/>
                        </a:rPr>
                        <a:t>&lt; 0.0001</a:t>
                      </a:r>
                    </a:p>
                  </a:txBody>
                  <a:tcPr marL="73152" marR="73152" marT="27432" marB="27432" anchor="ctr">
                    <a:solidFill>
                      <a:srgbClr val="F1F7FB"/>
                    </a:solidFill>
                  </a:tcPr>
                </a:tc>
                <a:tc>
                  <a:txBody>
                    <a:bodyPr wrap="square"/>
                    <a:lstStyle/>
                    <a:p>
                      <a:pPr algn="ctr"/>
                      <a:r>
                        <a:rPr sz="2300" b="0">
                          <a:solidFill>
                            <a:srgbClr val="5F6B7A"/>
                          </a:solidFill>
                          <a:latin typeface="Calibri"/>
                        </a:rPr>
                        <a:t>−66  [−180, +30]</a:t>
                      </a:r>
                    </a:p>
                  </a:txBody>
                  <a:tcPr marL="73152" marR="73152" marT="27432" marB="27432" anchor="ctr">
                    <a:solidFill>
                      <a:srgbClr val="F1F7FB"/>
                    </a:solidFill>
                  </a:tcPr>
                </a:tc>
                <a:tc>
                  <a:txBody>
                    <a:bodyPr wrap="square"/>
                    <a:lstStyle/>
                    <a:p>
                      <a:pPr algn="ctr"/>
                      <a:r>
                        <a:rPr sz="2300" b="0">
                          <a:solidFill>
                            <a:srgbClr val="1F2A44"/>
                          </a:solidFill>
                          <a:latin typeface="Calibri"/>
                        </a:rPr>
                        <a:t>0.17</a:t>
                      </a:r>
                    </a:p>
                  </a:txBody>
                  <a:tcPr marL="73152" marR="73152" marT="27432" marB="27432" anchor="ctr">
                    <a:solidFill>
                      <a:srgbClr val="F1F7FB"/>
                    </a:solidFill>
                  </a:tcPr>
                </a:tc>
              </a:tr>
            </a:tbl>
          </a:graphicData>
        </a:graphic>
      </p:graphicFrame>
      <p:sp>
        <p:nvSpPr>
          <p:cNvPr id="10252" name="Rectangle 10251"/>
          <p:cNvSpPr/>
          <p:nvPr/>
        </p:nvSpPr>
        <p:spPr>
          <a:xfrm>
            <a:off x="1005840" y="6400800"/>
            <a:ext cx="5760720" cy="5669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2400" b="1" i="0">
                <a:solidFill>
                  <a:srgbClr val="FFFFFF"/>
                </a:solidFill>
                <a:latin typeface="Calibri"/>
              </a:rPr>
              <a:t>Finding</a:t>
            </a:r>
          </a:p>
        </p:txBody>
      </p:sp>
      <p:sp>
        <p:nvSpPr>
          <p:cNvPr id="10253" name="Rectangle 10252"/>
          <p:cNvSpPr/>
          <p:nvPr/>
        </p:nvSpPr>
        <p:spPr>
          <a:xfrm>
            <a:off x="1005840" y="6967728"/>
            <a:ext cx="5760720" cy="299923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r>
              <a:rPr sz="2800" b="0" i="0">
                <a:solidFill>
                  <a:srgbClr val="1F2A44"/>
                </a:solidFill>
                <a:latin typeface="Calibri"/>
              </a:rPr>
              <a:t>Better labels, not a fancier loss: realised-outcome supervision cuts regret in all four crops; SPO+ adds nothing reliable.</a:t>
            </a:r>
          </a:p>
        </p:txBody>
      </p:sp>
      <p:sp>
        <p:nvSpPr>
          <p:cNvPr id="10254" name="Rectangle 10253"/>
          <p:cNvSpPr/>
          <p:nvPr/>
        </p:nvSpPr>
        <p:spPr>
          <a:xfrm>
            <a:off x="7178040" y="6400800"/>
            <a:ext cx="5760720" cy="56692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2400" b="1" i="0">
                <a:solidFill>
                  <a:srgbClr val="FFFFFF"/>
                </a:solidFill>
                <a:latin typeface="Calibri"/>
              </a:rPr>
              <a:t>Model confidence set</a:t>
            </a:r>
          </a:p>
        </p:txBody>
      </p:sp>
      <p:sp>
        <p:nvSpPr>
          <p:cNvPr id="10255" name="Rectangle 10254"/>
          <p:cNvSpPr/>
          <p:nvPr/>
        </p:nvSpPr>
        <p:spPr>
          <a:xfrm>
            <a:off x="7178040" y="6967728"/>
            <a:ext cx="5760720" cy="299923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r>
              <a:rPr sz="2800" b="0" i="0">
                <a:solidFill>
                  <a:srgbClr val="1F2A44"/>
                </a:solidFill>
                <a:latin typeface="Calibri"/>
              </a:rPr>
              <a:t>Only realised-label models survive in every crop; no observed-price model does. Tomato keeps 7 specifications; the others 3.</a:t>
            </a:r>
          </a:p>
        </p:txBody>
      </p:sp>
      <p:sp>
        <p:nvSpPr>
          <p:cNvPr id="10256" name="Rectangle 10255"/>
          <p:cNvSpPr/>
          <p:nvPr/>
        </p:nvSpPr>
        <p:spPr>
          <a:xfrm>
            <a:off x="13350240" y="6400800"/>
            <a:ext cx="5760720" cy="56692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2400" b="1" i="0">
                <a:solidFill>
                  <a:srgbClr val="FFFFFF"/>
                </a:solidFill>
                <a:latin typeface="Calibri"/>
              </a:rPr>
              <a:t>Limits</a:t>
            </a:r>
          </a:p>
        </p:txBody>
      </p:sp>
      <p:sp>
        <p:nvSpPr>
          <p:cNvPr id="10257" name="Rectangle 10256"/>
          <p:cNvSpPr/>
          <p:nvPr/>
        </p:nvSpPr>
        <p:spPr>
          <a:xfrm>
            <a:off x="13350240" y="6967728"/>
            <a:ext cx="5760720" cy="299923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r>
              <a:rPr sz="2800" b="0" i="0">
                <a:solidFill>
                  <a:srgbClr val="1F2A44"/>
                </a:solidFill>
                <a:latin typeface="Calibri"/>
              </a:rPr>
              <a:t>One region, one source, 5.8 years; revenue parameters are scenarios; silent day treated as no sale; offline only.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Verified Floors and Served-Engine Back-test</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9</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graphicFrame>
        <p:nvGraphicFramePr>
          <p:cNvPr id="10251" name="Table 10250"/>
          <p:cNvGraphicFramePr>
            <a:graphicFrameLocks noGrp="1"/>
          </p:cNvGraphicFramePr>
          <p:nvPr/>
        </p:nvGraphicFramePr>
        <p:xfrm>
          <a:off x="1005840" y="1737360"/>
          <a:ext cx="8778237" cy="3657600"/>
        </p:xfrm>
        <a:graphic>
          <a:graphicData uri="http://schemas.openxmlformats.org/drawingml/2006/table">
            <a:tbl>
              <a:tblPr firstRow="1" bandRow="1">
                <a:tableStyleId>{5C22544A-7EE6-4342-B048-85BDC9FD1C3A}</a:tableStyleId>
              </a:tblPr>
              <a:tblGrid>
                <a:gridCol w="2006454"/>
                <a:gridCol w="1337636"/>
                <a:gridCol w="1337636"/>
                <a:gridCol w="1337636"/>
                <a:gridCol w="1254034"/>
                <a:gridCol w="1504841"/>
              </a:tblGrid>
              <a:tr h="731520">
                <a:tc>
                  <a:txBody>
                    <a:bodyPr wrap="square"/>
                    <a:lstStyle/>
                    <a:p>
                      <a:pPr algn="ctr"/>
                      <a:r>
                        <a:rPr sz="1800" b="1">
                          <a:solidFill>
                            <a:srgbClr val="FFFFFF"/>
                          </a:solidFill>
                          <a:latin typeface="Calibri"/>
                        </a:rPr>
                        <a:t>Floor violation (%)
target 10%</a:t>
                      </a:r>
                    </a:p>
                  </a:txBody>
                  <a:tcPr marL="73152" marR="73152" marT="27432" marB="27432" anchor="ctr">
                    <a:solidFill>
                      <a:srgbClr val="1F4E79"/>
                    </a:solidFill>
                  </a:tcPr>
                </a:tc>
                <a:tc>
                  <a:txBody>
                    <a:bodyPr wrap="square"/>
                    <a:lstStyle/>
                    <a:p>
                      <a:pPr algn="ctr"/>
                      <a:r>
                        <a:rPr sz="1800" b="1">
                          <a:solidFill>
                            <a:srgbClr val="FFFFFF"/>
                          </a:solidFill>
                          <a:latin typeface="Calibri"/>
                        </a:rPr>
                        <a:t>Adaptive 5%</a:t>
                      </a:r>
                    </a:p>
                  </a:txBody>
                  <a:tcPr marL="73152" marR="73152" marT="27432" marB="27432" anchor="ctr">
                    <a:solidFill>
                      <a:srgbClr val="1F4E79"/>
                    </a:solidFill>
                  </a:tcPr>
                </a:tc>
                <a:tc>
                  <a:txBody>
                    <a:bodyPr wrap="square"/>
                    <a:lstStyle/>
                    <a:p>
                      <a:pPr algn="ctr"/>
                      <a:r>
                        <a:rPr sz="1800" b="1">
                          <a:solidFill>
                            <a:srgbClr val="FFFFFF"/>
                          </a:solidFill>
                          <a:latin typeface="Calibri"/>
                        </a:rPr>
                        <a:t>Adaptive 10%</a:t>
                      </a:r>
                    </a:p>
                  </a:txBody>
                  <a:tcPr marL="73152" marR="73152" marT="27432" marB="27432" anchor="ctr">
                    <a:solidFill>
                      <a:srgbClr val="1F4E79"/>
                    </a:solidFill>
                  </a:tcPr>
                </a:tc>
                <a:tc>
                  <a:txBody>
                    <a:bodyPr wrap="square"/>
                    <a:lstStyle/>
                    <a:p>
                      <a:pPr algn="ctr"/>
                      <a:r>
                        <a:rPr sz="1800" b="1">
                          <a:solidFill>
                            <a:srgbClr val="FFFFFF"/>
                          </a:solidFill>
                          <a:latin typeface="Calibri"/>
                        </a:rPr>
                        <a:t>Adaptive 20%</a:t>
                      </a:r>
                    </a:p>
                  </a:txBody>
                  <a:tcPr marL="73152" marR="73152" marT="27432" marB="27432" anchor="ctr">
                    <a:solidFill>
                      <a:srgbClr val="1F4E79"/>
                    </a:solidFill>
                  </a:tcPr>
                </a:tc>
                <a:tc>
                  <a:txBody>
                    <a:bodyPr wrap="square"/>
                    <a:lstStyle/>
                    <a:p>
                      <a:pPr algn="ctr"/>
                      <a:r>
                        <a:rPr sz="1800" b="1">
                          <a:solidFill>
                            <a:srgbClr val="FFFFFF"/>
                          </a:solidFill>
                          <a:latin typeface="Calibri"/>
                        </a:rPr>
                        <a:t>Static 10%</a:t>
                      </a:r>
                    </a:p>
                  </a:txBody>
                  <a:tcPr marL="73152" marR="73152" marT="27432" marB="27432" anchor="ctr">
                    <a:solidFill>
                      <a:srgbClr val="1F4E79"/>
                    </a:solidFill>
                  </a:tcPr>
                </a:tc>
                <a:tc>
                  <a:txBody>
                    <a:bodyPr wrap="square"/>
                    <a:lstStyle/>
                    <a:p>
                      <a:pPr algn="ctr"/>
                      <a:r>
                        <a:rPr sz="1800" b="1">
                          <a:solidFill>
                            <a:srgbClr val="FFFFFF"/>
                          </a:solidFill>
                          <a:latin typeface="Calibri"/>
                        </a:rPr>
                        <a:t>Naive Gaussian</a:t>
                      </a:r>
                    </a:p>
                  </a:txBody>
                  <a:tcPr marL="73152" marR="73152" marT="27432" marB="27432" anchor="ctr">
                    <a:solidFill>
                      <a:srgbClr val="1F4E79"/>
                    </a:solidFill>
                  </a:tcPr>
                </a:tc>
              </a:tr>
              <a:tr h="731520">
                <a:tc>
                  <a:txBody>
                    <a:bodyPr wrap="square"/>
                    <a:lstStyle/>
                    <a:p>
                      <a:pPr algn="l"/>
                      <a:r>
                        <a:rPr sz="2200" b="0">
                          <a:solidFill>
                            <a:srgbClr val="1F2A44"/>
                          </a:solidFill>
                          <a:latin typeface="Calibri"/>
                        </a:rPr>
                        <a:t>Tomato</a:t>
                      </a:r>
                    </a:p>
                  </a:txBody>
                  <a:tcPr marL="73152" marR="73152" marT="27432" marB="27432" anchor="ctr">
                    <a:solidFill>
                      <a:srgbClr val="FFFFFF"/>
                    </a:solidFill>
                  </a:tcPr>
                </a:tc>
                <a:tc>
                  <a:txBody>
                    <a:bodyPr wrap="square"/>
                    <a:lstStyle/>
                    <a:p>
                      <a:pPr algn="ctr"/>
                      <a:r>
                        <a:rPr sz="2200" b="0">
                          <a:solidFill>
                            <a:srgbClr val="2E8B57"/>
                          </a:solidFill>
                          <a:latin typeface="Calibri"/>
                        </a:rPr>
                        <a:t>3.0</a:t>
                      </a:r>
                    </a:p>
                  </a:txBody>
                  <a:tcPr marL="73152" marR="73152" marT="27432" marB="27432" anchor="ctr">
                    <a:solidFill>
                      <a:srgbClr val="FFFFFF"/>
                    </a:solidFill>
                  </a:tcPr>
                </a:tc>
                <a:tc>
                  <a:txBody>
                    <a:bodyPr wrap="square"/>
                    <a:lstStyle/>
                    <a:p>
                      <a:pPr algn="ctr"/>
                      <a:r>
                        <a:rPr sz="2200" b="0">
                          <a:solidFill>
                            <a:srgbClr val="2E8B57"/>
                          </a:solidFill>
                          <a:latin typeface="Calibri"/>
                        </a:rPr>
                        <a:t>9.0</a:t>
                      </a:r>
                    </a:p>
                  </a:txBody>
                  <a:tcPr marL="73152" marR="73152" marT="27432" marB="27432" anchor="ctr">
                    <a:solidFill>
                      <a:srgbClr val="FFFFFF"/>
                    </a:solidFill>
                  </a:tcPr>
                </a:tc>
                <a:tc>
                  <a:txBody>
                    <a:bodyPr wrap="square"/>
                    <a:lstStyle/>
                    <a:p>
                      <a:pPr algn="ctr"/>
                      <a:r>
                        <a:rPr sz="2200" b="0">
                          <a:solidFill>
                            <a:srgbClr val="2E8B57"/>
                          </a:solidFill>
                          <a:latin typeface="Calibri"/>
                        </a:rPr>
                        <a:t>21.3</a:t>
                      </a:r>
                    </a:p>
                  </a:txBody>
                  <a:tcPr marL="73152" marR="73152" marT="27432" marB="27432" anchor="ctr">
                    <a:solidFill>
                      <a:srgbClr val="FFFFFF"/>
                    </a:solidFill>
                  </a:tcPr>
                </a:tc>
                <a:tc>
                  <a:txBody>
                    <a:bodyPr wrap="square"/>
                    <a:lstStyle/>
                    <a:p>
                      <a:pPr algn="ctr"/>
                      <a:r>
                        <a:rPr sz="2200" b="0">
                          <a:solidFill>
                            <a:srgbClr val="1F2A44"/>
                          </a:solidFill>
                          <a:latin typeface="Calibri"/>
                        </a:rPr>
                        <a:t>6.0</a:t>
                      </a:r>
                    </a:p>
                  </a:txBody>
                  <a:tcPr marL="73152" marR="73152" marT="27432" marB="27432" anchor="ctr">
                    <a:solidFill>
                      <a:srgbClr val="FFFFFF"/>
                    </a:solidFill>
                  </a:tcPr>
                </a:tc>
                <a:tc>
                  <a:txBody>
                    <a:bodyPr wrap="square"/>
                    <a:lstStyle/>
                    <a:p>
                      <a:pPr algn="ctr"/>
                      <a:r>
                        <a:rPr sz="2200" b="0">
                          <a:solidFill>
                            <a:srgbClr val="C0392B"/>
                          </a:solidFill>
                          <a:latin typeface="Calibri"/>
                        </a:rPr>
                        <a:t>27.4</a:t>
                      </a:r>
                    </a:p>
                  </a:txBody>
                  <a:tcPr marL="73152" marR="73152" marT="27432" marB="27432" anchor="ctr">
                    <a:solidFill>
                      <a:srgbClr val="FFFFFF"/>
                    </a:solidFill>
                  </a:tcPr>
                </a:tc>
              </a:tr>
              <a:tr h="731520">
                <a:tc>
                  <a:txBody>
                    <a:bodyPr wrap="square"/>
                    <a:lstStyle/>
                    <a:p>
                      <a:pPr algn="l"/>
                      <a:r>
                        <a:rPr sz="2200" b="0">
                          <a:solidFill>
                            <a:srgbClr val="1F2A44"/>
                          </a:solidFill>
                          <a:latin typeface="Calibri"/>
                        </a:rPr>
                        <a:t>Onion</a:t>
                      </a:r>
                    </a:p>
                  </a:txBody>
                  <a:tcPr marL="73152" marR="73152" marT="27432" marB="27432" anchor="ctr">
                    <a:solidFill>
                      <a:srgbClr val="F1F7FB"/>
                    </a:solidFill>
                  </a:tcPr>
                </a:tc>
                <a:tc>
                  <a:txBody>
                    <a:bodyPr wrap="square"/>
                    <a:lstStyle/>
                    <a:p>
                      <a:pPr algn="ctr"/>
                      <a:r>
                        <a:rPr sz="2200" b="0">
                          <a:solidFill>
                            <a:srgbClr val="D9822B"/>
                          </a:solidFill>
                          <a:latin typeface="Calibri"/>
                        </a:rPr>
                        <a:t>1.6</a:t>
                      </a:r>
                    </a:p>
                  </a:txBody>
                  <a:tcPr marL="73152" marR="73152" marT="27432" marB="27432" anchor="ctr">
                    <a:solidFill>
                      <a:srgbClr val="F1F7FB"/>
                    </a:solidFill>
                  </a:tcPr>
                </a:tc>
                <a:tc>
                  <a:txBody>
                    <a:bodyPr wrap="square"/>
                    <a:lstStyle/>
                    <a:p>
                      <a:pPr algn="ctr"/>
                      <a:r>
                        <a:rPr sz="2200" b="0">
                          <a:solidFill>
                            <a:srgbClr val="D9822B"/>
                          </a:solidFill>
                          <a:latin typeface="Calibri"/>
                        </a:rPr>
                        <a:t>6.3</a:t>
                      </a:r>
                    </a:p>
                  </a:txBody>
                  <a:tcPr marL="73152" marR="73152" marT="27432" marB="27432" anchor="ctr">
                    <a:solidFill>
                      <a:srgbClr val="F1F7FB"/>
                    </a:solidFill>
                  </a:tcPr>
                </a:tc>
                <a:tc>
                  <a:txBody>
                    <a:bodyPr wrap="square"/>
                    <a:lstStyle/>
                    <a:p>
                      <a:pPr algn="ctr"/>
                      <a:r>
                        <a:rPr sz="2200" b="0">
                          <a:solidFill>
                            <a:srgbClr val="D9822B"/>
                          </a:solidFill>
                          <a:latin typeface="Calibri"/>
                        </a:rPr>
                        <a:t>15.5</a:t>
                      </a:r>
                    </a:p>
                  </a:txBody>
                  <a:tcPr marL="73152" marR="73152" marT="27432" marB="27432" anchor="ctr">
                    <a:solidFill>
                      <a:srgbClr val="F1F7FB"/>
                    </a:solidFill>
                  </a:tcPr>
                </a:tc>
                <a:tc>
                  <a:txBody>
                    <a:bodyPr wrap="square"/>
                    <a:lstStyle/>
                    <a:p>
                      <a:pPr algn="ctr"/>
                      <a:r>
                        <a:rPr sz="2200" b="0">
                          <a:solidFill>
                            <a:srgbClr val="1F2A44"/>
                          </a:solidFill>
                          <a:latin typeface="Calibri"/>
                        </a:rPr>
                        <a:t>4.0</a:t>
                      </a:r>
                    </a:p>
                  </a:txBody>
                  <a:tcPr marL="73152" marR="73152" marT="27432" marB="27432" anchor="ctr">
                    <a:solidFill>
                      <a:srgbClr val="F1F7FB"/>
                    </a:solidFill>
                  </a:tcPr>
                </a:tc>
                <a:tc>
                  <a:txBody>
                    <a:bodyPr wrap="square"/>
                    <a:lstStyle/>
                    <a:p>
                      <a:pPr algn="ctr"/>
                      <a:r>
                        <a:rPr sz="2200" b="0">
                          <a:solidFill>
                            <a:srgbClr val="C0392B"/>
                          </a:solidFill>
                          <a:latin typeface="Calibri"/>
                        </a:rPr>
                        <a:t>34.5</a:t>
                      </a:r>
                    </a:p>
                  </a:txBody>
                  <a:tcPr marL="73152" marR="73152" marT="27432" marB="27432" anchor="ctr">
                    <a:solidFill>
                      <a:srgbClr val="F1F7FB"/>
                    </a:solidFill>
                  </a:tcPr>
                </a:tc>
              </a:tr>
              <a:tr h="731520">
                <a:tc>
                  <a:txBody>
                    <a:bodyPr wrap="square"/>
                    <a:lstStyle/>
                    <a:p>
                      <a:pPr algn="l"/>
                      <a:r>
                        <a:rPr sz="2200" b="0">
                          <a:solidFill>
                            <a:srgbClr val="1F2A44"/>
                          </a:solidFill>
                          <a:latin typeface="Calibri"/>
                        </a:rPr>
                        <a:t>Potato</a:t>
                      </a:r>
                    </a:p>
                  </a:txBody>
                  <a:tcPr marL="73152" marR="73152" marT="27432" marB="27432" anchor="ctr">
                    <a:solidFill>
                      <a:srgbClr val="FFFFFF"/>
                    </a:solidFill>
                  </a:tcPr>
                </a:tc>
                <a:tc>
                  <a:txBody>
                    <a:bodyPr wrap="square"/>
                    <a:lstStyle/>
                    <a:p>
                      <a:pPr algn="ctr"/>
                      <a:r>
                        <a:rPr sz="2200" b="0">
                          <a:solidFill>
                            <a:srgbClr val="D9822B"/>
                          </a:solidFill>
                          <a:latin typeface="Calibri"/>
                        </a:rPr>
                        <a:t>2.5</a:t>
                      </a:r>
                    </a:p>
                  </a:txBody>
                  <a:tcPr marL="73152" marR="73152" marT="27432" marB="27432" anchor="ctr">
                    <a:solidFill>
                      <a:srgbClr val="FFFFFF"/>
                    </a:solidFill>
                  </a:tcPr>
                </a:tc>
                <a:tc>
                  <a:txBody>
                    <a:bodyPr wrap="square"/>
                    <a:lstStyle/>
                    <a:p>
                      <a:pPr algn="ctr"/>
                      <a:r>
                        <a:rPr sz="2200" b="0">
                          <a:solidFill>
                            <a:srgbClr val="D9822B"/>
                          </a:solidFill>
                          <a:latin typeface="Calibri"/>
                        </a:rPr>
                        <a:t>6.9</a:t>
                      </a:r>
                    </a:p>
                  </a:txBody>
                  <a:tcPr marL="73152" marR="73152" marT="27432" marB="27432" anchor="ctr">
                    <a:solidFill>
                      <a:srgbClr val="FFFFFF"/>
                    </a:solidFill>
                  </a:tcPr>
                </a:tc>
                <a:tc>
                  <a:txBody>
                    <a:bodyPr wrap="square"/>
                    <a:lstStyle/>
                    <a:p>
                      <a:pPr algn="ctr"/>
                      <a:r>
                        <a:rPr sz="2200" b="0">
                          <a:solidFill>
                            <a:srgbClr val="2E8B57"/>
                          </a:solidFill>
                          <a:latin typeface="Calibri"/>
                        </a:rPr>
                        <a:t>17.7</a:t>
                      </a:r>
                    </a:p>
                  </a:txBody>
                  <a:tcPr marL="73152" marR="73152" marT="27432" marB="27432" anchor="ctr">
                    <a:solidFill>
                      <a:srgbClr val="FFFFFF"/>
                    </a:solidFill>
                  </a:tcPr>
                </a:tc>
                <a:tc>
                  <a:txBody>
                    <a:bodyPr wrap="square"/>
                    <a:lstStyle/>
                    <a:p>
                      <a:pPr algn="ctr"/>
                      <a:r>
                        <a:rPr sz="2200" b="0">
                          <a:solidFill>
                            <a:srgbClr val="1F2A44"/>
                          </a:solidFill>
                          <a:latin typeface="Calibri"/>
                        </a:rPr>
                        <a:t>6.2</a:t>
                      </a:r>
                    </a:p>
                  </a:txBody>
                  <a:tcPr marL="73152" marR="73152" marT="27432" marB="27432" anchor="ctr">
                    <a:solidFill>
                      <a:srgbClr val="FFFFFF"/>
                    </a:solidFill>
                  </a:tcPr>
                </a:tc>
                <a:tc>
                  <a:txBody>
                    <a:bodyPr wrap="square"/>
                    <a:lstStyle/>
                    <a:p>
                      <a:pPr algn="ctr"/>
                      <a:r>
                        <a:rPr sz="2200" b="0">
                          <a:solidFill>
                            <a:srgbClr val="C0392B"/>
                          </a:solidFill>
                          <a:latin typeface="Calibri"/>
                        </a:rPr>
                        <a:t>25.8</a:t>
                      </a:r>
                    </a:p>
                  </a:txBody>
                  <a:tcPr marL="73152" marR="73152" marT="27432" marB="27432" anchor="ctr">
                    <a:solidFill>
                      <a:srgbClr val="FFFFFF"/>
                    </a:solidFill>
                  </a:tcPr>
                </a:tc>
              </a:tr>
              <a:tr h="731520">
                <a:tc>
                  <a:txBody>
                    <a:bodyPr wrap="square"/>
                    <a:lstStyle/>
                    <a:p>
                      <a:pPr algn="l"/>
                      <a:r>
                        <a:rPr sz="2200" b="0">
                          <a:solidFill>
                            <a:srgbClr val="1F2A44"/>
                          </a:solidFill>
                          <a:latin typeface="Calibri"/>
                        </a:rPr>
                        <a:t>Ginger</a:t>
                      </a:r>
                    </a:p>
                  </a:txBody>
                  <a:tcPr marL="73152" marR="73152" marT="27432" marB="27432" anchor="ctr">
                    <a:solidFill>
                      <a:srgbClr val="F1F7FB"/>
                    </a:solidFill>
                  </a:tcPr>
                </a:tc>
                <a:tc>
                  <a:txBody>
                    <a:bodyPr wrap="square"/>
                    <a:lstStyle/>
                    <a:p>
                      <a:pPr algn="ctr"/>
                      <a:r>
                        <a:rPr sz="2200" b="0">
                          <a:solidFill>
                            <a:srgbClr val="2E8B57"/>
                          </a:solidFill>
                          <a:latin typeface="Calibri"/>
                        </a:rPr>
                        <a:t>4.3</a:t>
                      </a:r>
                    </a:p>
                  </a:txBody>
                  <a:tcPr marL="73152" marR="73152" marT="27432" marB="27432" anchor="ctr">
                    <a:solidFill>
                      <a:srgbClr val="F1F7FB"/>
                    </a:solidFill>
                  </a:tcPr>
                </a:tc>
                <a:tc>
                  <a:txBody>
                    <a:bodyPr wrap="square"/>
                    <a:lstStyle/>
                    <a:p>
                      <a:pPr algn="ctr"/>
                      <a:r>
                        <a:rPr sz="2200" b="0">
                          <a:solidFill>
                            <a:srgbClr val="2E8B57"/>
                          </a:solidFill>
                          <a:latin typeface="Calibri"/>
                        </a:rPr>
                        <a:t>10.5</a:t>
                      </a:r>
                    </a:p>
                  </a:txBody>
                  <a:tcPr marL="73152" marR="73152" marT="27432" marB="27432" anchor="ctr">
                    <a:solidFill>
                      <a:srgbClr val="F1F7FB"/>
                    </a:solidFill>
                  </a:tcPr>
                </a:tc>
                <a:tc>
                  <a:txBody>
                    <a:bodyPr wrap="square"/>
                    <a:lstStyle/>
                    <a:p>
                      <a:pPr algn="ctr"/>
                      <a:r>
                        <a:rPr sz="2200" b="0">
                          <a:solidFill>
                            <a:srgbClr val="2E8B57"/>
                          </a:solidFill>
                          <a:latin typeface="Calibri"/>
                        </a:rPr>
                        <a:t>20.4</a:t>
                      </a:r>
                    </a:p>
                  </a:txBody>
                  <a:tcPr marL="73152" marR="73152" marT="27432" marB="27432" anchor="ctr">
                    <a:solidFill>
                      <a:srgbClr val="F1F7FB"/>
                    </a:solidFill>
                  </a:tcPr>
                </a:tc>
                <a:tc>
                  <a:txBody>
                    <a:bodyPr wrap="square"/>
                    <a:lstStyle/>
                    <a:p>
                      <a:pPr algn="ctr"/>
                      <a:r>
                        <a:rPr sz="2200" b="0">
                          <a:solidFill>
                            <a:srgbClr val="1F2A44"/>
                          </a:solidFill>
                          <a:latin typeface="Calibri"/>
                        </a:rPr>
                        <a:t>8.9</a:t>
                      </a:r>
                    </a:p>
                  </a:txBody>
                  <a:tcPr marL="73152" marR="73152" marT="27432" marB="27432" anchor="ctr">
                    <a:solidFill>
                      <a:srgbClr val="F1F7FB"/>
                    </a:solidFill>
                  </a:tcPr>
                </a:tc>
                <a:tc>
                  <a:txBody>
                    <a:bodyPr wrap="square"/>
                    <a:lstStyle/>
                    <a:p>
                      <a:pPr algn="ctr"/>
                      <a:r>
                        <a:rPr sz="2200" b="0">
                          <a:solidFill>
                            <a:srgbClr val="1F2A44"/>
                          </a:solidFill>
                          <a:latin typeface="Calibri"/>
                        </a:rPr>
                        <a:t>11.9</a:t>
                      </a:r>
                    </a:p>
                  </a:txBody>
                  <a:tcPr marL="73152" marR="73152" marT="27432" marB="27432" anchor="ctr">
                    <a:solidFill>
                      <a:srgbClr val="F1F7FB"/>
                    </a:solidFill>
                  </a:tcPr>
                </a:tc>
              </a:tr>
            </a:tbl>
          </a:graphicData>
        </a:graphic>
      </p:graphicFrame>
      <p:sp>
        <p:nvSpPr>
          <p:cNvPr id="10252" name="Rectangle 10251"/>
          <p:cNvSpPr/>
          <p:nvPr/>
        </p:nvSpPr>
        <p:spPr>
          <a:xfrm>
            <a:off x="1005840" y="5669280"/>
            <a:ext cx="8778240" cy="274320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r>
              <a:rPr sz="2400" b="0" i="0">
                <a:solidFill>
                  <a:srgbClr val="1F2A44"/>
                </a:solidFill>
                <a:latin typeface="Calibri"/>
              </a:rPr>
              <a:t>Adaptive floors track the nominal level; the static quantile is cautious; a naive Gaussian floor is breached on 26–35% of days in three crops.</a:t>
            </a:r>
          </a:p>
        </p:txBody>
      </p:sp>
      <p:graphicFrame>
        <p:nvGraphicFramePr>
          <p:cNvPr id="10253" name="Table 10252"/>
          <p:cNvGraphicFramePr>
            <a:graphicFrameLocks noGrp="1"/>
          </p:cNvGraphicFramePr>
          <p:nvPr/>
        </p:nvGraphicFramePr>
        <p:xfrm>
          <a:off x="10241280" y="1737360"/>
          <a:ext cx="8869678" cy="3657600"/>
        </p:xfrm>
        <a:graphic>
          <a:graphicData uri="http://schemas.openxmlformats.org/drawingml/2006/table">
            <a:tbl>
              <a:tblPr firstRow="1" bandRow="1">
                <a:tableStyleId>{5C22544A-7EE6-4342-B048-85BDC9FD1C3A}</a:tableStyleId>
              </a:tblPr>
              <a:tblGrid>
                <a:gridCol w="1790993"/>
                <a:gridCol w="3070273"/>
                <a:gridCol w="1364566"/>
                <a:gridCol w="1279280"/>
                <a:gridCol w="1364566"/>
              </a:tblGrid>
              <a:tr h="731520">
                <a:tc>
                  <a:txBody>
                    <a:bodyPr wrap="square"/>
                    <a:lstStyle/>
                    <a:p>
                      <a:pPr algn="ctr"/>
                      <a:r>
                        <a:rPr sz="1800" b="1">
                          <a:solidFill>
                            <a:srgbClr val="FFFFFF"/>
                          </a:solidFill>
                          <a:latin typeface="Calibri"/>
                        </a:rPr>
                        <a:t>Back-test, last 330 days</a:t>
                      </a:r>
                    </a:p>
                  </a:txBody>
                  <a:tcPr marL="73152" marR="73152" marT="27432" marB="27432" anchor="ctr">
                    <a:solidFill>
                      <a:srgbClr val="1F4E79"/>
                    </a:solidFill>
                  </a:tcPr>
                </a:tc>
                <a:tc>
                  <a:txBody>
                    <a:bodyPr wrap="square"/>
                    <a:lstStyle/>
                    <a:p>
                      <a:pPr algn="ctr"/>
                      <a:r>
                        <a:rPr sz="1800" b="1">
                          <a:solidFill>
                            <a:srgbClr val="FFFFFF"/>
                          </a:solidFill>
                          <a:latin typeface="Calibri"/>
                        </a:rPr>
                        <a:t>Gain vs highest yesterday (Rs/q)</a:t>
                      </a:r>
                    </a:p>
                  </a:txBody>
                  <a:tcPr marL="73152" marR="73152" marT="27432" marB="27432" anchor="ctr">
                    <a:solidFill>
                      <a:srgbClr val="1F4E79"/>
                    </a:solidFill>
                  </a:tcPr>
                </a:tc>
                <a:tc>
                  <a:txBody>
                    <a:bodyPr wrap="square"/>
                    <a:lstStyle/>
                    <a:p>
                      <a:pPr algn="ctr"/>
                      <a:r>
                        <a:rPr sz="1800" b="1">
                          <a:solidFill>
                            <a:srgbClr val="FFFFFF"/>
                          </a:solidFill>
                          <a:latin typeface="Calibri"/>
                        </a:rPr>
                        <a:t>vs nearest</a:t>
                      </a:r>
                    </a:p>
                  </a:txBody>
                  <a:tcPr marL="73152" marR="73152" marT="27432" marB="27432" anchor="ctr">
                    <a:solidFill>
                      <a:srgbClr val="1F4E79"/>
                    </a:solidFill>
                  </a:tcPr>
                </a:tc>
                <a:tc>
                  <a:txBody>
                    <a:bodyPr wrap="square"/>
                    <a:lstStyle/>
                    <a:p>
                      <a:pPr algn="ctr"/>
                      <a:r>
                        <a:rPr sz="1800" b="1">
                          <a:solidFill>
                            <a:srgbClr val="FFFFFF"/>
                          </a:solidFill>
                          <a:latin typeface="Calibri"/>
                        </a:rPr>
                        <a:t>Gap closed</a:t>
                      </a:r>
                    </a:p>
                  </a:txBody>
                  <a:tcPr marL="73152" marR="73152" marT="27432" marB="27432" anchor="ctr">
                    <a:solidFill>
                      <a:srgbClr val="1F4E79"/>
                    </a:solidFill>
                  </a:tcPr>
                </a:tc>
                <a:tc>
                  <a:txBody>
                    <a:bodyPr wrap="square"/>
                    <a:lstStyle/>
                    <a:p>
                      <a:pPr algn="ctr"/>
                      <a:r>
                        <a:rPr sz="1800" b="1">
                          <a:solidFill>
                            <a:srgbClr val="FFFFFF"/>
                          </a:solidFill>
                          <a:latin typeface="Calibri"/>
                        </a:rPr>
                        <a:t>Evidence</a:t>
                      </a:r>
                    </a:p>
                  </a:txBody>
                  <a:tcPr marL="73152" marR="73152" marT="27432" marB="27432" anchor="ctr">
                    <a:solidFill>
                      <a:srgbClr val="1F4E79"/>
                    </a:solidFill>
                  </a:tcPr>
                </a:tc>
              </a:tr>
              <a:tr h="731520">
                <a:tc>
                  <a:txBody>
                    <a:bodyPr wrap="square"/>
                    <a:lstStyle/>
                    <a:p>
                      <a:pPr algn="l"/>
                      <a:r>
                        <a:rPr sz="2100" b="0">
                          <a:solidFill>
                            <a:srgbClr val="1F2A44"/>
                          </a:solidFill>
                          <a:latin typeface="Calibri"/>
                        </a:rPr>
                        <a:t>Tomato</a:t>
                      </a:r>
                    </a:p>
                  </a:txBody>
                  <a:tcPr marL="73152" marR="73152" marT="27432" marB="27432" anchor="ctr">
                    <a:solidFill>
                      <a:srgbClr val="FFFFFF"/>
                    </a:solidFill>
                  </a:tcPr>
                </a:tc>
                <a:tc>
                  <a:txBody>
                    <a:bodyPr wrap="square"/>
                    <a:lstStyle/>
                    <a:p>
                      <a:pPr algn="ctr"/>
                      <a:r>
                        <a:rPr sz="2100" b="0">
                          <a:solidFill>
                            <a:srgbClr val="1F2A44"/>
                          </a:solidFill>
                          <a:latin typeface="Calibri"/>
                        </a:rPr>
                        <a:t>+170 [+104, +255]</a:t>
                      </a:r>
                    </a:p>
                  </a:txBody>
                  <a:tcPr marL="73152" marR="73152" marT="27432" marB="27432" anchor="ctr">
                    <a:solidFill>
                      <a:srgbClr val="FFFFFF"/>
                    </a:solidFill>
                  </a:tcPr>
                </a:tc>
                <a:tc>
                  <a:txBody>
                    <a:bodyPr wrap="square"/>
                    <a:lstStyle/>
                    <a:p>
                      <a:pPr algn="ctr"/>
                      <a:r>
                        <a:rPr sz="2100" b="0">
                          <a:solidFill>
                            <a:srgbClr val="1F2A44"/>
                          </a:solidFill>
                          <a:latin typeface="Calibri"/>
                        </a:rPr>
                        <a:t>+571</a:t>
                      </a:r>
                    </a:p>
                  </a:txBody>
                  <a:tcPr marL="73152" marR="73152" marT="27432" marB="27432" anchor="ctr">
                    <a:solidFill>
                      <a:srgbClr val="FFFFFF"/>
                    </a:solidFill>
                  </a:tcPr>
                </a:tc>
                <a:tc>
                  <a:txBody>
                    <a:bodyPr wrap="square"/>
                    <a:lstStyle/>
                    <a:p>
                      <a:pPr algn="ctr"/>
                      <a:r>
                        <a:rPr sz="2100" b="0">
                          <a:solidFill>
                            <a:srgbClr val="1F2A44"/>
                          </a:solidFill>
                          <a:latin typeface="Calibri"/>
                        </a:rPr>
                        <a:t>62%</a:t>
                      </a:r>
                    </a:p>
                  </a:txBody>
                  <a:tcPr marL="73152" marR="73152" marT="27432" marB="27432" anchor="ctr">
                    <a:solidFill>
                      <a:srgbClr val="FFFFFF"/>
                    </a:solidFill>
                  </a:tcPr>
                </a:tc>
                <a:tc>
                  <a:txBody>
                    <a:bodyPr wrap="square"/>
                    <a:lstStyle/>
                    <a:p>
                      <a:pPr algn="ctr"/>
                      <a:r>
                        <a:rPr sz="2100" b="0">
                          <a:solidFill>
                            <a:srgbClr val="2E8B57"/>
                          </a:solidFill>
                          <a:latin typeface="Calibri"/>
                        </a:rPr>
                        <a:t>strong</a:t>
                      </a:r>
                    </a:p>
                  </a:txBody>
                  <a:tcPr marL="73152" marR="73152" marT="27432" marB="27432" anchor="ctr">
                    <a:solidFill>
                      <a:srgbClr val="FFFFFF"/>
                    </a:solidFill>
                  </a:tcPr>
                </a:tc>
              </a:tr>
              <a:tr h="731520">
                <a:tc>
                  <a:txBody>
                    <a:bodyPr wrap="square"/>
                    <a:lstStyle/>
                    <a:p>
                      <a:pPr algn="l"/>
                      <a:r>
                        <a:rPr sz="2100" b="0">
                          <a:solidFill>
                            <a:srgbClr val="1F2A44"/>
                          </a:solidFill>
                          <a:latin typeface="Calibri"/>
                        </a:rPr>
                        <a:t>Onion</a:t>
                      </a:r>
                    </a:p>
                  </a:txBody>
                  <a:tcPr marL="73152" marR="73152" marT="27432" marB="27432" anchor="ctr">
                    <a:solidFill>
                      <a:srgbClr val="F1F7FB"/>
                    </a:solidFill>
                  </a:tcPr>
                </a:tc>
                <a:tc>
                  <a:txBody>
                    <a:bodyPr wrap="square"/>
                    <a:lstStyle/>
                    <a:p>
                      <a:pPr algn="ctr"/>
                      <a:r>
                        <a:rPr sz="2100" b="0">
                          <a:solidFill>
                            <a:srgbClr val="1F2A44"/>
                          </a:solidFill>
                          <a:latin typeface="Calibri"/>
                        </a:rPr>
                        <a:t>+60 [+16, +119]</a:t>
                      </a:r>
                    </a:p>
                  </a:txBody>
                  <a:tcPr marL="73152" marR="73152" marT="27432" marB="27432" anchor="ctr">
                    <a:solidFill>
                      <a:srgbClr val="F1F7FB"/>
                    </a:solidFill>
                  </a:tcPr>
                </a:tc>
                <a:tc>
                  <a:txBody>
                    <a:bodyPr wrap="square"/>
                    <a:lstStyle/>
                    <a:p>
                      <a:pPr algn="ctr"/>
                      <a:r>
                        <a:rPr sz="2100" b="0">
                          <a:solidFill>
                            <a:srgbClr val="1F2A44"/>
                          </a:solidFill>
                          <a:latin typeface="Calibri"/>
                        </a:rPr>
                        <a:t>+300</a:t>
                      </a:r>
                    </a:p>
                  </a:txBody>
                  <a:tcPr marL="73152" marR="73152" marT="27432" marB="27432" anchor="ctr">
                    <a:solidFill>
                      <a:srgbClr val="F1F7FB"/>
                    </a:solidFill>
                  </a:tcPr>
                </a:tc>
                <a:tc>
                  <a:txBody>
                    <a:bodyPr wrap="square"/>
                    <a:lstStyle/>
                    <a:p>
                      <a:pPr algn="ctr"/>
                      <a:r>
                        <a:rPr sz="2100" b="0">
                          <a:solidFill>
                            <a:srgbClr val="1F2A44"/>
                          </a:solidFill>
                          <a:latin typeface="Calibri"/>
                        </a:rPr>
                        <a:t>46%</a:t>
                      </a:r>
                    </a:p>
                  </a:txBody>
                  <a:tcPr marL="73152" marR="73152" marT="27432" marB="27432" anchor="ctr">
                    <a:solidFill>
                      <a:srgbClr val="F1F7FB"/>
                    </a:solidFill>
                  </a:tcPr>
                </a:tc>
                <a:tc>
                  <a:txBody>
                    <a:bodyPr wrap="square"/>
                    <a:lstStyle/>
                    <a:p>
                      <a:pPr algn="ctr"/>
                      <a:r>
                        <a:rPr sz="2100" b="0">
                          <a:solidFill>
                            <a:srgbClr val="2E8B57"/>
                          </a:solidFill>
                          <a:latin typeface="Calibri"/>
                        </a:rPr>
                        <a:t>strong</a:t>
                      </a:r>
                    </a:p>
                  </a:txBody>
                  <a:tcPr marL="73152" marR="73152" marT="27432" marB="27432" anchor="ctr">
                    <a:solidFill>
                      <a:srgbClr val="F1F7FB"/>
                    </a:solidFill>
                  </a:tcPr>
                </a:tc>
              </a:tr>
              <a:tr h="731520">
                <a:tc>
                  <a:txBody>
                    <a:bodyPr wrap="square"/>
                    <a:lstStyle/>
                    <a:p>
                      <a:pPr algn="l"/>
                      <a:r>
                        <a:rPr sz="2100" b="0">
                          <a:solidFill>
                            <a:srgbClr val="1F2A44"/>
                          </a:solidFill>
                          <a:latin typeface="Calibri"/>
                        </a:rPr>
                        <a:t>Potato</a:t>
                      </a:r>
                    </a:p>
                  </a:txBody>
                  <a:tcPr marL="73152" marR="73152" marT="27432" marB="27432" anchor="ctr">
                    <a:solidFill>
                      <a:srgbClr val="FFFFFF"/>
                    </a:solidFill>
                  </a:tcPr>
                </a:tc>
                <a:tc>
                  <a:txBody>
                    <a:bodyPr wrap="square"/>
                    <a:lstStyle/>
                    <a:p>
                      <a:pPr algn="ctr"/>
                      <a:r>
                        <a:rPr sz="2100" b="0">
                          <a:solidFill>
                            <a:srgbClr val="1F2A44"/>
                          </a:solidFill>
                          <a:latin typeface="Calibri"/>
                        </a:rPr>
                        <a:t>+15 [−38, +60]</a:t>
                      </a:r>
                    </a:p>
                  </a:txBody>
                  <a:tcPr marL="73152" marR="73152" marT="27432" marB="27432" anchor="ctr">
                    <a:solidFill>
                      <a:srgbClr val="FFFFFF"/>
                    </a:solidFill>
                  </a:tcPr>
                </a:tc>
                <a:tc>
                  <a:txBody>
                    <a:bodyPr wrap="square"/>
                    <a:lstStyle/>
                    <a:p>
                      <a:pPr algn="ctr"/>
                      <a:r>
                        <a:rPr sz="2100" b="0">
                          <a:solidFill>
                            <a:srgbClr val="1F2A44"/>
                          </a:solidFill>
                          <a:latin typeface="Calibri"/>
                        </a:rPr>
                        <a:t>+69</a:t>
                      </a:r>
                    </a:p>
                  </a:txBody>
                  <a:tcPr marL="73152" marR="73152" marT="27432" marB="27432" anchor="ctr">
                    <a:solidFill>
                      <a:srgbClr val="FFFFFF"/>
                    </a:solidFill>
                  </a:tcPr>
                </a:tc>
                <a:tc>
                  <a:txBody>
                    <a:bodyPr wrap="square"/>
                    <a:lstStyle/>
                    <a:p>
                      <a:pPr algn="ctr"/>
                      <a:r>
                        <a:rPr sz="2100" b="0">
                          <a:solidFill>
                            <a:srgbClr val="1F2A44"/>
                          </a:solidFill>
                          <a:latin typeface="Calibri"/>
                        </a:rPr>
                        <a:t>11%</a:t>
                      </a:r>
                    </a:p>
                  </a:txBody>
                  <a:tcPr marL="73152" marR="73152" marT="27432" marB="27432" anchor="ctr">
                    <a:solidFill>
                      <a:srgbClr val="FFFFFF"/>
                    </a:solidFill>
                  </a:tcPr>
                </a:tc>
                <a:tc>
                  <a:txBody>
                    <a:bodyPr wrap="square"/>
                    <a:lstStyle/>
                    <a:p>
                      <a:pPr algn="ctr"/>
                      <a:r>
                        <a:rPr sz="2100" b="0">
                          <a:solidFill>
                            <a:srgbClr val="D9822B"/>
                          </a:solidFill>
                          <a:latin typeface="Calibri"/>
                        </a:rPr>
                        <a:t>limited</a:t>
                      </a:r>
                    </a:p>
                  </a:txBody>
                  <a:tcPr marL="73152" marR="73152" marT="27432" marB="27432" anchor="ctr">
                    <a:solidFill>
                      <a:srgbClr val="FFFFFF"/>
                    </a:solidFill>
                  </a:tcPr>
                </a:tc>
              </a:tr>
              <a:tr h="731520">
                <a:tc>
                  <a:txBody>
                    <a:bodyPr wrap="square"/>
                    <a:lstStyle/>
                    <a:p>
                      <a:pPr algn="l"/>
                      <a:r>
                        <a:rPr sz="2100" b="0">
                          <a:solidFill>
                            <a:srgbClr val="1F2A44"/>
                          </a:solidFill>
                          <a:latin typeface="Calibri"/>
                        </a:rPr>
                        <a:t>Ginger</a:t>
                      </a:r>
                    </a:p>
                  </a:txBody>
                  <a:tcPr marL="73152" marR="73152" marT="27432" marB="27432" anchor="ctr">
                    <a:solidFill>
                      <a:srgbClr val="F1F7FB"/>
                    </a:solidFill>
                  </a:tcPr>
                </a:tc>
                <a:tc>
                  <a:txBody>
                    <a:bodyPr wrap="square"/>
                    <a:lstStyle/>
                    <a:p>
                      <a:pPr algn="ctr"/>
                      <a:r>
                        <a:rPr sz="2100" b="0">
                          <a:solidFill>
                            <a:srgbClr val="1F2A44"/>
                          </a:solidFill>
                          <a:latin typeface="Calibri"/>
                        </a:rPr>
                        <a:t>+202 [+25, +429]</a:t>
                      </a:r>
                    </a:p>
                  </a:txBody>
                  <a:tcPr marL="73152" marR="73152" marT="27432" marB="27432" anchor="ctr">
                    <a:solidFill>
                      <a:srgbClr val="F1F7FB"/>
                    </a:solidFill>
                  </a:tcPr>
                </a:tc>
                <a:tc>
                  <a:txBody>
                    <a:bodyPr wrap="square"/>
                    <a:lstStyle/>
                    <a:p>
                      <a:pPr algn="ctr"/>
                      <a:r>
                        <a:rPr sz="2100" b="0">
                          <a:solidFill>
                            <a:srgbClr val="1F2A44"/>
                          </a:solidFill>
                          <a:latin typeface="Calibri"/>
                        </a:rPr>
                        <a:t>+1,595</a:t>
                      </a:r>
                    </a:p>
                  </a:txBody>
                  <a:tcPr marL="73152" marR="73152" marT="27432" marB="27432" anchor="ctr">
                    <a:solidFill>
                      <a:srgbClr val="F1F7FB"/>
                    </a:solidFill>
                  </a:tcPr>
                </a:tc>
                <a:tc>
                  <a:txBody>
                    <a:bodyPr wrap="square"/>
                    <a:lstStyle/>
                    <a:p>
                      <a:pPr algn="ctr"/>
                      <a:r>
                        <a:rPr sz="2100" b="0">
                          <a:solidFill>
                            <a:srgbClr val="1F2A44"/>
                          </a:solidFill>
                          <a:latin typeface="Calibri"/>
                        </a:rPr>
                        <a:t>67%</a:t>
                      </a:r>
                    </a:p>
                  </a:txBody>
                  <a:tcPr marL="73152" marR="73152" marT="27432" marB="27432" anchor="ctr">
                    <a:solidFill>
                      <a:srgbClr val="F1F7FB"/>
                    </a:solidFill>
                  </a:tcPr>
                </a:tc>
                <a:tc>
                  <a:txBody>
                    <a:bodyPr wrap="square"/>
                    <a:lstStyle/>
                    <a:p>
                      <a:pPr algn="ctr"/>
                      <a:r>
                        <a:rPr sz="2100" b="0">
                          <a:solidFill>
                            <a:srgbClr val="2E8B57"/>
                          </a:solidFill>
                          <a:latin typeface="Calibri"/>
                        </a:rPr>
                        <a:t>strong</a:t>
                      </a:r>
                    </a:p>
                  </a:txBody>
                  <a:tcPr marL="73152" marR="73152" marT="27432" marB="27432" anchor="ctr">
                    <a:solidFill>
                      <a:srgbClr val="F1F7FB"/>
                    </a:solidFill>
                  </a:tcPr>
                </a:tc>
              </a:tr>
            </a:tbl>
          </a:graphicData>
        </a:graphic>
      </p:graphicFrame>
      <p:graphicFrame>
        <p:nvGraphicFramePr>
          <p:cNvPr id="10254" name="Chart 10253"/>
          <p:cNvGraphicFramePr>
            <a:graphicFrameLocks noGrp="1"/>
          </p:cNvGraphicFramePr>
          <p:nvPr/>
        </p:nvGraphicFramePr>
        <p:xfrm>
          <a:off x="10241280" y="5486400"/>
          <a:ext cx="8869680" cy="4754880"/>
        </p:xfrm>
        <a:graphic>
          <a:graphicData uri="http://schemas.openxmlformats.org/drawingml/2006/chart">
            <c:chart xmlns:c="http://schemas.openxmlformats.org/drawingml/2006/chart" r:id="rId3"/>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Look-Ahead Audit of Decompose-then-Forecast Models</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9</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graphicFrame>
        <p:nvGraphicFramePr>
          <p:cNvPr id="10251" name="Chart 10250"/>
          <p:cNvGraphicFramePr>
            <a:graphicFrameLocks noGrp="1"/>
          </p:cNvGraphicFramePr>
          <p:nvPr/>
        </p:nvGraphicFramePr>
        <p:xfrm>
          <a:off x="1005840" y="1645920"/>
          <a:ext cx="12070080" cy="8138160"/>
        </p:xfrm>
        <a:graphic>
          <a:graphicData uri="http://schemas.openxmlformats.org/drawingml/2006/chart">
            <c:chart xmlns:c="http://schemas.openxmlformats.org/drawingml/2006/chart" r:id="rId3"/>
          </a:graphicData>
        </a:graphic>
      </p:graphicFrame>
      <p:sp>
        <p:nvSpPr>
          <p:cNvPr id="10252" name="Rectangle 10251"/>
          <p:cNvSpPr/>
          <p:nvPr/>
        </p:nvSpPr>
        <p:spPr>
          <a:xfrm>
            <a:off x="13533120" y="1737360"/>
            <a:ext cx="5577840" cy="1207008"/>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73152" rIns="73152" tIns="36576" bIns="36576"/>
          <a:lstStyle/>
          <a:p>
            <a:pPr algn="ctr"/>
            <a:r>
              <a:rPr sz="4900" b="1" i="0">
                <a:solidFill>
                  <a:srgbClr val="C0392B"/>
                </a:solidFill>
                <a:latin typeface="Calibri"/>
              </a:rPr>
              <a:t>+27 … +62%</a:t>
            </a:r>
          </a:p>
        </p:txBody>
      </p:sp>
      <p:sp>
        <p:nvSpPr>
          <p:cNvPr id="10253" name="Rectangle 10252"/>
          <p:cNvSpPr/>
          <p:nvPr/>
        </p:nvSpPr>
        <p:spPr>
          <a:xfrm>
            <a:off x="13533120" y="2944368"/>
            <a:ext cx="5577840" cy="98755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r>
              <a:rPr sz="2000" b="0" i="0">
                <a:solidFill>
                  <a:srgbClr val="5F6B7A"/>
                </a:solidFill>
                <a:latin typeface="Calibri"/>
              </a:rPr>
              <a:t>skill under the published protocol</a:t>
            </a:r>
          </a:p>
        </p:txBody>
      </p:sp>
      <p:sp>
        <p:nvSpPr>
          <p:cNvPr id="10254" name="Rectangle 10253"/>
          <p:cNvSpPr/>
          <p:nvPr/>
        </p:nvSpPr>
        <p:spPr>
          <a:xfrm>
            <a:off x="13533120" y="4206240"/>
            <a:ext cx="5577840" cy="1207008"/>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73152" rIns="73152" tIns="36576" bIns="36576"/>
          <a:lstStyle/>
          <a:p>
            <a:pPr algn="ctr"/>
            <a:r>
              <a:rPr sz="4900" b="1" i="0">
                <a:solidFill>
                  <a:srgbClr val="1F4E79"/>
                </a:solidFill>
                <a:latin typeface="Calibri"/>
              </a:rPr>
              <a:t>−15 … −1%</a:t>
            </a:r>
          </a:p>
        </p:txBody>
      </p:sp>
      <p:sp>
        <p:nvSpPr>
          <p:cNvPr id="10255" name="Rectangle 10254"/>
          <p:cNvSpPr/>
          <p:nvPr/>
        </p:nvSpPr>
        <p:spPr>
          <a:xfrm>
            <a:off x="13533120" y="5413248"/>
            <a:ext cx="5577840" cy="98755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r>
              <a:rPr sz="2000" b="0" i="0">
                <a:solidFill>
                  <a:srgbClr val="5F6B7A"/>
                </a:solidFill>
                <a:latin typeface="Calibri"/>
              </a:rPr>
              <a:t>the same models, causal decomposition</a:t>
            </a:r>
          </a:p>
        </p:txBody>
      </p:sp>
      <p:sp>
        <p:nvSpPr>
          <p:cNvPr id="10256" name="Rectangle 10255"/>
          <p:cNvSpPr/>
          <p:nvPr/>
        </p:nvSpPr>
        <p:spPr>
          <a:xfrm>
            <a:off x="13533120" y="6675120"/>
            <a:ext cx="5577840" cy="310896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r>
              <a:rPr sz="2200" b="1" i="0">
                <a:solidFill>
                  <a:srgbClr val="1F2A44"/>
                </a:solidFill>
                <a:latin typeface="Calibri"/>
              </a:rPr>
              <a:t>Why: </a:t>
            </a:r>
            <a:r>
              <a:rPr sz="2200" b="0" i="0">
                <a:solidFill>
                  <a:srgbClr val="1F2A44"/>
                </a:solidFill>
                <a:latin typeface="Calibri"/>
              </a:rPr>
              <a:t>STL and VMD are two-sided smoothers, so the component at day t already contains later prices. Zero-shot Chronos-Bolt [17] scores −9.4% at 1 day: no model here beats the random walk on the daily tomato series.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Council, Shocks, Spillover and Language Layer</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9</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graphicFrame>
        <p:nvGraphicFramePr>
          <p:cNvPr id="10251" name="Table 10250"/>
          <p:cNvGraphicFramePr>
            <a:graphicFrameLocks noGrp="1"/>
          </p:cNvGraphicFramePr>
          <p:nvPr/>
        </p:nvGraphicFramePr>
        <p:xfrm>
          <a:off x="1005840" y="1737360"/>
          <a:ext cx="18105118" cy="7406640"/>
        </p:xfrm>
        <a:graphic>
          <a:graphicData uri="http://schemas.openxmlformats.org/drawingml/2006/table">
            <a:tbl>
              <a:tblPr firstRow="1" bandRow="1">
                <a:tableStyleId>{5C22544A-7EE6-4342-B048-85BDC9FD1C3A}</a:tableStyleId>
              </a:tblPr>
              <a:tblGrid>
                <a:gridCol w="2889114"/>
                <a:gridCol w="4815191"/>
                <a:gridCol w="7896914"/>
                <a:gridCol w="2503899"/>
              </a:tblGrid>
              <a:tr h="1234440">
                <a:tc>
                  <a:txBody>
                    <a:bodyPr wrap="square"/>
                    <a:lstStyle/>
                    <a:p>
                      <a:pPr algn="ctr"/>
                      <a:r>
                        <a:rPr sz="2200" b="1">
                          <a:solidFill>
                            <a:srgbClr val="FFFFFF"/>
                          </a:solidFill>
                          <a:latin typeface="Calibri"/>
                        </a:rPr>
                        <a:t>Study</a:t>
                      </a:r>
                    </a:p>
                  </a:txBody>
                  <a:tcPr marL="73152" marR="73152" marT="27432" marB="27432" anchor="ctr">
                    <a:solidFill>
                      <a:srgbClr val="1F4E79"/>
                    </a:solidFill>
                  </a:tcPr>
                </a:tc>
                <a:tc>
                  <a:txBody>
                    <a:bodyPr wrap="square"/>
                    <a:lstStyle/>
                    <a:p>
                      <a:pPr algn="ctr"/>
                      <a:r>
                        <a:rPr sz="2200" b="1">
                          <a:solidFill>
                            <a:srgbClr val="FFFFFF"/>
                          </a:solidFill>
                          <a:latin typeface="Calibri"/>
                        </a:rPr>
                        <a:t>What was tested</a:t>
                      </a:r>
                    </a:p>
                  </a:txBody>
                  <a:tcPr marL="73152" marR="73152" marT="27432" marB="27432" anchor="ctr">
                    <a:solidFill>
                      <a:srgbClr val="1F4E79"/>
                    </a:solidFill>
                  </a:tcPr>
                </a:tc>
                <a:tc>
                  <a:txBody>
                    <a:bodyPr wrap="square"/>
                    <a:lstStyle/>
                    <a:p>
                      <a:pPr algn="ctr"/>
                      <a:r>
                        <a:rPr sz="2200" b="1">
                          <a:solidFill>
                            <a:srgbClr val="FFFFFF"/>
                          </a:solidFill>
                          <a:latin typeface="Calibri"/>
                        </a:rPr>
                        <a:t>Result</a:t>
                      </a:r>
                    </a:p>
                  </a:txBody>
                  <a:tcPr marL="73152" marR="73152" marT="27432" marB="27432" anchor="ctr">
                    <a:solidFill>
                      <a:srgbClr val="1F4E79"/>
                    </a:solidFill>
                  </a:tcPr>
                </a:tc>
                <a:tc>
                  <a:txBody>
                    <a:bodyPr wrap="square"/>
                    <a:lstStyle/>
                    <a:p>
                      <a:pPr algn="ctr"/>
                      <a:r>
                        <a:rPr sz="2200" b="1">
                          <a:solidFill>
                            <a:srgbClr val="FFFFFF"/>
                          </a:solidFill>
                          <a:latin typeface="Calibri"/>
                        </a:rPr>
                        <a:t>Verdict</a:t>
                      </a:r>
                    </a:p>
                  </a:txBody>
                  <a:tcPr marL="73152" marR="73152" marT="27432" marB="27432" anchor="ctr">
                    <a:solidFill>
                      <a:srgbClr val="1F4E79"/>
                    </a:solidFill>
                  </a:tcPr>
                </a:tc>
              </a:tr>
              <a:tr h="1234440">
                <a:tc>
                  <a:txBody>
                    <a:bodyPr wrap="square"/>
                    <a:lstStyle/>
                    <a:p>
                      <a:pPr algn="l"/>
                      <a:r>
                        <a:rPr sz="2200" b="1">
                          <a:solidFill>
                            <a:srgbClr val="1F2A44"/>
                          </a:solidFill>
                          <a:latin typeface="Calibri"/>
                        </a:rPr>
                        <a:t>Specialist council</a:t>
                      </a:r>
                    </a:p>
                  </a:txBody>
                  <a:tcPr marL="73152" marR="73152" marT="27432" marB="27432" anchor="ctr">
                    <a:solidFill>
                      <a:srgbClr val="FFFFFF"/>
                    </a:solidFill>
                  </a:tcPr>
                </a:tc>
                <a:tc>
                  <a:txBody>
                    <a:bodyPr wrap="square"/>
                    <a:lstStyle/>
                    <a:p>
                      <a:pPr algn="l"/>
                      <a:r>
                        <a:rPr sz="2200" b="0">
                          <a:solidFill>
                            <a:srgbClr val="1F2A44"/>
                          </a:solidFill>
                          <a:latin typeface="Calibri"/>
                        </a:rPr>
                        <a:t>4 feature-family agents, weights ≤ 1, 4 folds</a:t>
                      </a:r>
                    </a:p>
                  </a:txBody>
                  <a:tcPr marL="73152" marR="73152" marT="27432" marB="27432" anchor="ctr">
                    <a:solidFill>
                      <a:srgbClr val="FFFFFF"/>
                    </a:solidFill>
                  </a:tcPr>
                </a:tc>
                <a:tc>
                  <a:txBody>
                    <a:bodyPr wrap="square"/>
                    <a:lstStyle/>
                    <a:p>
                      <a:pPr algn="l"/>
                      <a:r>
                        <a:rPr sz="2200" b="0">
                          <a:solidFill>
                            <a:srgbClr val="1F2A44"/>
                          </a:solidFill>
                          <a:latin typeface="Calibri"/>
                        </a:rPr>
                        <a:t>council +0.2…+0.4% vs single +0.6…+0.8% skill; wins 0–1 of 4 folds</a:t>
                      </a:r>
                    </a:p>
                  </a:txBody>
                  <a:tcPr marL="73152" marR="73152" marT="27432" marB="27432" anchor="ctr">
                    <a:solidFill>
                      <a:srgbClr val="FFFFFF"/>
                    </a:solidFill>
                  </a:tcPr>
                </a:tc>
                <a:tc>
                  <a:txBody>
                    <a:bodyPr wrap="square"/>
                    <a:lstStyle/>
                    <a:p>
                      <a:pPr algn="l"/>
                      <a:r>
                        <a:rPr sz="2200" b="0">
                          <a:solidFill>
                            <a:srgbClr val="D9822B"/>
                          </a:solidFill>
                          <a:latin typeface="Calibri"/>
                        </a:rPr>
                        <a:t>Not promoted</a:t>
                      </a:r>
                    </a:p>
                  </a:txBody>
                  <a:tcPr marL="73152" marR="73152" marT="27432" marB="27432" anchor="ctr">
                    <a:solidFill>
                      <a:srgbClr val="FFFFFF"/>
                    </a:solidFill>
                  </a:tcPr>
                </a:tc>
              </a:tr>
              <a:tr h="1234440">
                <a:tc>
                  <a:txBody>
                    <a:bodyPr wrap="square"/>
                    <a:lstStyle/>
                    <a:p>
                      <a:pPr algn="l"/>
                      <a:r>
                        <a:rPr sz="2200" b="1">
                          <a:solidFill>
                            <a:srgbClr val="1F2A44"/>
                          </a:solidFill>
                          <a:latin typeface="Calibri"/>
                        </a:rPr>
                        <a:t>Supply-shock event study</a:t>
                      </a:r>
                    </a:p>
                  </a:txBody>
                  <a:tcPr marL="73152" marR="73152" marT="27432" marB="27432" anchor="ctr">
                    <a:solidFill>
                      <a:srgbClr val="F1F7FB"/>
                    </a:solidFill>
                  </a:tcPr>
                </a:tc>
                <a:tc>
                  <a:txBody>
                    <a:bodyPr wrap="square"/>
                    <a:lstStyle/>
                    <a:p>
                      <a:pPr algn="l"/>
                      <a:r>
                        <a:rPr sz="2200" b="0">
                          <a:solidFill>
                            <a:srgbClr val="1F2A44"/>
                          </a:solidFill>
                          <a:latin typeface="Calibri"/>
                        </a:rPr>
                        <a:t>30 crop–horizon tests, placebo shifts, Holm</a:t>
                      </a:r>
                    </a:p>
                  </a:txBody>
                  <a:tcPr marL="73152" marR="73152" marT="27432" marB="27432" anchor="ctr">
                    <a:solidFill>
                      <a:srgbClr val="F1F7FB"/>
                    </a:solidFill>
                  </a:tcPr>
                </a:tc>
                <a:tc>
                  <a:txBody>
                    <a:bodyPr wrap="square"/>
                    <a:lstStyle/>
                    <a:p>
                      <a:pPr algn="l"/>
                      <a:r>
                        <a:rPr sz="2200" b="0">
                          <a:solidFill>
                            <a:srgbClr val="1F2A44"/>
                          </a:solidFill>
                          <a:latin typeface="Calibri"/>
                        </a:rPr>
                        <a:t>0 robust, 5 suggestive; effects as large as the detectable minimum</a:t>
                      </a:r>
                    </a:p>
                  </a:txBody>
                  <a:tcPr marL="73152" marR="73152" marT="27432" marB="27432" anchor="ctr">
                    <a:solidFill>
                      <a:srgbClr val="F1F7FB"/>
                    </a:solidFill>
                  </a:tcPr>
                </a:tc>
                <a:tc>
                  <a:txBody>
                    <a:bodyPr wrap="square"/>
                    <a:lstStyle/>
                    <a:p>
                      <a:pPr algn="l"/>
                      <a:r>
                        <a:rPr sz="2200" b="0">
                          <a:solidFill>
                            <a:srgbClr val="D9822B"/>
                          </a:solidFill>
                          <a:latin typeface="Calibri"/>
                        </a:rPr>
                        <a:t>Not served</a:t>
                      </a:r>
                    </a:p>
                  </a:txBody>
                  <a:tcPr marL="73152" marR="73152" marT="27432" marB="27432" anchor="ctr">
                    <a:solidFill>
                      <a:srgbClr val="F1F7FB"/>
                    </a:solidFill>
                  </a:tcPr>
                </a:tc>
              </a:tr>
              <a:tr h="1234440">
                <a:tc>
                  <a:txBody>
                    <a:bodyPr wrap="square"/>
                    <a:lstStyle/>
                    <a:p>
                      <a:pPr algn="l"/>
                      <a:r>
                        <a:rPr sz="2200" b="1">
                          <a:solidFill>
                            <a:srgbClr val="1F2A44"/>
                          </a:solidFill>
                          <a:latin typeface="Calibri"/>
                        </a:rPr>
                        <a:t>Cross-commodity spillover</a:t>
                      </a:r>
                    </a:p>
                  </a:txBody>
                  <a:tcPr marL="73152" marR="73152" marT="27432" marB="27432" anchor="ctr">
                    <a:solidFill>
                      <a:srgbClr val="FFFFFF"/>
                    </a:solidFill>
                  </a:tcPr>
                </a:tc>
                <a:tc>
                  <a:txBody>
                    <a:bodyPr wrap="square"/>
                    <a:lstStyle/>
                    <a:p>
                      <a:pPr algn="l"/>
                      <a:r>
                        <a:rPr sz="2200" b="0">
                          <a:solidFill>
                            <a:srgbClr val="1F2A44"/>
                          </a:solidFill>
                          <a:latin typeface="Calibri"/>
                        </a:rPr>
                        <a:t>5 crops, 40 edges, FDR 10%, ≥8 episodes</a:t>
                      </a:r>
                    </a:p>
                  </a:txBody>
                  <a:tcPr marL="73152" marR="73152" marT="27432" marB="27432" anchor="ctr">
                    <a:solidFill>
                      <a:srgbClr val="FFFFFF"/>
                    </a:solidFill>
                  </a:tcPr>
                </a:tc>
                <a:tc>
                  <a:txBody>
                    <a:bodyPr wrap="square"/>
                    <a:lstStyle/>
                    <a:p>
                      <a:pPr algn="l"/>
                      <a:r>
                        <a:rPr sz="2200" b="0">
                          <a:solidFill>
                            <a:srgbClr val="1F2A44"/>
                          </a:solidFill>
                          <a:latin typeface="Calibri"/>
                        </a:rPr>
                        <a:t>0 shock episodes in all 10 source cells; 40/40 insufficient evidence</a:t>
                      </a:r>
                    </a:p>
                  </a:txBody>
                  <a:tcPr marL="73152" marR="73152" marT="27432" marB="27432" anchor="ctr">
                    <a:solidFill>
                      <a:srgbClr val="FFFFFF"/>
                    </a:solidFill>
                  </a:tcPr>
                </a:tc>
                <a:tc>
                  <a:txBody>
                    <a:bodyPr wrap="square"/>
                    <a:lstStyle/>
                    <a:p>
                      <a:pPr algn="l"/>
                      <a:r>
                        <a:rPr sz="2200" b="0">
                          <a:solidFill>
                            <a:srgbClr val="C0392B"/>
                          </a:solidFill>
                          <a:latin typeface="Calibri"/>
                        </a:rPr>
                        <a:t>Withheld</a:t>
                      </a:r>
                    </a:p>
                  </a:txBody>
                  <a:tcPr marL="73152" marR="73152" marT="27432" marB="27432" anchor="ctr">
                    <a:solidFill>
                      <a:srgbClr val="FFFFFF"/>
                    </a:solidFill>
                  </a:tcPr>
                </a:tc>
              </a:tr>
              <a:tr h="1234440">
                <a:tc>
                  <a:txBody>
                    <a:bodyPr wrap="square"/>
                    <a:lstStyle/>
                    <a:p>
                      <a:pPr algn="l"/>
                      <a:r>
                        <a:rPr sz="2200" b="1">
                          <a:solidFill>
                            <a:srgbClr val="1F2A44"/>
                          </a:solidFill>
                          <a:latin typeface="Calibri"/>
                        </a:rPr>
                        <a:t>District forecasts</a:t>
                      </a:r>
                    </a:p>
                  </a:txBody>
                  <a:tcPr marL="73152" marR="73152" marT="27432" marB="27432" anchor="ctr">
                    <a:solidFill>
                      <a:srgbClr val="F1F7FB"/>
                    </a:solidFill>
                  </a:tcPr>
                </a:tc>
                <a:tc>
                  <a:txBody>
                    <a:bodyPr wrap="square"/>
                    <a:lstStyle/>
                    <a:p>
                      <a:pPr algn="l"/>
                      <a:r>
                        <a:rPr sz="2200" b="0">
                          <a:solidFill>
                            <a:srgbClr val="1F2A44"/>
                          </a:solidFill>
                          <a:latin typeface="Calibri"/>
                        </a:rPr>
                        <a:t>3-, 5-, 7-day vs no change, 90% band</a:t>
                      </a:r>
                    </a:p>
                  </a:txBody>
                  <a:tcPr marL="73152" marR="73152" marT="27432" marB="27432" anchor="ctr">
                    <a:solidFill>
                      <a:srgbClr val="F1F7FB"/>
                    </a:solidFill>
                  </a:tcPr>
                </a:tc>
                <a:tc>
                  <a:txBody>
                    <a:bodyPr wrap="square"/>
                    <a:lstStyle/>
                    <a:p>
                      <a:pPr algn="l"/>
                      <a:r>
                        <a:rPr sz="2200" b="0">
                          <a:solidFill>
                            <a:srgbClr val="1F2A44"/>
                          </a:solidFill>
                          <a:latin typeface="Calibri"/>
                        </a:rPr>
                        <a:t>skill +3.0…+4.0%, coverage 89.8%; 1-day not distinguishable</a:t>
                      </a:r>
                    </a:p>
                  </a:txBody>
                  <a:tcPr marL="73152" marR="73152" marT="27432" marB="27432" anchor="ctr">
                    <a:solidFill>
                      <a:srgbClr val="F1F7FB"/>
                    </a:solidFill>
                  </a:tcPr>
                </a:tc>
                <a:tc>
                  <a:txBody>
                    <a:bodyPr wrap="square"/>
                    <a:lstStyle/>
                    <a:p>
                      <a:pPr algn="l"/>
                      <a:r>
                        <a:rPr sz="2200" b="0">
                          <a:solidFill>
                            <a:srgbClr val="2E8B57"/>
                          </a:solidFill>
                          <a:latin typeface="Calibri"/>
                        </a:rPr>
                        <a:t>Served 3/5/7 d</a:t>
                      </a:r>
                    </a:p>
                  </a:txBody>
                  <a:tcPr marL="73152" marR="73152" marT="27432" marB="27432" anchor="ctr">
                    <a:solidFill>
                      <a:srgbClr val="F1F7FB"/>
                    </a:solidFill>
                  </a:tcPr>
                </a:tc>
              </a:tr>
              <a:tr h="1234440">
                <a:tc>
                  <a:txBody>
                    <a:bodyPr wrap="square"/>
                    <a:lstStyle/>
                    <a:p>
                      <a:pPr algn="l"/>
                      <a:r>
                        <a:rPr sz="2200" b="1">
                          <a:solidFill>
                            <a:srgbClr val="1F2A44"/>
                          </a:solidFill>
                          <a:latin typeface="Calibri"/>
                        </a:rPr>
                        <a:t>Explanation layer</a:t>
                      </a:r>
                    </a:p>
                  </a:txBody>
                  <a:tcPr marL="73152" marR="73152" marT="27432" marB="27432" anchor="ctr">
                    <a:solidFill>
                      <a:srgbClr val="FFFFFF"/>
                    </a:solidFill>
                  </a:tcPr>
                </a:tc>
                <a:tc>
                  <a:txBody>
                    <a:bodyPr wrap="square"/>
                    <a:lstStyle/>
                    <a:p>
                      <a:pPr algn="l"/>
                      <a:r>
                        <a:rPr sz="2200" b="0">
                          <a:solidFill>
                            <a:srgbClr val="1F2A44"/>
                          </a:solidFill>
                          <a:latin typeface="Calibri"/>
                        </a:rPr>
                        <a:t>24 texts, 120 sentences, EN/KN/HI, independent judge</a:t>
                      </a:r>
                    </a:p>
                  </a:txBody>
                  <a:tcPr marL="73152" marR="73152" marT="27432" marB="27432" anchor="ctr">
                    <a:solidFill>
                      <a:srgbClr val="FFFFFF"/>
                    </a:solidFill>
                  </a:tcPr>
                </a:tc>
                <a:tc>
                  <a:txBody>
                    <a:bodyPr wrap="square"/>
                    <a:lstStyle/>
                    <a:p>
                      <a:pPr algn="l"/>
                      <a:r>
                        <a:rPr sz="2200" b="0">
                          <a:solidFill>
                            <a:srgbClr val="1F2A44"/>
                          </a:solidFill>
                          <a:latin typeface="Calibri"/>
                        </a:rPr>
                        <a:t>kept: EN 0.83–0.99, KN 0.62–0.88, HI 0.68–0.91; judge caught 9/9 corrupted, 0/3 false alarms</a:t>
                      </a:r>
                    </a:p>
                  </a:txBody>
                  <a:tcPr marL="73152" marR="73152" marT="27432" marB="27432" anchor="ctr">
                    <a:solidFill>
                      <a:srgbClr val="FFFFFF"/>
                    </a:solidFill>
                  </a:tcPr>
                </a:tc>
                <a:tc>
                  <a:txBody>
                    <a:bodyPr wrap="square"/>
                    <a:lstStyle/>
                    <a:p>
                      <a:pPr algn="l"/>
                      <a:r>
                        <a:rPr sz="2200" b="0">
                          <a:solidFill>
                            <a:srgbClr val="2E8B57"/>
                          </a:solidFill>
                          <a:latin typeface="Calibri"/>
                        </a:rPr>
                        <a:t>Verified, small n</a:t>
                      </a:r>
                    </a:p>
                  </a:txBody>
                  <a:tcPr marL="73152" marR="73152" marT="27432" marB="27432" anchor="ctr">
                    <a:solidFill>
                      <a:srgbClr val="FFFFFF"/>
                    </a:solidFill>
                  </a:tcPr>
                </a:tc>
              </a:tr>
            </a:tbl>
          </a:graphicData>
        </a:graphic>
      </p:graphicFrame>
      <p:sp>
        <p:nvSpPr>
          <p:cNvPr id="10252" name="TextBox 10251"/>
          <p:cNvSpPr txBox="1"/>
          <p:nvPr/>
        </p:nvSpPr>
        <p:spPr>
          <a:xfrm>
            <a:off x="1005840" y="9144000"/>
            <a:ext cx="18105120" cy="1097280"/>
          </a:xfrm>
          <a:prstGeom prst="rect">
            <a:avLst/>
          </a:prstGeom>
          <a:noFill/>
        </p:spPr>
        <p:txBody>
          <a:bodyPr wrap="square" anchor="t" lIns="73152" rIns="73152" tIns="36576" bIns="36576">
            <a:spAutoFit/>
          </a:bodyPr>
          <a:lstStyle/>
          <a:p>
            <a:pPr algn="l"/>
            <a:r>
              <a:rPr sz="2200" b="0" i="1">
                <a:solidFill>
                  <a:srgbClr val="5F6B7A"/>
                </a:solidFill>
                <a:latin typeface="Calibri"/>
              </a:rPr>
              <a:t>Zero spillover episodes is also a finding about the pipeline: the detector depends on supply-regime labels that the real panel does not yet supply. Listed under future work.</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Insight Features: Method</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9</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10251" name="TextBox 10250"/>
          <p:cNvSpPr txBox="1"/>
          <p:nvPr/>
        </p:nvSpPr>
        <p:spPr>
          <a:xfrm>
            <a:off x="1005840" y="1645920"/>
            <a:ext cx="8869680" cy="502920"/>
          </a:xfrm>
          <a:prstGeom prst="rect">
            <a:avLst/>
          </a:prstGeom>
          <a:noFill/>
        </p:spPr>
        <p:txBody>
          <a:bodyPr wrap="square" anchor="t" lIns="73152" rIns="73152" tIns="36576" bIns="36576">
            <a:spAutoFit/>
          </a:bodyPr>
          <a:lstStyle/>
          <a:p>
            <a:pPr algn="l"/>
            <a:r>
              <a:rPr sz="2300" b="1" i="0">
                <a:solidFill>
                  <a:srgbClr val="1F4E79"/>
                </a:solidFill>
                <a:latin typeface="Calibri"/>
              </a:rPr>
              <a:t>1  Breakdown: why this mandi</a:t>
            </a:r>
          </a:p>
        </p:txBody>
      </p:sp>
      <p:sp>
        <p:nvSpPr>
          <p:cNvPr id="10252" name="Rectangle 10251"/>
          <p:cNvSpPr/>
          <p:nvPr/>
        </p:nvSpPr>
        <p:spPr>
          <a:xfrm>
            <a:off x="1005840" y="2194560"/>
            <a:ext cx="8869680" cy="91440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r>
              <a:rPr sz="2400" b="1" i="0">
                <a:solidFill>
                  <a:srgbClr val="1F2A44"/>
                </a:solidFill>
                <a:latin typeface="Cambria Math"/>
              </a:rPr>
              <a:t>R = P − fP − (1−f)·P·[1 − (1−δ)ᵏ] − τρd − c₀</a:t>
            </a:r>
          </a:p>
        </p:txBody>
      </p:sp>
      <p:sp>
        <p:nvSpPr>
          <p:cNvPr id="10253" name="TextBox 10252"/>
          <p:cNvSpPr txBox="1"/>
          <p:nvPr/>
        </p:nvSpPr>
        <p:spPr>
          <a:xfrm>
            <a:off x="1005840" y="3200400"/>
            <a:ext cx="8869680" cy="1097280"/>
          </a:xfrm>
          <a:prstGeom prst="rect">
            <a:avLst/>
          </a:prstGeom>
          <a:noFill/>
        </p:spPr>
        <p:txBody>
          <a:bodyPr wrap="square" anchor="t" lIns="73152" rIns="73152" tIns="36576" bIns="36576">
            <a:spAutoFit/>
          </a:bodyPr>
          <a:lstStyle/>
          <a:p>
            <a:pPr algn="l"/>
            <a:r>
              <a:rPr sz="2100" b="0" i="0">
                <a:solidFill>
                  <a:srgbClr val="5F6B7A"/>
                </a:solidFill>
                <a:latin typeface="Calibri"/>
              </a:rPr>
              <a:t>the parts add up to the served net revenue; the code asserts it</a:t>
            </a:r>
          </a:p>
        </p:txBody>
      </p:sp>
      <p:sp>
        <p:nvSpPr>
          <p:cNvPr id="10254" name="TextBox 10253"/>
          <p:cNvSpPr txBox="1"/>
          <p:nvPr/>
        </p:nvSpPr>
        <p:spPr>
          <a:xfrm>
            <a:off x="1005840" y="4754880"/>
            <a:ext cx="8869680" cy="502920"/>
          </a:xfrm>
          <a:prstGeom prst="rect">
            <a:avLst/>
          </a:prstGeom>
          <a:noFill/>
        </p:spPr>
        <p:txBody>
          <a:bodyPr wrap="square" anchor="t" lIns="73152" rIns="73152" tIns="36576" bIns="36576">
            <a:spAutoFit/>
          </a:bodyPr>
          <a:lstStyle/>
          <a:p>
            <a:pPr algn="l"/>
            <a:r>
              <a:rPr sz="2300" b="1" i="0">
                <a:solidFill>
                  <a:srgbClr val="1F4E79"/>
                </a:solidFill>
                <a:latin typeface="Calibri"/>
              </a:rPr>
              <a:t>2  What if: break-even cost</a:t>
            </a:r>
          </a:p>
        </p:txBody>
      </p:sp>
      <p:sp>
        <p:nvSpPr>
          <p:cNvPr id="10255" name="Rectangle 10254"/>
          <p:cNvSpPr/>
          <p:nvPr/>
        </p:nvSpPr>
        <p:spPr>
          <a:xfrm>
            <a:off x="1005840" y="5303520"/>
            <a:ext cx="8869680" cy="91440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r>
              <a:rPr sz="2400" b="1" i="0">
                <a:solidFill>
                  <a:srgbClr val="1F2A44"/>
                </a:solidFill>
                <a:latin typeface="Cambria Math"/>
              </a:rPr>
              <a:t>x* = min { x on grid : a*(x) ≠ a*(x₀) }</a:t>
            </a:r>
          </a:p>
        </p:txBody>
      </p:sp>
      <p:sp>
        <p:nvSpPr>
          <p:cNvPr id="10256" name="TextBox 10255"/>
          <p:cNvSpPr txBox="1"/>
          <p:nvPr/>
        </p:nvSpPr>
        <p:spPr>
          <a:xfrm>
            <a:off x="1005840" y="6309360"/>
            <a:ext cx="8869680" cy="1097280"/>
          </a:xfrm>
          <a:prstGeom prst="rect">
            <a:avLst/>
          </a:prstGeom>
          <a:noFill/>
        </p:spPr>
        <p:txBody>
          <a:bodyPr wrap="square" anchor="t" lIns="73152" rIns="73152" tIns="36576" bIns="36576">
            <a:spAutoFit/>
          </a:bodyPr>
          <a:lstStyle/>
          <a:p>
            <a:pPr algn="l"/>
            <a:r>
              <a:rPr sz="2100" b="0" i="0">
                <a:solidFill>
                  <a:srgbClr val="5F6B7A"/>
                </a:solidFill>
                <a:latin typeface="Calibri"/>
              </a:rPr>
              <a:t>re-price every action under the farmer's costs; report where the best action flips</a:t>
            </a:r>
          </a:p>
        </p:txBody>
      </p:sp>
      <p:sp>
        <p:nvSpPr>
          <p:cNvPr id="10257" name="TextBox 10256"/>
          <p:cNvSpPr txBox="1"/>
          <p:nvPr/>
        </p:nvSpPr>
        <p:spPr>
          <a:xfrm>
            <a:off x="1005840" y="7863840"/>
            <a:ext cx="8869680" cy="502920"/>
          </a:xfrm>
          <a:prstGeom prst="rect">
            <a:avLst/>
          </a:prstGeom>
          <a:noFill/>
        </p:spPr>
        <p:txBody>
          <a:bodyPr wrap="square" anchor="t" lIns="73152" rIns="73152" tIns="36576" bIns="36576">
            <a:spAutoFit/>
          </a:bodyPr>
          <a:lstStyle/>
          <a:p>
            <a:pPr algn="l"/>
            <a:r>
              <a:rPr sz="2300" b="1" i="0">
                <a:solidFill>
                  <a:srgbClr val="1F4E79"/>
                </a:solidFill>
                <a:latin typeface="Calibri"/>
              </a:rPr>
              <a:t>3  Track record</a:t>
            </a:r>
          </a:p>
        </p:txBody>
      </p:sp>
      <p:sp>
        <p:nvSpPr>
          <p:cNvPr id="10258" name="Rectangle 10257"/>
          <p:cNvSpPr/>
          <p:nvPr/>
        </p:nvSpPr>
        <p:spPr>
          <a:xfrm>
            <a:off x="1005840" y="8412480"/>
            <a:ext cx="8869680" cy="91440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r>
              <a:rPr sz="2400" b="1" i="0">
                <a:solidFill>
                  <a:srgbClr val="1F2A44"/>
                </a:solidFill>
                <a:latin typeface="Cambria Math"/>
              </a:rPr>
              <a:t>win: gain &gt; ₹1 · tie: |gain| ≤ ₹1 · loss: gain &lt; −₹1</a:t>
            </a:r>
          </a:p>
        </p:txBody>
      </p:sp>
      <p:sp>
        <p:nvSpPr>
          <p:cNvPr id="10259" name="TextBox 10258"/>
          <p:cNvSpPr txBox="1"/>
          <p:nvPr/>
        </p:nvSpPr>
        <p:spPr>
          <a:xfrm>
            <a:off x="1005840" y="9418319"/>
            <a:ext cx="8869680" cy="1097280"/>
          </a:xfrm>
          <a:prstGeom prst="rect">
            <a:avLst/>
          </a:prstGeom>
          <a:noFill/>
        </p:spPr>
        <p:txBody>
          <a:bodyPr wrap="square" anchor="t" lIns="73152" rIns="73152" tIns="36576" bIns="36576">
            <a:spAutoFit/>
          </a:bodyPr>
          <a:lstStyle/>
          <a:p>
            <a:pPr algn="l"/>
            <a:r>
              <a:rPr sz="2100" b="0" i="0">
                <a:solidFill>
                  <a:srgbClr val="5F6B7A"/>
                </a:solidFill>
                <a:latin typeface="Calibri"/>
              </a:rPr>
              <a:t>only days after the floor multiplier was fitted; floor held if R ≥ L</a:t>
            </a:r>
          </a:p>
        </p:txBody>
      </p:sp>
      <p:sp>
        <p:nvSpPr>
          <p:cNvPr id="10260" name="TextBox 10259"/>
          <p:cNvSpPr txBox="1"/>
          <p:nvPr/>
        </p:nvSpPr>
        <p:spPr>
          <a:xfrm>
            <a:off x="10332720" y="1645920"/>
            <a:ext cx="8869680" cy="502920"/>
          </a:xfrm>
          <a:prstGeom prst="rect">
            <a:avLst/>
          </a:prstGeom>
          <a:noFill/>
        </p:spPr>
        <p:txBody>
          <a:bodyPr wrap="square" anchor="t" lIns="73152" rIns="73152" tIns="36576" bIns="36576">
            <a:spAutoFit/>
          </a:bodyPr>
          <a:lstStyle/>
          <a:p>
            <a:pPr algn="l"/>
            <a:r>
              <a:rPr sz="2300" b="1" i="0">
                <a:solidFill>
                  <a:srgbClr val="1F4E79"/>
                </a:solidFill>
                <a:latin typeface="Calibri"/>
              </a:rPr>
              <a:t>4  Silence tax</a:t>
            </a:r>
          </a:p>
        </p:txBody>
      </p:sp>
      <p:sp>
        <p:nvSpPr>
          <p:cNvPr id="10261" name="Rectangle 10260"/>
          <p:cNvSpPr/>
          <p:nvPr/>
        </p:nvSpPr>
        <p:spPr>
          <a:xfrm>
            <a:off x="10332720" y="2194560"/>
            <a:ext cx="8869680" cy="91440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r>
              <a:rPr sz="2400" b="1" i="0">
                <a:solidFill>
                  <a:srgbClr val="1F2A44"/>
                </a:solidFill>
                <a:latin typeface="Cambria Math"/>
              </a:rPr>
              <a:t>Tₘ = sₘ · max( P̄ₘ − φ·P̄day , 0 )</a:t>
            </a:r>
          </a:p>
        </p:txBody>
      </p:sp>
      <p:sp>
        <p:nvSpPr>
          <p:cNvPr id="10262" name="TextBox 10261"/>
          <p:cNvSpPr txBox="1"/>
          <p:nvPr/>
        </p:nvSpPr>
        <p:spPr>
          <a:xfrm>
            <a:off x="10332720" y="3200400"/>
            <a:ext cx="8869680" cy="1097280"/>
          </a:xfrm>
          <a:prstGeom prst="rect">
            <a:avLst/>
          </a:prstGeom>
          <a:noFill/>
        </p:spPr>
        <p:txBody>
          <a:bodyPr wrap="square" anchor="t" lIns="73152" rIns="73152" tIns="36576" bIns="36576">
            <a:spAutoFit/>
          </a:bodyPr>
          <a:lstStyle/>
          <a:p>
            <a:pPr algn="l"/>
            <a:r>
              <a:rPr sz="2100" b="0" i="0">
                <a:solidFill>
                  <a:srgbClr val="5F6B7A"/>
                </a:solidFill>
                <a:latin typeface="Calibri"/>
              </a:rPr>
              <a:t>s = surprise silence on open days; weekdays silent ≥ 90% are known closed days</a:t>
            </a:r>
          </a:p>
        </p:txBody>
      </p:sp>
      <p:sp>
        <p:nvSpPr>
          <p:cNvPr id="10263" name="TextBox 10262"/>
          <p:cNvSpPr txBox="1"/>
          <p:nvPr/>
        </p:nvSpPr>
        <p:spPr>
          <a:xfrm>
            <a:off x="10332720" y="4754880"/>
            <a:ext cx="8869680" cy="502920"/>
          </a:xfrm>
          <a:prstGeom prst="rect">
            <a:avLst/>
          </a:prstGeom>
          <a:noFill/>
        </p:spPr>
        <p:txBody>
          <a:bodyPr wrap="square" anchor="t" lIns="73152" rIns="73152" tIns="36576" bIns="36576">
            <a:spAutoFit/>
          </a:bodyPr>
          <a:lstStyle/>
          <a:p>
            <a:pPr algn="l"/>
            <a:r>
              <a:rPr sz="2300" b="1" i="0">
                <a:solidFill>
                  <a:srgbClr val="1F4E79"/>
                </a:solidFill>
                <a:latin typeface="Calibri"/>
              </a:rPr>
              <a:t>5  Crowd simulator</a:t>
            </a:r>
          </a:p>
        </p:txBody>
      </p:sp>
      <p:sp>
        <p:nvSpPr>
          <p:cNvPr id="10264" name="Rectangle 10263"/>
          <p:cNvSpPr/>
          <p:nvPr/>
        </p:nvSpPr>
        <p:spPr>
          <a:xfrm>
            <a:off x="10332720" y="5303520"/>
            <a:ext cx="8869680" cy="91440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r>
              <a:rPr sz="2400" b="1" i="0">
                <a:solidFill>
                  <a:srgbClr val="1F2A44"/>
                </a:solidFill>
                <a:latin typeface="Cambria Math"/>
              </a:rPr>
              <a:t>Pₘ(x) = Pₘ · (1 + x / Aₘ)^(−b)</a:t>
            </a:r>
          </a:p>
        </p:txBody>
      </p:sp>
      <p:sp>
        <p:nvSpPr>
          <p:cNvPr id="10265" name="TextBox 10264"/>
          <p:cNvSpPr txBox="1"/>
          <p:nvPr/>
        </p:nvSpPr>
        <p:spPr>
          <a:xfrm>
            <a:off x="10332720" y="6309360"/>
            <a:ext cx="8869680" cy="1097280"/>
          </a:xfrm>
          <a:prstGeom prst="rect">
            <a:avLst/>
          </a:prstGeom>
          <a:noFill/>
        </p:spPr>
        <p:txBody>
          <a:bodyPr wrap="square" anchor="t" lIns="73152" rIns="73152" tIns="36576" bIns="36576">
            <a:spAutoFit/>
          </a:bodyPr>
          <a:lstStyle/>
          <a:p>
            <a:pPr algn="l"/>
            <a:r>
              <a:rPr sz="2100" b="0" i="0">
                <a:solidFill>
                  <a:srgbClr val="5F6B7A"/>
                </a:solidFill>
                <a:latin typeface="Calibri"/>
              </a:rPr>
              <a:t>Aₘ = median daily arrivals; b = 0.115 is an association (SE 0.023): a scenario</a:t>
            </a:r>
          </a:p>
        </p:txBody>
      </p:sp>
      <p:sp>
        <p:nvSpPr>
          <p:cNvPr id="10266" name="Rectangle 10265"/>
          <p:cNvSpPr/>
          <p:nvPr/>
        </p:nvSpPr>
        <p:spPr>
          <a:xfrm>
            <a:off x="10332720" y="7863840"/>
            <a:ext cx="8869680" cy="2286000"/>
          </a:xfrm>
          <a:prstGeom prst="rect">
            <a:avLst/>
          </a:prstGeom>
          <a:solidFill>
            <a:srgbClr val="DCE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36576" bIns="36576"/>
          <a:lstStyle/>
          <a:p>
            <a:pPr algn="l"/>
            <a:r>
              <a:rPr sz="2300" b="1" i="0">
                <a:solidFill>
                  <a:srgbClr val="1F2A44"/>
                </a:solidFill>
                <a:latin typeface="Calibri"/>
              </a:rPr>
              <a:t>None of these fits a model at request time. </a:t>
            </a:r>
            <a:r>
              <a:rPr sz="2300" b="0" i="0">
                <a:solidFill>
                  <a:srgbClr val="1F2A44"/>
                </a:solidFill>
                <a:latin typeface="Calibri"/>
              </a:rPr>
              <a:t>Each reads the served engine and the ingested panel, and every assumption is returned with the answer.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What You Will See: Five Features and a Digest</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9</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10251" name="Rectangle 10250"/>
          <p:cNvSpPr/>
          <p:nvPr/>
        </p:nvSpPr>
        <p:spPr>
          <a:xfrm>
            <a:off x="1005840" y="1737360"/>
            <a:ext cx="5897880" cy="5669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2400" b="1" i="0">
                <a:solidFill>
                  <a:srgbClr val="FFFFFF"/>
                </a:solidFill>
                <a:latin typeface="Calibri"/>
              </a:rPr>
              <a:t>1  Why this mandi?</a:t>
            </a:r>
          </a:p>
        </p:txBody>
      </p:sp>
      <p:sp>
        <p:nvSpPr>
          <p:cNvPr id="10252" name="Rectangle 10251"/>
          <p:cNvSpPr/>
          <p:nvPr/>
        </p:nvSpPr>
        <p:spPr>
          <a:xfrm>
            <a:off x="1005840" y="2304288"/>
            <a:ext cx="5897880" cy="354787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r>
              <a:rPr sz="2700" b="0" i="0">
                <a:solidFill>
                  <a:srgbClr val="1F2A44"/>
                </a:solidFill>
                <a:latin typeface="Calibri"/>
              </a:rPr>
              <a:t>Per-quintal arithmetic of the advice: price − fee − spoilage − transport − handling = net.</a:t>
            </a:r>
          </a:p>
          <a:p>
            <a:pPr algn="l"/>
            <a:r>
              <a:rPr sz="2700" b="0" i="0">
                <a:solidFill>
                  <a:srgbClr val="1F2A44"/>
                </a:solidFill>
                <a:latin typeface="Calibri"/>
              </a:rPr>
              <a:t>Farmer app · /breakdown</a:t>
            </a:r>
          </a:p>
        </p:txBody>
      </p:sp>
      <p:sp>
        <p:nvSpPr>
          <p:cNvPr id="10253" name="Rectangle 10252"/>
          <p:cNvSpPr/>
          <p:nvPr/>
        </p:nvSpPr>
        <p:spPr>
          <a:xfrm>
            <a:off x="7178040" y="1737360"/>
            <a:ext cx="5897880" cy="5669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2400" b="1" i="0">
                <a:solidFill>
                  <a:srgbClr val="FFFFFF"/>
                </a:solidFill>
                <a:latin typeface="Calibri"/>
              </a:rPr>
              <a:t>2  What if my costs differ?</a:t>
            </a:r>
          </a:p>
        </p:txBody>
      </p:sp>
      <p:sp>
        <p:nvSpPr>
          <p:cNvPr id="10254" name="Rectangle 10253"/>
          <p:cNvSpPr/>
          <p:nvPr/>
        </p:nvSpPr>
        <p:spPr>
          <a:xfrm>
            <a:off x="7178040" y="2304288"/>
            <a:ext cx="5897880" cy="354787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r>
              <a:rPr sz="2700" b="0" i="0">
                <a:solidFill>
                  <a:srgbClr val="1F2A44"/>
                </a:solidFill>
                <a:latin typeface="Calibri"/>
              </a:rPr>
              <a:t>Sliders for transport, spoilage and longest wait; the advice updates and says where it flips.</a:t>
            </a:r>
          </a:p>
          <a:p>
            <a:pPr algn="l"/>
            <a:r>
              <a:rPr sz="2700" b="0" i="0">
                <a:solidFill>
                  <a:srgbClr val="1F2A44"/>
                </a:solidFill>
                <a:latin typeface="Calibri"/>
              </a:rPr>
              <a:t>Farmer app · /simulate</a:t>
            </a:r>
          </a:p>
        </p:txBody>
      </p:sp>
      <p:sp>
        <p:nvSpPr>
          <p:cNvPr id="10255" name="Rectangle 10254"/>
          <p:cNvSpPr/>
          <p:nvPr/>
        </p:nvSpPr>
        <p:spPr>
          <a:xfrm>
            <a:off x="13350240" y="1737360"/>
            <a:ext cx="5897880" cy="5669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2400" b="1" i="0">
                <a:solidFill>
                  <a:srgbClr val="FFFFFF"/>
                </a:solidFill>
                <a:latin typeface="Calibri"/>
              </a:rPr>
              <a:t>3  Has this advice worked?</a:t>
            </a:r>
          </a:p>
        </p:txBody>
      </p:sp>
      <p:sp>
        <p:nvSpPr>
          <p:cNvPr id="10256" name="Rectangle 10255"/>
          <p:cNvSpPr/>
          <p:nvPr/>
        </p:nvSpPr>
        <p:spPr>
          <a:xfrm>
            <a:off x="13350240" y="2304288"/>
            <a:ext cx="5897880" cy="354787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r>
              <a:rPr sz="2700" b="0" i="0">
                <a:solidFill>
                  <a:srgbClr val="1F2A44"/>
                </a:solidFill>
                <a:latin typeface="Calibri"/>
              </a:rPr>
              <a:t>The advice replayed on 165 days it had not seen: wins, ties, losses; floor score.</a:t>
            </a:r>
          </a:p>
          <a:p>
            <a:pPr algn="l"/>
            <a:r>
              <a:rPr sz="2700" b="0" i="0">
                <a:solidFill>
                  <a:srgbClr val="1F2A44"/>
                </a:solidFill>
                <a:latin typeface="Calibri"/>
              </a:rPr>
              <a:t>Farmer app · /track-record</a:t>
            </a:r>
          </a:p>
        </p:txBody>
      </p:sp>
      <p:sp>
        <p:nvSpPr>
          <p:cNvPr id="10257" name="Rectangle 10256"/>
          <p:cNvSpPr/>
          <p:nvPr/>
        </p:nvSpPr>
        <p:spPr>
          <a:xfrm>
            <a:off x="1005840" y="6217920"/>
            <a:ext cx="5897880" cy="566928"/>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2400" b="1" i="0">
                <a:solidFill>
                  <a:srgbClr val="FFFFFF"/>
                </a:solidFill>
                <a:latin typeface="Calibri"/>
              </a:rPr>
              <a:t>4  Silence Tax</a:t>
            </a:r>
          </a:p>
        </p:txBody>
      </p:sp>
      <p:sp>
        <p:nvSpPr>
          <p:cNvPr id="10258" name="Rectangle 10257"/>
          <p:cNvSpPr/>
          <p:nvPr/>
        </p:nvSpPr>
        <p:spPr>
          <a:xfrm>
            <a:off x="1005840" y="6784848"/>
            <a:ext cx="5897880" cy="354787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r>
              <a:rPr sz="2700" b="0" i="0">
                <a:solidFill>
                  <a:srgbClr val="1F2A44"/>
                </a:solidFill>
                <a:latin typeface="Calibri"/>
              </a:rPr>
              <a:t>Rupees lost per quintal on a trip because a mandi reports no price; weekday strip.</a:t>
            </a:r>
          </a:p>
          <a:p>
            <a:pPr algn="l"/>
            <a:r>
              <a:rPr sz="2700" b="0" i="0">
                <a:solidFill>
                  <a:srgbClr val="1F2A44"/>
                </a:solidFill>
                <a:latin typeface="Calibri"/>
              </a:rPr>
              <a:t>Trader desk · /reporting-value</a:t>
            </a:r>
          </a:p>
        </p:txBody>
      </p:sp>
      <p:sp>
        <p:nvSpPr>
          <p:cNvPr id="10259" name="Rectangle 10258"/>
          <p:cNvSpPr/>
          <p:nvPr/>
        </p:nvSpPr>
        <p:spPr>
          <a:xfrm>
            <a:off x="7178040" y="6217920"/>
            <a:ext cx="5897880" cy="566928"/>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2400" b="1" i="0">
                <a:solidFill>
                  <a:srgbClr val="FFFFFF"/>
                </a:solidFill>
                <a:latin typeface="Calibri"/>
              </a:rPr>
              <a:t>5  Crowd Simulator</a:t>
            </a:r>
          </a:p>
        </p:txBody>
      </p:sp>
      <p:sp>
        <p:nvSpPr>
          <p:cNvPr id="10260" name="Rectangle 10259"/>
          <p:cNvSpPr/>
          <p:nvPr/>
        </p:nvSpPr>
        <p:spPr>
          <a:xfrm>
            <a:off x="7178040" y="6784848"/>
            <a:ext cx="5897880" cy="354787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r>
              <a:rPr sz="2700" b="0" i="0">
                <a:solidFill>
                  <a:srgbClr val="1F2A44"/>
                </a:solidFill>
                <a:latin typeface="Calibri"/>
              </a:rPr>
              <a:t>What happens to a mandi's price when 200 farmers follow the same advice; coordinated split.</a:t>
            </a:r>
          </a:p>
          <a:p>
            <a:pPr algn="l"/>
            <a:r>
              <a:rPr sz="2700" b="0" i="0">
                <a:solidFill>
                  <a:srgbClr val="1F2A44"/>
                </a:solidFill>
                <a:latin typeface="Calibri"/>
              </a:rPr>
              <a:t>Trader desk · /crowd</a:t>
            </a:r>
          </a:p>
        </p:txBody>
      </p:sp>
      <p:sp>
        <p:nvSpPr>
          <p:cNvPr id="10261" name="Rectangle 10260"/>
          <p:cNvSpPr/>
          <p:nvPr/>
        </p:nvSpPr>
        <p:spPr>
          <a:xfrm>
            <a:off x="13350240" y="6217920"/>
            <a:ext cx="5897880" cy="566928"/>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2400" b="1" i="0">
                <a:solidFill>
                  <a:srgbClr val="FFFFFF"/>
                </a:solidFill>
                <a:latin typeface="Calibri"/>
              </a:rPr>
              <a:t>6  Daily digest</a:t>
            </a:r>
          </a:p>
        </p:txBody>
      </p:sp>
      <p:sp>
        <p:nvSpPr>
          <p:cNvPr id="10262" name="Rectangle 10261"/>
          <p:cNvSpPr/>
          <p:nvPr/>
        </p:nvSpPr>
        <p:spPr>
          <a:xfrm>
            <a:off x="13350240" y="6784848"/>
            <a:ext cx="5897880" cy="354787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r>
              <a:rPr sz="2700" b="0" i="0">
                <a:solidFill>
                  <a:srgbClr val="1F2A44"/>
                </a:solidFill>
                <a:latin typeface="Calibri"/>
              </a:rPr>
              <a:t>A dated morning message with advice only where evidence is strong.</a:t>
            </a:r>
          </a:p>
          <a:p>
            <a:pPr algn="l"/>
            <a:r>
              <a:rPr sz="2700" b="0" i="0">
                <a:solidFill>
                  <a:srgbClr val="1F2A44"/>
                </a:solidFill>
                <a:latin typeface="Calibri"/>
              </a:rPr>
              <a:t>Telegram bot · /v1/notify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Live Demonstration (2/2): Trader Desk and Telegram</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9</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graphicFrame>
        <p:nvGraphicFramePr>
          <p:cNvPr id="10251" name="Table 10250"/>
          <p:cNvGraphicFramePr>
            <a:graphicFrameLocks noGrp="1"/>
          </p:cNvGraphicFramePr>
          <p:nvPr/>
        </p:nvGraphicFramePr>
        <p:xfrm>
          <a:off x="1005840" y="1737360"/>
          <a:ext cx="18105120" cy="7315200"/>
        </p:xfrm>
        <a:graphic>
          <a:graphicData uri="http://schemas.openxmlformats.org/drawingml/2006/table">
            <a:tbl>
              <a:tblPr firstRow="1" bandRow="1">
                <a:tableStyleId>{5C22544A-7EE6-4342-B048-85BDC9FD1C3A}</a:tableStyleId>
              </a:tblPr>
              <a:tblGrid>
                <a:gridCol w="822960"/>
                <a:gridCol w="7498080"/>
                <a:gridCol w="9784080"/>
              </a:tblGrid>
              <a:tr h="914400">
                <a:tc>
                  <a:txBody>
                    <a:bodyPr wrap="square"/>
                    <a:lstStyle/>
                    <a:p>
                      <a:pPr algn="ctr"/>
                      <a:r>
                        <a:rPr sz="2100" b="1">
                          <a:solidFill>
                            <a:srgbClr val="FFFFFF"/>
                          </a:solidFill>
                          <a:latin typeface="Calibri"/>
                        </a:rPr>
                        <a:t>Step</a:t>
                      </a:r>
                    </a:p>
                  </a:txBody>
                  <a:tcPr marL="73152" marR="73152" marT="27432" marB="27432" anchor="ctr">
                    <a:solidFill>
                      <a:srgbClr val="1F4E79"/>
                    </a:solidFill>
                  </a:tcPr>
                </a:tc>
                <a:tc>
                  <a:txBody>
                    <a:bodyPr wrap="square"/>
                    <a:lstStyle/>
                    <a:p>
                      <a:pPr algn="ctr"/>
                      <a:r>
                        <a:rPr sz="2100" b="1">
                          <a:solidFill>
                            <a:srgbClr val="FFFFFF"/>
                          </a:solidFill>
                          <a:latin typeface="Calibri"/>
                        </a:rPr>
                        <a:t>Do</a:t>
                      </a:r>
                    </a:p>
                  </a:txBody>
                  <a:tcPr marL="73152" marR="73152" marT="27432" marB="27432" anchor="ctr">
                    <a:solidFill>
                      <a:srgbClr val="1F4E79"/>
                    </a:solidFill>
                  </a:tcPr>
                </a:tc>
                <a:tc>
                  <a:txBody>
                    <a:bodyPr wrap="square"/>
                    <a:lstStyle/>
                    <a:p>
                      <a:pPr algn="ctr"/>
                      <a:r>
                        <a:rPr sz="2100" b="1">
                          <a:solidFill>
                            <a:srgbClr val="FFFFFF"/>
                          </a:solidFill>
                          <a:latin typeface="Calibri"/>
                        </a:rPr>
                        <a:t>You will see</a:t>
                      </a:r>
                    </a:p>
                  </a:txBody>
                  <a:tcPr marL="73152" marR="73152" marT="27432" marB="27432" anchor="ctr">
                    <a:solidFill>
                      <a:srgbClr val="1F4E79"/>
                    </a:solidFill>
                  </a:tcPr>
                </a:tc>
              </a:tr>
              <a:tr h="914400">
                <a:tc>
                  <a:txBody>
                    <a:bodyPr wrap="square"/>
                    <a:lstStyle/>
                    <a:p>
                      <a:pPr algn="l"/>
                      <a:r>
                        <a:rPr sz="2100" b="1">
                          <a:solidFill>
                            <a:srgbClr val="1F2A44"/>
                          </a:solidFill>
                          <a:latin typeface="Calibri"/>
                        </a:rPr>
                        <a:t>B1</a:t>
                      </a:r>
                    </a:p>
                  </a:txBody>
                  <a:tcPr marL="73152" marR="73152" marT="27432" marB="27432" anchor="ctr">
                    <a:solidFill>
                      <a:srgbClr val="FFFFFF"/>
                    </a:solidFill>
                  </a:tcPr>
                </a:tc>
                <a:tc>
                  <a:txBody>
                    <a:bodyPr wrap="square"/>
                    <a:lstStyle/>
                    <a:p>
                      <a:pPr algn="l"/>
                      <a:r>
                        <a:rPr sz="2100" b="0">
                          <a:solidFill>
                            <a:srgbClr val="1F2A44"/>
                          </a:solidFill>
                          <a:latin typeface="Calibri"/>
                        </a:rPr>
                        <a:t>Trader tools → Silence Tax (tomato)</a:t>
                      </a:r>
                    </a:p>
                  </a:txBody>
                  <a:tcPr marL="73152" marR="73152" marT="27432" marB="27432" anchor="ctr">
                    <a:solidFill>
                      <a:srgbClr val="FFFFFF"/>
                    </a:solidFill>
                  </a:tcPr>
                </a:tc>
                <a:tc>
                  <a:txBody>
                    <a:bodyPr wrap="square"/>
                    <a:lstStyle/>
                    <a:p>
                      <a:pPr algn="l"/>
                      <a:r>
                        <a:rPr sz="2100" b="0">
                          <a:solidFill>
                            <a:srgbClr val="1F2A44"/>
                          </a:solidFill>
                          <a:latin typeface="Calibri"/>
                        </a:rPr>
                        <a:t>Kanakapura ₹313 (16.5%); Chikkaballapur closed Thursdays; Kolar ₹0 ≠ reliable</a:t>
                      </a:r>
                    </a:p>
                  </a:txBody>
                  <a:tcPr marL="73152" marR="73152" marT="27432" marB="27432" anchor="ctr">
                    <a:solidFill>
                      <a:srgbClr val="FFFFFF"/>
                    </a:solidFill>
                  </a:tcPr>
                </a:tc>
              </a:tr>
              <a:tr h="914400">
                <a:tc>
                  <a:txBody>
                    <a:bodyPr wrap="square"/>
                    <a:lstStyle/>
                    <a:p>
                      <a:pPr algn="l"/>
                      <a:r>
                        <a:rPr sz="2100" b="1">
                          <a:solidFill>
                            <a:srgbClr val="1F2A44"/>
                          </a:solidFill>
                          <a:latin typeface="Calibri"/>
                        </a:rPr>
                        <a:t>B2</a:t>
                      </a:r>
                    </a:p>
                  </a:txBody>
                  <a:tcPr marL="73152" marR="73152" marT="27432" marB="27432" anchor="ctr">
                    <a:solidFill>
                      <a:srgbClr val="F1F7FB"/>
                    </a:solidFill>
                  </a:tcPr>
                </a:tc>
                <a:tc>
                  <a:txBody>
                    <a:bodyPr wrap="square"/>
                    <a:lstStyle/>
                    <a:p>
                      <a:pPr algn="l"/>
                      <a:r>
                        <a:rPr sz="2100" b="0">
                          <a:solidFill>
                            <a:srgbClr val="1F2A44"/>
                          </a:solidFill>
                          <a:latin typeface="Calibri"/>
                        </a:rPr>
                        <a:t>Crowd Simulator: 200 farmers × 10 q</a:t>
                      </a:r>
                    </a:p>
                  </a:txBody>
                  <a:tcPr marL="73152" marR="73152" marT="27432" marB="27432" anchor="ctr">
                    <a:solidFill>
                      <a:srgbClr val="F1F7FB"/>
                    </a:solidFill>
                  </a:tcPr>
                </a:tc>
                <a:tc>
                  <a:txBody>
                    <a:bodyPr wrap="square"/>
                    <a:lstStyle/>
                    <a:p>
                      <a:pPr algn="l"/>
                      <a:r>
                        <a:rPr sz="2100" b="0">
                          <a:solidFill>
                            <a:srgbClr val="1F2A44"/>
                          </a:solidFill>
                          <a:latin typeface="Calibri"/>
                        </a:rPr>
                        <a:t>Alone ₹1,824 · all follow best ₹1,194 (−32.5%) · nearest ₹1,207 · coordinated ₹1,436</a:t>
                      </a:r>
                    </a:p>
                  </a:txBody>
                  <a:tcPr marL="73152" marR="73152" marT="27432" marB="27432" anchor="ctr">
                    <a:solidFill>
                      <a:srgbClr val="F1F7FB"/>
                    </a:solidFill>
                  </a:tcPr>
                </a:tc>
              </a:tr>
              <a:tr h="914400">
                <a:tc>
                  <a:txBody>
                    <a:bodyPr wrap="square"/>
                    <a:lstStyle/>
                    <a:p>
                      <a:pPr algn="l"/>
                      <a:r>
                        <a:rPr sz="2100" b="1">
                          <a:solidFill>
                            <a:srgbClr val="1F2A44"/>
                          </a:solidFill>
                          <a:latin typeface="Calibri"/>
                        </a:rPr>
                        <a:t>B3</a:t>
                      </a:r>
                    </a:p>
                  </a:txBody>
                  <a:tcPr marL="73152" marR="73152" marT="27432" marB="27432" anchor="ctr">
                    <a:solidFill>
                      <a:srgbClr val="FFFFFF"/>
                    </a:solidFill>
                  </a:tcPr>
                </a:tc>
                <a:tc>
                  <a:txBody>
                    <a:bodyPr wrap="square"/>
                    <a:lstStyle/>
                    <a:p>
                      <a:pPr algn="l"/>
                      <a:r>
                        <a:rPr sz="2100" b="0">
                          <a:solidFill>
                            <a:srgbClr val="1F2A44"/>
                          </a:solidFill>
                          <a:latin typeface="Calibri"/>
                        </a:rPr>
                        <a:t>Drag farmers to 1; flexibility b to 0</a:t>
                      </a:r>
                    </a:p>
                  </a:txBody>
                  <a:tcPr marL="73152" marR="73152" marT="27432" marB="27432" anchor="ctr">
                    <a:solidFill>
                      <a:srgbClr val="FFFFFF"/>
                    </a:solidFill>
                  </a:tcPr>
                </a:tc>
                <a:tc>
                  <a:txBody>
                    <a:bodyPr wrap="square"/>
                    <a:lstStyle/>
                    <a:p>
                      <a:pPr algn="l"/>
                      <a:r>
                        <a:rPr sz="2100" b="0">
                          <a:solidFill>
                            <a:srgbClr val="1F2A44"/>
                          </a:solidFill>
                          <a:latin typeface="Calibri"/>
                        </a:rPr>
                        <a:t>All policies equal: the assumption is explicit</a:t>
                      </a:r>
                    </a:p>
                  </a:txBody>
                  <a:tcPr marL="73152" marR="73152" marT="27432" marB="27432" anchor="ctr">
                    <a:solidFill>
                      <a:srgbClr val="FFFFFF"/>
                    </a:solidFill>
                  </a:tcPr>
                </a:tc>
              </a:tr>
              <a:tr h="914400">
                <a:tc>
                  <a:txBody>
                    <a:bodyPr wrap="square"/>
                    <a:lstStyle/>
                    <a:p>
                      <a:pPr algn="l"/>
                      <a:r>
                        <a:rPr sz="2100" b="1">
                          <a:solidFill>
                            <a:srgbClr val="1F2A44"/>
                          </a:solidFill>
                          <a:latin typeface="Calibri"/>
                        </a:rPr>
                        <a:t>C1</a:t>
                      </a:r>
                    </a:p>
                  </a:txBody>
                  <a:tcPr marL="73152" marR="73152" marT="27432" marB="27432" anchor="ctr">
                    <a:solidFill>
                      <a:srgbClr val="F1F7FB"/>
                    </a:solidFill>
                  </a:tcPr>
                </a:tc>
                <a:tc>
                  <a:txBody>
                    <a:bodyPr wrap="square"/>
                    <a:lstStyle/>
                    <a:p>
                      <a:pPr algn="l"/>
                      <a:r>
                        <a:rPr sz="2100" b="0">
                          <a:solidFill>
                            <a:srgbClr val="1F2A44"/>
                          </a:solidFill>
                          <a:latin typeface="Calibri"/>
                        </a:rPr>
                        <a:t>Phone: @MandiAis_BOT → /today</a:t>
                      </a:r>
                    </a:p>
                  </a:txBody>
                  <a:tcPr marL="73152" marR="73152" marT="27432" marB="27432" anchor="ctr">
                    <a:solidFill>
                      <a:srgbClr val="F1F7FB"/>
                    </a:solidFill>
                  </a:tcPr>
                </a:tc>
                <a:tc>
                  <a:txBody>
                    <a:bodyPr wrap="square"/>
                    <a:lstStyle/>
                    <a:p>
                      <a:pPr algn="l"/>
                      <a:r>
                        <a:rPr sz="2100" b="0">
                          <a:solidFill>
                            <a:srgbClr val="1F2A44"/>
                          </a:solidFill>
                          <a:latin typeface="Calibri"/>
                        </a:rPr>
                        <a:t>Dated digest: Ramanagara, ₹1,824, floor ₹1,316; potato prices only</a:t>
                      </a:r>
                    </a:p>
                  </a:txBody>
                  <a:tcPr marL="73152" marR="73152" marT="27432" marB="27432" anchor="ctr">
                    <a:solidFill>
                      <a:srgbClr val="F1F7FB"/>
                    </a:solidFill>
                  </a:tcPr>
                </a:tc>
              </a:tr>
              <a:tr h="914400">
                <a:tc>
                  <a:txBody>
                    <a:bodyPr wrap="square"/>
                    <a:lstStyle/>
                    <a:p>
                      <a:pPr algn="l"/>
                      <a:r>
                        <a:rPr sz="2100" b="1">
                          <a:solidFill>
                            <a:srgbClr val="1F2A44"/>
                          </a:solidFill>
                          <a:latin typeface="Calibri"/>
                        </a:rPr>
                        <a:t>C2</a:t>
                      </a:r>
                    </a:p>
                  </a:txBody>
                  <a:tcPr marL="73152" marR="73152" marT="27432" marB="27432" anchor="ctr">
                    <a:solidFill>
                      <a:srgbClr val="FFFFFF"/>
                    </a:solidFill>
                  </a:tcPr>
                </a:tc>
                <a:tc>
                  <a:txBody>
                    <a:bodyPr wrap="square"/>
                    <a:lstStyle/>
                    <a:p>
                      <a:pPr algn="l"/>
                      <a:r>
                        <a:rPr sz="2100" b="0">
                          <a:solidFill>
                            <a:srgbClr val="1F2A44"/>
                          </a:solidFill>
                          <a:latin typeface="Calibri"/>
                        </a:rPr>
                        <a:t>Send “onion chintamani”</a:t>
                      </a:r>
                    </a:p>
                  </a:txBody>
                  <a:tcPr marL="73152" marR="73152" marT="27432" marB="27432" anchor="ctr">
                    <a:solidFill>
                      <a:srgbClr val="FFFFFF"/>
                    </a:solidFill>
                  </a:tcPr>
                </a:tc>
                <a:tc>
                  <a:txBody>
                    <a:bodyPr wrap="square"/>
                    <a:lstStyle/>
                    <a:p>
                      <a:pPr algn="l"/>
                      <a:r>
                        <a:rPr sz="2100" b="0">
                          <a:solidFill>
                            <a:srgbClr val="1F2A44"/>
                          </a:solidFill>
                          <a:latin typeface="Calibri"/>
                        </a:rPr>
                        <a:t>Digest for that crop and place</a:t>
                      </a:r>
                    </a:p>
                  </a:txBody>
                  <a:tcPr marL="73152" marR="73152" marT="27432" marB="27432" anchor="ctr">
                    <a:solidFill>
                      <a:srgbClr val="FFFFFF"/>
                    </a:solidFill>
                  </a:tcPr>
                </a:tc>
              </a:tr>
              <a:tr h="914400">
                <a:tc>
                  <a:txBody>
                    <a:bodyPr wrap="square"/>
                    <a:lstStyle/>
                    <a:p>
                      <a:pPr algn="l"/>
                      <a:r>
                        <a:rPr sz="2100" b="1">
                          <a:solidFill>
                            <a:srgbClr val="1F2A44"/>
                          </a:solidFill>
                          <a:latin typeface="Calibri"/>
                        </a:rPr>
                        <a:t>C3</a:t>
                      </a:r>
                    </a:p>
                  </a:txBody>
                  <a:tcPr marL="73152" marR="73152" marT="27432" marB="27432" anchor="ctr">
                    <a:solidFill>
                      <a:srgbClr val="F1F7FB"/>
                    </a:solidFill>
                  </a:tcPr>
                </a:tc>
                <a:tc>
                  <a:txBody>
                    <a:bodyPr wrap="square"/>
                    <a:lstStyle/>
                    <a:p>
                      <a:pPr algn="l"/>
                      <a:r>
                        <a:rPr sz="2100" b="0">
                          <a:solidFill>
                            <a:srgbClr val="1F2A44"/>
                          </a:solidFill>
                          <a:latin typeface="Calibri"/>
                        </a:rPr>
                        <a:t>Run send_daily_digest.py (the 7 am job)</a:t>
                      </a:r>
                    </a:p>
                  </a:txBody>
                  <a:tcPr marL="73152" marR="73152" marT="27432" marB="27432" anchor="ctr">
                    <a:solidFill>
                      <a:srgbClr val="F1F7FB"/>
                    </a:solidFill>
                  </a:tcPr>
                </a:tc>
                <a:tc>
                  <a:txBody>
                    <a:bodyPr wrap="square"/>
                    <a:lstStyle/>
                    <a:p>
                      <a:pPr algn="l"/>
                      <a:r>
                        <a:rPr sz="2100" b="0">
                          <a:solidFill>
                            <a:srgbClr val="1F2A44"/>
                          </a:solidFill>
                          <a:latin typeface="Calibri"/>
                        </a:rPr>
                        <a:t>Phone buzzes; log line shows sent</a:t>
                      </a:r>
                    </a:p>
                  </a:txBody>
                  <a:tcPr marL="73152" marR="73152" marT="27432" marB="27432" anchor="ctr">
                    <a:solidFill>
                      <a:srgbClr val="F1F7FB"/>
                    </a:solidFill>
                  </a:tcPr>
                </a:tc>
              </a:tr>
              <a:tr h="914400">
                <a:tc>
                  <a:txBody>
                    <a:bodyPr wrap="square"/>
                    <a:lstStyle/>
                    <a:p>
                      <a:pPr algn="l"/>
                      <a:r>
                        <a:rPr sz="2100" b="1">
                          <a:solidFill>
                            <a:srgbClr val="1F2A44"/>
                          </a:solidFill>
                          <a:latin typeface="Calibri"/>
                        </a:rPr>
                        <a:t>D1</a:t>
                      </a:r>
                    </a:p>
                  </a:txBody>
                  <a:tcPr marL="73152" marR="73152" marT="27432" marB="27432" anchor="ctr">
                    <a:solidFill>
                      <a:srgbClr val="FFFFFF"/>
                    </a:solidFill>
                  </a:tcPr>
                </a:tc>
                <a:tc>
                  <a:txBody>
                    <a:bodyPr wrap="square"/>
                    <a:lstStyle/>
                    <a:p>
                      <a:pPr algn="l"/>
                      <a:r>
                        <a:rPr sz="2100" b="0">
                          <a:solidFill>
                            <a:srgbClr val="1F2A44"/>
                          </a:solidFill>
                          <a:latin typeface="Calibri"/>
                        </a:rPr>
                        <a:t>Optional: API docs</a:t>
                      </a:r>
                    </a:p>
                  </a:txBody>
                  <a:tcPr marL="73152" marR="73152" marT="27432" marB="27432" anchor="ctr">
                    <a:solidFill>
                      <a:srgbClr val="FFFFFF"/>
                    </a:solidFill>
                  </a:tcPr>
                </a:tc>
                <a:tc>
                  <a:txBody>
                    <a:bodyPr wrap="square"/>
                    <a:lstStyle/>
                    <a:p>
                      <a:pPr algn="l"/>
                      <a:r>
                        <a:rPr sz="2100" b="0">
                          <a:solidFill>
                            <a:srgbClr val="1F2A44"/>
                          </a:solidFill>
                          <a:latin typeface="Calibri"/>
                        </a:rPr>
                        <a:t>Five insight endpoints + notify routes</a:t>
                      </a:r>
                    </a:p>
                  </a:txBody>
                  <a:tcPr marL="73152" marR="73152" marT="27432" marB="27432" anchor="ctr">
                    <a:solidFill>
                      <a:srgbClr val="FFFFFF"/>
                    </a:solidFill>
                  </a:tcPr>
                </a:tc>
              </a:tr>
            </a:tbl>
          </a:graphicData>
        </a:graphic>
      </p:graphicFrame>
      <p:sp>
        <p:nvSpPr>
          <p:cNvPr id="10252" name="TextBox 10251"/>
          <p:cNvSpPr txBox="1"/>
          <p:nvPr/>
        </p:nvSpPr>
        <p:spPr>
          <a:xfrm>
            <a:off x="1005840" y="9326880"/>
            <a:ext cx="18105120" cy="1005840"/>
          </a:xfrm>
          <a:prstGeom prst="rect">
            <a:avLst/>
          </a:prstGeom>
          <a:noFill/>
        </p:spPr>
        <p:txBody>
          <a:bodyPr wrap="square" anchor="t" lIns="73152" rIns="73152" tIns="36576" bIns="36576">
            <a:spAutoFit/>
          </a:bodyPr>
          <a:lstStyle/>
          <a:p>
            <a:pPr algn="l"/>
            <a:r>
              <a:rPr sz="2200" b="0" i="1">
                <a:solidFill>
                  <a:srgbClr val="5F6B7A"/>
                </a:solidFill>
                <a:latin typeface="Calibri"/>
              </a:rPr>
              <a:t>Fallback if the network is down: the digest builder runs offline (--dry-run); every screen also appears as a real screenshot on the results slides.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Explaining the Advice: Why This Mandi, What If</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9</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pic>
        <p:nvPicPr>
          <p:cNvPr id="10251" name="Picture 10250" descr="ins_farmer_why.png"/>
          <p:cNvPicPr>
            <a:picLocks noChangeAspect="1"/>
          </p:cNvPicPr>
          <p:nvPr/>
        </p:nvPicPr>
        <p:blipFill>
          <a:blip r:embed="rId3"/>
          <a:stretch>
            <a:fillRect/>
          </a:stretch>
        </p:blipFill>
        <p:spPr>
          <a:xfrm>
            <a:off x="1005840" y="1645920"/>
            <a:ext cx="6309360" cy="7384819"/>
          </a:xfrm>
          <a:prstGeom prst="rect">
            <a:avLst/>
          </a:prstGeom>
        </p:spPr>
      </p:pic>
      <p:pic>
        <p:nvPicPr>
          <p:cNvPr id="10252" name="Picture 10251" descr="ins_farmer_whatif.png"/>
          <p:cNvPicPr>
            <a:picLocks noChangeAspect="1"/>
          </p:cNvPicPr>
          <p:nvPr/>
        </p:nvPicPr>
        <p:blipFill>
          <a:blip r:embed="rId4"/>
          <a:stretch>
            <a:fillRect/>
          </a:stretch>
        </p:blipFill>
        <p:spPr>
          <a:xfrm>
            <a:off x="7589520" y="1645920"/>
            <a:ext cx="6309360" cy="7621420"/>
          </a:xfrm>
          <a:prstGeom prst="rect">
            <a:avLst/>
          </a:prstGeom>
        </p:spPr>
      </p:pic>
      <p:sp>
        <p:nvSpPr>
          <p:cNvPr id="10253" name="Rectangle 10252"/>
          <p:cNvSpPr/>
          <p:nvPr/>
        </p:nvSpPr>
        <p:spPr>
          <a:xfrm>
            <a:off x="14173200" y="1645920"/>
            <a:ext cx="4937760" cy="813816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36576" bIns="36576"/>
          <a:lstStyle/>
          <a:p>
            <a:pPr algn="l"/>
            <a:r>
              <a:rPr sz="2100" b="1" i="0">
                <a:solidFill>
                  <a:srgbClr val="1F2A44"/>
                </a:solidFill>
                <a:latin typeface="Calibri"/>
              </a:rPr>
              <a:t>Parts add up. </a:t>
            </a:r>
            <a:r>
              <a:rPr sz="2100" b="0" i="0">
                <a:solidFill>
                  <a:srgbClr val="1F2A44"/>
                </a:solidFill>
                <a:latin typeface="Calibri"/>
              </a:rPr>
              <a:t>₹2,081 − 83 − 60 − 94 − 20 = ₹1,824; nearest mandi keeps ₹1,232.</a:t>
            </a:r>
          </a:p>
          <a:p>
            <a:pPr algn="l"/>
            <a:r>
              <a:rPr sz="2100" b="1" i="0">
                <a:solidFill>
                  <a:srgbClr val="1F2A44"/>
                </a:solidFill>
                <a:latin typeface="Calibri"/>
              </a:rPr>
              <a:t>Why it wins. </a:t>
            </a:r>
            <a:r>
              <a:rPr sz="2100" b="0" i="0">
                <a:solidFill>
                  <a:srgbClr val="1F2A44"/>
                </a:solidFill>
                <a:latin typeface="Calibri"/>
              </a:rPr>
              <a:t>Expected price is ₹776 higher; extra transport ₹94 and spoilage ₹60 do not cancel it.</a:t>
            </a:r>
          </a:p>
          <a:p>
            <a:pPr algn="l"/>
            <a:r>
              <a:rPr sz="2100" b="1" i="0">
                <a:solidFill>
                  <a:srgbClr val="1F2A44"/>
                </a:solidFill>
                <a:latin typeface="Calibri"/>
              </a:rPr>
              <a:t>Robust to the truck. </a:t>
            </a:r>
            <a:r>
              <a:rPr sz="2100" b="0" i="0">
                <a:solidFill>
                  <a:srgbClr val="1F2A44"/>
                </a:solidFill>
                <a:latin typeface="Calibri"/>
              </a:rPr>
              <a:t>Transport up to ₹3.00 per q-km: same advice (net ₹1,515).</a:t>
            </a:r>
          </a:p>
          <a:p>
            <a:pPr algn="l"/>
            <a:r>
              <a:rPr sz="2100" b="1" i="0">
                <a:solidFill>
                  <a:srgbClr val="1F2A44"/>
                </a:solidFill>
                <a:latin typeface="Calibri"/>
              </a:rPr>
              <a:t>Sensitive to shelf life. </a:t>
            </a:r>
            <a:r>
              <a:rPr sz="2100" b="0" i="0">
                <a:solidFill>
                  <a:srgbClr val="1F2A44"/>
                </a:solidFill>
                <a:latin typeface="Calibri"/>
              </a:rPr>
              <a:t>At 5.0% spoilage a day, or no waiting: Ramanagara today, ₹1,789.</a:t>
            </a:r>
          </a:p>
          <a:p>
            <a:pPr algn="l"/>
            <a:r>
              <a:rPr sz="2100" b="1" i="0">
                <a:solidFill>
                  <a:srgbClr val="1F2A44"/>
                </a:solidFill>
                <a:latin typeface="Calibri"/>
              </a:rPr>
              <a:t>Floor is indicative </a:t>
            </a:r>
            <a:r>
              <a:rPr sz="2100" b="0" i="0">
                <a:solidFill>
                  <a:srgbClr val="1F2A44"/>
                </a:solidFill>
                <a:latin typeface="Calibri"/>
              </a:rPr>
              <a:t>when costs are far from the defaults; the screen says so.</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Public Track Record on Days the Advice Had Not Seen</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9</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graphicFrame>
        <p:nvGraphicFramePr>
          <p:cNvPr id="10251" name="Table 10250"/>
          <p:cNvGraphicFramePr>
            <a:graphicFrameLocks noGrp="1"/>
          </p:cNvGraphicFramePr>
          <p:nvPr/>
        </p:nvGraphicFramePr>
        <p:xfrm>
          <a:off x="1005840" y="1737360"/>
          <a:ext cx="8961118" cy="3657600"/>
        </p:xfrm>
        <a:graphic>
          <a:graphicData uri="http://schemas.openxmlformats.org/drawingml/2006/table">
            <a:tbl>
              <a:tblPr firstRow="1" bandRow="1">
                <a:tableStyleId>{5C22544A-7EE6-4342-B048-85BDC9FD1C3A}</a:tableStyleId>
              </a:tblPr>
              <a:tblGrid>
                <a:gridCol w="1357745"/>
                <a:gridCol w="2896523"/>
                <a:gridCol w="3258589"/>
                <a:gridCol w="1448261"/>
              </a:tblGrid>
              <a:tr h="731520">
                <a:tc>
                  <a:txBody>
                    <a:bodyPr wrap="square"/>
                    <a:lstStyle/>
                    <a:p>
                      <a:pPr algn="ctr"/>
                      <a:r>
                        <a:rPr sz="1700" b="1">
                          <a:solidFill>
                            <a:srgbClr val="FFFFFF"/>
                          </a:solidFill>
                          <a:latin typeface="Calibri"/>
                        </a:rPr>
                        <a:t>Crop</a:t>
                      </a:r>
                    </a:p>
                  </a:txBody>
                  <a:tcPr marL="73152" marR="73152" marT="27432" marB="27432" anchor="ctr">
                    <a:solidFill>
                      <a:srgbClr val="1F4E79"/>
                    </a:solidFill>
                  </a:tcPr>
                </a:tc>
                <a:tc>
                  <a:txBody>
                    <a:bodyPr wrap="square"/>
                    <a:lstStyle/>
                    <a:p>
                      <a:pPr algn="ctr"/>
                      <a:r>
                        <a:rPr sz="1700" b="1">
                          <a:solidFill>
                            <a:srgbClr val="FFFFFF"/>
                          </a:solidFill>
                          <a:latin typeface="Calibri"/>
                        </a:rPr>
                        <a:t>vs nearest: win / tie / loss</a:t>
                      </a:r>
                    </a:p>
                  </a:txBody>
                  <a:tcPr marL="73152" marR="73152" marT="27432" marB="27432" anchor="ctr">
                    <a:solidFill>
                      <a:srgbClr val="1F4E79"/>
                    </a:solidFill>
                  </a:tcPr>
                </a:tc>
                <a:tc>
                  <a:txBody>
                    <a:bodyPr wrap="square"/>
                    <a:lstStyle/>
                    <a:p>
                      <a:pPr algn="ctr"/>
                      <a:r>
                        <a:rPr sz="1700" b="1">
                          <a:solidFill>
                            <a:srgbClr val="FFFFFF"/>
                          </a:solidFill>
                          <a:latin typeface="Calibri"/>
                        </a:rPr>
                        <a:t>vs yesterday's best: win / tie / loss</a:t>
                      </a:r>
                    </a:p>
                  </a:txBody>
                  <a:tcPr marL="73152" marR="73152" marT="27432" marB="27432" anchor="ctr">
                    <a:solidFill>
                      <a:srgbClr val="1F4E79"/>
                    </a:solidFill>
                  </a:tcPr>
                </a:tc>
                <a:tc>
                  <a:txBody>
                    <a:bodyPr wrap="square"/>
                    <a:lstStyle/>
                    <a:p>
                      <a:pPr algn="ctr"/>
                      <a:r>
                        <a:rPr sz="1700" b="1">
                          <a:solidFill>
                            <a:srgbClr val="FFFFFF"/>
                          </a:solidFill>
                          <a:latin typeface="Calibri"/>
                        </a:rPr>
                        <a:t>Floor held</a:t>
                      </a:r>
                    </a:p>
                  </a:txBody>
                  <a:tcPr marL="73152" marR="73152" marT="27432" marB="27432" anchor="ctr">
                    <a:solidFill>
                      <a:srgbClr val="1F4E79"/>
                    </a:solidFill>
                  </a:tcPr>
                </a:tc>
              </a:tr>
              <a:tr h="731520">
                <a:tc>
                  <a:txBody>
                    <a:bodyPr wrap="square"/>
                    <a:lstStyle/>
                    <a:p>
                      <a:pPr algn="l"/>
                      <a:r>
                        <a:rPr sz="1800" b="0">
                          <a:solidFill>
                            <a:srgbClr val="1F2A44"/>
                          </a:solidFill>
                          <a:latin typeface="Calibri"/>
                        </a:rPr>
                        <a:t>Tomato</a:t>
                      </a:r>
                    </a:p>
                  </a:txBody>
                  <a:tcPr marL="73152" marR="73152" marT="27432" marB="27432" anchor="ctr">
                    <a:solidFill>
                      <a:srgbClr val="FFFFFF"/>
                    </a:solidFill>
                  </a:tcPr>
                </a:tc>
                <a:tc>
                  <a:txBody>
                    <a:bodyPr wrap="square"/>
                    <a:lstStyle/>
                    <a:p>
                      <a:pPr algn="ctr"/>
                      <a:r>
                        <a:rPr sz="1800" b="0">
                          <a:solidFill>
                            <a:srgbClr val="1F2A44"/>
                          </a:solidFill>
                          <a:latin typeface="Calibri"/>
                        </a:rPr>
                        <a:t>93 / 0 / 7 %</a:t>
                      </a:r>
                    </a:p>
                  </a:txBody>
                  <a:tcPr marL="73152" marR="73152" marT="27432" marB="27432" anchor="ctr">
                    <a:solidFill>
                      <a:srgbClr val="FFFFFF"/>
                    </a:solidFill>
                  </a:tcPr>
                </a:tc>
                <a:tc>
                  <a:txBody>
                    <a:bodyPr wrap="square"/>
                    <a:lstStyle/>
                    <a:p>
                      <a:pPr algn="ctr"/>
                      <a:r>
                        <a:rPr sz="1800" b="0">
                          <a:solidFill>
                            <a:srgbClr val="1F2A44"/>
                          </a:solidFill>
                          <a:latin typeface="Calibri"/>
                        </a:rPr>
                        <a:t>24 / 68 / 8 %</a:t>
                      </a:r>
                    </a:p>
                  </a:txBody>
                  <a:tcPr marL="73152" marR="73152" marT="27432" marB="27432" anchor="ctr">
                    <a:solidFill>
                      <a:srgbClr val="FFFFFF"/>
                    </a:solidFill>
                  </a:tcPr>
                </a:tc>
                <a:tc>
                  <a:txBody>
                    <a:bodyPr wrap="square"/>
                    <a:lstStyle/>
                    <a:p>
                      <a:pPr algn="ctr"/>
                      <a:r>
                        <a:rPr sz="1800" b="0">
                          <a:solidFill>
                            <a:srgbClr val="D9822B"/>
                          </a:solidFill>
                          <a:latin typeface="Calibri"/>
                        </a:rPr>
                        <a:t>84%</a:t>
                      </a:r>
                    </a:p>
                  </a:txBody>
                  <a:tcPr marL="73152" marR="73152" marT="27432" marB="27432" anchor="ctr">
                    <a:solidFill>
                      <a:srgbClr val="FFFFFF"/>
                    </a:solidFill>
                  </a:tcPr>
                </a:tc>
              </a:tr>
              <a:tr h="731520">
                <a:tc>
                  <a:txBody>
                    <a:bodyPr wrap="square"/>
                    <a:lstStyle/>
                    <a:p>
                      <a:pPr algn="l"/>
                      <a:r>
                        <a:rPr sz="1800" b="0">
                          <a:solidFill>
                            <a:srgbClr val="1F2A44"/>
                          </a:solidFill>
                          <a:latin typeface="Calibri"/>
                        </a:rPr>
                        <a:t>Onion</a:t>
                      </a:r>
                    </a:p>
                  </a:txBody>
                  <a:tcPr marL="73152" marR="73152" marT="27432" marB="27432" anchor="ctr">
                    <a:solidFill>
                      <a:srgbClr val="F1F7FB"/>
                    </a:solidFill>
                  </a:tcPr>
                </a:tc>
                <a:tc>
                  <a:txBody>
                    <a:bodyPr wrap="square"/>
                    <a:lstStyle/>
                    <a:p>
                      <a:pPr algn="ctr"/>
                      <a:r>
                        <a:rPr sz="1800" b="0">
                          <a:solidFill>
                            <a:srgbClr val="1F2A44"/>
                          </a:solidFill>
                          <a:latin typeface="Calibri"/>
                        </a:rPr>
                        <a:t>82 / 0 / 18 %</a:t>
                      </a:r>
                    </a:p>
                  </a:txBody>
                  <a:tcPr marL="73152" marR="73152" marT="27432" marB="27432" anchor="ctr">
                    <a:solidFill>
                      <a:srgbClr val="F1F7FB"/>
                    </a:solidFill>
                  </a:tcPr>
                </a:tc>
                <a:tc>
                  <a:txBody>
                    <a:bodyPr wrap="square"/>
                    <a:lstStyle/>
                    <a:p>
                      <a:pPr algn="ctr"/>
                      <a:r>
                        <a:rPr sz="1800" b="0">
                          <a:solidFill>
                            <a:srgbClr val="1F2A44"/>
                          </a:solidFill>
                          <a:latin typeface="Calibri"/>
                        </a:rPr>
                        <a:t>34 / 39 / 27 %</a:t>
                      </a:r>
                    </a:p>
                  </a:txBody>
                  <a:tcPr marL="73152" marR="73152" marT="27432" marB="27432" anchor="ctr">
                    <a:solidFill>
                      <a:srgbClr val="F1F7FB"/>
                    </a:solidFill>
                  </a:tcPr>
                </a:tc>
                <a:tc>
                  <a:txBody>
                    <a:bodyPr wrap="square"/>
                    <a:lstStyle/>
                    <a:p>
                      <a:pPr algn="ctr"/>
                      <a:r>
                        <a:rPr sz="1800" b="0">
                          <a:solidFill>
                            <a:srgbClr val="D9822B"/>
                          </a:solidFill>
                          <a:latin typeface="Calibri"/>
                        </a:rPr>
                        <a:t>89%</a:t>
                      </a:r>
                    </a:p>
                  </a:txBody>
                  <a:tcPr marL="73152" marR="73152" marT="27432" marB="27432" anchor="ctr">
                    <a:solidFill>
                      <a:srgbClr val="F1F7FB"/>
                    </a:solidFill>
                  </a:tcPr>
                </a:tc>
              </a:tr>
              <a:tr h="731520">
                <a:tc>
                  <a:txBody>
                    <a:bodyPr wrap="square"/>
                    <a:lstStyle/>
                    <a:p>
                      <a:pPr algn="l"/>
                      <a:r>
                        <a:rPr sz="1800" b="0">
                          <a:solidFill>
                            <a:srgbClr val="1F2A44"/>
                          </a:solidFill>
                          <a:latin typeface="Calibri"/>
                        </a:rPr>
                        <a:t>Potato</a:t>
                      </a:r>
                    </a:p>
                  </a:txBody>
                  <a:tcPr marL="73152" marR="73152" marT="27432" marB="27432" anchor="ctr">
                    <a:solidFill>
                      <a:srgbClr val="FFFFFF"/>
                    </a:solidFill>
                  </a:tcPr>
                </a:tc>
                <a:tc>
                  <a:txBody>
                    <a:bodyPr wrap="square"/>
                    <a:lstStyle/>
                    <a:p>
                      <a:pPr algn="ctr"/>
                      <a:r>
                        <a:rPr sz="1800" b="0">
                          <a:solidFill>
                            <a:srgbClr val="1F2A44"/>
                          </a:solidFill>
                          <a:latin typeface="Calibri"/>
                        </a:rPr>
                        <a:t>63 / 2 / 35 %</a:t>
                      </a:r>
                    </a:p>
                  </a:txBody>
                  <a:tcPr marL="73152" marR="73152" marT="27432" marB="27432" anchor="ctr">
                    <a:solidFill>
                      <a:srgbClr val="FFFFFF"/>
                    </a:solidFill>
                  </a:tcPr>
                </a:tc>
                <a:tc>
                  <a:txBody>
                    <a:bodyPr wrap="square"/>
                    <a:lstStyle/>
                    <a:p>
                      <a:pPr algn="ctr"/>
                      <a:r>
                        <a:rPr sz="1800" b="0">
                          <a:solidFill>
                            <a:srgbClr val="1F2A44"/>
                          </a:solidFill>
                          <a:latin typeface="Calibri"/>
                        </a:rPr>
                        <a:t>52 / 12 / 36 %</a:t>
                      </a:r>
                    </a:p>
                  </a:txBody>
                  <a:tcPr marL="73152" marR="73152" marT="27432" marB="27432" anchor="ctr">
                    <a:solidFill>
                      <a:srgbClr val="FFFFFF"/>
                    </a:solidFill>
                  </a:tcPr>
                </a:tc>
                <a:tc>
                  <a:txBody>
                    <a:bodyPr wrap="square"/>
                    <a:lstStyle/>
                    <a:p>
                      <a:pPr algn="ctr"/>
                      <a:r>
                        <a:rPr sz="1800" b="0">
                          <a:solidFill>
                            <a:srgbClr val="2E8B57"/>
                          </a:solidFill>
                          <a:latin typeface="Calibri"/>
                        </a:rPr>
                        <a:t>92%</a:t>
                      </a:r>
                    </a:p>
                  </a:txBody>
                  <a:tcPr marL="73152" marR="73152" marT="27432" marB="27432" anchor="ctr">
                    <a:solidFill>
                      <a:srgbClr val="FFFFFF"/>
                    </a:solidFill>
                  </a:tcPr>
                </a:tc>
              </a:tr>
              <a:tr h="731520">
                <a:tc>
                  <a:txBody>
                    <a:bodyPr wrap="square"/>
                    <a:lstStyle/>
                    <a:p>
                      <a:pPr algn="l"/>
                      <a:r>
                        <a:rPr sz="1800" b="0">
                          <a:solidFill>
                            <a:srgbClr val="1F2A44"/>
                          </a:solidFill>
                          <a:latin typeface="Calibri"/>
                        </a:rPr>
                        <a:t>Ginger</a:t>
                      </a:r>
                    </a:p>
                  </a:txBody>
                  <a:tcPr marL="73152" marR="73152" marT="27432" marB="27432" anchor="ctr">
                    <a:solidFill>
                      <a:srgbClr val="F1F7FB"/>
                    </a:solidFill>
                  </a:tcPr>
                </a:tc>
                <a:tc>
                  <a:txBody>
                    <a:bodyPr wrap="square"/>
                    <a:lstStyle/>
                    <a:p>
                      <a:pPr algn="ctr"/>
                      <a:r>
                        <a:rPr sz="1800" b="0">
                          <a:solidFill>
                            <a:srgbClr val="1F2A44"/>
                          </a:solidFill>
                          <a:latin typeface="Calibri"/>
                        </a:rPr>
                        <a:t>90 / 0 / 10 %</a:t>
                      </a:r>
                    </a:p>
                  </a:txBody>
                  <a:tcPr marL="73152" marR="73152" marT="27432" marB="27432" anchor="ctr">
                    <a:solidFill>
                      <a:srgbClr val="F1F7FB"/>
                    </a:solidFill>
                  </a:tcPr>
                </a:tc>
                <a:tc>
                  <a:txBody>
                    <a:bodyPr wrap="square"/>
                    <a:lstStyle/>
                    <a:p>
                      <a:pPr algn="ctr"/>
                      <a:r>
                        <a:rPr sz="1800" b="0">
                          <a:solidFill>
                            <a:srgbClr val="1F2A44"/>
                          </a:solidFill>
                          <a:latin typeface="Calibri"/>
                        </a:rPr>
                        <a:t>23 / 54 / 23 %</a:t>
                      </a:r>
                    </a:p>
                  </a:txBody>
                  <a:tcPr marL="73152" marR="73152" marT="27432" marB="27432" anchor="ctr">
                    <a:solidFill>
                      <a:srgbClr val="F1F7FB"/>
                    </a:solidFill>
                  </a:tcPr>
                </a:tc>
                <a:tc>
                  <a:txBody>
                    <a:bodyPr wrap="square"/>
                    <a:lstStyle/>
                    <a:p>
                      <a:pPr algn="ctr"/>
                      <a:r>
                        <a:rPr sz="1800" b="0">
                          <a:solidFill>
                            <a:srgbClr val="D9822B"/>
                          </a:solidFill>
                          <a:latin typeface="Calibri"/>
                        </a:rPr>
                        <a:t>86%</a:t>
                      </a:r>
                    </a:p>
                  </a:txBody>
                  <a:tcPr marL="73152" marR="73152" marT="27432" marB="27432" anchor="ctr">
                    <a:solidFill>
                      <a:srgbClr val="F1F7FB"/>
                    </a:solidFill>
                  </a:tcPr>
                </a:tc>
              </a:tr>
            </a:tbl>
          </a:graphicData>
        </a:graphic>
      </p:graphicFrame>
      <p:graphicFrame>
        <p:nvGraphicFramePr>
          <p:cNvPr id="10252" name="Chart 10251"/>
          <p:cNvGraphicFramePr>
            <a:graphicFrameLocks noGrp="1"/>
          </p:cNvGraphicFramePr>
          <p:nvPr/>
        </p:nvGraphicFramePr>
        <p:xfrm>
          <a:off x="10332720" y="1645920"/>
          <a:ext cx="8778240" cy="5486400"/>
        </p:xfrm>
        <a:graphic>
          <a:graphicData uri="http://schemas.openxmlformats.org/drawingml/2006/chart">
            <c:chart xmlns:c="http://schemas.openxmlformats.org/drawingml/2006/chart" r:id="rId3"/>
          </a:graphicData>
        </a:graphic>
      </p:graphicFrame>
      <p:sp>
        <p:nvSpPr>
          <p:cNvPr id="10253" name="Rectangle 10252"/>
          <p:cNvSpPr/>
          <p:nvPr/>
        </p:nvSpPr>
        <p:spPr>
          <a:xfrm>
            <a:off x="1005840" y="5760720"/>
            <a:ext cx="8961120" cy="2468880"/>
          </a:xfrm>
          <a:prstGeom prst="rect">
            <a:avLst/>
          </a:prstGeom>
          <a:solidFill>
            <a:srgbClr val="DCE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36576" bIns="36576"/>
          <a:lstStyle/>
          <a:p>
            <a:pPr algn="l"/>
            <a:r>
              <a:rPr sz="2100" b="1" i="0">
                <a:solidFill>
                  <a:srgbClr val="1F2A44"/>
                </a:solidFill>
                <a:latin typeface="Calibri"/>
              </a:rPr>
              <a:t>The honest part. </a:t>
            </a:r>
            <a:r>
              <a:rPr sz="2100" b="0" i="0">
                <a:solidFill>
                  <a:srgbClr val="1F2A44"/>
                </a:solidFill>
                <a:latin typeface="Calibri"/>
              </a:rPr>
              <a:t>The floor, set to hold 9 days in 10, held on 84 / 89 / 92 / 86% of replayed days.</a:t>
            </a:r>
          </a:p>
          <a:p>
            <a:pPr algn="l"/>
            <a:r>
              <a:rPr sz="2100" b="1" i="0">
                <a:solidFill>
                  <a:srgbClr val="1F2A44"/>
                </a:solidFill>
                <a:latin typeface="Calibri"/>
              </a:rPr>
              <a:t>Why lower than the back-test: </a:t>
            </a:r>
            <a:r>
              <a:rPr sz="2100" b="0" i="0">
                <a:solidFill>
                  <a:srgbClr val="1F2A44"/>
                </a:solidFill>
                <a:latin typeface="Calibri"/>
              </a:rPr>
              <a:t>one multiplier fitted on half the window is the strictest of three evaluations (served rule violated 9.6–12.3%).</a:t>
            </a:r>
          </a:p>
        </p:txBody>
      </p:sp>
      <p:sp>
        <p:nvSpPr>
          <p:cNvPr id="10254" name="TextBox 10253"/>
          <p:cNvSpPr txBox="1"/>
          <p:nvPr/>
        </p:nvSpPr>
        <p:spPr>
          <a:xfrm>
            <a:off x="1005840" y="8549640"/>
            <a:ext cx="18288000" cy="1463040"/>
          </a:xfrm>
          <a:prstGeom prst="rect">
            <a:avLst/>
          </a:prstGeom>
          <a:noFill/>
        </p:spPr>
        <p:txBody>
          <a:bodyPr wrap="square" anchor="t" lIns="73152" rIns="73152" tIns="36576" bIns="36576">
            <a:spAutoFit/>
          </a:bodyPr>
          <a:lstStyle/>
          <a:p>
            <a:pPr algn="l"/>
            <a:r>
              <a:rPr sz="2000" b="0" i="1">
                <a:solidFill>
                  <a:srgbClr val="5F6B7A"/>
                </a:solidFill>
                <a:latin typeface="Calibri"/>
              </a:rPr>
              <a:t>165 out-of-sample days, 12 May to 23 Oct 2026. A tie is a difference of at most ₹1: against yesterday's highest price the advice often picks the same action, so most days tie.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Silence Tax: What an Unreliable Mandi Costs a Trip</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9</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pic>
        <p:nvPicPr>
          <p:cNvPr id="10251" name="Picture 10250" descr="fig_silence.png"/>
          <p:cNvPicPr>
            <a:picLocks noChangeAspect="1"/>
          </p:cNvPicPr>
          <p:nvPr/>
        </p:nvPicPr>
        <p:blipFill>
          <a:blip r:embed="rId3"/>
          <a:stretch>
            <a:fillRect/>
          </a:stretch>
        </p:blipFill>
        <p:spPr>
          <a:xfrm>
            <a:off x="1005840" y="1645920"/>
            <a:ext cx="9326880" cy="4804756"/>
          </a:xfrm>
          <a:prstGeom prst="rect">
            <a:avLst/>
          </a:prstGeom>
        </p:spPr>
      </p:pic>
      <p:graphicFrame>
        <p:nvGraphicFramePr>
          <p:cNvPr id="10252" name="Table 10251"/>
          <p:cNvGraphicFramePr>
            <a:graphicFrameLocks noGrp="1"/>
          </p:cNvGraphicFramePr>
          <p:nvPr/>
        </p:nvGraphicFramePr>
        <p:xfrm>
          <a:off x="10607040" y="1645920"/>
          <a:ext cx="8503919" cy="5486400"/>
        </p:xfrm>
        <a:graphic>
          <a:graphicData uri="http://schemas.openxmlformats.org/drawingml/2006/table">
            <a:tbl>
              <a:tblPr firstRow="1" bandRow="1">
                <a:tableStyleId>{5C22544A-7EE6-4342-B048-85BDC9FD1C3A}</a:tableStyleId>
              </a:tblPr>
              <a:tblGrid>
                <a:gridCol w="1948815"/>
                <a:gridCol w="1328737"/>
                <a:gridCol w="1594485"/>
                <a:gridCol w="1505902"/>
                <a:gridCol w="2125980"/>
              </a:tblGrid>
              <a:tr h="685800">
                <a:tc>
                  <a:txBody>
                    <a:bodyPr wrap="square"/>
                    <a:lstStyle/>
                    <a:p>
                      <a:pPr algn="ctr"/>
                      <a:r>
                        <a:rPr sz="1600" b="1">
                          <a:solidFill>
                            <a:srgbClr val="FFFFFF"/>
                          </a:solidFill>
                          <a:latin typeface="Calibri"/>
                        </a:rPr>
                        <a:t>Mandi</a:t>
                      </a:r>
                    </a:p>
                  </a:txBody>
                  <a:tcPr marL="73152" marR="73152" marT="27432" marB="27432" anchor="ctr">
                    <a:solidFill>
                      <a:srgbClr val="1F4E79"/>
                    </a:solidFill>
                  </a:tcPr>
                </a:tc>
                <a:tc>
                  <a:txBody>
                    <a:bodyPr wrap="square"/>
                    <a:lstStyle/>
                    <a:p>
                      <a:pPr algn="ctr"/>
                      <a:r>
                        <a:rPr sz="1600" b="1">
                          <a:solidFill>
                            <a:srgbClr val="FFFFFF"/>
                          </a:solidFill>
                          <a:latin typeface="Calibri"/>
                        </a:rPr>
                        <a:t>Reported</a:t>
                      </a:r>
                    </a:p>
                  </a:txBody>
                  <a:tcPr marL="73152" marR="73152" marT="27432" marB="27432" anchor="ctr">
                    <a:solidFill>
                      <a:srgbClr val="1F4E79"/>
                    </a:solidFill>
                  </a:tcPr>
                </a:tc>
                <a:tc>
                  <a:txBody>
                    <a:bodyPr wrap="square"/>
                    <a:lstStyle/>
                    <a:p>
                      <a:pPr algn="ctr"/>
                      <a:r>
                        <a:rPr sz="1600" b="1">
                          <a:solidFill>
                            <a:srgbClr val="FFFFFF"/>
                          </a:solidFill>
                          <a:latin typeface="Calibri"/>
                        </a:rPr>
                        <a:t>Surprise silence</a:t>
                      </a:r>
                    </a:p>
                  </a:txBody>
                  <a:tcPr marL="73152" marR="73152" marT="27432" marB="27432" anchor="ctr">
                    <a:solidFill>
                      <a:srgbClr val="1F4E79"/>
                    </a:solidFill>
                  </a:tcPr>
                </a:tc>
                <a:tc>
                  <a:txBody>
                    <a:bodyPr wrap="square"/>
                    <a:lstStyle/>
                    <a:p>
                      <a:pPr algn="ctr"/>
                      <a:r>
                        <a:rPr sz="1600" b="1">
                          <a:solidFill>
                            <a:srgbClr val="FFFFFF"/>
                          </a:solidFill>
                          <a:latin typeface="Calibri"/>
                        </a:rPr>
                        <a:t>Known closed</a:t>
                      </a:r>
                    </a:p>
                  </a:txBody>
                  <a:tcPr marL="73152" marR="73152" marT="27432" marB="27432" anchor="ctr">
                    <a:solidFill>
                      <a:srgbClr val="1F4E79"/>
                    </a:solidFill>
                  </a:tcPr>
                </a:tc>
                <a:tc>
                  <a:txBody>
                    <a:bodyPr wrap="square"/>
                    <a:lstStyle/>
                    <a:p>
                      <a:pPr algn="ctr"/>
                      <a:r>
                        <a:rPr sz="1600" b="1">
                          <a:solidFill>
                            <a:srgbClr val="FFFFFF"/>
                          </a:solidFill>
                          <a:latin typeface="Calibri"/>
                        </a:rPr>
                        <a:t>Tax per quintal</a:t>
                      </a:r>
                    </a:p>
                  </a:txBody>
                  <a:tcPr marL="73152" marR="73152" marT="27432" marB="27432" anchor="ctr">
                    <a:solidFill>
                      <a:srgbClr val="1F4E79"/>
                    </a:solidFill>
                  </a:tcPr>
                </a:tc>
              </a:tr>
              <a:tr h="685800">
                <a:tc>
                  <a:txBody>
                    <a:bodyPr wrap="square"/>
                    <a:lstStyle/>
                    <a:p>
                      <a:pPr algn="l"/>
                      <a:r>
                        <a:rPr sz="1700" b="0">
                          <a:solidFill>
                            <a:srgbClr val="1F2A44"/>
                          </a:solidFill>
                          <a:latin typeface="Calibri"/>
                        </a:rPr>
                        <a:t>Kanakapura</a:t>
                      </a:r>
                    </a:p>
                  </a:txBody>
                  <a:tcPr marL="73152" marR="73152" marT="27432" marB="27432" anchor="ctr">
                    <a:solidFill>
                      <a:srgbClr val="FFFFFF"/>
                    </a:solidFill>
                  </a:tcPr>
                </a:tc>
                <a:tc>
                  <a:txBody>
                    <a:bodyPr wrap="square"/>
                    <a:lstStyle/>
                    <a:p>
                      <a:pPr algn="ctr"/>
                      <a:r>
                        <a:rPr sz="1700" b="0">
                          <a:solidFill>
                            <a:srgbClr val="1F2A44"/>
                          </a:solidFill>
                          <a:latin typeface="Calibri"/>
                        </a:rPr>
                        <a:t>44%</a:t>
                      </a:r>
                    </a:p>
                  </a:txBody>
                  <a:tcPr marL="73152" marR="73152" marT="27432" marB="27432" anchor="ctr">
                    <a:solidFill>
                      <a:srgbClr val="FFFFFF"/>
                    </a:solidFill>
                  </a:tcPr>
                </a:tc>
                <a:tc>
                  <a:txBody>
                    <a:bodyPr wrap="square"/>
                    <a:lstStyle/>
                    <a:p>
                      <a:pPr algn="ctr"/>
                      <a:r>
                        <a:rPr sz="1700" b="0">
                          <a:solidFill>
                            <a:srgbClr val="1F2A44"/>
                          </a:solidFill>
                          <a:latin typeface="Calibri"/>
                        </a:rPr>
                        <a:t>49%</a:t>
                      </a:r>
                    </a:p>
                  </a:txBody>
                  <a:tcPr marL="73152" marR="73152" marT="27432" marB="27432" anchor="ctr">
                    <a:solidFill>
                      <a:srgbClr val="FFFFFF"/>
                    </a:solidFill>
                  </a:tcPr>
                </a:tc>
                <a:tc>
                  <a:txBody>
                    <a:bodyPr wrap="square"/>
                    <a:lstStyle/>
                    <a:p>
                      <a:pPr algn="ctr"/>
                      <a:r>
                        <a:rPr sz="1700" b="0">
                          <a:solidFill>
                            <a:srgbClr val="1F2A44"/>
                          </a:solidFill>
                          <a:latin typeface="Calibri"/>
                        </a:rPr>
                        <a:t>Sunday</a:t>
                      </a:r>
                    </a:p>
                  </a:txBody>
                  <a:tcPr marL="73152" marR="73152" marT="27432" marB="27432" anchor="ctr">
                    <a:solidFill>
                      <a:srgbClr val="FFFFFF"/>
                    </a:solidFill>
                  </a:tcPr>
                </a:tc>
                <a:tc>
                  <a:txBody>
                    <a:bodyPr wrap="square"/>
                    <a:lstStyle/>
                    <a:p>
                      <a:pPr algn="ctr"/>
                      <a:r>
                        <a:rPr sz="1700" b="0">
                          <a:solidFill>
                            <a:srgbClr val="1F2A44"/>
                          </a:solidFill>
                          <a:latin typeface="Calibri"/>
                        </a:rPr>
                        <a:t>₹313 (16.5%)</a:t>
                      </a:r>
                    </a:p>
                  </a:txBody>
                  <a:tcPr marL="73152" marR="73152" marT="27432" marB="27432" anchor="ctr">
                    <a:solidFill>
                      <a:srgbClr val="FFFFFF"/>
                    </a:solidFill>
                  </a:tcPr>
                </a:tc>
              </a:tr>
              <a:tr h="685800">
                <a:tc>
                  <a:txBody>
                    <a:bodyPr wrap="square"/>
                    <a:lstStyle/>
                    <a:p>
                      <a:pPr algn="l"/>
                      <a:r>
                        <a:rPr sz="1700" b="0">
                          <a:solidFill>
                            <a:srgbClr val="1F2A44"/>
                          </a:solidFill>
                          <a:latin typeface="Calibri"/>
                        </a:rPr>
                        <a:t>Binny Mill</a:t>
                      </a:r>
                    </a:p>
                  </a:txBody>
                  <a:tcPr marL="73152" marR="73152" marT="27432" marB="27432" anchor="ctr">
                    <a:solidFill>
                      <a:srgbClr val="F1F7FB"/>
                    </a:solidFill>
                  </a:tcPr>
                </a:tc>
                <a:tc>
                  <a:txBody>
                    <a:bodyPr wrap="square"/>
                    <a:lstStyle/>
                    <a:p>
                      <a:pPr algn="ctr"/>
                      <a:r>
                        <a:rPr sz="1700" b="0">
                          <a:solidFill>
                            <a:srgbClr val="1F2A44"/>
                          </a:solidFill>
                          <a:latin typeface="Calibri"/>
                        </a:rPr>
                        <a:t>67%</a:t>
                      </a:r>
                    </a:p>
                  </a:txBody>
                  <a:tcPr marL="73152" marR="73152" marT="27432" marB="27432" anchor="ctr">
                    <a:solidFill>
                      <a:srgbClr val="F1F7FB"/>
                    </a:solidFill>
                  </a:tcPr>
                </a:tc>
                <a:tc>
                  <a:txBody>
                    <a:bodyPr wrap="square"/>
                    <a:lstStyle/>
                    <a:p>
                      <a:pPr algn="ctr"/>
                      <a:r>
                        <a:rPr sz="1700" b="0">
                          <a:solidFill>
                            <a:srgbClr val="1F2A44"/>
                          </a:solidFill>
                          <a:latin typeface="Calibri"/>
                        </a:rPr>
                        <a:t>22%</a:t>
                      </a:r>
                    </a:p>
                  </a:txBody>
                  <a:tcPr marL="73152" marR="73152" marT="27432" marB="27432" anchor="ctr">
                    <a:solidFill>
                      <a:srgbClr val="F1F7FB"/>
                    </a:solidFill>
                  </a:tcPr>
                </a:tc>
                <a:tc>
                  <a:txBody>
                    <a:bodyPr wrap="square"/>
                    <a:lstStyle/>
                    <a:p>
                      <a:pPr algn="ctr"/>
                      <a:r>
                        <a:rPr sz="1700" b="0">
                          <a:solidFill>
                            <a:srgbClr val="1F2A44"/>
                          </a:solidFill>
                          <a:latin typeface="Calibri"/>
                        </a:rPr>
                        <a:t>Sunday</a:t>
                      </a:r>
                    </a:p>
                  </a:txBody>
                  <a:tcPr marL="73152" marR="73152" marT="27432" marB="27432" anchor="ctr">
                    <a:solidFill>
                      <a:srgbClr val="F1F7FB"/>
                    </a:solidFill>
                  </a:tcPr>
                </a:tc>
                <a:tc>
                  <a:txBody>
                    <a:bodyPr wrap="square"/>
                    <a:lstStyle/>
                    <a:p>
                      <a:pPr algn="ctr"/>
                      <a:r>
                        <a:rPr sz="1700" b="0">
                          <a:solidFill>
                            <a:srgbClr val="1F2A44"/>
                          </a:solidFill>
                          <a:latin typeface="Calibri"/>
                        </a:rPr>
                        <a:t>₹206 (8.5%)</a:t>
                      </a:r>
                    </a:p>
                  </a:txBody>
                  <a:tcPr marL="73152" marR="73152" marT="27432" marB="27432" anchor="ctr">
                    <a:solidFill>
                      <a:srgbClr val="F1F7FB"/>
                    </a:solidFill>
                  </a:tcPr>
                </a:tc>
              </a:tr>
              <a:tr h="685800">
                <a:tc>
                  <a:txBody>
                    <a:bodyPr wrap="square"/>
                    <a:lstStyle/>
                    <a:p>
                      <a:pPr algn="l"/>
                      <a:r>
                        <a:rPr sz="1700" b="0">
                          <a:solidFill>
                            <a:srgbClr val="1F2A44"/>
                          </a:solidFill>
                          <a:latin typeface="Calibri"/>
                        </a:rPr>
                        <a:t>Doddaballapur</a:t>
                      </a:r>
                    </a:p>
                  </a:txBody>
                  <a:tcPr marL="73152" marR="73152" marT="27432" marB="27432" anchor="ctr">
                    <a:solidFill>
                      <a:srgbClr val="FFFFFF"/>
                    </a:solidFill>
                  </a:tcPr>
                </a:tc>
                <a:tc>
                  <a:txBody>
                    <a:bodyPr wrap="square"/>
                    <a:lstStyle/>
                    <a:p>
                      <a:pPr algn="ctr"/>
                      <a:r>
                        <a:rPr sz="1700" b="0">
                          <a:solidFill>
                            <a:srgbClr val="1F2A44"/>
                          </a:solidFill>
                          <a:latin typeface="Calibri"/>
                        </a:rPr>
                        <a:t>56%</a:t>
                      </a:r>
                    </a:p>
                  </a:txBody>
                  <a:tcPr marL="73152" marR="73152" marT="27432" marB="27432" anchor="ctr">
                    <a:solidFill>
                      <a:srgbClr val="FFFFFF"/>
                    </a:solidFill>
                  </a:tcPr>
                </a:tc>
                <a:tc>
                  <a:txBody>
                    <a:bodyPr wrap="square"/>
                    <a:lstStyle/>
                    <a:p>
                      <a:pPr algn="ctr"/>
                      <a:r>
                        <a:rPr sz="1700" b="0">
                          <a:solidFill>
                            <a:srgbClr val="1F2A44"/>
                          </a:solidFill>
                          <a:latin typeface="Calibri"/>
                        </a:rPr>
                        <a:t>34%</a:t>
                      </a:r>
                    </a:p>
                  </a:txBody>
                  <a:tcPr marL="73152" marR="73152" marT="27432" marB="27432" anchor="ctr">
                    <a:solidFill>
                      <a:srgbClr val="FFFFFF"/>
                    </a:solidFill>
                  </a:tcPr>
                </a:tc>
                <a:tc>
                  <a:txBody>
                    <a:bodyPr wrap="square"/>
                    <a:lstStyle/>
                    <a:p>
                      <a:pPr algn="ctr"/>
                      <a:r>
                        <a:rPr sz="1700" b="0">
                          <a:solidFill>
                            <a:srgbClr val="1F2A44"/>
                          </a:solidFill>
                          <a:latin typeface="Calibri"/>
                        </a:rPr>
                        <a:t>Sunday</a:t>
                      </a:r>
                    </a:p>
                  </a:txBody>
                  <a:tcPr marL="73152" marR="73152" marT="27432" marB="27432" anchor="ctr">
                    <a:solidFill>
                      <a:srgbClr val="FFFFFF"/>
                    </a:solidFill>
                  </a:tcPr>
                </a:tc>
                <a:tc>
                  <a:txBody>
                    <a:bodyPr wrap="square"/>
                    <a:lstStyle/>
                    <a:p>
                      <a:pPr algn="ctr"/>
                      <a:r>
                        <a:rPr sz="1700" b="0">
                          <a:solidFill>
                            <a:srgbClr val="1F2A44"/>
                          </a:solidFill>
                          <a:latin typeface="Calibri"/>
                        </a:rPr>
                        <a:t>₹135 (7.2%)</a:t>
                      </a:r>
                    </a:p>
                  </a:txBody>
                  <a:tcPr marL="73152" marR="73152" marT="27432" marB="27432" anchor="ctr">
                    <a:solidFill>
                      <a:srgbClr val="FFFFFF"/>
                    </a:solidFill>
                  </a:tcPr>
                </a:tc>
              </a:tr>
              <a:tr h="685800">
                <a:tc>
                  <a:txBody>
                    <a:bodyPr wrap="square"/>
                    <a:lstStyle/>
                    <a:p>
                      <a:pPr algn="l"/>
                      <a:r>
                        <a:rPr sz="1700" b="0">
                          <a:solidFill>
                            <a:srgbClr val="1F2A44"/>
                          </a:solidFill>
                          <a:latin typeface="Calibri"/>
                        </a:rPr>
                        <a:t>Gauribidanur</a:t>
                      </a:r>
                    </a:p>
                  </a:txBody>
                  <a:tcPr marL="73152" marR="73152" marT="27432" marB="27432" anchor="ctr">
                    <a:solidFill>
                      <a:srgbClr val="F1F7FB"/>
                    </a:solidFill>
                  </a:tcPr>
                </a:tc>
                <a:tc>
                  <a:txBody>
                    <a:bodyPr wrap="square"/>
                    <a:lstStyle/>
                    <a:p>
                      <a:pPr algn="ctr"/>
                      <a:r>
                        <a:rPr sz="1700" b="0">
                          <a:solidFill>
                            <a:srgbClr val="1F2A44"/>
                          </a:solidFill>
                          <a:latin typeface="Calibri"/>
                        </a:rPr>
                        <a:t>70%</a:t>
                      </a:r>
                    </a:p>
                  </a:txBody>
                  <a:tcPr marL="73152" marR="73152" marT="27432" marB="27432" anchor="ctr">
                    <a:solidFill>
                      <a:srgbClr val="F1F7FB"/>
                    </a:solidFill>
                  </a:tcPr>
                </a:tc>
                <a:tc>
                  <a:txBody>
                    <a:bodyPr wrap="square"/>
                    <a:lstStyle/>
                    <a:p>
                      <a:pPr algn="ctr"/>
                      <a:r>
                        <a:rPr sz="1700" b="0">
                          <a:solidFill>
                            <a:srgbClr val="1F2A44"/>
                          </a:solidFill>
                          <a:latin typeface="Calibri"/>
                        </a:rPr>
                        <a:t>19%</a:t>
                      </a:r>
                    </a:p>
                  </a:txBody>
                  <a:tcPr marL="73152" marR="73152" marT="27432" marB="27432" anchor="ctr">
                    <a:solidFill>
                      <a:srgbClr val="F1F7FB"/>
                    </a:solidFill>
                  </a:tcPr>
                </a:tc>
                <a:tc>
                  <a:txBody>
                    <a:bodyPr wrap="square"/>
                    <a:lstStyle/>
                    <a:p>
                      <a:pPr algn="ctr"/>
                      <a:r>
                        <a:rPr sz="1700" b="0">
                          <a:solidFill>
                            <a:srgbClr val="1F2A44"/>
                          </a:solidFill>
                          <a:latin typeface="Calibri"/>
                        </a:rPr>
                        <a:t>Tuesday</a:t>
                      </a:r>
                    </a:p>
                  </a:txBody>
                  <a:tcPr marL="73152" marR="73152" marT="27432" marB="27432" anchor="ctr">
                    <a:solidFill>
                      <a:srgbClr val="F1F7FB"/>
                    </a:solidFill>
                  </a:tcPr>
                </a:tc>
                <a:tc>
                  <a:txBody>
                    <a:bodyPr wrap="square"/>
                    <a:lstStyle/>
                    <a:p>
                      <a:pPr algn="ctr"/>
                      <a:r>
                        <a:rPr sz="1700" b="0">
                          <a:solidFill>
                            <a:srgbClr val="1F2A44"/>
                          </a:solidFill>
                          <a:latin typeface="Calibri"/>
                        </a:rPr>
                        <a:t>₹121 (6.0%)</a:t>
                      </a:r>
                    </a:p>
                  </a:txBody>
                  <a:tcPr marL="73152" marR="73152" marT="27432" marB="27432" anchor="ctr">
                    <a:solidFill>
                      <a:srgbClr val="F1F7FB"/>
                    </a:solidFill>
                  </a:tcPr>
                </a:tc>
              </a:tr>
              <a:tr h="685800">
                <a:tc>
                  <a:txBody>
                    <a:bodyPr wrap="square"/>
                    <a:lstStyle/>
                    <a:p>
                      <a:pPr algn="l"/>
                      <a:r>
                        <a:rPr sz="1700" b="0">
                          <a:solidFill>
                            <a:srgbClr val="1F2A44"/>
                          </a:solidFill>
                          <a:latin typeface="Calibri"/>
                        </a:rPr>
                        <a:t>Channapatna</a:t>
                      </a:r>
                    </a:p>
                  </a:txBody>
                  <a:tcPr marL="73152" marR="73152" marT="27432" marB="27432" anchor="ctr">
                    <a:solidFill>
                      <a:srgbClr val="FFFFFF"/>
                    </a:solidFill>
                  </a:tcPr>
                </a:tc>
                <a:tc>
                  <a:txBody>
                    <a:bodyPr wrap="square"/>
                    <a:lstStyle/>
                    <a:p>
                      <a:pPr algn="ctr"/>
                      <a:r>
                        <a:rPr sz="1700" b="0">
                          <a:solidFill>
                            <a:srgbClr val="1F2A44"/>
                          </a:solidFill>
                          <a:latin typeface="Calibri"/>
                        </a:rPr>
                        <a:t>67%</a:t>
                      </a:r>
                    </a:p>
                  </a:txBody>
                  <a:tcPr marL="73152" marR="73152" marT="27432" marB="27432" anchor="ctr">
                    <a:solidFill>
                      <a:srgbClr val="FFFFFF"/>
                    </a:solidFill>
                  </a:tcPr>
                </a:tc>
                <a:tc>
                  <a:txBody>
                    <a:bodyPr wrap="square"/>
                    <a:lstStyle/>
                    <a:p>
                      <a:pPr algn="ctr"/>
                      <a:r>
                        <a:rPr sz="1700" b="0">
                          <a:solidFill>
                            <a:srgbClr val="1F2A44"/>
                          </a:solidFill>
                          <a:latin typeface="Calibri"/>
                        </a:rPr>
                        <a:t>22%</a:t>
                      </a:r>
                    </a:p>
                  </a:txBody>
                  <a:tcPr marL="73152" marR="73152" marT="27432" marB="27432" anchor="ctr">
                    <a:solidFill>
                      <a:srgbClr val="FFFFFF"/>
                    </a:solidFill>
                  </a:tcPr>
                </a:tc>
                <a:tc>
                  <a:txBody>
                    <a:bodyPr wrap="square"/>
                    <a:lstStyle/>
                    <a:p>
                      <a:pPr algn="ctr"/>
                      <a:r>
                        <a:rPr sz="1700" b="0">
                          <a:solidFill>
                            <a:srgbClr val="1F2A44"/>
                          </a:solidFill>
                          <a:latin typeface="Calibri"/>
                        </a:rPr>
                        <a:t>Sunday</a:t>
                      </a:r>
                    </a:p>
                  </a:txBody>
                  <a:tcPr marL="73152" marR="73152" marT="27432" marB="27432" anchor="ctr">
                    <a:solidFill>
                      <a:srgbClr val="FFFFFF"/>
                    </a:solidFill>
                  </a:tcPr>
                </a:tc>
                <a:tc>
                  <a:txBody>
                    <a:bodyPr wrap="square"/>
                    <a:lstStyle/>
                    <a:p>
                      <a:pPr algn="ctr"/>
                      <a:r>
                        <a:rPr sz="1700" b="0">
                          <a:solidFill>
                            <a:srgbClr val="1F2A44"/>
                          </a:solidFill>
                          <a:latin typeface="Calibri"/>
                        </a:rPr>
                        <a:t>₹120 (6.3%)</a:t>
                      </a:r>
                    </a:p>
                  </a:txBody>
                  <a:tcPr marL="73152" marR="73152" marT="27432" marB="27432" anchor="ctr">
                    <a:solidFill>
                      <a:srgbClr val="FFFFFF"/>
                    </a:solidFill>
                  </a:tcPr>
                </a:tc>
              </a:tr>
              <a:tr h="685800">
                <a:tc>
                  <a:txBody>
                    <a:bodyPr wrap="square"/>
                    <a:lstStyle/>
                    <a:p>
                      <a:pPr algn="l"/>
                      <a:r>
                        <a:rPr sz="1700" b="0">
                          <a:solidFill>
                            <a:srgbClr val="1F2A44"/>
                          </a:solidFill>
                          <a:latin typeface="Calibri"/>
                        </a:rPr>
                        <a:t>Bagepalli</a:t>
                      </a:r>
                    </a:p>
                  </a:txBody>
                  <a:tcPr marL="73152" marR="73152" marT="27432" marB="27432" anchor="ctr">
                    <a:solidFill>
                      <a:srgbClr val="F1F7FB"/>
                    </a:solidFill>
                  </a:tcPr>
                </a:tc>
                <a:tc>
                  <a:txBody>
                    <a:bodyPr wrap="square"/>
                    <a:lstStyle/>
                    <a:p>
                      <a:pPr algn="ctr"/>
                      <a:r>
                        <a:rPr sz="1700" b="0">
                          <a:solidFill>
                            <a:srgbClr val="1F2A44"/>
                          </a:solidFill>
                          <a:latin typeface="Calibri"/>
                        </a:rPr>
                        <a:t>79%</a:t>
                      </a:r>
                    </a:p>
                  </a:txBody>
                  <a:tcPr marL="73152" marR="73152" marT="27432" marB="27432" anchor="ctr">
                    <a:solidFill>
                      <a:srgbClr val="F1F7FB"/>
                    </a:solidFill>
                  </a:tcPr>
                </a:tc>
                <a:tc>
                  <a:txBody>
                    <a:bodyPr wrap="square"/>
                    <a:lstStyle/>
                    <a:p>
                      <a:pPr algn="ctr"/>
                      <a:r>
                        <a:rPr sz="1700" b="0">
                          <a:solidFill>
                            <a:srgbClr val="1F2A44"/>
                          </a:solidFill>
                          <a:latin typeface="Calibri"/>
                        </a:rPr>
                        <a:t>21%</a:t>
                      </a:r>
                    </a:p>
                  </a:txBody>
                  <a:tcPr marL="73152" marR="73152" marT="27432" marB="27432" anchor="ctr">
                    <a:solidFill>
                      <a:srgbClr val="F1F7FB"/>
                    </a:solidFill>
                  </a:tcPr>
                </a:tc>
                <a:tc>
                  <a:txBody>
                    <a:bodyPr wrap="square"/>
                    <a:lstStyle/>
                    <a:p>
                      <a:pPr algn="ctr"/>
                      <a:r>
                        <a:rPr sz="1700" b="0">
                          <a:solidFill>
                            <a:srgbClr val="1F2A44"/>
                          </a:solidFill>
                          <a:latin typeface="Calibri"/>
                        </a:rPr>
                        <a:t>—</a:t>
                      </a:r>
                    </a:p>
                  </a:txBody>
                  <a:tcPr marL="73152" marR="73152" marT="27432" marB="27432" anchor="ctr">
                    <a:solidFill>
                      <a:srgbClr val="F1F7FB"/>
                    </a:solidFill>
                  </a:tcPr>
                </a:tc>
                <a:tc>
                  <a:txBody>
                    <a:bodyPr wrap="square"/>
                    <a:lstStyle/>
                    <a:p>
                      <a:pPr algn="ctr"/>
                      <a:r>
                        <a:rPr sz="1700" b="0">
                          <a:solidFill>
                            <a:srgbClr val="1F2A44"/>
                          </a:solidFill>
                          <a:latin typeface="Calibri"/>
                        </a:rPr>
                        <a:t>₹69 (4.0%)</a:t>
                      </a:r>
                    </a:p>
                  </a:txBody>
                  <a:tcPr marL="73152" marR="73152" marT="27432" marB="27432" anchor="ctr">
                    <a:solidFill>
                      <a:srgbClr val="F1F7FB"/>
                    </a:solidFill>
                  </a:tcPr>
                </a:tc>
              </a:tr>
              <a:tr h="685800">
                <a:tc>
                  <a:txBody>
                    <a:bodyPr wrap="square"/>
                    <a:lstStyle/>
                    <a:p>
                      <a:pPr algn="l"/>
                      <a:r>
                        <a:rPr sz="1700" b="0">
                          <a:solidFill>
                            <a:srgbClr val="1F2A44"/>
                          </a:solidFill>
                          <a:latin typeface="Calibri"/>
                        </a:rPr>
                        <a:t>Ramanagara</a:t>
                      </a:r>
                    </a:p>
                  </a:txBody>
                  <a:tcPr marL="73152" marR="73152" marT="27432" marB="27432" anchor="ctr">
                    <a:solidFill>
                      <a:srgbClr val="FFFFFF"/>
                    </a:solidFill>
                  </a:tcPr>
                </a:tc>
                <a:tc>
                  <a:txBody>
                    <a:bodyPr wrap="square"/>
                    <a:lstStyle/>
                    <a:p>
                      <a:pPr algn="ctr"/>
                      <a:r>
                        <a:rPr sz="1700" b="0">
                          <a:solidFill>
                            <a:srgbClr val="1F2A44"/>
                          </a:solidFill>
                          <a:latin typeface="Calibri"/>
                        </a:rPr>
                        <a:t>95%</a:t>
                      </a:r>
                    </a:p>
                  </a:txBody>
                  <a:tcPr marL="73152" marR="73152" marT="27432" marB="27432" anchor="ctr">
                    <a:solidFill>
                      <a:srgbClr val="FFFFFF"/>
                    </a:solidFill>
                  </a:tcPr>
                </a:tc>
                <a:tc>
                  <a:txBody>
                    <a:bodyPr wrap="square"/>
                    <a:lstStyle/>
                    <a:p>
                      <a:pPr algn="ctr"/>
                      <a:r>
                        <a:rPr sz="1700" b="0">
                          <a:solidFill>
                            <a:srgbClr val="1F2A44"/>
                          </a:solidFill>
                          <a:latin typeface="Calibri"/>
                        </a:rPr>
                        <a:t>5%</a:t>
                      </a:r>
                    </a:p>
                  </a:txBody>
                  <a:tcPr marL="73152" marR="73152" marT="27432" marB="27432" anchor="ctr">
                    <a:solidFill>
                      <a:srgbClr val="FFFFFF"/>
                    </a:solidFill>
                  </a:tcPr>
                </a:tc>
                <a:tc>
                  <a:txBody>
                    <a:bodyPr wrap="square"/>
                    <a:lstStyle/>
                    <a:p>
                      <a:pPr algn="ctr"/>
                      <a:r>
                        <a:rPr sz="1700" b="0">
                          <a:solidFill>
                            <a:srgbClr val="1F2A44"/>
                          </a:solidFill>
                          <a:latin typeface="Calibri"/>
                        </a:rPr>
                        <a:t>—</a:t>
                      </a:r>
                    </a:p>
                  </a:txBody>
                  <a:tcPr marL="73152" marR="73152" marT="27432" marB="27432" anchor="ctr">
                    <a:solidFill>
                      <a:srgbClr val="FFFFFF"/>
                    </a:solidFill>
                  </a:tcPr>
                </a:tc>
                <a:tc>
                  <a:txBody>
                    <a:bodyPr wrap="square"/>
                    <a:lstStyle/>
                    <a:p>
                      <a:pPr algn="ctr"/>
                      <a:r>
                        <a:rPr sz="1700" b="0">
                          <a:solidFill>
                            <a:srgbClr val="1F2A44"/>
                          </a:solidFill>
                          <a:latin typeface="Calibri"/>
                        </a:rPr>
                        <a:t>₹40 (1.8%)</a:t>
                      </a:r>
                    </a:p>
                  </a:txBody>
                  <a:tcPr marL="73152" marR="73152" marT="27432" marB="27432" anchor="ctr">
                    <a:solidFill>
                      <a:srgbClr val="FFFFFF"/>
                    </a:solidFill>
                  </a:tcPr>
                </a:tc>
              </a:tr>
            </a:tbl>
          </a:graphicData>
        </a:graphic>
      </p:graphicFrame>
      <p:sp>
        <p:nvSpPr>
          <p:cNvPr id="10253" name="Rectangle 10252"/>
          <p:cNvSpPr/>
          <p:nvPr/>
        </p:nvSpPr>
        <p:spPr>
          <a:xfrm>
            <a:off x="1005840" y="7315200"/>
            <a:ext cx="18105120" cy="274320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36576" bIns="36576"/>
          <a:lstStyle/>
          <a:p>
            <a:pPr algn="l"/>
            <a:r>
              <a:rPr sz="2200" b="1" i="0">
                <a:solidFill>
                  <a:srgbClr val="1F2A44"/>
                </a:solidFill>
                <a:latin typeface="Calibri"/>
              </a:rPr>
              <a:t>Mean ₹78 per quintal per trip over 13 tomato mandis. </a:t>
            </a:r>
            <a:r>
              <a:rPr sz="2200" b="0" i="0">
                <a:solidFill>
                  <a:srgbClr val="1F2A44"/>
                </a:solidFill>
                <a:latin typeface="Calibri"/>
              </a:rPr>
              <a:t>Kanakapura loses ₹313 (16.5% of its price); Chikkaballapur reported on none of last year's Thursdays, so it is treated as closed that day.</a:t>
            </a:r>
          </a:p>
          <a:p>
            <a:pPr algn="l"/>
            <a:r>
              <a:rPr sz="2200" b="1" i="0">
                <a:solidFill>
                  <a:srgbClr val="1F2A44"/>
                </a:solidFill>
                <a:latin typeface="Calibri"/>
              </a:rPr>
              <a:t>Two cautions: </a:t>
            </a:r>
            <a:r>
              <a:rPr sz="2200" b="0" i="0">
                <a:solidFill>
                  <a:srgbClr val="1F2A44"/>
                </a:solidFill>
                <a:latin typeface="Calibri"/>
              </a:rPr>
              <a:t>a silent day may be a closed mandi or a missed upload; and ₹0 for a cheap mandi such as Kolar does not mean it is reliable, which is why surprise silence is shown beside it.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Crowd Simulator: What If Everyone Follows the Advice?</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9</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graphicFrame>
        <p:nvGraphicFramePr>
          <p:cNvPr id="10251" name="Chart 10250"/>
          <p:cNvGraphicFramePr>
            <a:graphicFrameLocks noGrp="1"/>
          </p:cNvGraphicFramePr>
          <p:nvPr/>
        </p:nvGraphicFramePr>
        <p:xfrm>
          <a:off x="1005840" y="1645920"/>
          <a:ext cx="11521440" cy="6583680"/>
        </p:xfrm>
        <a:graphic>
          <a:graphicData uri="http://schemas.openxmlformats.org/drawingml/2006/chart">
            <c:chart xmlns:c="http://schemas.openxmlformats.org/drawingml/2006/chart" r:id="rId3"/>
          </a:graphicData>
        </a:graphic>
      </p:graphicFrame>
      <p:sp>
        <p:nvSpPr>
          <p:cNvPr id="10252" name="Rectangle 10251"/>
          <p:cNvSpPr/>
          <p:nvPr/>
        </p:nvSpPr>
        <p:spPr>
          <a:xfrm>
            <a:off x="12984480" y="1645920"/>
            <a:ext cx="6126480" cy="1156716"/>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73152" rIns="73152" tIns="36576" bIns="36576"/>
          <a:lstStyle/>
          <a:p>
            <a:pPr algn="ctr"/>
            <a:r>
              <a:rPr sz="4900" b="1" i="0">
                <a:solidFill>
                  <a:srgbClr val="C0392B"/>
                </a:solidFill>
                <a:latin typeface="Calibri"/>
              </a:rPr>
              <a:t>−32.5%</a:t>
            </a:r>
          </a:p>
        </p:txBody>
      </p:sp>
      <p:sp>
        <p:nvSpPr>
          <p:cNvPr id="10253" name="Rectangle 10252"/>
          <p:cNvSpPr/>
          <p:nvPr/>
        </p:nvSpPr>
        <p:spPr>
          <a:xfrm>
            <a:off x="12984480" y="2802636"/>
            <a:ext cx="6126480" cy="946403"/>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r>
              <a:rPr sz="2000" b="0" i="0">
                <a:solidFill>
                  <a:srgbClr val="5F6B7A"/>
                </a:solidFill>
                <a:latin typeface="Calibri"/>
              </a:rPr>
              <a:t>price drop at the best yard (200 farmers)</a:t>
            </a:r>
          </a:p>
        </p:txBody>
      </p:sp>
      <p:sp>
        <p:nvSpPr>
          <p:cNvPr id="10254" name="Rectangle 10253"/>
          <p:cNvSpPr/>
          <p:nvPr/>
        </p:nvSpPr>
        <p:spPr>
          <a:xfrm>
            <a:off x="12984480" y="3977639"/>
            <a:ext cx="6126480" cy="1156716"/>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73152" rIns="73152" tIns="36576" bIns="36576"/>
          <a:lstStyle/>
          <a:p>
            <a:pPr algn="ctr"/>
            <a:r>
              <a:rPr sz="4900" b="1" i="0">
                <a:solidFill>
                  <a:srgbClr val="2E8B57"/>
                </a:solidFill>
                <a:latin typeface="Calibri"/>
              </a:rPr>
              <a:t>₹241/q</a:t>
            </a:r>
          </a:p>
        </p:txBody>
      </p:sp>
      <p:sp>
        <p:nvSpPr>
          <p:cNvPr id="10255" name="Rectangle 10254"/>
          <p:cNvSpPr/>
          <p:nvPr/>
        </p:nvSpPr>
        <p:spPr>
          <a:xfrm>
            <a:off x="12984480" y="5134355"/>
            <a:ext cx="6126480" cy="946403"/>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r>
              <a:rPr sz="2000" b="0" i="0">
                <a:solidFill>
                  <a:srgbClr val="5F6B7A"/>
                </a:solidFill>
                <a:latin typeface="Calibri"/>
              </a:rPr>
              <a:t>gain of the coordinated split</a:t>
            </a:r>
          </a:p>
        </p:txBody>
      </p:sp>
      <p:sp>
        <p:nvSpPr>
          <p:cNvPr id="10256" name="Rectangle 10255"/>
          <p:cNvSpPr/>
          <p:nvPr/>
        </p:nvSpPr>
        <p:spPr>
          <a:xfrm>
            <a:off x="12984480" y="6309360"/>
            <a:ext cx="6126480" cy="1156716"/>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73152" rIns="73152" tIns="36576" bIns="36576"/>
          <a:lstStyle/>
          <a:p>
            <a:pPr algn="ctr"/>
            <a:r>
              <a:rPr sz="4900" b="1" i="0">
                <a:solidFill>
                  <a:srgbClr val="2E8B57"/>
                </a:solidFill>
                <a:latin typeface="Calibri"/>
              </a:rPr>
              <a:t>₹482,705</a:t>
            </a:r>
          </a:p>
        </p:txBody>
      </p:sp>
      <p:sp>
        <p:nvSpPr>
          <p:cNvPr id="10257" name="Rectangle 10256"/>
          <p:cNvSpPr/>
          <p:nvPr/>
        </p:nvSpPr>
        <p:spPr>
          <a:xfrm>
            <a:off x="12984480" y="7466076"/>
            <a:ext cx="6126480" cy="946403"/>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r>
              <a:rPr sz="2000" b="0" i="0">
                <a:solidFill>
                  <a:srgbClr val="5F6B7A"/>
                </a:solidFill>
                <a:latin typeface="Calibri"/>
              </a:rPr>
              <a:t>gain for the group of 200</a:t>
            </a:r>
          </a:p>
        </p:txBody>
      </p:sp>
      <p:sp>
        <p:nvSpPr>
          <p:cNvPr id="10258" name="Rectangle 10257"/>
          <p:cNvSpPr/>
          <p:nvPr/>
        </p:nvSpPr>
        <p:spPr>
          <a:xfrm>
            <a:off x="1005840" y="8503920"/>
            <a:ext cx="18105120" cy="1737360"/>
          </a:xfrm>
          <a:prstGeom prst="rect">
            <a:avLst/>
          </a:prstGeom>
          <a:solidFill>
            <a:srgbClr val="DCE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36576" bIns="36576"/>
          <a:lstStyle/>
          <a:p>
            <a:pPr algn="l"/>
            <a:r>
              <a:rPr sz="2200" b="1" i="0">
                <a:solidFill>
                  <a:srgbClr val="1F2A44"/>
                </a:solidFill>
                <a:latin typeface="Calibri"/>
              </a:rPr>
              <a:t>Scenario, not a measurement. </a:t>
            </a:r>
            <a:r>
              <a:rPr sz="2200" b="0" i="0">
                <a:solidFill>
                  <a:srgbClr val="1F2A44"/>
                </a:solidFill>
                <a:latin typeface="Calibri"/>
              </a:rPr>
              <a:t>The yard usually receives about 68 quintals a day. Price flexibility b = 0.115 is an association in past data; at b = 0 every policy is equal. A field pilot is needed to measure the real response.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Daily Digest on Telegram</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9</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pic>
        <p:nvPicPr>
          <p:cNvPr id="10251" name="Picture 10250" descr="ins_digest.png"/>
          <p:cNvPicPr>
            <a:picLocks noChangeAspect="1"/>
          </p:cNvPicPr>
          <p:nvPr/>
        </p:nvPicPr>
        <p:blipFill>
          <a:blip r:embed="rId3"/>
          <a:stretch>
            <a:fillRect/>
          </a:stretch>
        </p:blipFill>
        <p:spPr>
          <a:xfrm>
            <a:off x="1005840" y="1645920"/>
            <a:ext cx="9105941" cy="8138160"/>
          </a:xfrm>
          <a:prstGeom prst="rect">
            <a:avLst/>
          </a:prstGeom>
        </p:spPr>
      </p:pic>
      <p:sp>
        <p:nvSpPr>
          <p:cNvPr id="10252" name="Rectangle 10251"/>
          <p:cNvSpPr/>
          <p:nvPr/>
        </p:nvSpPr>
        <p:spPr>
          <a:xfrm>
            <a:off x="10607040" y="1645920"/>
            <a:ext cx="8503920" cy="813816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36576" bIns="36576"/>
          <a:lstStyle/>
          <a:p>
            <a:pPr algn="l"/>
            <a:r>
              <a:rPr sz="2600" b="1" i="0">
                <a:solidFill>
                  <a:srgbClr val="1F2A44"/>
                </a:solidFill>
                <a:latin typeface="Calibri"/>
              </a:rPr>
              <a:t>Dated, always. </a:t>
            </a:r>
            <a:r>
              <a:rPr sz="2600" b="0" i="0">
                <a:solidFill>
                  <a:srgbClr val="1F2A44"/>
                </a:solidFill>
                <a:latin typeface="Calibri"/>
              </a:rPr>
              <a:t>Every price shows its date; the second line says how old the data is (there is no live feed).</a:t>
            </a:r>
          </a:p>
          <a:p>
            <a:pPr algn="l"/>
            <a:r>
              <a:rPr sz="2600" b="1" i="0">
                <a:solidFill>
                  <a:srgbClr val="1F2A44"/>
                </a:solidFill>
                <a:latin typeface="Calibri"/>
              </a:rPr>
              <a:t>Advice only with evidence. </a:t>
            </a:r>
            <a:r>
              <a:rPr sz="2600" b="0" i="0">
                <a:solidFill>
                  <a:srgbClr val="1F2A44"/>
                </a:solidFill>
                <a:latin typeface="Calibri"/>
              </a:rPr>
              <a:t>Tomato, onion, ginger: best place and day with the floor. Potato, garlic: prices only.</a:t>
            </a:r>
          </a:p>
          <a:p>
            <a:pPr algn="l"/>
            <a:r>
              <a:rPr sz="2600" b="1" i="0">
                <a:solidFill>
                  <a:srgbClr val="1F2A44"/>
                </a:solidFill>
                <a:latin typeface="Calibri"/>
              </a:rPr>
              <a:t>Warns about silent days. </a:t>
            </a:r>
            <a:r>
              <a:rPr sz="2600" b="0" i="0">
                <a:solidFill>
                  <a:srgbClr val="1F2A44"/>
                </a:solidFill>
                <a:latin typeface="Calibri"/>
              </a:rPr>
              <a:t>If the recommended mandi is usually silent on the sale weekday, it says so.</a:t>
            </a:r>
          </a:p>
          <a:p>
            <a:pPr algn="l"/>
            <a:r>
              <a:rPr sz="2600" b="1" i="0">
                <a:solidFill>
                  <a:srgbClr val="1F2A44"/>
                </a:solidFill>
                <a:latin typeface="Calibri"/>
              </a:rPr>
              <a:t>Three languages, free. </a:t>
            </a:r>
            <a:r>
              <a:rPr sz="2600" b="0" i="0">
                <a:solidFill>
                  <a:srgbClr val="1F2A44"/>
                </a:solidFill>
                <a:latin typeface="Calibri"/>
              </a:rPr>
              <a:t>English, Kannada, Hindi; Telegram Bot API; /start, /today, /stop, or type “tomato kolar”.</a:t>
            </a:r>
          </a:p>
          <a:p>
            <a:pPr algn="l"/>
            <a:r>
              <a:rPr sz="2600" b="1" i="0">
                <a:solidFill>
                  <a:srgbClr val="1F2A44"/>
                </a:solidFill>
                <a:latin typeface="Calibri"/>
              </a:rPr>
              <a:t>Logged and tested. </a:t>
            </a:r>
            <a:r>
              <a:rPr sz="2600" b="0" i="0">
                <a:solidFill>
                  <a:srgbClr val="1F2A44"/>
                </a:solidFill>
                <a:latin typeface="Calibri"/>
              </a:rPr>
              <a:t>Every send is logged (2 logged sends to a real account); 8 unit tests with a fake client.</a:t>
            </a:r>
          </a:p>
          <a:p>
            <a:pPr algn="l"/>
            <a:r>
              <a:rPr sz="2600" b="1" i="0">
                <a:solidFill>
                  <a:srgbClr val="1F2A44"/>
                </a:solidFill>
                <a:latin typeface="Calibri"/>
              </a:rPr>
              <a:t>Not claimed: </a:t>
            </a:r>
            <a:r>
              <a:rPr sz="2600" b="0" i="0">
                <a:solidFill>
                  <a:srgbClr val="1F2A44"/>
                </a:solidFill>
                <a:latin typeface="Calibri"/>
              </a:rPr>
              <a:t>a farmer pilot, or a live price feed.</a:t>
            </a:r>
          </a:p>
        </p:txBody>
      </p:sp>
    </p:spTree>
  </p:cSld>
  <p:clrMapOvr>
    <a:masterClrMapping/>
  </p:clrMapOvr>
</p:sld>
</file>

<file path=ppt/theme/theme1.xml><?xml version="1.0" encoding="utf-8"?>
<a:theme xmlns:a="http://schemas.openxmlformats.org/drawingml/2006/main" name="1_RVCE_2020">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lt1">
            <a:alpha val="99000"/>
          </a:schemeClr>
        </a:solidFill>
        <a:ln w="76200">
          <a:solidFill>
            <a:srgbClr val="5E6DB3"/>
          </a:solidFill>
        </a:ln>
      </a:spPr>
      <a:bodyPr rtlCol="0" anchor="ctr"/>
      <a:lstStyle>
        <a:defPPr algn="ctr">
          <a:defRPr dirty="0">
            <a:solidFill>
              <a:srgbClr val="FFFFFF"/>
            </a:solidFill>
          </a:defRPr>
        </a:defPPr>
      </a:lstStyle>
      <a:style>
        <a:lnRef idx="2">
          <a:schemeClr val="accent4"/>
        </a:lnRef>
        <a:fillRef idx="1">
          <a:schemeClr val="lt1"/>
        </a:fillRef>
        <a:effectRef idx="0">
          <a:schemeClr val="accent4"/>
        </a:effectRef>
        <a:fontRef idx="minor">
          <a:schemeClr val="dk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231</TotalTime>
  <Words>1241</Words>
  <Application>Microsoft Office PowerPoint</Application>
  <PresentationFormat>Custom</PresentationFormat>
  <Paragraphs>178</Paragraphs>
  <Slides>20</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20</vt:i4>
      </vt:variant>
    </vt:vector>
  </HeadingPairs>
  <TitlesOfParts>
    <vt:vector size="28" baseType="lpstr">
      <vt:lpstr>Arial</vt:lpstr>
      <vt:lpstr>Playfair Display</vt:lpstr>
      <vt:lpstr>Times New Roman</vt:lpstr>
      <vt:lpstr>Forte</vt:lpstr>
      <vt:lpstr>Calibri</vt:lpstr>
      <vt:lpstr>Cambria</vt:lpstr>
      <vt:lpstr>1_RVCE_2020</vt:lpstr>
      <vt:lpstr>3_Office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Akash Hegde</dc:creator>
  <cp:lastModifiedBy>Manoj Kumar S</cp:lastModifiedBy>
  <cp:revision>443</cp:revision>
  <dcterms:created xsi:type="dcterms:W3CDTF">2023-10-16T17:04:33Z</dcterms:created>
  <dcterms:modified xsi:type="dcterms:W3CDTF">2026-10-27T08:29:25Z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ad3be33-4108-4738-9e07-d8656a181486_Enabled">
    <vt:lpwstr>true</vt:lpwstr>
  </property>
  <property fmtid="{D5CDD505-2E9C-101B-9397-08002B2CF9AE}" pid="3" name="MSIP_Label_dad3be33-4108-4738-9e07-d8656a181486_SetDate">
    <vt:lpwstr>2023-10-02T10:03:34Z</vt:lpwstr>
  </property>
  <property fmtid="{D5CDD505-2E9C-101B-9397-08002B2CF9AE}" pid="4" name="MSIP_Label_dad3be33-4108-4738-9e07-d8656a181486_Method">
    <vt:lpwstr>Privileged</vt:lpwstr>
  </property>
  <property fmtid="{D5CDD505-2E9C-101B-9397-08002B2CF9AE}" pid="5" name="MSIP_Label_dad3be33-4108-4738-9e07-d8656a181486_Name">
    <vt:lpwstr>Public No Visual Label</vt:lpwstr>
  </property>
  <property fmtid="{D5CDD505-2E9C-101B-9397-08002B2CF9AE}" pid="6" name="MSIP_Label_dad3be33-4108-4738-9e07-d8656a181486_SiteId">
    <vt:lpwstr>945c199a-83a2-4e80-9f8c-5a91be5752dd</vt:lpwstr>
  </property>
  <property fmtid="{D5CDD505-2E9C-101B-9397-08002B2CF9AE}" pid="7" name="MSIP_Label_dad3be33-4108-4738-9e07-d8656a181486_ActionId">
    <vt:lpwstr>cfe29de6-22df-43bf-9ae6-c19932169054</vt:lpwstr>
  </property>
  <property fmtid="{D5CDD505-2E9C-101B-9397-08002B2CF9AE}" pid="8" name="MSIP_Label_dad3be33-4108-4738-9e07-d8656a181486_ContentBits">
    <vt:lpwstr>0</vt:lpwstr>
  </property>
  <property fmtid="{D5CDD505-2E9C-101B-9397-08002B2CF9AE}" pid="9" name="ICV">
    <vt:lpwstr>7FFB7808C7AF4D32B49068EEB1300E55</vt:lpwstr>
  </property>
  <property fmtid="{D5CDD505-2E9C-101B-9397-08002B2CF9AE}" pid="10" name="KSOProductBuildVer">
    <vt:lpwstr>1033-11.2.0.11537</vt:lpwstr>
  </property>
</Properties>
</file>